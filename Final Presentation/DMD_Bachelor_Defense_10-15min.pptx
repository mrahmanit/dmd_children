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p:scale>
          <a:sx n="101" d="100"/>
          <a:sy n="101" d="100"/>
        </p:scale>
        <p:origin x="1024"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7882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25 ثانیه
در این ارائه، ابتدا مسئله و ایده اصلی پروژه را معرفی می‌کنم، سپس سامانه داده‌برداری و مسیر پردازش را توضیح می‌دهم و در پایان، نتایج پنج فعالیت، محدودیت‌ها و گام بعدی برای اعتبارسنجی بالینی را مرور می‌کنم.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دوشن یک بیماری پیشرونده است و تغییرات عملکرد حرکتی برای تصمیم‌گیری درمانی اهمیت زیادی دارد. NSAA یک ابزار معتبر و رایج است، اما امتیازدهی آن بر مشاهده درمانگر استوار است. پرسش پروژه این بود که آیا داده‌های شتاب و سرعت زاویه‌ای می‌توانند سطوح صفر، یک و دو را از هم تفکیک کنند.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این مهم‌ترین نکته تفسیری پروژه است. داده‌ها از بیمار واقعی جمع‌آوری نشدند. یک فرد سالم که با بیماری و معیار امتیازدهی آشنا بود، الگوهای حرکتی را در شرایط کنترل‌شده شبیه‌سازی کرد. بنابراین اعداد گزارش‌شده، توان تفکیک الگوهای شبیه‌سازی‌شده را نشان می‌دهند و نباید به‌عنوان دقت بالینی سامانه بیان شوند.</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سامانه از پنج واحد T-Wristband استفاده می‌کند. یک حسگر روی پیشانی، دو حسگر روی پشت مچ دست‌ها و دو حسگر بالای قوزک خارجی پاها نصب شدند. هر واحد سه محور شتاب و سه محور سرعت زاویه‌ای را با نرخ حدود ۹۰ تا ۱۰۰ هرتز ثبت و از طریق بلوتوث ارسال می‌کرد. این چیدمان به‌طور هم‌زمان حرکت اصلی و الگوهای جبرانی را پوشش می‌دهد.</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جریان داده از اجرای فعالیت شروع می‌شود. حسگرها داده را ثبت می‌کنند و نرم‌افزار متلب آن را هم‌زمان دریافت و ذخیره می‌کند. سپس در پایتون پیش‌پردازش، استخراج ویژگی، کاهش ابعاد و مقایسه مدل‌ها انجام می‌شود. معماری به‌صورت ماژولار طراحی شد تا هر بخش مستقل قابل توسعه باشد.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داده خام ابتدا از نظر بایاس ژیروسکوپ اصلاح شد و فیلتر باترورث مرتبه چهارم با فرکانس قطع چهار هرتز به‌صورت دوطرفه اعمال شد. سپس از هر یک از شش کانال هر حسگر، ۲۳ ویژگی زمانی و آماری استخراج شد. حاصل پنج حسگر ضربدر شش سیگنال ضربدر ۲۳ ویژگی، یک بردار ۶۹۰ بعدی برای هر نمونه بود.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برای جلوگیری از نشت اطلاعات، تمام تبدیل‌ها داخل یک Pipeline قرار گرفتند. در هر تکرار اعتبارسنجی، استانداردسازی و PCA فقط بر داده آموزش برازش شدند. سه مدل SVM، KNN و جنگل تصادفی مقایسه شدند. ارزیابی اصلی با اعتبارسنجی متقاطع طبقه‌بندی‌شده پنج‌بخشی و پنج تکرار و چند معیار مکمل انجام شد.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70 ثانیه
ایستادن به‌عنوان فعالیت مرجع برای توسعه روند تحلیل انتخاب شد. با وجود دامنه حرکت کم، ویژگی‌های آماری نوسان بدن و حرکت جبرانی دست‌ها و سر اطلاعات تفکیک‌کننده داشتند. SVM با ۱۳ مؤلفه اصلی به دقت ۹۶ درصد رسید و از KNN و جنگل تصادفی بهتر بود. در ماتریس درهم‌ریختگی، سطح یک دشوارترین کلاس بود.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در هر پنج فعالیت، SVM همراه با PCA مدل منتخب شد، اما تعداد مؤلفه مناسب متفاوت بود و بین ۱۰ تا ۱۵ قرار گرفت. این تفاوت نشان می‌دهد که ماهیت هر فعالیت بر حجم اطلاعات موردنیاز اثر دارد. حد نصاب‌های ۸۰ و ۹۰ درصد صرفاً برای انتخاب داخلی مدل‌ها تعریف شدند و معادل دقت بالینی نیستند.</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مقایسه فعالیت‌ها نشان داد که یک مجموعه ویژگی یا تعداد مؤلفه ثابت برای همه حرکات مناسب نیست. در ایستادن، نوسان‌های ظریف مهم‌اند؛ در برخاستن هماهنگی چند اندام؛ در پریدن انرژی و فرود؛ در بالا آوردن سر، حسگر پیشانی؛ و در بالا رفتن از جعبه، انتقال وزن و حسگرهای پا. بنابراین تحلیل فعالیت‌محور منطقی‌تر است.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سه محدودیت اصلی وجود دارد: اول، همه داده‌ها از یک فرد سالم گرفته شده‌اند؛ دوم، تعداد نمونه نسبت به فضای اولیه ویژگی‌ها محدود است؛ و سوم، نتیجه به شرایط نصب و ثبت وابسته است. بنابراین اعتبارسنجی متقاطع فعلی تعمیم به بیمار یا حتی فرد سالم جدید را اثبات نمی‌کند.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مهم‌ترین گام بعدی، جمع‌آوری داده از بیماران با امتیازدهی هم‌زمان متخصص است. پس از آن باید ارزیابی مستقل از آزمودنی انجام شود. در مرحله مدل‌سازی نیز تنظیم ابرپارامترها، ویژگی‌های فرکانسی و مدل‌های زمانی قابل بررسی‌اند. در نهایت باید تعداد حسگرها و نرم‌افزار برای کاربرد بالینی ساده‌تر شوند.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35 ثانیه
در جمع‌بندی، یک سامانه کامل از ثبت داده تا طبقه‌بندی ساخته شد. کاهش ابعاد نشان داد بخش عمده اطلاعات موردنیاز در فضای بسیار کوچک‌تری از ۶۹۰ ویژگی قرار دارد و سطوح شبیه‌سازی‌شده قابل تفکیک‌اند. با این حال، دستاورد اصلی پروژه یک چارچوب فنی و روش‌مند است و اعتبار بالینی آن باید در مطالعه بعدی بررسی شود.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3886200" cy="6858000"/>
          </a:xfrm>
          <a:prstGeom prst="rect">
            <a:avLst/>
          </a:prstGeom>
          <a:solidFill>
            <a:srgbClr val="102A43"/>
          </a:solidFill>
          <a:ln w="12700">
            <a:solidFill>
              <a:srgbClr val="102A43"/>
            </a:solidFill>
            <a:prstDash val="solid"/>
          </a:ln>
        </p:spPr>
      </p:sp>
      <p:sp>
        <p:nvSpPr>
          <p:cNvPr id="3" name="Shape 1"/>
          <p:cNvSpPr/>
          <p:nvPr/>
        </p:nvSpPr>
        <p:spPr>
          <a:xfrm>
            <a:off x="3886200" y="0"/>
            <a:ext cx="118872" cy="6858000"/>
          </a:xfrm>
          <a:prstGeom prst="rect">
            <a:avLst/>
          </a:prstGeom>
          <a:solidFill>
            <a:srgbClr val="1D8AB5"/>
          </a:solidFill>
          <a:ln w="12700">
            <a:solidFill>
              <a:srgbClr val="1D8AB5"/>
            </a:solidFill>
            <a:prstDash val="solid"/>
          </a:ln>
        </p:spPr>
      </p:sp>
      <p:sp>
        <p:nvSpPr>
          <p:cNvPr id="4" name="Shape 2"/>
          <p:cNvSpPr/>
          <p:nvPr/>
        </p:nvSpPr>
        <p:spPr>
          <a:xfrm>
            <a:off x="420624" y="1417320"/>
            <a:ext cx="3017520" cy="2084832"/>
          </a:xfrm>
          <a:prstGeom prst="roundRect">
            <a:avLst>
              <a:gd name="adj" fmla="val 5263"/>
            </a:avLst>
          </a:prstGeom>
          <a:solidFill>
            <a:srgbClr val="FFFFFF"/>
          </a:solidFill>
          <a:ln w="12700">
            <a:solidFill>
              <a:srgbClr val="4B6A85">
                <a:alpha val="40000"/>
              </a:srgbClr>
            </a:solidFill>
            <a:prstDash val="solid"/>
          </a:ln>
        </p:spPr>
      </p:sp>
      <p:pic>
        <p:nvPicPr>
          <p:cNvPr id="5" name="Image 0" descr="/mnt/data/dmd_assets/crops/sensor_photos.png"/>
          <p:cNvPicPr>
            <a:picLocks noChangeAspect="1"/>
          </p:cNvPicPr>
          <p:nvPr/>
        </p:nvPicPr>
        <p:blipFill>
          <a:blip r:embed="rId3"/>
          <a:srcRect l="4080" r="4080"/>
          <a:stretch/>
        </p:blipFill>
        <p:spPr>
          <a:xfrm>
            <a:off x="484632" y="1481328"/>
            <a:ext cx="2889504" cy="1956816"/>
          </a:xfrm>
          <a:prstGeom prst="rect">
            <a:avLst/>
          </a:prstGeom>
        </p:spPr>
      </p:pic>
      <p:sp>
        <p:nvSpPr>
          <p:cNvPr id="6" name="Shape 3"/>
          <p:cNvSpPr/>
          <p:nvPr/>
        </p:nvSpPr>
        <p:spPr>
          <a:xfrm>
            <a:off x="768096" y="3813048"/>
            <a:ext cx="2267712" cy="420624"/>
          </a:xfrm>
          <a:prstGeom prst="roundRect">
            <a:avLst>
              <a:gd name="adj" fmla="val 39130"/>
            </a:avLst>
          </a:prstGeom>
          <a:solidFill>
            <a:srgbClr val="183B56"/>
          </a:solidFill>
          <a:ln w="12700">
            <a:solidFill>
              <a:srgbClr val="335A75"/>
            </a:solidFill>
            <a:prstDash val="solid"/>
          </a:ln>
        </p:spPr>
      </p:sp>
      <p:sp>
        <p:nvSpPr>
          <p:cNvPr id="7" name="Text 4"/>
          <p:cNvSpPr/>
          <p:nvPr/>
        </p:nvSpPr>
        <p:spPr>
          <a:xfrm>
            <a:off x="877824" y="3831336"/>
            <a:ext cx="2048256" cy="384048"/>
          </a:xfrm>
          <a:prstGeom prst="rect">
            <a:avLst/>
          </a:prstGeom>
          <a:noFill/>
          <a:ln/>
        </p:spPr>
        <p:txBody>
          <a:bodyPr wrap="square" lIns="0" tIns="0" rIns="0" bIns="0" rtlCol="0" anchor="ctr">
            <a:normAutofit/>
          </a:bodyPr>
          <a:lstStyle/>
          <a:p>
            <a:pPr marL="0" indent="0" algn="ctr" rtl="1">
              <a:buNone/>
            </a:pPr>
            <a:r>
              <a:rPr lang="en-US" sz="1350" b="1" dirty="0">
                <a:solidFill>
                  <a:srgbClr val="E9F5FB"/>
                </a:solidFill>
                <a:latin typeface="Sharif 1.2 Thin" panose="020B0000040000000000" pitchFamily="34" charset="-78"/>
                <a:ea typeface="Sharif 1.2 Thin" panose="020B0000040000000000" pitchFamily="34" charset="-78"/>
                <a:cs typeface="Sharif 1.2 Thin" panose="020B0000040000000000" pitchFamily="34" charset="-78"/>
              </a:rPr>
              <a:t>۵ حسگر پوشیدنی</a:t>
            </a:r>
            <a:endParaRPr lang="en-US" sz="135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5"/>
          <p:cNvSpPr/>
          <p:nvPr/>
        </p:nvSpPr>
        <p:spPr>
          <a:xfrm>
            <a:off x="768096" y="4334256"/>
            <a:ext cx="2267712" cy="420624"/>
          </a:xfrm>
          <a:prstGeom prst="roundRect">
            <a:avLst>
              <a:gd name="adj" fmla="val 39130"/>
            </a:avLst>
          </a:prstGeom>
          <a:solidFill>
            <a:srgbClr val="183B56"/>
          </a:solidFill>
          <a:ln w="12700">
            <a:solidFill>
              <a:srgbClr val="335A75"/>
            </a:solidFill>
            <a:prstDash val="solid"/>
          </a:ln>
        </p:spPr>
      </p:sp>
      <p:sp>
        <p:nvSpPr>
          <p:cNvPr id="9" name="Text 6"/>
          <p:cNvSpPr/>
          <p:nvPr/>
        </p:nvSpPr>
        <p:spPr>
          <a:xfrm>
            <a:off x="877824" y="4352544"/>
            <a:ext cx="2048256" cy="384048"/>
          </a:xfrm>
          <a:prstGeom prst="rect">
            <a:avLst/>
          </a:prstGeom>
          <a:noFill/>
          <a:ln/>
        </p:spPr>
        <p:txBody>
          <a:bodyPr wrap="square" lIns="0" tIns="0" rIns="0" bIns="0" rtlCol="0" anchor="ctr">
            <a:normAutofit/>
          </a:bodyPr>
          <a:lstStyle/>
          <a:p>
            <a:pPr marL="0" indent="0" algn="ctr" rtl="1">
              <a:buNone/>
            </a:pPr>
            <a:r>
              <a:rPr lang="en-US" sz="1350" b="1" dirty="0">
                <a:solidFill>
                  <a:srgbClr val="E9F5FB"/>
                </a:solidFill>
                <a:latin typeface="Sharif 1.2 Thin" panose="020B0000040000000000" pitchFamily="34" charset="-78"/>
                <a:ea typeface="Sharif 1.2 Thin" panose="020B0000040000000000" pitchFamily="34" charset="-78"/>
                <a:cs typeface="Sharif 1.2 Thin" panose="020B0000040000000000" pitchFamily="34" charset="-78"/>
              </a:rPr>
              <a:t>یادگیری ماشین</a:t>
            </a:r>
            <a:endParaRPr lang="en-US" sz="135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Shape 7"/>
          <p:cNvSpPr/>
          <p:nvPr/>
        </p:nvSpPr>
        <p:spPr>
          <a:xfrm>
            <a:off x="768096" y="4855464"/>
            <a:ext cx="2267712" cy="420624"/>
          </a:xfrm>
          <a:prstGeom prst="roundRect">
            <a:avLst>
              <a:gd name="adj" fmla="val 39130"/>
            </a:avLst>
          </a:prstGeom>
          <a:solidFill>
            <a:srgbClr val="183B56"/>
          </a:solidFill>
          <a:ln w="12700">
            <a:solidFill>
              <a:srgbClr val="335A75"/>
            </a:solidFill>
            <a:prstDash val="solid"/>
          </a:ln>
        </p:spPr>
      </p:sp>
      <p:sp>
        <p:nvSpPr>
          <p:cNvPr id="11" name="Text 8"/>
          <p:cNvSpPr/>
          <p:nvPr/>
        </p:nvSpPr>
        <p:spPr>
          <a:xfrm>
            <a:off x="877824" y="4873752"/>
            <a:ext cx="2048256" cy="384048"/>
          </a:xfrm>
          <a:prstGeom prst="rect">
            <a:avLst/>
          </a:prstGeom>
          <a:noFill/>
          <a:ln/>
        </p:spPr>
        <p:txBody>
          <a:bodyPr wrap="square" lIns="0" tIns="0" rIns="0" bIns="0" rtlCol="0" anchor="ctr">
            <a:normAutofit/>
          </a:bodyPr>
          <a:lstStyle/>
          <a:p>
            <a:pPr marL="0" indent="0" algn="ctr" rtl="1">
              <a:buNone/>
            </a:pPr>
            <a:r>
              <a:rPr lang="en-US" sz="1350" b="1" dirty="0">
                <a:solidFill>
                  <a:srgbClr val="E9F5FB"/>
                </a:solidFill>
                <a:latin typeface="Sharif 1.2 Thin" panose="020B0000040000000000" pitchFamily="34" charset="-78"/>
                <a:ea typeface="Sharif 1.2 Thin" panose="020B0000040000000000" pitchFamily="34" charset="-78"/>
                <a:cs typeface="Sharif 1.2 Thin" panose="020B0000040000000000" pitchFamily="34" charset="-78"/>
              </a:rPr>
              <a:t>مقیاس NSAA</a:t>
            </a:r>
            <a:endParaRPr lang="en-US" sz="135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pic>
        <p:nvPicPr>
          <p:cNvPr id="12" name="Image 1" descr="/mnt/data/dmd_assets/crops/sharif_logo.png"/>
          <p:cNvPicPr>
            <a:picLocks noChangeAspect="1"/>
          </p:cNvPicPr>
          <p:nvPr/>
        </p:nvPicPr>
        <p:blipFill>
          <a:blip r:embed="rId4"/>
          <a:stretch>
            <a:fillRect/>
          </a:stretch>
        </p:blipFill>
        <p:spPr>
          <a:xfrm>
            <a:off x="10235930" y="329184"/>
            <a:ext cx="1062260" cy="960120"/>
          </a:xfrm>
          <a:prstGeom prst="rect">
            <a:avLst/>
          </a:prstGeom>
        </p:spPr>
      </p:pic>
      <p:sp>
        <p:nvSpPr>
          <p:cNvPr id="13" name="Text 9"/>
          <p:cNvSpPr/>
          <p:nvPr/>
        </p:nvSpPr>
        <p:spPr>
          <a:xfrm>
            <a:off x="6911162" y="1417320"/>
            <a:ext cx="4198797" cy="1847088"/>
          </a:xfrm>
          <a:prstGeom prst="rect">
            <a:avLst/>
          </a:prstGeom>
          <a:noFill/>
          <a:ln/>
        </p:spPr>
        <p:txBody>
          <a:bodyPr wrap="square" lIns="0" tIns="0" rIns="0" bIns="0" rtlCol="0" anchor="ctr">
            <a:normAutofit/>
          </a:bodyPr>
          <a:lstStyle/>
          <a:p>
            <a:pPr marL="0" indent="0" algn="r" rtl="1">
              <a:buNone/>
            </a:pPr>
            <a:r>
              <a:rPr lang="en-US" sz="30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ارزیابی شاخص‌های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عملکرد</a:t>
            </a:r>
            <a:r>
              <a:rPr lang="en-US" sz="30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موتور</a:t>
            </a:r>
            <a:r>
              <a:rPr lang="fa-IR"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ی</a:t>
            </a:r>
            <a:endParaRPr lang="en-US" sz="3000" b="1" dirty="0">
              <a:latin typeface="Sharif 1.2 Thin" panose="020B0000040000000000" pitchFamily="34" charset="-78"/>
              <a:ea typeface="Sharif 1.2 Thin" panose="020B0000040000000000" pitchFamily="34" charset="-78"/>
              <a:cs typeface="Sharif 1.2 Thin" panose="020B0000040000000000" pitchFamily="34" charset="-78"/>
            </a:endParaRPr>
          </a:p>
          <a:p>
            <a:pPr marL="0" indent="0" algn="r" rtl="1">
              <a:buNone/>
            </a:pP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در</a:t>
            </a:r>
            <a:r>
              <a:rPr lang="en-US" sz="30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بیماران</a:t>
            </a:r>
            <a:r>
              <a:rPr lang="en-US" sz="30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دوشن</a:t>
            </a:r>
            <a:r>
              <a:rPr lang="en-US" sz="30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به</a:t>
            </a:r>
            <a:r>
              <a:rPr lang="en-US" sz="30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کمک</a:t>
            </a:r>
            <a:endParaRPr lang="en-US" sz="3000" b="1" dirty="0">
              <a:latin typeface="Sharif 1.2 Thin" panose="020B0000040000000000" pitchFamily="34" charset="-78"/>
              <a:ea typeface="Sharif 1.2 Thin" panose="020B0000040000000000" pitchFamily="34" charset="-78"/>
              <a:cs typeface="Sharif 1.2 Thin" panose="020B0000040000000000" pitchFamily="34" charset="-78"/>
            </a:endParaRPr>
          </a:p>
          <a:p>
            <a:pPr marL="0" indent="0" algn="r" rtl="1">
              <a:buNone/>
            </a:pPr>
            <a:r>
              <a:rPr lang="en-US" sz="3000" b="1" dirty="0" err="1">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حسگرهای</a:t>
            </a:r>
            <a:r>
              <a:rPr lang="en-US" sz="30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 </a:t>
            </a:r>
            <a:r>
              <a:rPr lang="en-US" sz="30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اینرسیایی</a:t>
            </a:r>
            <a:endParaRPr lang="en-US" sz="3000" b="1"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 name="Shape 10"/>
          <p:cNvSpPr/>
          <p:nvPr/>
        </p:nvSpPr>
        <p:spPr>
          <a:xfrm>
            <a:off x="4892040" y="3520440"/>
            <a:ext cx="6108192" cy="0"/>
          </a:xfrm>
          <a:prstGeom prst="line">
            <a:avLst/>
          </a:prstGeom>
          <a:noFill/>
          <a:ln w="38100">
            <a:solidFill>
              <a:srgbClr val="0B6E99"/>
            </a:solidFill>
            <a:prstDash val="solid"/>
          </a:ln>
        </p:spPr>
      </p:sp>
      <p:sp>
        <p:nvSpPr>
          <p:cNvPr id="15" name="Text 11"/>
          <p:cNvSpPr/>
          <p:nvPr/>
        </p:nvSpPr>
        <p:spPr>
          <a:xfrm>
            <a:off x="6126480" y="3794760"/>
            <a:ext cx="4892040" cy="402336"/>
          </a:xfrm>
          <a:prstGeom prst="rect">
            <a:avLst/>
          </a:prstGeom>
          <a:noFill/>
          <a:ln/>
        </p:spPr>
        <p:txBody>
          <a:bodyPr wrap="square" lIns="0" tIns="0" rIns="0" bIns="0" rtlCol="0" anchor="ctr">
            <a:normAutofit/>
          </a:bodyPr>
          <a:lstStyle/>
          <a:p>
            <a:pPr marL="0" indent="0" algn="r" rtl="1">
              <a:buNone/>
            </a:pPr>
            <a:r>
              <a:rPr lang="en-US" sz="160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ارائه دفاع کارشناسی مهندسی مکانیک</a:t>
            </a:r>
            <a:endParaRPr lang="en-US" sz="160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2"/>
          <p:cNvSpPr/>
          <p:nvPr/>
        </p:nvSpPr>
        <p:spPr>
          <a:xfrm>
            <a:off x="7360920" y="4590288"/>
            <a:ext cx="3657600" cy="384048"/>
          </a:xfrm>
          <a:prstGeom prst="rect">
            <a:avLst/>
          </a:prstGeom>
          <a:noFill/>
          <a:ln/>
        </p:spPr>
        <p:txBody>
          <a:bodyPr wrap="square" lIns="0" tIns="0" rIns="0" bIns="0" rtlCol="0" anchor="ctr">
            <a:normAutofit/>
          </a:bodyPr>
          <a:lstStyle/>
          <a:p>
            <a:pPr marL="0" indent="0" algn="r" rtl="1">
              <a:buNone/>
            </a:pPr>
            <a:r>
              <a:rPr lang="en-US" sz="1900" b="1"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محمد رحمانی‌طلب</a:t>
            </a:r>
            <a:endParaRPr lang="en-US" sz="190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Text 13"/>
          <p:cNvSpPr/>
          <p:nvPr/>
        </p:nvSpPr>
        <p:spPr>
          <a:xfrm>
            <a:off x="6263640" y="5065776"/>
            <a:ext cx="4754880" cy="329184"/>
          </a:xfrm>
          <a:prstGeom prst="rect">
            <a:avLst/>
          </a:prstGeom>
          <a:noFill/>
          <a:ln/>
        </p:spPr>
        <p:txBody>
          <a:bodyPr wrap="square" lIns="0" tIns="0" rIns="0" bIns="0" rtlCol="0" anchor="ctr">
            <a:normAutofit/>
          </a:bodyPr>
          <a:lstStyle/>
          <a:p>
            <a:pPr marL="0" indent="0" algn="r" rtl="1">
              <a:buNone/>
            </a:pPr>
            <a:r>
              <a:rPr lang="en-US" sz="1400" b="1"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استاد راهنما: دکتر سعید بهزادی‌پور</a:t>
            </a:r>
            <a:endParaRPr lang="en-US" sz="140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8" name="Text 14"/>
          <p:cNvSpPr/>
          <p:nvPr/>
        </p:nvSpPr>
        <p:spPr>
          <a:xfrm>
            <a:off x="6263640" y="5440680"/>
            <a:ext cx="4754880" cy="329184"/>
          </a:xfrm>
          <a:prstGeom prst="rect">
            <a:avLst/>
          </a:prstGeom>
          <a:noFill/>
          <a:ln/>
        </p:spPr>
        <p:txBody>
          <a:bodyPr wrap="square" lIns="0" tIns="0" rIns="0" bIns="0" rtlCol="0" anchor="ctr">
            <a:normAutofit/>
          </a:bodyPr>
          <a:lstStyle/>
          <a:p>
            <a:pPr marL="0" indent="0" algn="r" rtl="1">
              <a:buNone/>
            </a:pPr>
            <a:r>
              <a:rPr lang="en-US" sz="1400" b="1"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استاد مشاور: دکتر مرضیه بابایی</a:t>
            </a:r>
            <a:endParaRPr lang="en-US" sz="140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5"/>
          <p:cNvSpPr/>
          <p:nvPr/>
        </p:nvSpPr>
        <p:spPr>
          <a:xfrm>
            <a:off x="8869680" y="6053328"/>
            <a:ext cx="2148840" cy="292608"/>
          </a:xfrm>
          <a:prstGeom prst="rect">
            <a:avLst/>
          </a:prstGeom>
          <a:noFill/>
          <a:ln/>
        </p:spPr>
        <p:txBody>
          <a:bodyPr wrap="square" lIns="0" tIns="0" rIns="0" bIns="0" rtlCol="0" anchor="ctr">
            <a:normAutofit/>
          </a:bodyPr>
          <a:lstStyle/>
          <a:p>
            <a:pPr marL="0" indent="0" algn="r" rtl="1">
              <a:buNone/>
            </a:pPr>
            <a:r>
              <a:rPr lang="en-US" sz="1250" b="1"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تیر ۱۴۰۵</a:t>
            </a:r>
            <a:endParaRPr lang="en-US" sz="1250" b="1"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زمینه و مسئله</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مسئله پژوهش چیست؟</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02</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658368" y="1508760"/>
            <a:ext cx="5029200" cy="3931920"/>
          </a:xfrm>
          <a:prstGeom prst="roundRect">
            <a:avLst>
              <a:gd name="adj" fmla="val 1860"/>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3822192" y="1755648"/>
            <a:ext cx="1572768" cy="347472"/>
          </a:xfrm>
          <a:prstGeom prst="roundRect">
            <a:avLst>
              <a:gd name="adj" fmla="val 47368"/>
            </a:avLst>
          </a:prstGeom>
          <a:solidFill>
            <a:srgbClr val="FDECEA"/>
          </a:solidFill>
          <a:ln w="12700">
            <a:solidFill>
              <a:srgbClr val="FDECEA"/>
            </a:solidFill>
            <a:prstDash val="solid"/>
          </a:ln>
        </p:spPr>
      </p:sp>
      <p:sp>
        <p:nvSpPr>
          <p:cNvPr id="9" name="Text 7"/>
          <p:cNvSpPr/>
          <p:nvPr/>
        </p:nvSpPr>
        <p:spPr>
          <a:xfrm>
            <a:off x="3931920" y="1773936"/>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چالش بالینی</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8"/>
          <p:cNvSpPr/>
          <p:nvPr/>
        </p:nvSpPr>
        <p:spPr>
          <a:xfrm>
            <a:off x="987552" y="2304288"/>
            <a:ext cx="4343400" cy="804672"/>
          </a:xfrm>
          <a:prstGeom prst="rect">
            <a:avLst/>
          </a:prstGeom>
          <a:noFill/>
          <a:ln/>
        </p:spPr>
        <p:txBody>
          <a:bodyPr wrap="square" lIns="0" tIns="0" rIns="0" bIns="0" rtlCol="0" anchor="t">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دیستروفی عضلانی دوشن با ضعف پیشرونده عضلات و کاهش تدریجی توانایی‌های حرکتی همراه است.</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9"/>
          <p:cNvSpPr/>
          <p:nvPr/>
        </p:nvSpPr>
        <p:spPr>
          <a:xfrm>
            <a:off x="5074920" y="3273552"/>
            <a:ext cx="118872" cy="118872"/>
          </a:xfrm>
          <a:prstGeom prst="ellipse">
            <a:avLst/>
          </a:prstGeom>
          <a:solidFill>
            <a:srgbClr val="0B6E99"/>
          </a:solidFill>
          <a:ln w="12700">
            <a:solidFill>
              <a:srgbClr val="0B6E99"/>
            </a:solidFill>
            <a:prstDash val="solid"/>
          </a:ln>
        </p:spPr>
      </p:sp>
      <p:sp>
        <p:nvSpPr>
          <p:cNvPr id="12" name="Text 10"/>
          <p:cNvSpPr/>
          <p:nvPr/>
        </p:nvSpPr>
        <p:spPr>
          <a:xfrm>
            <a:off x="1024128" y="3108960"/>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پایش روند بیماری به ارزیابی تکرارپذیر عملکرد حرکتی نیاز دارد.</a:t>
            </a:r>
            <a:endParaRPr lang="en-US" sz="15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5074920" y="3931920"/>
            <a:ext cx="118872" cy="118872"/>
          </a:xfrm>
          <a:prstGeom prst="ellipse">
            <a:avLst/>
          </a:prstGeom>
          <a:solidFill>
            <a:srgbClr val="0B6E99"/>
          </a:solidFill>
          <a:ln w="12700">
            <a:solidFill>
              <a:srgbClr val="0B6E99"/>
            </a:solidFill>
            <a:prstDash val="solid"/>
          </a:ln>
        </p:spPr>
      </p:sp>
      <p:sp>
        <p:nvSpPr>
          <p:cNvPr id="14" name="Text 12"/>
          <p:cNvSpPr/>
          <p:nvPr/>
        </p:nvSpPr>
        <p:spPr>
          <a:xfrm>
            <a:off x="1024128" y="3767328"/>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امتیازدهی NSAA تا حدی به مشاهده و قضاوت ارزیاب وابسته است.</a:t>
            </a:r>
            <a:endParaRPr lang="en-US" sz="15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5" name="Shape 13"/>
          <p:cNvSpPr/>
          <p:nvPr/>
        </p:nvSpPr>
        <p:spPr>
          <a:xfrm>
            <a:off x="5074920" y="4590288"/>
            <a:ext cx="118872" cy="118872"/>
          </a:xfrm>
          <a:prstGeom prst="ellipse">
            <a:avLst/>
          </a:prstGeom>
          <a:solidFill>
            <a:srgbClr val="2F855A"/>
          </a:solidFill>
          <a:ln w="12700">
            <a:solidFill>
              <a:srgbClr val="2F855A"/>
            </a:solidFill>
            <a:prstDash val="solid"/>
          </a:ln>
        </p:spPr>
      </p:sp>
      <p:sp>
        <p:nvSpPr>
          <p:cNvPr id="16" name="Text 14"/>
          <p:cNvSpPr/>
          <p:nvPr/>
        </p:nvSpPr>
        <p:spPr>
          <a:xfrm>
            <a:off x="1024128" y="4425696"/>
            <a:ext cx="3886200" cy="438912"/>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داده‌های IMU امکان ثبت کمی شتاب و سرعت زاویه‌ای را فراهم می‌کنند.</a:t>
            </a:r>
            <a:endParaRPr lang="en-US" sz="15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5989320" y="1508760"/>
            <a:ext cx="5532120" cy="3931920"/>
          </a:xfrm>
          <a:prstGeom prst="roundRect">
            <a:avLst>
              <a:gd name="adj" fmla="val 1860"/>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18" name="Shape 16"/>
          <p:cNvSpPr/>
          <p:nvPr/>
        </p:nvSpPr>
        <p:spPr>
          <a:xfrm>
            <a:off x="8942832" y="1755648"/>
            <a:ext cx="2240280" cy="347472"/>
          </a:xfrm>
          <a:prstGeom prst="roundRect">
            <a:avLst>
              <a:gd name="adj" fmla="val 47368"/>
            </a:avLst>
          </a:prstGeom>
          <a:solidFill>
            <a:srgbClr val="E7F4F8"/>
          </a:solidFill>
          <a:ln w="12700">
            <a:solidFill>
              <a:srgbClr val="E7F4F8"/>
            </a:solidFill>
            <a:prstDash val="solid"/>
          </a:ln>
        </p:spPr>
      </p:sp>
      <p:sp>
        <p:nvSpPr>
          <p:cNvPr id="19" name="Text 17"/>
          <p:cNvSpPr/>
          <p:nvPr/>
        </p:nvSpPr>
        <p:spPr>
          <a:xfrm>
            <a:off x="9052560" y="1773936"/>
            <a:ext cx="202082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مرجع ارزیابی: NSAA</a:t>
            </a:r>
            <a:endParaRPr lang="en-US" sz="13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Text 18"/>
          <p:cNvSpPr/>
          <p:nvPr/>
        </p:nvSpPr>
        <p:spPr>
          <a:xfrm>
            <a:off x="6446520" y="2267712"/>
            <a:ext cx="4663440" cy="411480"/>
          </a:xfrm>
          <a:prstGeom prst="rect">
            <a:avLst/>
          </a:prstGeom>
          <a:noFill/>
          <a:ln/>
        </p:spPr>
        <p:txBody>
          <a:bodyPr wrap="square" lIns="0" tIns="0" rIns="0" bIns="0" rtlCol="0" anchor="ctr">
            <a:normAutofit/>
          </a:bodyPr>
          <a:lstStyle/>
          <a:p>
            <a:pPr marL="0" indent="0" algn="ctr" rtl="1">
              <a:buNone/>
            </a:pPr>
            <a:r>
              <a:rPr lang="en-US" sz="16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هر فعالیت با یک نمره گسسته ارزیابی می‌شود</a:t>
            </a:r>
            <a:endParaRPr lang="en-US" sz="16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Shape 19"/>
          <p:cNvSpPr/>
          <p:nvPr/>
        </p:nvSpPr>
        <p:spPr>
          <a:xfrm>
            <a:off x="6492240" y="2816352"/>
            <a:ext cx="4498848" cy="658368"/>
          </a:xfrm>
          <a:prstGeom prst="roundRect">
            <a:avLst>
              <a:gd name="adj" fmla="val 11111"/>
            </a:avLst>
          </a:prstGeom>
          <a:solidFill>
            <a:srgbClr val="E8F5EE"/>
          </a:solidFill>
          <a:ln w="15240">
            <a:solidFill>
              <a:srgbClr val="2F855A"/>
            </a:solidFill>
            <a:prstDash val="solid"/>
          </a:ln>
        </p:spPr>
      </p:sp>
      <p:sp>
        <p:nvSpPr>
          <p:cNvPr id="22" name="Shape 20"/>
          <p:cNvSpPr/>
          <p:nvPr/>
        </p:nvSpPr>
        <p:spPr>
          <a:xfrm>
            <a:off x="10314432" y="2907792"/>
            <a:ext cx="457200" cy="457200"/>
          </a:xfrm>
          <a:prstGeom prst="ellipse">
            <a:avLst/>
          </a:prstGeom>
          <a:solidFill>
            <a:srgbClr val="2F855A"/>
          </a:solidFill>
          <a:ln w="12700">
            <a:solidFill>
              <a:srgbClr val="2F855A"/>
            </a:solidFill>
            <a:prstDash val="solid"/>
          </a:ln>
        </p:spPr>
      </p:sp>
      <p:sp>
        <p:nvSpPr>
          <p:cNvPr id="23" name="Text 21"/>
          <p:cNvSpPr/>
          <p:nvPr/>
        </p:nvSpPr>
        <p:spPr>
          <a:xfrm>
            <a:off x="10314432" y="2907792"/>
            <a:ext cx="457200" cy="40233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۲</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Text 22"/>
          <p:cNvSpPr/>
          <p:nvPr/>
        </p:nvSpPr>
        <p:spPr>
          <a:xfrm>
            <a:off x="7360920" y="2880360"/>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اجرای طبیعی و مستقل</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3"/>
          <p:cNvSpPr/>
          <p:nvPr/>
        </p:nvSpPr>
        <p:spPr>
          <a:xfrm>
            <a:off x="6711696" y="3145536"/>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بدون الگوی جبرانی</a:t>
            </a:r>
            <a:endParaRPr lang="en-US" sz="11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Shape 24"/>
          <p:cNvSpPr/>
          <p:nvPr/>
        </p:nvSpPr>
        <p:spPr>
          <a:xfrm>
            <a:off x="6492240" y="3657600"/>
            <a:ext cx="4498848" cy="658368"/>
          </a:xfrm>
          <a:prstGeom prst="roundRect">
            <a:avLst>
              <a:gd name="adj" fmla="val 11111"/>
            </a:avLst>
          </a:prstGeom>
          <a:solidFill>
            <a:srgbClr val="FFF5D8"/>
          </a:solidFill>
          <a:ln w="15240">
            <a:solidFill>
              <a:srgbClr val="E69F00"/>
            </a:solidFill>
            <a:prstDash val="solid"/>
          </a:ln>
        </p:spPr>
      </p:sp>
      <p:sp>
        <p:nvSpPr>
          <p:cNvPr id="27" name="Shape 25"/>
          <p:cNvSpPr/>
          <p:nvPr/>
        </p:nvSpPr>
        <p:spPr>
          <a:xfrm>
            <a:off x="10314432" y="3749040"/>
            <a:ext cx="457200" cy="457200"/>
          </a:xfrm>
          <a:prstGeom prst="ellipse">
            <a:avLst/>
          </a:prstGeom>
          <a:solidFill>
            <a:srgbClr val="E69F00"/>
          </a:solidFill>
          <a:ln w="12700">
            <a:solidFill>
              <a:srgbClr val="E69F00"/>
            </a:solidFill>
            <a:prstDash val="solid"/>
          </a:ln>
        </p:spPr>
      </p:sp>
      <p:sp>
        <p:nvSpPr>
          <p:cNvPr id="28" name="Text 26"/>
          <p:cNvSpPr/>
          <p:nvPr/>
        </p:nvSpPr>
        <p:spPr>
          <a:xfrm>
            <a:off x="10314432" y="3749040"/>
            <a:ext cx="457200" cy="40233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Text 27"/>
          <p:cNvSpPr/>
          <p:nvPr/>
        </p:nvSpPr>
        <p:spPr>
          <a:xfrm>
            <a:off x="7360920" y="3721608"/>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اجرای مستقل با جبران</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8"/>
          <p:cNvSpPr/>
          <p:nvPr/>
        </p:nvSpPr>
        <p:spPr>
          <a:xfrm>
            <a:off x="6711696" y="3986784"/>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تغییر الگوی حرکت یا استفاده جبرانی</a:t>
            </a:r>
            <a:endParaRPr lang="en-US" sz="11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6492240" y="4498848"/>
            <a:ext cx="4498848" cy="658368"/>
          </a:xfrm>
          <a:prstGeom prst="roundRect">
            <a:avLst>
              <a:gd name="adj" fmla="val 11111"/>
            </a:avLst>
          </a:prstGeom>
          <a:solidFill>
            <a:srgbClr val="FDECEA"/>
          </a:solidFill>
          <a:ln w="15240">
            <a:solidFill>
              <a:srgbClr val="C0392B"/>
            </a:solidFill>
            <a:prstDash val="solid"/>
          </a:ln>
        </p:spPr>
      </p:sp>
      <p:sp>
        <p:nvSpPr>
          <p:cNvPr id="32" name="Shape 30"/>
          <p:cNvSpPr/>
          <p:nvPr/>
        </p:nvSpPr>
        <p:spPr>
          <a:xfrm>
            <a:off x="10314432" y="4590288"/>
            <a:ext cx="457200" cy="457200"/>
          </a:xfrm>
          <a:prstGeom prst="ellipse">
            <a:avLst/>
          </a:prstGeom>
          <a:solidFill>
            <a:srgbClr val="C0392B"/>
          </a:solidFill>
          <a:ln w="12700">
            <a:solidFill>
              <a:srgbClr val="C0392B"/>
            </a:solidFill>
            <a:prstDash val="solid"/>
          </a:ln>
        </p:spPr>
      </p:sp>
      <p:sp>
        <p:nvSpPr>
          <p:cNvPr id="33" name="Text 31"/>
          <p:cNvSpPr/>
          <p:nvPr/>
        </p:nvSpPr>
        <p:spPr>
          <a:xfrm>
            <a:off x="10314432" y="4590288"/>
            <a:ext cx="457200" cy="40233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۰</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Text 32"/>
          <p:cNvSpPr/>
          <p:nvPr/>
        </p:nvSpPr>
        <p:spPr>
          <a:xfrm>
            <a:off x="7360920" y="4562856"/>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ناتوانی در اجرای مستقل</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Text 33"/>
          <p:cNvSpPr/>
          <p:nvPr/>
        </p:nvSpPr>
        <p:spPr>
          <a:xfrm>
            <a:off x="6711696" y="4828032"/>
            <a:ext cx="3410712" cy="219456"/>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فعالیت به‌طور مستقل کامل نمی‌شود</a:t>
            </a:r>
            <a:endParaRPr lang="en-US" sz="11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Shape 34"/>
          <p:cNvSpPr/>
          <p:nvPr/>
        </p:nvSpPr>
        <p:spPr>
          <a:xfrm>
            <a:off x="1874520" y="5577840"/>
            <a:ext cx="8458200" cy="530352"/>
          </a:xfrm>
          <a:prstGeom prst="roundRect">
            <a:avLst>
              <a:gd name="adj" fmla="val 20690"/>
            </a:avLst>
          </a:prstGeom>
          <a:solidFill>
            <a:srgbClr val="102A43"/>
          </a:solidFill>
          <a:ln w="12700">
            <a:solidFill>
              <a:srgbClr val="102A43"/>
            </a:solidFill>
            <a:prstDash val="solid"/>
          </a:ln>
        </p:spPr>
      </p:sp>
      <p:sp>
        <p:nvSpPr>
          <p:cNvPr id="37" name="Text 35"/>
          <p:cNvSpPr/>
          <p:nvPr/>
        </p:nvSpPr>
        <p:spPr>
          <a:xfrm>
            <a:off x="2103120" y="5650992"/>
            <a:ext cx="8001000" cy="329184"/>
          </a:xfrm>
          <a:prstGeom prst="rect">
            <a:avLst/>
          </a:prstGeom>
          <a:noFill/>
          <a:ln/>
        </p:spPr>
        <p:txBody>
          <a:bodyPr wrap="square" lIns="0" tIns="0" rIns="0" bIns="0" rtlCol="0" anchor="ctr">
            <a:normAutofit/>
          </a:bodyPr>
          <a:lstStyle/>
          <a:p>
            <a:pPr marL="0" indent="0" algn="ctr" rtl="1">
              <a:buNone/>
            </a:pPr>
            <a:r>
              <a:rPr lang="en-US" sz="17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پرسش اصلی: آیا می‌توان سطوح عملکردی تعریف‌شده را از داده‌های حسگرهای اینرسیایی تفکیک کرد؟</a:t>
            </a:r>
            <a:endParaRPr lang="en-US" sz="17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Text 36"/>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Shape 37"/>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تعریف پروژه</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دامنه و دستاوردهای پروژه</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03</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5"/>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از ۱۷ فعالیت NSAA، پنج فعالیت با ماهیت حرکتی متفاوت انتخاب شد</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713232"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1389888" y="3182112"/>
            <a:ext cx="658368" cy="658368"/>
          </a:xfrm>
          <a:prstGeom prst="ellipse">
            <a:avLst/>
          </a:prstGeom>
          <a:solidFill>
            <a:srgbClr val="0B6E99"/>
          </a:solidFill>
          <a:ln w="12700">
            <a:solidFill>
              <a:srgbClr val="0B6E99"/>
            </a:solidFill>
            <a:prstDash val="solid"/>
          </a:ln>
        </p:spPr>
      </p:sp>
      <p:sp>
        <p:nvSpPr>
          <p:cNvPr id="10" name="Text 8"/>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1</a:t>
            </a:r>
            <a:endParaRPr lang="en-US" sz="20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877824"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ایستادن</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Text 10"/>
          <p:cNvSpPr/>
          <p:nvPr/>
        </p:nvSpPr>
        <p:spPr>
          <a:xfrm>
            <a:off x="877824"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تعادل و نوسان کم‌دامنه</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2980944"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4" name="Shape 12"/>
          <p:cNvSpPr/>
          <p:nvPr/>
        </p:nvSpPr>
        <p:spPr>
          <a:xfrm>
            <a:off x="3657600" y="3182112"/>
            <a:ext cx="658368" cy="658368"/>
          </a:xfrm>
          <a:prstGeom prst="ellipse">
            <a:avLst/>
          </a:prstGeom>
          <a:solidFill>
            <a:srgbClr val="0B7A75"/>
          </a:solidFill>
          <a:ln w="12700">
            <a:solidFill>
              <a:srgbClr val="0B7A75"/>
            </a:solidFill>
            <a:prstDash val="solid"/>
          </a:ln>
        </p:spPr>
      </p:sp>
      <p:sp>
        <p:nvSpPr>
          <p:cNvPr id="15" name="Text 13"/>
          <p:cNvSpPr/>
          <p:nvPr/>
        </p:nvSpPr>
        <p:spPr>
          <a:xfrm>
            <a:off x="3657600"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2</a:t>
            </a:r>
            <a:endParaRPr lang="en-US" sz="20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4"/>
          <p:cNvSpPr/>
          <p:nvPr/>
        </p:nvSpPr>
        <p:spPr>
          <a:xfrm>
            <a:off x="3145536"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برخاستن از صندلی</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Text 15"/>
          <p:cNvSpPr/>
          <p:nvPr/>
        </p:nvSpPr>
        <p:spPr>
          <a:xfrm>
            <a:off x="3145536"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هماهنگی تنه، دست و پا</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8" name="Shape 16"/>
          <p:cNvSpPr/>
          <p:nvPr/>
        </p:nvSpPr>
        <p:spPr>
          <a:xfrm>
            <a:off x="5248656"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9" name="Shape 17"/>
          <p:cNvSpPr/>
          <p:nvPr/>
        </p:nvSpPr>
        <p:spPr>
          <a:xfrm>
            <a:off x="5925312" y="3182112"/>
            <a:ext cx="658368" cy="658368"/>
          </a:xfrm>
          <a:prstGeom prst="ellipse">
            <a:avLst/>
          </a:prstGeom>
          <a:solidFill>
            <a:srgbClr val="E69F00"/>
          </a:solidFill>
          <a:ln w="12700">
            <a:solidFill>
              <a:srgbClr val="E69F00"/>
            </a:solidFill>
            <a:prstDash val="solid"/>
          </a:ln>
        </p:spPr>
      </p:sp>
      <p:sp>
        <p:nvSpPr>
          <p:cNvPr id="20" name="Text 18"/>
          <p:cNvSpPr/>
          <p:nvPr/>
        </p:nvSpPr>
        <p:spPr>
          <a:xfrm>
            <a:off x="5925312"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3</a:t>
            </a:r>
            <a:endParaRPr lang="en-US" sz="20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Text 19"/>
          <p:cNvSpPr/>
          <p:nvPr/>
        </p:nvSpPr>
        <p:spPr>
          <a:xfrm>
            <a:off x="5413248"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پریدن</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2" name="Text 20"/>
          <p:cNvSpPr/>
          <p:nvPr/>
        </p:nvSpPr>
        <p:spPr>
          <a:xfrm>
            <a:off x="5413248"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حرکت سریع و انفجاری</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Shape 21"/>
          <p:cNvSpPr/>
          <p:nvPr/>
        </p:nvSpPr>
        <p:spPr>
          <a:xfrm>
            <a:off x="7516368"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4" name="Shape 22"/>
          <p:cNvSpPr/>
          <p:nvPr/>
        </p:nvSpPr>
        <p:spPr>
          <a:xfrm>
            <a:off x="8193024" y="3182112"/>
            <a:ext cx="658368" cy="658368"/>
          </a:xfrm>
          <a:prstGeom prst="ellipse">
            <a:avLst/>
          </a:prstGeom>
          <a:solidFill>
            <a:srgbClr val="2F855A"/>
          </a:solidFill>
          <a:ln w="12700">
            <a:solidFill>
              <a:srgbClr val="2F855A"/>
            </a:solidFill>
            <a:prstDash val="solid"/>
          </a:ln>
        </p:spPr>
      </p:sp>
      <p:sp>
        <p:nvSpPr>
          <p:cNvPr id="25" name="Text 23"/>
          <p:cNvSpPr/>
          <p:nvPr/>
        </p:nvSpPr>
        <p:spPr>
          <a:xfrm>
            <a:off x="8193024"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4</a:t>
            </a:r>
            <a:endParaRPr lang="en-US" sz="20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Text 24"/>
          <p:cNvSpPr/>
          <p:nvPr/>
        </p:nvSpPr>
        <p:spPr>
          <a:xfrm>
            <a:off x="7680960"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آوردن سر</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Text 25"/>
          <p:cNvSpPr/>
          <p:nvPr/>
        </p:nvSpPr>
        <p:spPr>
          <a:xfrm>
            <a:off x="7680960"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حرکت ضدجاذبه گردن</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9" name="Shape 27"/>
          <p:cNvSpPr/>
          <p:nvPr/>
        </p:nvSpPr>
        <p:spPr>
          <a:xfrm>
            <a:off x="10460736" y="3182112"/>
            <a:ext cx="658368" cy="658368"/>
          </a:xfrm>
          <a:prstGeom prst="ellipse">
            <a:avLst/>
          </a:prstGeom>
          <a:solidFill>
            <a:srgbClr val="C0392B"/>
          </a:solidFill>
          <a:ln w="12700">
            <a:solidFill>
              <a:srgbClr val="C0392B"/>
            </a:solidFill>
            <a:prstDash val="solid"/>
          </a:ln>
        </p:spPr>
      </p:sp>
      <p:sp>
        <p:nvSpPr>
          <p:cNvPr id="30" name="Text 28"/>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5</a:t>
            </a:r>
            <a:endParaRPr lang="en-US" sz="20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Text 29"/>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رفتن از جعبه</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Text 30"/>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انتقال وزن و تعادل</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Shape 31"/>
          <p:cNvSpPr/>
          <p:nvPr/>
        </p:nvSpPr>
        <p:spPr>
          <a:xfrm>
            <a:off x="713232" y="5303520"/>
            <a:ext cx="10771632" cy="859536"/>
          </a:xfrm>
          <a:prstGeom prst="roundRect">
            <a:avLst>
              <a:gd name="adj" fmla="val 8511"/>
            </a:avLst>
          </a:prstGeom>
          <a:solidFill>
            <a:srgbClr val="102A43"/>
          </a:solidFill>
          <a:ln w="12700">
            <a:solidFill>
              <a:srgbClr val="102A43"/>
            </a:solidFill>
            <a:prstDash val="solid"/>
          </a:ln>
        </p:spPr>
      </p:sp>
      <p:sp>
        <p:nvSpPr>
          <p:cNvPr id="34" name="Shape 32"/>
          <p:cNvSpPr/>
          <p:nvPr/>
        </p:nvSpPr>
        <p:spPr>
          <a:xfrm>
            <a:off x="3703320" y="5504688"/>
            <a:ext cx="438912" cy="438912"/>
          </a:xfrm>
          <a:prstGeom prst="ellipse">
            <a:avLst/>
          </a:prstGeom>
          <a:solidFill>
            <a:srgbClr val="1D8AB5"/>
          </a:solidFill>
          <a:ln w="12700">
            <a:solidFill>
              <a:srgbClr val="1D8AB5"/>
            </a:solidFill>
            <a:prstDash val="solid"/>
          </a:ln>
        </p:spPr>
      </p:sp>
      <p:sp>
        <p:nvSpPr>
          <p:cNvPr id="35" name="Text 33"/>
          <p:cNvSpPr/>
          <p:nvPr/>
        </p:nvSpPr>
        <p:spPr>
          <a:xfrm>
            <a:off x="3703320" y="5513832"/>
            <a:ext cx="438912" cy="38404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1</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Text 34"/>
          <p:cNvSpPr/>
          <p:nvPr/>
        </p:nvSpPr>
        <p:spPr>
          <a:xfrm>
            <a:off x="868680"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سامانه پوشیدنی پنج‌حسگری</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Text 35"/>
          <p:cNvSpPr/>
          <p:nvPr/>
        </p:nvSpPr>
        <p:spPr>
          <a:xfrm>
            <a:off x="868680"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ثبت هم‌زمان حرکات سر، دست‌ها و پاها</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Shape 36"/>
          <p:cNvSpPr/>
          <p:nvPr/>
        </p:nvSpPr>
        <p:spPr>
          <a:xfrm>
            <a:off x="7260336" y="5504688"/>
            <a:ext cx="438912" cy="438912"/>
          </a:xfrm>
          <a:prstGeom prst="ellipse">
            <a:avLst/>
          </a:prstGeom>
          <a:solidFill>
            <a:srgbClr val="1D8AB5"/>
          </a:solidFill>
          <a:ln w="12700">
            <a:solidFill>
              <a:srgbClr val="1D8AB5"/>
            </a:solidFill>
            <a:prstDash val="solid"/>
          </a:ln>
        </p:spPr>
      </p:sp>
      <p:sp>
        <p:nvSpPr>
          <p:cNvPr id="39" name="Text 37"/>
          <p:cNvSpPr/>
          <p:nvPr/>
        </p:nvSpPr>
        <p:spPr>
          <a:xfrm>
            <a:off x="7260336" y="5513832"/>
            <a:ext cx="438912" cy="38404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2</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Text 38"/>
          <p:cNvSpPr/>
          <p:nvPr/>
        </p:nvSpPr>
        <p:spPr>
          <a:xfrm>
            <a:off x="4425696"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زنجیره کامل پردازش</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Text 39"/>
          <p:cNvSpPr/>
          <p:nvPr/>
        </p:nvSpPr>
        <p:spPr>
          <a:xfrm>
            <a:off x="4425696"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از سیگنال خام تا بردار ویژگی و مدل طبقه‌بند</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2" name="Shape 40"/>
          <p:cNvSpPr/>
          <p:nvPr/>
        </p:nvSpPr>
        <p:spPr>
          <a:xfrm>
            <a:off x="10817352" y="5504688"/>
            <a:ext cx="438912" cy="438912"/>
          </a:xfrm>
          <a:prstGeom prst="ellipse">
            <a:avLst/>
          </a:prstGeom>
          <a:solidFill>
            <a:srgbClr val="1D8AB5"/>
          </a:solidFill>
          <a:ln w="12700">
            <a:solidFill>
              <a:srgbClr val="1D8AB5"/>
            </a:solidFill>
            <a:prstDash val="solid"/>
          </a:ln>
        </p:spPr>
      </p:sp>
      <p:sp>
        <p:nvSpPr>
          <p:cNvPr id="43" name="Text 41"/>
          <p:cNvSpPr/>
          <p:nvPr/>
        </p:nvSpPr>
        <p:spPr>
          <a:xfrm>
            <a:off x="10817352" y="5513832"/>
            <a:ext cx="438912" cy="384048"/>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3</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4" name="Text 42"/>
          <p:cNvSpPr/>
          <p:nvPr/>
        </p:nvSpPr>
        <p:spPr>
          <a:xfrm>
            <a:off x="7982712" y="542239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مدل‌سازی مستقل هر فعالیت</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5" name="Text 43"/>
          <p:cNvSpPr/>
          <p:nvPr/>
        </p:nvSpPr>
        <p:spPr>
          <a:xfrm>
            <a:off x="7982712" y="571500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انتخاب تعداد مؤلفه و مدل مناسب برای هر حرکت</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6" name="Text 44"/>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7" name="Shape 45"/>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روش‌شناسی و تفسیر</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نکته کلیدی درباره داده‌ها</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04</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777240" y="1572768"/>
            <a:ext cx="10652760" cy="4526280"/>
          </a:xfrm>
          <a:prstGeom prst="roundRect">
            <a:avLst>
              <a:gd name="adj" fmla="val 1616"/>
            </a:avLst>
          </a:prstGeom>
          <a:solidFill>
            <a:srgbClr val="FFF5D8"/>
          </a:solidFill>
          <a:ln w="17780">
            <a:solidFill>
              <a:srgbClr val="F2C15C"/>
            </a:solidFill>
            <a:prstDash val="solid"/>
          </a:ln>
          <a:effectLst>
            <a:outerShdw blurRad="12700" dist="50800" dir="2700000" algn="bl" rotWithShape="0">
              <a:srgbClr val="B0BEC5">
                <a:alpha val="12000"/>
              </a:srgbClr>
            </a:outerShdw>
          </a:effectLst>
        </p:spPr>
      </p:sp>
      <p:sp>
        <p:nvSpPr>
          <p:cNvPr id="8" name="Shape 6"/>
          <p:cNvSpPr/>
          <p:nvPr/>
        </p:nvSpPr>
        <p:spPr>
          <a:xfrm>
            <a:off x="8924544" y="1810512"/>
            <a:ext cx="2103120" cy="347472"/>
          </a:xfrm>
          <a:prstGeom prst="roundRect">
            <a:avLst>
              <a:gd name="adj" fmla="val 47368"/>
            </a:avLst>
          </a:prstGeom>
          <a:solidFill>
            <a:srgbClr val="FFE6A6"/>
          </a:solidFill>
          <a:ln w="12700">
            <a:solidFill>
              <a:srgbClr val="FFE6A6"/>
            </a:solidFill>
            <a:prstDash val="solid"/>
          </a:ln>
        </p:spPr>
      </p:sp>
      <p:sp>
        <p:nvSpPr>
          <p:cNvPr id="9" name="Text 7"/>
          <p:cNvSpPr/>
          <p:nvPr/>
        </p:nvSpPr>
        <p:spPr>
          <a:xfrm>
            <a:off x="9034272" y="1828800"/>
            <a:ext cx="1883664" cy="310896"/>
          </a:xfrm>
          <a:prstGeom prst="rect">
            <a:avLst/>
          </a:prstGeom>
          <a:noFill/>
          <a:ln/>
        </p:spPr>
        <p:txBody>
          <a:bodyPr wrap="square" lIns="0" tIns="0" rIns="0" bIns="0" rtlCol="0" anchor="ctr">
            <a:normAutofit/>
          </a:bodyPr>
          <a:lstStyle/>
          <a:p>
            <a:pPr marL="0" indent="0" algn="ctr" rtl="1">
              <a:buNone/>
            </a:pPr>
            <a:r>
              <a:rPr lang="en-US" sz="1400" b="1" dirty="0">
                <a:solidFill>
                  <a:srgbClr val="8A5A00"/>
                </a:solidFill>
                <a:latin typeface="Sharif 1.2 ExtraLight" panose="020B0000040000000000" pitchFamily="34" charset="-78"/>
                <a:ea typeface="Sharif 1.2 ExtraLight" panose="020B0000040000000000" pitchFamily="34" charset="-78"/>
                <a:cs typeface="Sharif 1.2 ExtraLight" panose="020B0000040000000000" pitchFamily="34" charset="-78"/>
              </a:rPr>
              <a:t>شفاف‌سازی ضروری</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Shape 8"/>
          <p:cNvSpPr/>
          <p:nvPr/>
        </p:nvSpPr>
        <p:spPr>
          <a:xfrm>
            <a:off x="8778240" y="2423160"/>
            <a:ext cx="1965960" cy="1389888"/>
          </a:xfrm>
          <a:prstGeom prst="roundRect">
            <a:avLst>
              <a:gd name="adj" fmla="val 5263"/>
            </a:avLst>
          </a:prstGeom>
          <a:solidFill>
            <a:srgbClr val="FFFFFF"/>
          </a:solidFill>
          <a:ln w="19050">
            <a:solidFill>
              <a:srgbClr val="0B6E99"/>
            </a:solidFill>
            <a:prstDash val="solid"/>
          </a:ln>
        </p:spPr>
      </p:sp>
      <p:sp>
        <p:nvSpPr>
          <p:cNvPr id="11" name="Shape 9"/>
          <p:cNvSpPr/>
          <p:nvPr/>
        </p:nvSpPr>
        <p:spPr>
          <a:xfrm>
            <a:off x="9482328" y="2624328"/>
            <a:ext cx="548640" cy="548640"/>
          </a:xfrm>
          <a:prstGeom prst="ellipse">
            <a:avLst/>
          </a:prstGeom>
          <a:solidFill>
            <a:srgbClr val="0B6E99"/>
          </a:solidFill>
          <a:ln w="12700">
            <a:solidFill>
              <a:srgbClr val="0B6E99"/>
            </a:solidFill>
            <a:prstDash val="solid"/>
          </a:ln>
        </p:spPr>
      </p:sp>
      <p:sp>
        <p:nvSpPr>
          <p:cNvPr id="12" name="Text 10"/>
          <p:cNvSpPr/>
          <p:nvPr/>
        </p:nvSpPr>
        <p:spPr>
          <a:xfrm>
            <a:off x="9482328"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4</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1"/>
          <p:cNvSpPr/>
          <p:nvPr/>
        </p:nvSpPr>
        <p:spPr>
          <a:xfrm>
            <a:off x="8915400"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فرد سالم</a:t>
            </a:r>
            <a:endParaRPr lang="en-US" sz="14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Text 12"/>
          <p:cNvSpPr/>
          <p:nvPr/>
        </p:nvSpPr>
        <p:spPr>
          <a:xfrm>
            <a:off x="8915400"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آشنا با دوشن و معیار NSAA</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5" name="Shape 13"/>
          <p:cNvSpPr/>
          <p:nvPr/>
        </p:nvSpPr>
        <p:spPr>
          <a:xfrm>
            <a:off x="8595360" y="3127248"/>
            <a:ext cx="0" cy="0"/>
          </a:xfrm>
          <a:prstGeom prst="line">
            <a:avLst/>
          </a:prstGeom>
          <a:noFill/>
          <a:ln w="27940">
            <a:solidFill>
              <a:srgbClr val="E69F00"/>
            </a:solidFill>
            <a:prstDash val="solid"/>
            <a:headEnd type="none"/>
            <a:tailEnd type="triangle"/>
          </a:ln>
        </p:spPr>
      </p:sp>
      <p:sp>
        <p:nvSpPr>
          <p:cNvPr id="16" name="Shape 14"/>
          <p:cNvSpPr/>
          <p:nvPr/>
        </p:nvSpPr>
        <p:spPr>
          <a:xfrm>
            <a:off x="6199632" y="2423160"/>
            <a:ext cx="1965960" cy="1389888"/>
          </a:xfrm>
          <a:prstGeom prst="roundRect">
            <a:avLst>
              <a:gd name="adj" fmla="val 5263"/>
            </a:avLst>
          </a:prstGeom>
          <a:solidFill>
            <a:srgbClr val="FFFFFF"/>
          </a:solidFill>
          <a:ln w="19050">
            <a:solidFill>
              <a:srgbClr val="E69F00"/>
            </a:solidFill>
            <a:prstDash val="solid"/>
          </a:ln>
        </p:spPr>
      </p:sp>
      <p:sp>
        <p:nvSpPr>
          <p:cNvPr id="17" name="Shape 15"/>
          <p:cNvSpPr/>
          <p:nvPr/>
        </p:nvSpPr>
        <p:spPr>
          <a:xfrm>
            <a:off x="6903720" y="2624328"/>
            <a:ext cx="548640" cy="548640"/>
          </a:xfrm>
          <a:prstGeom prst="ellipse">
            <a:avLst/>
          </a:prstGeom>
          <a:solidFill>
            <a:srgbClr val="E69F00"/>
          </a:solidFill>
          <a:ln w="12700">
            <a:solidFill>
              <a:srgbClr val="E69F00"/>
            </a:solidFill>
            <a:prstDash val="solid"/>
          </a:ln>
        </p:spPr>
      </p:sp>
      <p:sp>
        <p:nvSpPr>
          <p:cNvPr id="18" name="Text 16"/>
          <p:cNvSpPr/>
          <p:nvPr/>
        </p:nvSpPr>
        <p:spPr>
          <a:xfrm>
            <a:off x="6903720"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3</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7"/>
          <p:cNvSpPr/>
          <p:nvPr/>
        </p:nvSpPr>
        <p:spPr>
          <a:xfrm>
            <a:off x="6336792"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شبیه‌سازی کنترل‌شده</a:t>
            </a:r>
            <a:endParaRPr lang="en-US" sz="14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Text 18"/>
          <p:cNvSpPr/>
          <p:nvPr/>
        </p:nvSpPr>
        <p:spPr>
          <a:xfrm>
            <a:off x="6336792"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اجرای الگوهای متناظر با نمره‌های ۰، ۱ و ۲</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Shape 19"/>
          <p:cNvSpPr/>
          <p:nvPr/>
        </p:nvSpPr>
        <p:spPr>
          <a:xfrm>
            <a:off x="6016752" y="3127248"/>
            <a:ext cx="0" cy="0"/>
          </a:xfrm>
          <a:prstGeom prst="line">
            <a:avLst/>
          </a:prstGeom>
          <a:noFill/>
          <a:ln w="27940">
            <a:solidFill>
              <a:srgbClr val="E69F00"/>
            </a:solidFill>
            <a:prstDash val="solid"/>
            <a:headEnd type="none"/>
            <a:tailEnd type="triangle"/>
          </a:ln>
        </p:spPr>
      </p:sp>
      <p:sp>
        <p:nvSpPr>
          <p:cNvPr id="22" name="Shape 20"/>
          <p:cNvSpPr/>
          <p:nvPr/>
        </p:nvSpPr>
        <p:spPr>
          <a:xfrm>
            <a:off x="3621024" y="2423160"/>
            <a:ext cx="1965960" cy="1389888"/>
          </a:xfrm>
          <a:prstGeom prst="roundRect">
            <a:avLst>
              <a:gd name="adj" fmla="val 5263"/>
            </a:avLst>
          </a:prstGeom>
          <a:solidFill>
            <a:srgbClr val="FFFFFF"/>
          </a:solidFill>
          <a:ln w="19050">
            <a:solidFill>
              <a:srgbClr val="0B7A75"/>
            </a:solidFill>
            <a:prstDash val="solid"/>
          </a:ln>
        </p:spPr>
      </p:sp>
      <p:sp>
        <p:nvSpPr>
          <p:cNvPr id="23" name="Shape 21"/>
          <p:cNvSpPr/>
          <p:nvPr/>
        </p:nvSpPr>
        <p:spPr>
          <a:xfrm>
            <a:off x="4325112" y="2624328"/>
            <a:ext cx="548640" cy="548640"/>
          </a:xfrm>
          <a:prstGeom prst="ellipse">
            <a:avLst/>
          </a:prstGeom>
          <a:solidFill>
            <a:srgbClr val="0B7A75"/>
          </a:solidFill>
          <a:ln w="12700">
            <a:solidFill>
              <a:srgbClr val="0B7A75"/>
            </a:solidFill>
            <a:prstDash val="solid"/>
          </a:ln>
        </p:spPr>
      </p:sp>
      <p:sp>
        <p:nvSpPr>
          <p:cNvPr id="24" name="Text 22"/>
          <p:cNvSpPr/>
          <p:nvPr/>
        </p:nvSpPr>
        <p:spPr>
          <a:xfrm>
            <a:off x="4325112"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2</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3"/>
          <p:cNvSpPr/>
          <p:nvPr/>
        </p:nvSpPr>
        <p:spPr>
          <a:xfrm>
            <a:off x="3758184"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ثبت با پنج حسگر</a:t>
            </a:r>
            <a:endParaRPr lang="en-US" sz="14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Text 24"/>
          <p:cNvSpPr/>
          <p:nvPr/>
        </p:nvSpPr>
        <p:spPr>
          <a:xfrm>
            <a:off x="3758184"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داده‌های شتاب و سرعت زاویه‌ای</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Shape 25"/>
          <p:cNvSpPr/>
          <p:nvPr/>
        </p:nvSpPr>
        <p:spPr>
          <a:xfrm>
            <a:off x="3438144" y="3127248"/>
            <a:ext cx="0" cy="0"/>
          </a:xfrm>
          <a:prstGeom prst="line">
            <a:avLst/>
          </a:prstGeom>
          <a:noFill/>
          <a:ln w="27940">
            <a:solidFill>
              <a:srgbClr val="E69F00"/>
            </a:solidFill>
            <a:prstDash val="solid"/>
            <a:headEnd type="none"/>
            <a:tailEnd type="triangle"/>
          </a:ln>
        </p:spPr>
      </p:sp>
      <p:sp>
        <p:nvSpPr>
          <p:cNvPr id="28" name="Shape 26"/>
          <p:cNvSpPr/>
          <p:nvPr/>
        </p:nvSpPr>
        <p:spPr>
          <a:xfrm>
            <a:off x="1042416" y="2423160"/>
            <a:ext cx="1965960" cy="1389888"/>
          </a:xfrm>
          <a:prstGeom prst="roundRect">
            <a:avLst>
              <a:gd name="adj" fmla="val 5263"/>
            </a:avLst>
          </a:prstGeom>
          <a:solidFill>
            <a:srgbClr val="FFFFFF"/>
          </a:solidFill>
          <a:ln w="19050">
            <a:solidFill>
              <a:srgbClr val="2F855A"/>
            </a:solidFill>
            <a:prstDash val="solid"/>
          </a:ln>
        </p:spPr>
      </p:sp>
      <p:sp>
        <p:nvSpPr>
          <p:cNvPr id="29" name="Shape 27"/>
          <p:cNvSpPr/>
          <p:nvPr/>
        </p:nvSpPr>
        <p:spPr>
          <a:xfrm>
            <a:off x="1746504" y="2624328"/>
            <a:ext cx="548640" cy="548640"/>
          </a:xfrm>
          <a:prstGeom prst="ellipse">
            <a:avLst/>
          </a:prstGeom>
          <a:solidFill>
            <a:srgbClr val="2F855A"/>
          </a:solidFill>
          <a:ln w="12700">
            <a:solidFill>
              <a:srgbClr val="2F855A"/>
            </a:solidFill>
            <a:prstDash val="solid"/>
          </a:ln>
        </p:spPr>
      </p:sp>
      <p:sp>
        <p:nvSpPr>
          <p:cNvPr id="30" name="Text 28"/>
          <p:cNvSpPr/>
          <p:nvPr/>
        </p:nvSpPr>
        <p:spPr>
          <a:xfrm>
            <a:off x="1746504" y="2697480"/>
            <a:ext cx="548640" cy="34747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1</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Text 29"/>
          <p:cNvSpPr/>
          <p:nvPr/>
        </p:nvSpPr>
        <p:spPr>
          <a:xfrm>
            <a:off x="1179576" y="3227832"/>
            <a:ext cx="1691640" cy="256032"/>
          </a:xfrm>
          <a:prstGeom prst="rect">
            <a:avLst/>
          </a:prstGeom>
          <a:noFill/>
          <a:ln/>
        </p:spPr>
        <p:txBody>
          <a:bodyPr wrap="square" lIns="0" tIns="0" rIns="0" bIns="0" rtlCol="0" anchor="ctr">
            <a:normAutofit/>
          </a:bodyPr>
          <a:lstStyle/>
          <a:p>
            <a:pPr marL="0" indent="0" algn="ctr" rtl="1">
              <a:buNone/>
            </a:pPr>
            <a:r>
              <a:rPr lang="en-US" sz="14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توسعه مدل</a:t>
            </a:r>
            <a:endParaRPr lang="en-US" sz="14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Text 30"/>
          <p:cNvSpPr/>
          <p:nvPr/>
        </p:nvSpPr>
        <p:spPr>
          <a:xfrm>
            <a:off x="1179576" y="3493008"/>
            <a:ext cx="1691640" cy="256032"/>
          </a:xfrm>
          <a:prstGeom prst="rect">
            <a:avLst/>
          </a:prstGeom>
          <a:noFill/>
          <a:ln/>
        </p:spPr>
        <p:txBody>
          <a:bodyPr wrap="square" lIns="0" tIns="0" rIns="0" bIns="0" rtlCol="0" anchor="t">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امکان‌سنجی تفکیک سطوح</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Shape 31"/>
          <p:cNvSpPr/>
          <p:nvPr/>
        </p:nvSpPr>
        <p:spPr>
          <a:xfrm>
            <a:off x="1051560" y="4297680"/>
            <a:ext cx="9189720" cy="1024128"/>
          </a:xfrm>
          <a:prstGeom prst="roundRect">
            <a:avLst>
              <a:gd name="adj" fmla="val 10714"/>
            </a:avLst>
          </a:prstGeom>
          <a:solidFill>
            <a:srgbClr val="FFFFFF"/>
          </a:solidFill>
          <a:ln w="20320">
            <a:solidFill>
              <a:srgbClr val="C0392B"/>
            </a:solidFill>
            <a:prstDash val="solid"/>
          </a:ln>
        </p:spPr>
      </p:sp>
      <p:sp>
        <p:nvSpPr>
          <p:cNvPr id="34" name="Shape 32"/>
          <p:cNvSpPr/>
          <p:nvPr/>
        </p:nvSpPr>
        <p:spPr>
          <a:xfrm>
            <a:off x="9665208" y="4553712"/>
            <a:ext cx="438912" cy="438912"/>
          </a:xfrm>
          <a:prstGeom prst="ellipse">
            <a:avLst/>
          </a:prstGeom>
          <a:solidFill>
            <a:srgbClr val="C0392B"/>
          </a:solidFill>
          <a:ln w="12700">
            <a:solidFill>
              <a:srgbClr val="C0392B"/>
            </a:solidFill>
            <a:prstDash val="solid"/>
          </a:ln>
        </p:spPr>
      </p:sp>
      <p:sp>
        <p:nvSpPr>
          <p:cNvPr id="35" name="Text 33"/>
          <p:cNvSpPr/>
          <p:nvPr/>
        </p:nvSpPr>
        <p:spPr>
          <a:xfrm>
            <a:off x="9665208" y="4572000"/>
            <a:ext cx="438912" cy="310896"/>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Text 34"/>
          <p:cNvSpPr/>
          <p:nvPr/>
        </p:nvSpPr>
        <p:spPr>
          <a:xfrm>
            <a:off x="2103120" y="4443984"/>
            <a:ext cx="7360920" cy="347472"/>
          </a:xfrm>
          <a:prstGeom prst="rect">
            <a:avLst/>
          </a:prstGeom>
          <a:noFill/>
          <a:ln/>
        </p:spPr>
        <p:txBody>
          <a:bodyPr wrap="square" lIns="0" tIns="0" rIns="0" bIns="0" rtlCol="0" anchor="ctr">
            <a:normAutofit/>
          </a:bodyPr>
          <a:lstStyle/>
          <a:p>
            <a:pPr marL="0" indent="0" algn="ctr" rtl="1">
              <a:buNone/>
            </a:pPr>
            <a:r>
              <a:rPr lang="en-US" sz="200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هیچ داده‌ای از بیمار مبتلا به دوشن برای آموزش مدل‌ها استفاده نشده است.</a:t>
            </a:r>
            <a:endParaRPr lang="en-US" sz="20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Text 35"/>
          <p:cNvSpPr/>
          <p:nvPr/>
        </p:nvSpPr>
        <p:spPr>
          <a:xfrm>
            <a:off x="2103120" y="4828032"/>
            <a:ext cx="7360920" cy="274320"/>
          </a:xfrm>
          <a:prstGeom prst="rect">
            <a:avLst/>
          </a:prstGeom>
          <a:noFill/>
          <a:ln/>
        </p:spPr>
        <p:txBody>
          <a:bodyPr wrap="square" lIns="0" tIns="0" rIns="0" bIns="0" rtlCol="0" anchor="ctr">
            <a:normAutofit/>
          </a:bodyPr>
          <a:lstStyle/>
          <a:p>
            <a:pPr marL="0" indent="0" algn="ctr" rtl="1">
              <a:buNone/>
            </a:pPr>
            <a:r>
              <a:rPr lang="en-US" sz="13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نتایج این پژوهش باید به‌عنوان امکان‌سنجی فنی تفسیر شوند، نه اثبات کاربرد بالینی.</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Text 36"/>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Shape 37"/>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پیاده‌سازی سخت‌افزار</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سامانه داده‌برداری و محل نصب حسگرها</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05</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658368" y="1463040"/>
            <a:ext cx="5166360" cy="4681728"/>
          </a:xfrm>
          <a:prstGeom prst="roundRect">
            <a:avLst>
              <a:gd name="adj" fmla="val 1563"/>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pic>
        <p:nvPicPr>
          <p:cNvPr id="8" name="Image 0" descr="/mnt/data/dmd_assets/crops/sensor_photos.png"/>
          <p:cNvPicPr>
            <a:picLocks noChangeAspect="1"/>
          </p:cNvPicPr>
          <p:nvPr/>
        </p:nvPicPr>
        <p:blipFill>
          <a:blip r:embed="rId3"/>
          <a:srcRect t="12484" b="12484"/>
          <a:stretch/>
        </p:blipFill>
        <p:spPr>
          <a:xfrm>
            <a:off x="841248" y="1691640"/>
            <a:ext cx="4800600" cy="2240280"/>
          </a:xfrm>
          <a:prstGeom prst="rect">
            <a:avLst/>
          </a:prstGeom>
        </p:spPr>
      </p:pic>
      <p:sp>
        <p:nvSpPr>
          <p:cNvPr id="9" name="Text 6"/>
          <p:cNvSpPr/>
          <p:nvPr/>
        </p:nvSpPr>
        <p:spPr>
          <a:xfrm>
            <a:off x="932688" y="4023360"/>
            <a:ext cx="4617720" cy="329184"/>
          </a:xfrm>
          <a:prstGeom prst="rect">
            <a:avLst/>
          </a:prstGeom>
          <a:noFill/>
          <a:ln/>
        </p:spPr>
        <p:txBody>
          <a:bodyPr wrap="square" lIns="0" tIns="0" rIns="0" bIns="0" rtlCol="0" anchor="ctr">
            <a:normAutofit/>
          </a:bodyPr>
          <a:lstStyle/>
          <a:p>
            <a:pPr marL="0" indent="0" algn="ctr" rtl="1">
              <a:buNone/>
            </a:pPr>
            <a:r>
              <a:rPr lang="en-US" sz="12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نمونه نصب حسگر روی مچ دست و بالای قوزک خارجی</a:t>
            </a:r>
            <a:endParaRPr lang="en-US" sz="12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Shape 7"/>
          <p:cNvSpPr/>
          <p:nvPr/>
        </p:nvSpPr>
        <p:spPr>
          <a:xfrm>
            <a:off x="896112" y="4617720"/>
            <a:ext cx="1051560" cy="1005840"/>
          </a:xfrm>
          <a:prstGeom prst="roundRect">
            <a:avLst>
              <a:gd name="adj" fmla="val 7273"/>
            </a:avLst>
          </a:prstGeom>
          <a:solidFill>
            <a:srgbClr val="EEF4F8"/>
          </a:solidFill>
          <a:ln w="12700">
            <a:solidFill>
              <a:srgbClr val="D8E5EC"/>
            </a:solidFill>
            <a:prstDash val="solid"/>
          </a:ln>
        </p:spPr>
      </p:sp>
      <p:sp>
        <p:nvSpPr>
          <p:cNvPr id="11" name="Text 8"/>
          <p:cNvSpPr/>
          <p:nvPr/>
        </p:nvSpPr>
        <p:spPr>
          <a:xfrm>
            <a:off x="950976" y="4736592"/>
            <a:ext cx="941832" cy="292608"/>
          </a:xfrm>
          <a:prstGeom prst="rect">
            <a:avLst/>
          </a:prstGeom>
          <a:noFill/>
          <a:ln/>
        </p:spPr>
        <p:txBody>
          <a:bodyPr wrap="square" lIns="0" tIns="0" rIns="0" bIns="0" rtlCol="0" anchor="ctr">
            <a:normAutofit/>
          </a:bodyPr>
          <a:lstStyle/>
          <a:p>
            <a:pPr marL="0" indent="0" algn="ctr" rtl="1">
              <a:buNone/>
            </a:pPr>
            <a:r>
              <a:rPr lang="en-US" sz="190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۵</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Text 9"/>
          <p:cNvSpPr/>
          <p:nvPr/>
        </p:nvSpPr>
        <p:spPr>
          <a:xfrm>
            <a:off x="95097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حسگر</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0"/>
          <p:cNvSpPr/>
          <p:nvPr/>
        </p:nvSpPr>
        <p:spPr>
          <a:xfrm>
            <a:off x="2084832" y="4617720"/>
            <a:ext cx="1051560" cy="1005840"/>
          </a:xfrm>
          <a:prstGeom prst="roundRect">
            <a:avLst>
              <a:gd name="adj" fmla="val 7273"/>
            </a:avLst>
          </a:prstGeom>
          <a:solidFill>
            <a:srgbClr val="EEF4F8"/>
          </a:solidFill>
          <a:ln w="12700">
            <a:solidFill>
              <a:srgbClr val="D8E5EC"/>
            </a:solidFill>
            <a:prstDash val="solid"/>
          </a:ln>
        </p:spPr>
      </p:sp>
      <p:sp>
        <p:nvSpPr>
          <p:cNvPr id="14" name="Text 11"/>
          <p:cNvSpPr/>
          <p:nvPr/>
        </p:nvSpPr>
        <p:spPr>
          <a:xfrm>
            <a:off x="2139696" y="4736592"/>
            <a:ext cx="941832" cy="292608"/>
          </a:xfrm>
          <a:prstGeom prst="rect">
            <a:avLst/>
          </a:prstGeom>
          <a:noFill/>
          <a:ln/>
        </p:spPr>
        <p:txBody>
          <a:bodyPr wrap="square" lIns="0" tIns="0" rIns="0" bIns="0" rtlCol="0" anchor="ctr">
            <a:normAutofit/>
          </a:bodyPr>
          <a:lstStyle/>
          <a:p>
            <a:pPr marL="0" indent="0" algn="ctr" rtl="1">
              <a:buNone/>
            </a:pPr>
            <a:r>
              <a:rPr lang="en-US" sz="190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۹۰–۱۰۰</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5" name="Text 12"/>
          <p:cNvSpPr/>
          <p:nvPr/>
        </p:nvSpPr>
        <p:spPr>
          <a:xfrm>
            <a:off x="213969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هرتز</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Shape 13"/>
          <p:cNvSpPr/>
          <p:nvPr/>
        </p:nvSpPr>
        <p:spPr>
          <a:xfrm>
            <a:off x="3273552" y="4617720"/>
            <a:ext cx="1051560" cy="1005840"/>
          </a:xfrm>
          <a:prstGeom prst="roundRect">
            <a:avLst>
              <a:gd name="adj" fmla="val 7273"/>
            </a:avLst>
          </a:prstGeom>
          <a:solidFill>
            <a:srgbClr val="EEF4F8"/>
          </a:solidFill>
          <a:ln w="12700">
            <a:solidFill>
              <a:srgbClr val="D8E5EC"/>
            </a:solidFill>
            <a:prstDash val="solid"/>
          </a:ln>
        </p:spPr>
      </p:sp>
      <p:sp>
        <p:nvSpPr>
          <p:cNvPr id="17" name="Text 14"/>
          <p:cNvSpPr/>
          <p:nvPr/>
        </p:nvSpPr>
        <p:spPr>
          <a:xfrm>
            <a:off x="3328416" y="4736592"/>
            <a:ext cx="941832" cy="292608"/>
          </a:xfrm>
          <a:prstGeom prst="rect">
            <a:avLst/>
          </a:prstGeom>
          <a:noFill/>
          <a:ln/>
        </p:spPr>
        <p:txBody>
          <a:bodyPr wrap="square" lIns="0" tIns="0" rIns="0" bIns="0" rtlCol="0" anchor="ctr">
            <a:normAutofit/>
          </a:bodyPr>
          <a:lstStyle/>
          <a:p>
            <a:pPr marL="0" indent="0" algn="ctr" rtl="1">
              <a:buNone/>
            </a:pPr>
            <a:r>
              <a:rPr lang="en-US" sz="190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۶</a:t>
            </a:r>
            <a:endParaRPr lang="en-US" sz="19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8" name="Text 15"/>
          <p:cNvSpPr/>
          <p:nvPr/>
        </p:nvSpPr>
        <p:spPr>
          <a:xfrm>
            <a:off x="332841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سیگنال/حسگر</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Shape 16"/>
          <p:cNvSpPr/>
          <p:nvPr/>
        </p:nvSpPr>
        <p:spPr>
          <a:xfrm>
            <a:off x="4462272" y="4617720"/>
            <a:ext cx="1051560" cy="1005840"/>
          </a:xfrm>
          <a:prstGeom prst="roundRect">
            <a:avLst>
              <a:gd name="adj" fmla="val 7273"/>
            </a:avLst>
          </a:prstGeom>
          <a:solidFill>
            <a:srgbClr val="E7F4F8"/>
          </a:solidFill>
          <a:ln w="12700">
            <a:solidFill>
              <a:srgbClr val="D8E5EC"/>
            </a:solidFill>
            <a:prstDash val="solid"/>
          </a:ln>
        </p:spPr>
      </p:sp>
      <p:sp>
        <p:nvSpPr>
          <p:cNvPr id="20" name="Text 17"/>
          <p:cNvSpPr/>
          <p:nvPr/>
        </p:nvSpPr>
        <p:spPr>
          <a:xfrm>
            <a:off x="4507992" y="4773168"/>
            <a:ext cx="960120" cy="256032"/>
          </a:xfrm>
          <a:prstGeom prst="rect">
            <a:avLst/>
          </a:prstGeom>
          <a:noFill/>
          <a:ln/>
        </p:spPr>
        <p:txBody>
          <a:bodyPr wrap="square" lIns="0" tIns="0" rIns="0" bIns="0" rtlCol="0" anchor="ctr">
            <a:normAutofit/>
          </a:bodyPr>
          <a:lstStyle/>
          <a:p>
            <a:pPr marL="0" indent="0" algn="ctr">
              <a:buNone/>
            </a:pPr>
            <a:r>
              <a:rPr lang="en-US" sz="115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Bluetooth</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Text 18"/>
          <p:cNvSpPr/>
          <p:nvPr/>
        </p:nvSpPr>
        <p:spPr>
          <a:xfrm>
            <a:off x="451713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ارتباط</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2" name="Shape 19"/>
          <p:cNvSpPr/>
          <p:nvPr/>
        </p:nvSpPr>
        <p:spPr>
          <a:xfrm>
            <a:off x="6080760" y="1463040"/>
            <a:ext cx="5440680" cy="4681728"/>
          </a:xfrm>
          <a:prstGeom prst="roundRect">
            <a:avLst>
              <a:gd name="adj" fmla="val 1563"/>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pic>
        <p:nvPicPr>
          <p:cNvPr id="23" name="Image 1" descr="/mnt/data/dmd_assets/crops/sensor_body.png"/>
          <p:cNvPicPr>
            <a:picLocks noChangeAspect="1"/>
          </p:cNvPicPr>
          <p:nvPr/>
        </p:nvPicPr>
        <p:blipFill>
          <a:blip r:embed="rId4"/>
          <a:stretch>
            <a:fillRect/>
          </a:stretch>
        </p:blipFill>
        <p:spPr>
          <a:xfrm>
            <a:off x="6565392" y="2218073"/>
            <a:ext cx="2194560" cy="2037806"/>
          </a:xfrm>
          <a:prstGeom prst="rect">
            <a:avLst/>
          </a:prstGeom>
        </p:spPr>
      </p:pic>
      <p:sp>
        <p:nvSpPr>
          <p:cNvPr id="24" name="Shape 20"/>
          <p:cNvSpPr/>
          <p:nvPr/>
        </p:nvSpPr>
        <p:spPr>
          <a:xfrm>
            <a:off x="8851392" y="1847088"/>
            <a:ext cx="2331720" cy="804672"/>
          </a:xfrm>
          <a:prstGeom prst="roundRect">
            <a:avLst>
              <a:gd name="adj" fmla="val 9091"/>
            </a:avLst>
          </a:prstGeom>
          <a:solidFill>
            <a:srgbClr val="FFFFFF"/>
          </a:solidFill>
          <a:ln w="15875">
            <a:solidFill>
              <a:srgbClr val="0B6E99"/>
            </a:solidFill>
            <a:prstDash val="solid"/>
          </a:ln>
        </p:spPr>
      </p:sp>
      <p:sp>
        <p:nvSpPr>
          <p:cNvPr id="25" name="Text 21"/>
          <p:cNvSpPr/>
          <p:nvPr/>
        </p:nvSpPr>
        <p:spPr>
          <a:xfrm>
            <a:off x="9052560" y="1938528"/>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پیشانی</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Text 22"/>
          <p:cNvSpPr/>
          <p:nvPr/>
        </p:nvSpPr>
        <p:spPr>
          <a:xfrm>
            <a:off x="9052560" y="2212848"/>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حرکت سر و کنترل تنه</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Shape 23"/>
          <p:cNvSpPr/>
          <p:nvPr/>
        </p:nvSpPr>
        <p:spPr>
          <a:xfrm>
            <a:off x="8851392" y="2926080"/>
            <a:ext cx="2331720" cy="804672"/>
          </a:xfrm>
          <a:prstGeom prst="roundRect">
            <a:avLst>
              <a:gd name="adj" fmla="val 9091"/>
            </a:avLst>
          </a:prstGeom>
          <a:solidFill>
            <a:srgbClr val="FFFFFF"/>
          </a:solidFill>
          <a:ln w="15875">
            <a:solidFill>
              <a:srgbClr val="0B7A75"/>
            </a:solidFill>
            <a:prstDash val="solid"/>
          </a:ln>
        </p:spPr>
      </p:sp>
      <p:sp>
        <p:nvSpPr>
          <p:cNvPr id="28" name="Text 24"/>
          <p:cNvSpPr/>
          <p:nvPr/>
        </p:nvSpPr>
        <p:spPr>
          <a:xfrm>
            <a:off x="9052560" y="3017520"/>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پشت مچ دو دست</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Text 25"/>
          <p:cNvSpPr/>
          <p:nvPr/>
        </p:nvSpPr>
        <p:spPr>
          <a:xfrm>
            <a:off x="9052560" y="3291840"/>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الگوهای جبرانی اندام فوقانی</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Shape 26"/>
          <p:cNvSpPr/>
          <p:nvPr/>
        </p:nvSpPr>
        <p:spPr>
          <a:xfrm>
            <a:off x="8851392" y="4005072"/>
            <a:ext cx="2331720" cy="804672"/>
          </a:xfrm>
          <a:prstGeom prst="roundRect">
            <a:avLst>
              <a:gd name="adj" fmla="val 9091"/>
            </a:avLst>
          </a:prstGeom>
          <a:solidFill>
            <a:srgbClr val="FFFFFF"/>
          </a:solidFill>
          <a:ln w="15875">
            <a:solidFill>
              <a:srgbClr val="2F855A"/>
            </a:solidFill>
            <a:prstDash val="solid"/>
          </a:ln>
        </p:spPr>
      </p:sp>
      <p:sp>
        <p:nvSpPr>
          <p:cNvPr id="31" name="Text 27"/>
          <p:cNvSpPr/>
          <p:nvPr/>
        </p:nvSpPr>
        <p:spPr>
          <a:xfrm>
            <a:off x="9052560" y="4096512"/>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بالای قوزک خارجی دو پا</a:t>
            </a:r>
            <a:endParaRPr lang="en-US" sz="1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Text 28"/>
          <p:cNvSpPr/>
          <p:nvPr/>
        </p:nvSpPr>
        <p:spPr>
          <a:xfrm>
            <a:off x="9052560" y="4370832"/>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حرکت اندام تحتانی و تعادل</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Text 29"/>
          <p:cNvSpPr/>
          <p:nvPr/>
        </p:nvSpPr>
        <p:spPr>
          <a:xfrm>
            <a:off x="6492240" y="5239512"/>
            <a:ext cx="4572000" cy="384048"/>
          </a:xfrm>
          <a:prstGeom prst="rect">
            <a:avLst/>
          </a:prstGeom>
          <a:noFill/>
          <a:ln/>
        </p:spPr>
        <p:txBody>
          <a:bodyPr wrap="square" lIns="0" tIns="0" rIns="0" bIns="0" rtlCol="0" anchor="ctr">
            <a:normAutofit/>
          </a:bodyPr>
          <a:lstStyle/>
          <a:p>
            <a:pPr marL="0" indent="0" algn="ctr" rtl="1">
              <a:buNone/>
            </a:pPr>
            <a:r>
              <a:rPr lang="en-US" sz="12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برد: LILYGO T-Wristband  |  حسگر: MPU9250  |  پردازنده: ESP32-Pico-D4</a:t>
            </a:r>
            <a:endParaRPr lang="en-US" sz="12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Text 30"/>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Shape 31"/>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معماری سامانه</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مسیر کامل داده تا پیش‌بینی نمره</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06</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5"/>
          <p:cNvSpPr/>
          <p:nvPr/>
        </p:nvSpPr>
        <p:spPr>
          <a:xfrm>
            <a:off x="4023360" y="1417320"/>
            <a:ext cx="69951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یک زنجیره یکپارچه از ثبت حرکت تا انتخاب مدل نهایی</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530352" y="2267712"/>
            <a:ext cx="1563624" cy="2148840"/>
          </a:xfrm>
          <a:prstGeom prst="roundRect">
            <a:avLst>
              <a:gd name="adj" fmla="val 4678"/>
            </a:avLst>
          </a:prstGeom>
          <a:solidFill>
            <a:srgbClr val="FFFFFF"/>
          </a:solidFill>
          <a:ln w="17780">
            <a:solidFill>
              <a:srgbClr val="0B6E99"/>
            </a:solidFill>
            <a:prstDash val="solid"/>
          </a:ln>
        </p:spPr>
      </p:sp>
      <p:sp>
        <p:nvSpPr>
          <p:cNvPr id="9" name="Shape 7"/>
          <p:cNvSpPr/>
          <p:nvPr/>
        </p:nvSpPr>
        <p:spPr>
          <a:xfrm>
            <a:off x="1024128" y="2523744"/>
            <a:ext cx="576072" cy="576072"/>
          </a:xfrm>
          <a:prstGeom prst="ellipse">
            <a:avLst/>
          </a:prstGeom>
          <a:solidFill>
            <a:srgbClr val="0B6E99"/>
          </a:solidFill>
          <a:ln w="12700">
            <a:solidFill>
              <a:srgbClr val="0B6E99"/>
            </a:solidFill>
            <a:prstDash val="solid"/>
          </a:ln>
        </p:spPr>
      </p:sp>
      <p:sp>
        <p:nvSpPr>
          <p:cNvPr id="10" name="Text 8"/>
          <p:cNvSpPr/>
          <p:nvPr/>
        </p:nvSpPr>
        <p:spPr>
          <a:xfrm>
            <a:off x="1024128"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1</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649224"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اجرای فعالیت</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Text 10"/>
          <p:cNvSpPr/>
          <p:nvPr/>
        </p:nvSpPr>
        <p:spPr>
          <a:xfrm>
            <a:off x="649224"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سطح ۰، ۱ یا ۲</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2103120" y="3337560"/>
            <a:ext cx="73152" cy="0"/>
          </a:xfrm>
          <a:prstGeom prst="line">
            <a:avLst/>
          </a:prstGeom>
          <a:noFill/>
          <a:ln w="17780">
            <a:solidFill>
              <a:srgbClr val="94A3B8"/>
            </a:solidFill>
            <a:prstDash val="solid"/>
            <a:headEnd type="none"/>
            <a:tailEnd type="triangle"/>
          </a:ln>
        </p:spPr>
      </p:sp>
      <p:sp>
        <p:nvSpPr>
          <p:cNvPr id="14" name="Shape 12"/>
          <p:cNvSpPr/>
          <p:nvPr/>
        </p:nvSpPr>
        <p:spPr>
          <a:xfrm>
            <a:off x="2185416" y="2267712"/>
            <a:ext cx="1563624" cy="2148840"/>
          </a:xfrm>
          <a:prstGeom prst="roundRect">
            <a:avLst>
              <a:gd name="adj" fmla="val 4678"/>
            </a:avLst>
          </a:prstGeom>
          <a:solidFill>
            <a:srgbClr val="FFFFFF"/>
          </a:solidFill>
          <a:ln w="17780">
            <a:solidFill>
              <a:srgbClr val="1D8AB5"/>
            </a:solidFill>
            <a:prstDash val="solid"/>
          </a:ln>
        </p:spPr>
      </p:sp>
      <p:sp>
        <p:nvSpPr>
          <p:cNvPr id="15" name="Shape 13"/>
          <p:cNvSpPr/>
          <p:nvPr/>
        </p:nvSpPr>
        <p:spPr>
          <a:xfrm>
            <a:off x="2679192" y="2523744"/>
            <a:ext cx="576072" cy="576072"/>
          </a:xfrm>
          <a:prstGeom prst="ellipse">
            <a:avLst/>
          </a:prstGeom>
          <a:solidFill>
            <a:srgbClr val="1D8AB5"/>
          </a:solidFill>
          <a:ln w="12700">
            <a:solidFill>
              <a:srgbClr val="1D8AB5"/>
            </a:solidFill>
            <a:prstDash val="solid"/>
          </a:ln>
        </p:spPr>
      </p:sp>
      <p:sp>
        <p:nvSpPr>
          <p:cNvPr id="16" name="Text 14"/>
          <p:cNvSpPr/>
          <p:nvPr/>
        </p:nvSpPr>
        <p:spPr>
          <a:xfrm>
            <a:off x="2679192"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2</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Text 15"/>
          <p:cNvSpPr/>
          <p:nvPr/>
        </p:nvSpPr>
        <p:spPr>
          <a:xfrm>
            <a:off x="2304288"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ثبت پنج‌حسگری</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8" name="Text 16"/>
          <p:cNvSpPr/>
          <p:nvPr/>
        </p:nvSpPr>
        <p:spPr>
          <a:xfrm>
            <a:off x="2304288"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شتاب و ژیروسکوپ</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Shape 17"/>
          <p:cNvSpPr/>
          <p:nvPr/>
        </p:nvSpPr>
        <p:spPr>
          <a:xfrm>
            <a:off x="3758184" y="3337560"/>
            <a:ext cx="73152" cy="0"/>
          </a:xfrm>
          <a:prstGeom prst="line">
            <a:avLst/>
          </a:prstGeom>
          <a:noFill/>
          <a:ln w="17780">
            <a:solidFill>
              <a:srgbClr val="94A3B8"/>
            </a:solidFill>
            <a:prstDash val="solid"/>
            <a:headEnd type="none"/>
            <a:tailEnd type="triangle"/>
          </a:ln>
        </p:spPr>
      </p:sp>
      <p:sp>
        <p:nvSpPr>
          <p:cNvPr id="20" name="Shape 18"/>
          <p:cNvSpPr/>
          <p:nvPr/>
        </p:nvSpPr>
        <p:spPr>
          <a:xfrm>
            <a:off x="3840480" y="2267712"/>
            <a:ext cx="1563624" cy="2148840"/>
          </a:xfrm>
          <a:prstGeom prst="roundRect">
            <a:avLst>
              <a:gd name="adj" fmla="val 4678"/>
            </a:avLst>
          </a:prstGeom>
          <a:solidFill>
            <a:srgbClr val="FFFFFF"/>
          </a:solidFill>
          <a:ln w="17780">
            <a:solidFill>
              <a:srgbClr val="0B7A75"/>
            </a:solidFill>
            <a:prstDash val="solid"/>
          </a:ln>
        </p:spPr>
      </p:sp>
      <p:sp>
        <p:nvSpPr>
          <p:cNvPr id="21" name="Shape 19"/>
          <p:cNvSpPr/>
          <p:nvPr/>
        </p:nvSpPr>
        <p:spPr>
          <a:xfrm>
            <a:off x="4334256" y="2523744"/>
            <a:ext cx="576072" cy="576072"/>
          </a:xfrm>
          <a:prstGeom prst="ellipse">
            <a:avLst/>
          </a:prstGeom>
          <a:solidFill>
            <a:srgbClr val="0B7A75"/>
          </a:solidFill>
          <a:ln w="12700">
            <a:solidFill>
              <a:srgbClr val="0B7A75"/>
            </a:solidFill>
            <a:prstDash val="solid"/>
          </a:ln>
        </p:spPr>
      </p:sp>
      <p:sp>
        <p:nvSpPr>
          <p:cNvPr id="22" name="Text 20"/>
          <p:cNvSpPr/>
          <p:nvPr/>
        </p:nvSpPr>
        <p:spPr>
          <a:xfrm>
            <a:off x="4334256"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3</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Text 21"/>
          <p:cNvSpPr/>
          <p:nvPr/>
        </p:nvSpPr>
        <p:spPr>
          <a:xfrm>
            <a:off x="3959352"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دریافت در MATLAB</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Text 22"/>
          <p:cNvSpPr/>
          <p:nvPr/>
        </p:nvSpPr>
        <p:spPr>
          <a:xfrm>
            <a:off x="3959352"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نمایش و ذخیره‌سازی</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Shape 23"/>
          <p:cNvSpPr/>
          <p:nvPr/>
        </p:nvSpPr>
        <p:spPr>
          <a:xfrm>
            <a:off x="5413248" y="3337560"/>
            <a:ext cx="73152" cy="0"/>
          </a:xfrm>
          <a:prstGeom prst="line">
            <a:avLst/>
          </a:prstGeom>
          <a:noFill/>
          <a:ln w="17780">
            <a:solidFill>
              <a:srgbClr val="94A3B8"/>
            </a:solidFill>
            <a:prstDash val="solid"/>
            <a:headEnd type="none"/>
            <a:tailEnd type="triangle"/>
          </a:ln>
        </p:spPr>
      </p:sp>
      <p:sp>
        <p:nvSpPr>
          <p:cNvPr id="26" name="Shape 24"/>
          <p:cNvSpPr/>
          <p:nvPr/>
        </p:nvSpPr>
        <p:spPr>
          <a:xfrm>
            <a:off x="5495544" y="2267712"/>
            <a:ext cx="1563624" cy="2148840"/>
          </a:xfrm>
          <a:prstGeom prst="roundRect">
            <a:avLst>
              <a:gd name="adj" fmla="val 4678"/>
            </a:avLst>
          </a:prstGeom>
          <a:solidFill>
            <a:srgbClr val="FFFFFF"/>
          </a:solidFill>
          <a:ln w="17780">
            <a:solidFill>
              <a:srgbClr val="E69F00"/>
            </a:solidFill>
            <a:prstDash val="solid"/>
          </a:ln>
        </p:spPr>
      </p:sp>
      <p:sp>
        <p:nvSpPr>
          <p:cNvPr id="27" name="Shape 25"/>
          <p:cNvSpPr/>
          <p:nvPr/>
        </p:nvSpPr>
        <p:spPr>
          <a:xfrm>
            <a:off x="5989320" y="2523744"/>
            <a:ext cx="576072" cy="576072"/>
          </a:xfrm>
          <a:prstGeom prst="ellipse">
            <a:avLst/>
          </a:prstGeom>
          <a:solidFill>
            <a:srgbClr val="E69F00"/>
          </a:solidFill>
          <a:ln w="12700">
            <a:solidFill>
              <a:srgbClr val="E69F00"/>
            </a:solidFill>
            <a:prstDash val="solid"/>
          </a:ln>
        </p:spPr>
      </p:sp>
      <p:sp>
        <p:nvSpPr>
          <p:cNvPr id="28" name="Text 26"/>
          <p:cNvSpPr/>
          <p:nvPr/>
        </p:nvSpPr>
        <p:spPr>
          <a:xfrm>
            <a:off x="5989320"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4</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Text 27"/>
          <p:cNvSpPr/>
          <p:nvPr/>
        </p:nvSpPr>
        <p:spPr>
          <a:xfrm>
            <a:off x="5614416"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پیش‌پردازش</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8"/>
          <p:cNvSpPr/>
          <p:nvPr/>
        </p:nvSpPr>
        <p:spPr>
          <a:xfrm>
            <a:off x="5614416"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بایاس، فیلتر و آماده‌سازی</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7068312" y="3337560"/>
            <a:ext cx="73152" cy="0"/>
          </a:xfrm>
          <a:prstGeom prst="line">
            <a:avLst/>
          </a:prstGeom>
          <a:noFill/>
          <a:ln w="17780">
            <a:solidFill>
              <a:srgbClr val="94A3B8"/>
            </a:solidFill>
            <a:prstDash val="solid"/>
            <a:headEnd type="none"/>
            <a:tailEnd type="triangle"/>
          </a:ln>
        </p:spPr>
      </p:sp>
      <p:sp>
        <p:nvSpPr>
          <p:cNvPr id="32" name="Shape 30"/>
          <p:cNvSpPr/>
          <p:nvPr/>
        </p:nvSpPr>
        <p:spPr>
          <a:xfrm>
            <a:off x="7150608" y="2267712"/>
            <a:ext cx="1563624" cy="2148840"/>
          </a:xfrm>
          <a:prstGeom prst="roundRect">
            <a:avLst>
              <a:gd name="adj" fmla="val 4678"/>
            </a:avLst>
          </a:prstGeom>
          <a:solidFill>
            <a:srgbClr val="FFFFFF"/>
          </a:solidFill>
          <a:ln w="17780">
            <a:solidFill>
              <a:srgbClr val="2F855A"/>
            </a:solidFill>
            <a:prstDash val="solid"/>
          </a:ln>
        </p:spPr>
      </p:sp>
      <p:sp>
        <p:nvSpPr>
          <p:cNvPr id="33" name="Shape 31"/>
          <p:cNvSpPr/>
          <p:nvPr/>
        </p:nvSpPr>
        <p:spPr>
          <a:xfrm>
            <a:off x="7644384" y="2523744"/>
            <a:ext cx="576072" cy="576072"/>
          </a:xfrm>
          <a:prstGeom prst="ellipse">
            <a:avLst/>
          </a:prstGeom>
          <a:solidFill>
            <a:srgbClr val="2F855A"/>
          </a:solidFill>
          <a:ln w="12700">
            <a:solidFill>
              <a:srgbClr val="2F855A"/>
            </a:solidFill>
            <a:prstDash val="solid"/>
          </a:ln>
        </p:spPr>
      </p:sp>
      <p:sp>
        <p:nvSpPr>
          <p:cNvPr id="34" name="Text 32"/>
          <p:cNvSpPr/>
          <p:nvPr/>
        </p:nvSpPr>
        <p:spPr>
          <a:xfrm>
            <a:off x="7644384"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5</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Text 33"/>
          <p:cNvSpPr/>
          <p:nvPr/>
        </p:nvSpPr>
        <p:spPr>
          <a:xfrm>
            <a:off x="7269480"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استخراج ویژگی</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Text 34"/>
          <p:cNvSpPr/>
          <p:nvPr/>
        </p:nvSpPr>
        <p:spPr>
          <a:xfrm>
            <a:off x="7269480"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۶۹۰ ویژگی برای هر نمونه</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Shape 35"/>
          <p:cNvSpPr/>
          <p:nvPr/>
        </p:nvSpPr>
        <p:spPr>
          <a:xfrm>
            <a:off x="8723376" y="3337560"/>
            <a:ext cx="73152" cy="0"/>
          </a:xfrm>
          <a:prstGeom prst="line">
            <a:avLst/>
          </a:prstGeom>
          <a:noFill/>
          <a:ln w="17780">
            <a:solidFill>
              <a:srgbClr val="94A3B8"/>
            </a:solidFill>
            <a:prstDash val="solid"/>
            <a:headEnd type="none"/>
            <a:tailEnd type="triangle"/>
          </a:ln>
        </p:spPr>
      </p:sp>
      <p:sp>
        <p:nvSpPr>
          <p:cNvPr id="38" name="Shape 36"/>
          <p:cNvSpPr/>
          <p:nvPr/>
        </p:nvSpPr>
        <p:spPr>
          <a:xfrm>
            <a:off x="8805672" y="2267712"/>
            <a:ext cx="1563624" cy="2148840"/>
          </a:xfrm>
          <a:prstGeom prst="roundRect">
            <a:avLst>
              <a:gd name="adj" fmla="val 4678"/>
            </a:avLst>
          </a:prstGeom>
          <a:solidFill>
            <a:srgbClr val="FFFFFF"/>
          </a:solidFill>
          <a:ln w="17780">
            <a:solidFill>
              <a:srgbClr val="6B5BA6"/>
            </a:solidFill>
            <a:prstDash val="solid"/>
          </a:ln>
        </p:spPr>
      </p:sp>
      <p:sp>
        <p:nvSpPr>
          <p:cNvPr id="39" name="Shape 37"/>
          <p:cNvSpPr/>
          <p:nvPr/>
        </p:nvSpPr>
        <p:spPr>
          <a:xfrm>
            <a:off x="9299448" y="2523744"/>
            <a:ext cx="576072" cy="576072"/>
          </a:xfrm>
          <a:prstGeom prst="ellipse">
            <a:avLst/>
          </a:prstGeom>
          <a:solidFill>
            <a:srgbClr val="6B5BA6"/>
          </a:solidFill>
          <a:ln w="12700">
            <a:solidFill>
              <a:srgbClr val="6B5BA6"/>
            </a:solidFill>
            <a:prstDash val="solid"/>
          </a:ln>
        </p:spPr>
      </p:sp>
      <p:sp>
        <p:nvSpPr>
          <p:cNvPr id="40" name="Text 38"/>
          <p:cNvSpPr/>
          <p:nvPr/>
        </p:nvSpPr>
        <p:spPr>
          <a:xfrm>
            <a:off x="9299448"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6</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Text 39"/>
          <p:cNvSpPr/>
          <p:nvPr/>
        </p:nvSpPr>
        <p:spPr>
          <a:xfrm>
            <a:off x="8924544"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PCA و مدل‌ها</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2" name="Text 40"/>
          <p:cNvSpPr/>
          <p:nvPr/>
        </p:nvSpPr>
        <p:spPr>
          <a:xfrm>
            <a:off x="8924544"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SVM / KNN / RF</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3" name="Shape 41"/>
          <p:cNvSpPr/>
          <p:nvPr/>
        </p:nvSpPr>
        <p:spPr>
          <a:xfrm>
            <a:off x="10378440" y="3337560"/>
            <a:ext cx="73152" cy="0"/>
          </a:xfrm>
          <a:prstGeom prst="line">
            <a:avLst/>
          </a:prstGeom>
          <a:noFill/>
          <a:ln w="17780">
            <a:solidFill>
              <a:srgbClr val="94A3B8"/>
            </a:solidFill>
            <a:prstDash val="solid"/>
            <a:headEnd type="none"/>
            <a:tailEnd type="triangle"/>
          </a:ln>
        </p:spPr>
      </p:sp>
      <p:sp>
        <p:nvSpPr>
          <p:cNvPr id="44" name="Shape 42"/>
          <p:cNvSpPr/>
          <p:nvPr/>
        </p:nvSpPr>
        <p:spPr>
          <a:xfrm>
            <a:off x="10460736" y="2267712"/>
            <a:ext cx="1563624" cy="2148840"/>
          </a:xfrm>
          <a:prstGeom prst="roundRect">
            <a:avLst>
              <a:gd name="adj" fmla="val 4678"/>
            </a:avLst>
          </a:prstGeom>
          <a:solidFill>
            <a:srgbClr val="FFFFFF"/>
          </a:solidFill>
          <a:ln w="17780">
            <a:solidFill>
              <a:srgbClr val="C0392B"/>
            </a:solidFill>
            <a:prstDash val="solid"/>
          </a:ln>
        </p:spPr>
      </p:sp>
      <p:sp>
        <p:nvSpPr>
          <p:cNvPr id="45" name="Shape 43"/>
          <p:cNvSpPr/>
          <p:nvPr/>
        </p:nvSpPr>
        <p:spPr>
          <a:xfrm>
            <a:off x="10954512" y="2523744"/>
            <a:ext cx="576072" cy="576072"/>
          </a:xfrm>
          <a:prstGeom prst="ellipse">
            <a:avLst/>
          </a:prstGeom>
          <a:solidFill>
            <a:srgbClr val="C0392B"/>
          </a:solidFill>
          <a:ln w="12700">
            <a:solidFill>
              <a:srgbClr val="C0392B"/>
            </a:solidFill>
            <a:prstDash val="solid"/>
          </a:ln>
        </p:spPr>
      </p:sp>
      <p:sp>
        <p:nvSpPr>
          <p:cNvPr id="46" name="Text 44"/>
          <p:cNvSpPr/>
          <p:nvPr/>
        </p:nvSpPr>
        <p:spPr>
          <a:xfrm>
            <a:off x="10954512" y="2596896"/>
            <a:ext cx="576072"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7</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7" name="Text 45"/>
          <p:cNvSpPr/>
          <p:nvPr/>
        </p:nvSpPr>
        <p:spPr>
          <a:xfrm>
            <a:off x="10579608" y="3246120"/>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ارزیابی و انتخاب</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8" name="Text 46"/>
          <p:cNvSpPr/>
          <p:nvPr/>
        </p:nvSpPr>
        <p:spPr>
          <a:xfrm>
            <a:off x="10579608" y="3694176"/>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اعتبارسنجی متقاطع</a:t>
            </a:r>
            <a:endParaRPr lang="en-US" sz="10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9" name="Shape 47"/>
          <p:cNvSpPr/>
          <p:nvPr/>
        </p:nvSpPr>
        <p:spPr>
          <a:xfrm>
            <a:off x="941832" y="4983480"/>
            <a:ext cx="10241280" cy="841248"/>
          </a:xfrm>
          <a:prstGeom prst="roundRect">
            <a:avLst>
              <a:gd name="adj" fmla="val 8696"/>
            </a:avLst>
          </a:prstGeom>
          <a:solidFill>
            <a:srgbClr val="102A43"/>
          </a:solidFill>
          <a:ln w="12700">
            <a:solidFill>
              <a:srgbClr val="102A43"/>
            </a:solidFill>
            <a:prstDash val="solid"/>
          </a:ln>
        </p:spPr>
      </p:sp>
      <p:sp>
        <p:nvSpPr>
          <p:cNvPr id="50" name="Text 48"/>
          <p:cNvSpPr/>
          <p:nvPr/>
        </p:nvSpPr>
        <p:spPr>
          <a:xfrm>
            <a:off x="120700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Arduino</a:t>
            </a:r>
            <a:endParaRPr lang="en-US" sz="15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1" name="Text 49"/>
          <p:cNvSpPr/>
          <p:nvPr/>
        </p:nvSpPr>
        <p:spPr>
          <a:xfrm>
            <a:off x="3794760"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MATLAB</a:t>
            </a:r>
            <a:endParaRPr lang="en-US" sz="15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2" name="Text 50"/>
          <p:cNvSpPr/>
          <p:nvPr/>
        </p:nvSpPr>
        <p:spPr>
          <a:xfrm>
            <a:off x="641908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Python</a:t>
            </a:r>
            <a:endParaRPr lang="en-US" sz="15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3" name="Text 51"/>
          <p:cNvSpPr/>
          <p:nvPr/>
        </p:nvSpPr>
        <p:spPr>
          <a:xfrm>
            <a:off x="8906256" y="5193792"/>
            <a:ext cx="1508760"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Scikit-learn</a:t>
            </a:r>
            <a:endParaRPr lang="en-US" sz="15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4" name="Text 52"/>
          <p:cNvSpPr/>
          <p:nvPr/>
        </p:nvSpPr>
        <p:spPr>
          <a:xfrm>
            <a:off x="120700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نمونه‌برداری</a:t>
            </a:r>
            <a:endParaRPr lang="en-US" sz="9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5" name="Text 53"/>
          <p:cNvSpPr/>
          <p:nvPr/>
        </p:nvSpPr>
        <p:spPr>
          <a:xfrm>
            <a:off x="3794760"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دریافت و ذخیره</a:t>
            </a:r>
            <a:endParaRPr lang="en-US" sz="9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6" name="Text 54"/>
          <p:cNvSpPr/>
          <p:nvPr/>
        </p:nvSpPr>
        <p:spPr>
          <a:xfrm>
            <a:off x="641908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ویژگی و تحلیل</a:t>
            </a:r>
            <a:endParaRPr lang="en-US" sz="9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7" name="Text 55"/>
          <p:cNvSpPr/>
          <p:nvPr/>
        </p:nvSpPr>
        <p:spPr>
          <a:xfrm>
            <a:off x="8906256" y="5513832"/>
            <a:ext cx="1508760"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ExtraLight" panose="020B0000040000000000" pitchFamily="34" charset="-78"/>
                <a:ea typeface="Sharif 1.2 ExtraLight" panose="020B0000040000000000" pitchFamily="34" charset="-78"/>
                <a:cs typeface="Sharif 1.2 ExtraLight" panose="020B0000040000000000" pitchFamily="34" charset="-78"/>
              </a:rPr>
              <a:t>مدل‌سازی</a:t>
            </a:r>
            <a:endParaRPr lang="en-US" sz="9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8" name="Text 56"/>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9" name="Shape 57"/>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پردازش سیگنال و ویژگی‌ها</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از سیگنال خام تا بردار ۶۹۰ ویژگی</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07</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658368" y="1481328"/>
            <a:ext cx="55321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4370832" y="1737360"/>
            <a:ext cx="146304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4480560" y="1755648"/>
            <a:ext cx="1243584" cy="310896"/>
          </a:xfrm>
          <a:prstGeom prst="rect">
            <a:avLst/>
          </a:prstGeom>
          <a:noFill/>
          <a:ln/>
        </p:spPr>
        <p:txBody>
          <a:bodyPr wrap="square" lIns="0" tIns="0" rIns="0" bIns="0" rtlCol="0" anchor="ctr">
            <a:normAutofit/>
          </a:bodyPr>
          <a:lstStyle/>
          <a:p>
            <a:pPr marL="0" indent="0" algn="ctr" rtl="1">
              <a:buNone/>
            </a:pPr>
            <a:r>
              <a:rPr lang="en-US" sz="135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پیش‌پردازش</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pic>
        <p:nvPicPr>
          <p:cNvPr id="10" name="Image 0" descr="/mnt/data/dmd_assets/crops/signal_schematic.png"/>
          <p:cNvPicPr>
            <a:picLocks noChangeAspect="1"/>
          </p:cNvPicPr>
          <p:nvPr/>
        </p:nvPicPr>
        <p:blipFill>
          <a:blip r:embed="rId3"/>
          <a:stretch>
            <a:fillRect/>
          </a:stretch>
        </p:blipFill>
        <p:spPr>
          <a:xfrm>
            <a:off x="1071786" y="2130552"/>
            <a:ext cx="4513260" cy="1591056"/>
          </a:xfrm>
          <a:prstGeom prst="rect">
            <a:avLst/>
          </a:prstGeom>
        </p:spPr>
      </p:pic>
      <p:sp>
        <p:nvSpPr>
          <p:cNvPr id="11" name="Text 8"/>
          <p:cNvSpPr/>
          <p:nvPr/>
        </p:nvSpPr>
        <p:spPr>
          <a:xfrm>
            <a:off x="1042416" y="3877056"/>
            <a:ext cx="594360" cy="237744"/>
          </a:xfrm>
          <a:prstGeom prst="rect">
            <a:avLst/>
          </a:prstGeom>
          <a:noFill/>
          <a:ln/>
        </p:spPr>
        <p:txBody>
          <a:bodyPr wrap="square" lIns="0" tIns="0" rIns="0" bIns="0" rtlCol="0" anchor="ctr">
            <a:normAutofit/>
          </a:bodyPr>
          <a:lstStyle/>
          <a:p>
            <a:pPr marL="0" indent="0" algn="l" rtl="1">
              <a:buNone/>
            </a:pPr>
            <a:r>
              <a:rPr lang="en-US" sz="11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خام</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Shape 9"/>
          <p:cNvSpPr/>
          <p:nvPr/>
        </p:nvSpPr>
        <p:spPr>
          <a:xfrm>
            <a:off x="1536192" y="3995928"/>
            <a:ext cx="475488" cy="0"/>
          </a:xfrm>
          <a:prstGeom prst="line">
            <a:avLst/>
          </a:prstGeom>
          <a:noFill/>
          <a:ln w="25400">
            <a:solidFill>
              <a:srgbClr val="94A3B8"/>
            </a:solidFill>
            <a:prstDash val="solid"/>
          </a:ln>
        </p:spPr>
      </p:sp>
      <p:sp>
        <p:nvSpPr>
          <p:cNvPr id="13" name="Text 10"/>
          <p:cNvSpPr/>
          <p:nvPr/>
        </p:nvSpPr>
        <p:spPr>
          <a:xfrm>
            <a:off x="2167128" y="3877056"/>
            <a:ext cx="914400" cy="237744"/>
          </a:xfrm>
          <a:prstGeom prst="rect">
            <a:avLst/>
          </a:prstGeom>
          <a:noFill/>
          <a:ln/>
        </p:spPr>
        <p:txBody>
          <a:bodyPr wrap="square" lIns="0" tIns="0" rIns="0" bIns="0" rtlCol="0" anchor="ctr">
            <a:normAutofit/>
          </a:bodyPr>
          <a:lstStyle/>
          <a:p>
            <a:pPr marL="0" indent="0" algn="l" rtl="1">
              <a:buNone/>
            </a:pPr>
            <a:r>
              <a:rPr lang="en-US" sz="1150"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فیلترشده</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1"/>
          <p:cNvSpPr/>
          <p:nvPr/>
        </p:nvSpPr>
        <p:spPr>
          <a:xfrm>
            <a:off x="2980944" y="3995928"/>
            <a:ext cx="475488" cy="0"/>
          </a:xfrm>
          <a:prstGeom prst="line">
            <a:avLst/>
          </a:prstGeom>
          <a:noFill/>
          <a:ln w="25400">
            <a:solidFill>
              <a:srgbClr val="0B6E99"/>
            </a:solidFill>
            <a:prstDash val="solid"/>
          </a:ln>
        </p:spPr>
      </p:sp>
      <p:sp>
        <p:nvSpPr>
          <p:cNvPr id="15" name="Shape 12"/>
          <p:cNvSpPr/>
          <p:nvPr/>
        </p:nvSpPr>
        <p:spPr>
          <a:xfrm>
            <a:off x="5605272" y="4517136"/>
            <a:ext cx="91440" cy="91440"/>
          </a:xfrm>
          <a:prstGeom prst="ellipse">
            <a:avLst/>
          </a:prstGeom>
          <a:solidFill>
            <a:srgbClr val="0B6E99"/>
          </a:solidFill>
          <a:ln w="12700">
            <a:solidFill>
              <a:srgbClr val="0B6E99"/>
            </a:solidFill>
            <a:prstDash val="solid"/>
          </a:ln>
        </p:spPr>
      </p:sp>
      <p:sp>
        <p:nvSpPr>
          <p:cNvPr id="16" name="Text 13"/>
          <p:cNvSpPr/>
          <p:nvPr/>
        </p:nvSpPr>
        <p:spPr>
          <a:xfrm>
            <a:off x="1051560" y="4370832"/>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حذف خطای پیش‌مقدار ژیروسکوپ</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4"/>
          <p:cNvSpPr/>
          <p:nvPr/>
        </p:nvSpPr>
        <p:spPr>
          <a:xfrm>
            <a:off x="5605272" y="4901184"/>
            <a:ext cx="91440" cy="91440"/>
          </a:xfrm>
          <a:prstGeom prst="ellipse">
            <a:avLst/>
          </a:prstGeom>
          <a:solidFill>
            <a:srgbClr val="0B6E99"/>
          </a:solidFill>
          <a:ln w="12700">
            <a:solidFill>
              <a:srgbClr val="0B6E99"/>
            </a:solidFill>
            <a:prstDash val="solid"/>
          </a:ln>
        </p:spPr>
      </p:sp>
      <p:sp>
        <p:nvSpPr>
          <p:cNvPr id="18" name="Text 15"/>
          <p:cNvSpPr/>
          <p:nvPr/>
        </p:nvSpPr>
        <p:spPr>
          <a:xfrm>
            <a:off x="1051560" y="4754880"/>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فیلتر پایین‌گذر باترورث مرتبه ۴، قطع ۴ هرتز</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Shape 16"/>
          <p:cNvSpPr/>
          <p:nvPr/>
        </p:nvSpPr>
        <p:spPr>
          <a:xfrm>
            <a:off x="5605272" y="5285232"/>
            <a:ext cx="91440" cy="91440"/>
          </a:xfrm>
          <a:prstGeom prst="ellipse">
            <a:avLst/>
          </a:prstGeom>
          <a:solidFill>
            <a:srgbClr val="0B6E99"/>
          </a:solidFill>
          <a:ln w="12700">
            <a:solidFill>
              <a:srgbClr val="0B6E99"/>
            </a:solidFill>
            <a:prstDash val="solid"/>
          </a:ln>
        </p:spPr>
      </p:sp>
      <p:sp>
        <p:nvSpPr>
          <p:cNvPr id="20" name="Text 17"/>
          <p:cNvSpPr/>
          <p:nvPr/>
        </p:nvSpPr>
        <p:spPr>
          <a:xfrm>
            <a:off x="1051560" y="5138928"/>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اعمال دوطرفه برای جلوگیری از تأخیر فازی</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Shape 18"/>
          <p:cNvSpPr/>
          <p:nvPr/>
        </p:nvSpPr>
        <p:spPr>
          <a:xfrm>
            <a:off x="6419088" y="1481328"/>
            <a:ext cx="5102352" cy="4526280"/>
          </a:xfrm>
          <a:prstGeom prst="roundRect">
            <a:avLst>
              <a:gd name="adj" fmla="val 16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2" name="Shape 19"/>
          <p:cNvSpPr/>
          <p:nvPr/>
        </p:nvSpPr>
        <p:spPr>
          <a:xfrm>
            <a:off x="9601200" y="1737360"/>
            <a:ext cx="1572768" cy="347472"/>
          </a:xfrm>
          <a:prstGeom prst="roundRect">
            <a:avLst>
              <a:gd name="adj" fmla="val 47368"/>
            </a:avLst>
          </a:prstGeom>
          <a:solidFill>
            <a:srgbClr val="E8F5EE"/>
          </a:solidFill>
          <a:ln w="12700">
            <a:solidFill>
              <a:srgbClr val="E8F5EE"/>
            </a:solidFill>
            <a:prstDash val="solid"/>
          </a:ln>
        </p:spPr>
      </p:sp>
      <p:sp>
        <p:nvSpPr>
          <p:cNvPr id="23" name="Text 20"/>
          <p:cNvSpPr/>
          <p:nvPr/>
        </p:nvSpPr>
        <p:spPr>
          <a:xfrm>
            <a:off x="9710928" y="1755648"/>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استخراج ویژگی</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Text 21"/>
          <p:cNvSpPr/>
          <p:nvPr/>
        </p:nvSpPr>
        <p:spPr>
          <a:xfrm>
            <a:off x="9710928" y="2359152"/>
            <a:ext cx="1389888" cy="411480"/>
          </a:xfrm>
          <a:prstGeom prst="rect">
            <a:avLst/>
          </a:prstGeom>
          <a:noFill/>
          <a:ln/>
        </p:spPr>
        <p:txBody>
          <a:bodyPr wrap="square" lIns="0" tIns="0" rIns="0" bIns="0" rtlCol="0" anchor="ctr">
            <a:normAutofit/>
          </a:bodyPr>
          <a:lstStyle/>
          <a:p>
            <a:pPr marL="0" indent="0" algn="ctr" rtl="1">
              <a:buNone/>
            </a:pPr>
            <a:r>
              <a:rPr lang="en-US" sz="210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۵ حسگر</a:t>
            </a:r>
            <a:endParaRPr lang="en-US" sz="2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2"/>
          <p:cNvSpPr/>
          <p:nvPr/>
        </p:nvSpPr>
        <p:spPr>
          <a:xfrm>
            <a:off x="9217152" y="2377440"/>
            <a:ext cx="347472" cy="347472"/>
          </a:xfrm>
          <a:prstGeom prst="rect">
            <a:avLst/>
          </a:prstGeom>
          <a:noFill/>
          <a:ln/>
        </p:spPr>
        <p:txBody>
          <a:bodyPr wrap="square" lIns="0" tIns="0" rIns="0" bIns="0" rtlCol="0" anchor="ctr">
            <a:normAutofit lnSpcReduction="10000"/>
          </a:bodyPr>
          <a:lstStyle/>
          <a:p>
            <a:pPr marL="0" indent="0" algn="ctr">
              <a:buNone/>
            </a:pPr>
            <a:r>
              <a:rPr lang="en-US" sz="2400" b="1"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a:t>
            </a:r>
            <a:endParaRPr lang="en-US" sz="2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Text 23"/>
          <p:cNvSpPr/>
          <p:nvPr/>
        </p:nvSpPr>
        <p:spPr>
          <a:xfrm>
            <a:off x="7717536" y="2359152"/>
            <a:ext cx="1353312" cy="411480"/>
          </a:xfrm>
          <a:prstGeom prst="rect">
            <a:avLst/>
          </a:prstGeom>
          <a:noFill/>
          <a:ln/>
        </p:spPr>
        <p:txBody>
          <a:bodyPr wrap="square" lIns="0" tIns="0" rIns="0" bIns="0" rtlCol="0" anchor="ctr">
            <a:normAutofit/>
          </a:bodyPr>
          <a:lstStyle/>
          <a:p>
            <a:pPr marL="0" indent="0" algn="ctr" rtl="1">
              <a:buNone/>
            </a:pPr>
            <a:r>
              <a:rPr lang="en-US" sz="210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۶ سیگنال</a:t>
            </a:r>
            <a:endParaRPr lang="en-US" sz="2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Text 24"/>
          <p:cNvSpPr/>
          <p:nvPr/>
        </p:nvSpPr>
        <p:spPr>
          <a:xfrm>
            <a:off x="7388352" y="2377440"/>
            <a:ext cx="256032" cy="347472"/>
          </a:xfrm>
          <a:prstGeom prst="rect">
            <a:avLst/>
          </a:prstGeom>
          <a:noFill/>
          <a:ln/>
        </p:spPr>
        <p:txBody>
          <a:bodyPr wrap="square" lIns="0" tIns="0" rIns="0" bIns="0" rtlCol="0" anchor="ctr">
            <a:normAutofit lnSpcReduction="10000"/>
          </a:bodyPr>
          <a:lstStyle/>
          <a:p>
            <a:pPr marL="0" indent="0" algn="ctr">
              <a:buNone/>
            </a:pPr>
            <a:r>
              <a:rPr lang="en-US" sz="2400" b="1"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a:t>
            </a:r>
            <a:endParaRPr lang="en-US" sz="2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Text 25"/>
          <p:cNvSpPr/>
          <p:nvPr/>
        </p:nvSpPr>
        <p:spPr>
          <a:xfrm>
            <a:off x="6419088" y="2359152"/>
            <a:ext cx="896112" cy="411480"/>
          </a:xfrm>
          <a:prstGeom prst="rect">
            <a:avLst/>
          </a:prstGeom>
          <a:noFill/>
          <a:ln/>
        </p:spPr>
        <p:txBody>
          <a:bodyPr wrap="square" lIns="0" tIns="0" rIns="0" bIns="0" rtlCol="0" anchor="ctr">
            <a:normAutofit/>
          </a:bodyPr>
          <a:lstStyle/>
          <a:p>
            <a:pPr marL="0" indent="0" algn="ctr" rtl="1">
              <a:buNone/>
            </a:pPr>
            <a:r>
              <a:rPr lang="en-US" sz="18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۲۳ ویژگی</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Text 26"/>
          <p:cNvSpPr/>
          <p:nvPr/>
        </p:nvSpPr>
        <p:spPr>
          <a:xfrm>
            <a:off x="9290304" y="2944368"/>
            <a:ext cx="420624" cy="384048"/>
          </a:xfrm>
          <a:prstGeom prst="rect">
            <a:avLst/>
          </a:prstGeom>
          <a:noFill/>
          <a:ln/>
        </p:spPr>
        <p:txBody>
          <a:bodyPr wrap="square" lIns="0" tIns="0" rIns="0" bIns="0" rtlCol="0" anchor="ctr">
            <a:normAutofit lnSpcReduction="10000"/>
          </a:bodyPr>
          <a:lstStyle/>
          <a:p>
            <a:pPr marL="0" indent="0" algn="ctr">
              <a:buNone/>
            </a:pPr>
            <a:r>
              <a:rPr lang="en-US" sz="2700" b="1"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7"/>
          <p:cNvSpPr/>
          <p:nvPr/>
        </p:nvSpPr>
        <p:spPr>
          <a:xfrm>
            <a:off x="6766560" y="2880360"/>
            <a:ext cx="2377440" cy="502920"/>
          </a:xfrm>
          <a:prstGeom prst="rect">
            <a:avLst/>
          </a:prstGeom>
          <a:noFill/>
          <a:ln/>
        </p:spPr>
        <p:txBody>
          <a:bodyPr wrap="square" lIns="0" tIns="0" rIns="0" bIns="0" rtlCol="0" anchor="ctr">
            <a:normAutofit/>
          </a:bodyPr>
          <a:lstStyle/>
          <a:p>
            <a:pPr marL="0" indent="0" algn="ctr" rtl="1">
              <a:buNone/>
            </a:pPr>
            <a:r>
              <a:rPr lang="en-US" sz="23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۶۹۰ ویژگی برای هر نمونه</a:t>
            </a:r>
            <a:endParaRPr lang="en-US" sz="2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Text 28"/>
          <p:cNvSpPr/>
          <p:nvPr/>
        </p:nvSpPr>
        <p:spPr>
          <a:xfrm>
            <a:off x="9326880" y="3703320"/>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مرکزی</a:t>
            </a:r>
            <a:endParaRPr lang="en-US" sz="11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Text 29"/>
          <p:cNvSpPr/>
          <p:nvPr/>
        </p:nvSpPr>
        <p:spPr>
          <a:xfrm>
            <a:off x="6812280" y="3703320"/>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میانگین، میانه</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Text 30"/>
          <p:cNvSpPr/>
          <p:nvPr/>
        </p:nvSpPr>
        <p:spPr>
          <a:xfrm>
            <a:off x="9326880" y="4087368"/>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پراکندگی</a:t>
            </a:r>
            <a:endParaRPr lang="en-US" sz="11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Text 31"/>
          <p:cNvSpPr/>
          <p:nvPr/>
        </p:nvSpPr>
        <p:spPr>
          <a:xfrm>
            <a:off x="6812280" y="4087368"/>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انحراف معیار، IQR، دامنه</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Text 32"/>
          <p:cNvSpPr/>
          <p:nvPr/>
        </p:nvSpPr>
        <p:spPr>
          <a:xfrm>
            <a:off x="9326880" y="4471416"/>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شدت</a:t>
            </a:r>
            <a:endParaRPr lang="en-US" sz="11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Text 33"/>
          <p:cNvSpPr/>
          <p:nvPr/>
        </p:nvSpPr>
        <p:spPr>
          <a:xfrm>
            <a:off x="6812280" y="4471416"/>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RMS، انرژی، قدر مطلق</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Text 34"/>
          <p:cNvSpPr/>
          <p:nvPr/>
        </p:nvSpPr>
        <p:spPr>
          <a:xfrm>
            <a:off x="9326880" y="4855464"/>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شکل توزیع</a:t>
            </a:r>
            <a:endParaRPr lang="en-US" sz="11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Text 35"/>
          <p:cNvSpPr/>
          <p:nvPr/>
        </p:nvSpPr>
        <p:spPr>
          <a:xfrm>
            <a:off x="6812280" y="4855464"/>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چولگی، کشیدگی، آنتروپی</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Text 36"/>
          <p:cNvSpPr/>
          <p:nvPr/>
        </p:nvSpPr>
        <p:spPr>
          <a:xfrm>
            <a:off x="9326880" y="5239512"/>
            <a:ext cx="1572768" cy="228600"/>
          </a:xfrm>
          <a:prstGeom prst="rect">
            <a:avLst/>
          </a:prstGeom>
          <a:noFill/>
          <a:ln/>
        </p:spPr>
        <p:txBody>
          <a:bodyPr wrap="square" lIns="0" tIns="0" rIns="0" bIns="0" rtlCol="0" anchor="ctr">
            <a:normAutofit/>
          </a:bodyPr>
          <a:lstStyle/>
          <a:p>
            <a:pPr marL="0" indent="0" algn="r" rtl="1">
              <a:buNone/>
            </a:pPr>
            <a:r>
              <a:rPr lang="en-US" sz="11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تغییرات زمانی</a:t>
            </a:r>
            <a:endParaRPr lang="en-US" sz="11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Text 37"/>
          <p:cNvSpPr/>
          <p:nvPr/>
        </p:nvSpPr>
        <p:spPr>
          <a:xfrm>
            <a:off x="6812280" y="5239512"/>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تفاضل‌ها، عبور از صفر، خودهمبستگی</a:t>
            </a:r>
            <a:endParaRPr lang="en-US" sz="10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Text 38"/>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2" name="Shape 39"/>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یادگیری ماشین و ارزیابی</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مدل‌سازی بدون نشت اطلاعات</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28274"/>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08</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685800" y="1481328"/>
            <a:ext cx="71323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5806440" y="1746504"/>
            <a:ext cx="164592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5916168" y="1764792"/>
            <a:ext cx="142646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Pipeline پردازش</a:t>
            </a:r>
            <a:endParaRPr lang="en-US" sz="13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Shape 8"/>
          <p:cNvSpPr/>
          <p:nvPr/>
        </p:nvSpPr>
        <p:spPr>
          <a:xfrm>
            <a:off x="6080760" y="2404872"/>
            <a:ext cx="1389888" cy="1353312"/>
          </a:xfrm>
          <a:prstGeom prst="roundRect">
            <a:avLst>
              <a:gd name="adj" fmla="val 5405"/>
            </a:avLst>
          </a:prstGeom>
          <a:solidFill>
            <a:srgbClr val="F8FBFD"/>
          </a:solidFill>
          <a:ln w="17780">
            <a:solidFill>
              <a:srgbClr val="0B6E99"/>
            </a:solidFill>
            <a:prstDash val="solid"/>
          </a:ln>
        </p:spPr>
      </p:sp>
      <p:sp>
        <p:nvSpPr>
          <p:cNvPr id="11" name="Text 9"/>
          <p:cNvSpPr/>
          <p:nvPr/>
        </p:nvSpPr>
        <p:spPr>
          <a:xfrm>
            <a:off x="6153912" y="2596896"/>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تقسیم داده</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Text 10"/>
          <p:cNvSpPr/>
          <p:nvPr/>
        </p:nvSpPr>
        <p:spPr>
          <a:xfrm>
            <a:off x="6172200"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آموزش / آزمون</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5897880" y="3081528"/>
            <a:ext cx="0" cy="0"/>
          </a:xfrm>
          <a:prstGeom prst="line">
            <a:avLst/>
          </a:prstGeom>
          <a:noFill/>
          <a:ln w="20320">
            <a:solidFill>
              <a:srgbClr val="94A3B8"/>
            </a:solidFill>
            <a:prstDash val="solid"/>
            <a:headEnd type="none"/>
            <a:tailEnd type="triangle"/>
          </a:ln>
        </p:spPr>
      </p:sp>
      <p:sp>
        <p:nvSpPr>
          <p:cNvPr id="14" name="Shape 12"/>
          <p:cNvSpPr/>
          <p:nvPr/>
        </p:nvSpPr>
        <p:spPr>
          <a:xfrm>
            <a:off x="4398264" y="2404872"/>
            <a:ext cx="1389888" cy="1353312"/>
          </a:xfrm>
          <a:prstGeom prst="roundRect">
            <a:avLst>
              <a:gd name="adj" fmla="val 5405"/>
            </a:avLst>
          </a:prstGeom>
          <a:solidFill>
            <a:srgbClr val="F8FBFD"/>
          </a:solidFill>
          <a:ln w="17780">
            <a:solidFill>
              <a:srgbClr val="0B7A75"/>
            </a:solidFill>
            <a:prstDash val="solid"/>
          </a:ln>
        </p:spPr>
      </p:sp>
      <p:sp>
        <p:nvSpPr>
          <p:cNvPr id="15" name="Text 13"/>
          <p:cNvSpPr/>
          <p:nvPr/>
        </p:nvSpPr>
        <p:spPr>
          <a:xfrm>
            <a:off x="4471416" y="2615184"/>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StandardScaler</a:t>
            </a:r>
            <a:endParaRPr lang="en-US" sz="14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4"/>
          <p:cNvSpPr/>
          <p:nvPr/>
        </p:nvSpPr>
        <p:spPr>
          <a:xfrm>
            <a:off x="4489704"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برازش فقط روی آموزش</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4215384" y="3081528"/>
            <a:ext cx="0" cy="0"/>
          </a:xfrm>
          <a:prstGeom prst="line">
            <a:avLst/>
          </a:prstGeom>
          <a:noFill/>
          <a:ln w="20320">
            <a:solidFill>
              <a:srgbClr val="94A3B8"/>
            </a:solidFill>
            <a:prstDash val="solid"/>
            <a:headEnd type="none"/>
            <a:tailEnd type="triangle"/>
          </a:ln>
        </p:spPr>
      </p:sp>
      <p:sp>
        <p:nvSpPr>
          <p:cNvPr id="18" name="Shape 16"/>
          <p:cNvSpPr/>
          <p:nvPr/>
        </p:nvSpPr>
        <p:spPr>
          <a:xfrm>
            <a:off x="2715768" y="2404872"/>
            <a:ext cx="1389888" cy="1353312"/>
          </a:xfrm>
          <a:prstGeom prst="roundRect">
            <a:avLst>
              <a:gd name="adj" fmla="val 5405"/>
            </a:avLst>
          </a:prstGeom>
          <a:solidFill>
            <a:srgbClr val="F8FBFD"/>
          </a:solidFill>
          <a:ln w="17780">
            <a:solidFill>
              <a:srgbClr val="6B5BA6"/>
            </a:solidFill>
            <a:prstDash val="solid"/>
          </a:ln>
        </p:spPr>
      </p:sp>
      <p:sp>
        <p:nvSpPr>
          <p:cNvPr id="19" name="Text 17"/>
          <p:cNvSpPr/>
          <p:nvPr/>
        </p:nvSpPr>
        <p:spPr>
          <a:xfrm>
            <a:off x="2788920" y="2615184"/>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6B5BA6"/>
                </a:solidFill>
                <a:latin typeface="Sharif 1.2 ExtraLight" panose="020B0000040000000000" pitchFamily="34" charset="-78"/>
                <a:ea typeface="Sharif 1.2 ExtraLight" panose="020B0000040000000000" pitchFamily="34" charset="-78"/>
                <a:cs typeface="Sharif 1.2 ExtraLight" panose="020B0000040000000000" pitchFamily="34" charset="-78"/>
              </a:rPr>
              <a:t>PCA</a:t>
            </a:r>
            <a:endParaRPr lang="en-US" sz="14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Text 18"/>
          <p:cNvSpPr/>
          <p:nvPr/>
        </p:nvSpPr>
        <p:spPr>
          <a:xfrm>
            <a:off x="2807208"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کاهش ابعاد</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Shape 19"/>
          <p:cNvSpPr/>
          <p:nvPr/>
        </p:nvSpPr>
        <p:spPr>
          <a:xfrm>
            <a:off x="2532888" y="3081528"/>
            <a:ext cx="0" cy="0"/>
          </a:xfrm>
          <a:prstGeom prst="line">
            <a:avLst/>
          </a:prstGeom>
          <a:noFill/>
          <a:ln w="20320">
            <a:solidFill>
              <a:srgbClr val="94A3B8"/>
            </a:solidFill>
            <a:prstDash val="solid"/>
            <a:headEnd type="none"/>
            <a:tailEnd type="triangle"/>
          </a:ln>
        </p:spPr>
      </p:sp>
      <p:sp>
        <p:nvSpPr>
          <p:cNvPr id="22" name="Shape 20"/>
          <p:cNvSpPr/>
          <p:nvPr/>
        </p:nvSpPr>
        <p:spPr>
          <a:xfrm>
            <a:off x="1033272" y="2404872"/>
            <a:ext cx="1389888" cy="1353312"/>
          </a:xfrm>
          <a:prstGeom prst="roundRect">
            <a:avLst>
              <a:gd name="adj" fmla="val 5405"/>
            </a:avLst>
          </a:prstGeom>
          <a:solidFill>
            <a:srgbClr val="F8FBFD"/>
          </a:solidFill>
          <a:ln w="17780">
            <a:solidFill>
              <a:srgbClr val="2F855A"/>
            </a:solidFill>
            <a:prstDash val="solid"/>
          </a:ln>
        </p:spPr>
      </p:sp>
      <p:sp>
        <p:nvSpPr>
          <p:cNvPr id="23" name="Text 21"/>
          <p:cNvSpPr/>
          <p:nvPr/>
        </p:nvSpPr>
        <p:spPr>
          <a:xfrm>
            <a:off x="1106424" y="2596896"/>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طبقه‌بند</a:t>
            </a:r>
            <a:endParaRPr lang="en-US" sz="14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Text 22"/>
          <p:cNvSpPr/>
          <p:nvPr/>
        </p:nvSpPr>
        <p:spPr>
          <a:xfrm>
            <a:off x="1124712" y="3063240"/>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پیش‌بینی سطح عملکرد</a:t>
            </a:r>
            <a:endParaRPr lang="en-US" sz="10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Shape 23"/>
          <p:cNvSpPr/>
          <p:nvPr/>
        </p:nvSpPr>
        <p:spPr>
          <a:xfrm>
            <a:off x="1051560" y="4224528"/>
            <a:ext cx="6355080" cy="1124712"/>
          </a:xfrm>
          <a:prstGeom prst="roundRect">
            <a:avLst>
              <a:gd name="adj" fmla="val 8130"/>
            </a:avLst>
          </a:prstGeom>
          <a:solidFill>
            <a:srgbClr val="EEF4F8"/>
          </a:solidFill>
          <a:ln w="12700">
            <a:solidFill>
              <a:srgbClr val="D9E2EC"/>
            </a:solidFill>
            <a:prstDash val="solid"/>
          </a:ln>
        </p:spPr>
      </p:sp>
      <p:sp>
        <p:nvSpPr>
          <p:cNvPr id="26" name="Text 24"/>
          <p:cNvSpPr/>
          <p:nvPr/>
        </p:nvSpPr>
        <p:spPr>
          <a:xfrm>
            <a:off x="5870448" y="4407408"/>
            <a:ext cx="1234440" cy="237744"/>
          </a:xfrm>
          <a:prstGeom prst="rect">
            <a:avLst/>
          </a:prstGeom>
          <a:noFill/>
          <a:ln/>
        </p:spPr>
        <p:txBody>
          <a:bodyPr wrap="square" lIns="0" tIns="0" rIns="0" bIns="0" rtlCol="0" anchor="ctr">
            <a:normAutofit/>
          </a:bodyPr>
          <a:lstStyle/>
          <a:p>
            <a:pPr marL="0" indent="0" algn="r" rtl="1">
              <a:buNone/>
            </a:pPr>
            <a:r>
              <a:rPr lang="en-US" sz="125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اصل روش‌شناختی</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7" name="Text 25"/>
          <p:cNvSpPr/>
          <p:nvPr/>
        </p:nvSpPr>
        <p:spPr>
          <a:xfrm>
            <a:off x="1325880" y="4681728"/>
            <a:ext cx="5623560" cy="429768"/>
          </a:xfrm>
          <a:prstGeom prst="rect">
            <a:avLst/>
          </a:prstGeom>
          <a:noFill/>
          <a:ln/>
        </p:spPr>
        <p:txBody>
          <a:bodyPr wrap="square" lIns="0" tIns="0" rIns="0" bIns="0" rtlCol="0" anchor="ctr">
            <a:normAutofit/>
          </a:bodyPr>
          <a:lstStyle/>
          <a:p>
            <a:pPr marL="0" indent="0" algn="ctr" rtl="1">
              <a:buNone/>
            </a:pPr>
            <a:r>
              <a:rPr lang="en-US" sz="132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استانداردسازی و PCA در هر تکرار فقط روی داده‌های آموزش برازش شدند؛ سپس همان تبدیل‌ها روی داده آزمون اعمال شد.</a:t>
            </a:r>
            <a:endParaRPr lang="en-US" sz="13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8065008" y="1481328"/>
            <a:ext cx="3456432" cy="4526280"/>
          </a:xfrm>
          <a:prstGeom prst="roundRect">
            <a:avLst>
              <a:gd name="adj" fmla="val 21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9" name="Shape 27"/>
          <p:cNvSpPr/>
          <p:nvPr/>
        </p:nvSpPr>
        <p:spPr>
          <a:xfrm>
            <a:off x="9674352" y="1746504"/>
            <a:ext cx="1481328" cy="347472"/>
          </a:xfrm>
          <a:prstGeom prst="roundRect">
            <a:avLst>
              <a:gd name="adj" fmla="val 47368"/>
            </a:avLst>
          </a:prstGeom>
          <a:solidFill>
            <a:srgbClr val="E8F5EE"/>
          </a:solidFill>
          <a:ln w="12700">
            <a:solidFill>
              <a:srgbClr val="E8F5EE"/>
            </a:solidFill>
            <a:prstDash val="solid"/>
          </a:ln>
        </p:spPr>
      </p:sp>
      <p:sp>
        <p:nvSpPr>
          <p:cNvPr id="30" name="Text 28"/>
          <p:cNvSpPr/>
          <p:nvPr/>
        </p:nvSpPr>
        <p:spPr>
          <a:xfrm>
            <a:off x="9784080" y="1764792"/>
            <a:ext cx="1261872" cy="310896"/>
          </a:xfrm>
          <a:prstGeom prst="rect">
            <a:avLst/>
          </a:prstGeom>
          <a:noFill/>
          <a:ln/>
        </p:spPr>
        <p:txBody>
          <a:bodyPr wrap="square" lIns="0" tIns="0" rIns="0" bIns="0" rtlCol="0" anchor="ctr">
            <a:normAutofit/>
          </a:bodyPr>
          <a:lstStyle/>
          <a:p>
            <a:pPr marL="0" indent="0" algn="ctr" rtl="1">
              <a:buNone/>
            </a:pPr>
            <a:r>
              <a:rPr lang="en-US" sz="130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مدل‌ها و ارزیابی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8366760" y="2404872"/>
            <a:ext cx="2834640" cy="548640"/>
          </a:xfrm>
          <a:prstGeom prst="roundRect">
            <a:avLst>
              <a:gd name="adj" fmla="val 13333"/>
            </a:avLst>
          </a:prstGeom>
          <a:solidFill>
            <a:srgbClr val="FFFFFF"/>
          </a:solidFill>
          <a:ln w="19050">
            <a:solidFill>
              <a:srgbClr val="0B6E99"/>
            </a:solidFill>
            <a:prstDash val="solid"/>
          </a:ln>
        </p:spPr>
      </p:sp>
      <p:sp>
        <p:nvSpPr>
          <p:cNvPr id="32" name="Text 30"/>
          <p:cNvSpPr/>
          <p:nvPr/>
        </p:nvSpPr>
        <p:spPr>
          <a:xfrm>
            <a:off x="8449056" y="2496312"/>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SVM</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Text 31"/>
          <p:cNvSpPr/>
          <p:nvPr/>
        </p:nvSpPr>
        <p:spPr>
          <a:xfrm>
            <a:off x="9710928" y="2496312"/>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هسته RBF</a:t>
            </a:r>
            <a:endParaRPr lang="en-US" sz="11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Shape 32"/>
          <p:cNvSpPr/>
          <p:nvPr/>
        </p:nvSpPr>
        <p:spPr>
          <a:xfrm>
            <a:off x="8366760" y="3118104"/>
            <a:ext cx="2834640" cy="548640"/>
          </a:xfrm>
          <a:prstGeom prst="roundRect">
            <a:avLst>
              <a:gd name="adj" fmla="val 13333"/>
            </a:avLst>
          </a:prstGeom>
          <a:solidFill>
            <a:srgbClr val="FFFFFF"/>
          </a:solidFill>
          <a:ln w="12700">
            <a:solidFill>
              <a:srgbClr val="D9E2EC"/>
            </a:solidFill>
            <a:prstDash val="solid"/>
          </a:ln>
        </p:spPr>
      </p:sp>
      <p:sp>
        <p:nvSpPr>
          <p:cNvPr id="35" name="Text 33"/>
          <p:cNvSpPr/>
          <p:nvPr/>
        </p:nvSpPr>
        <p:spPr>
          <a:xfrm>
            <a:off x="8449056" y="3209544"/>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KNN</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6" name="Text 34"/>
          <p:cNvSpPr/>
          <p:nvPr/>
        </p:nvSpPr>
        <p:spPr>
          <a:xfrm>
            <a:off x="9710928" y="3209544"/>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پنج همسایه</a:t>
            </a:r>
            <a:endParaRPr lang="en-US" sz="11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Shape 35"/>
          <p:cNvSpPr/>
          <p:nvPr/>
        </p:nvSpPr>
        <p:spPr>
          <a:xfrm>
            <a:off x="8366760" y="3831336"/>
            <a:ext cx="2834640" cy="548640"/>
          </a:xfrm>
          <a:prstGeom prst="roundRect">
            <a:avLst>
              <a:gd name="adj" fmla="val 13333"/>
            </a:avLst>
          </a:prstGeom>
          <a:solidFill>
            <a:srgbClr val="FFFFFF"/>
          </a:solidFill>
          <a:ln w="12700">
            <a:solidFill>
              <a:srgbClr val="D9E2EC"/>
            </a:solidFill>
            <a:prstDash val="solid"/>
          </a:ln>
        </p:spPr>
      </p:sp>
      <p:sp>
        <p:nvSpPr>
          <p:cNvPr id="38" name="Text 36"/>
          <p:cNvSpPr/>
          <p:nvPr/>
        </p:nvSpPr>
        <p:spPr>
          <a:xfrm>
            <a:off x="8449056" y="3922776"/>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Random Forest</a:t>
            </a:r>
            <a:endParaRPr lang="en-US" sz="13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Text 37"/>
          <p:cNvSpPr/>
          <p:nvPr/>
        </p:nvSpPr>
        <p:spPr>
          <a:xfrm>
            <a:off x="9710928" y="3922776"/>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۵۰۰ درخت</a:t>
            </a:r>
            <a:endParaRPr lang="en-US" sz="11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Text 38"/>
          <p:cNvSpPr/>
          <p:nvPr/>
        </p:nvSpPr>
        <p:spPr>
          <a:xfrm>
            <a:off x="8357616" y="4626864"/>
            <a:ext cx="2816352" cy="274320"/>
          </a:xfrm>
          <a:prstGeom prst="rect">
            <a:avLst/>
          </a:prstGeom>
          <a:noFill/>
          <a:ln/>
        </p:spPr>
        <p:txBody>
          <a:bodyPr wrap="square" lIns="0" tIns="0" rIns="0" bIns="0" rtlCol="0" anchor="ctr">
            <a:normAutofit/>
          </a:bodyPr>
          <a:lstStyle/>
          <a:p>
            <a:pPr marL="0" indent="0" algn="ctr" rtl="1">
              <a:buNone/>
            </a:pPr>
            <a:r>
              <a:rPr lang="en-US" sz="13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اعتبارسنجی متقاطع طبقه‌بندی‌شده</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Text 39"/>
          <p:cNvSpPr/>
          <p:nvPr/>
        </p:nvSpPr>
        <p:spPr>
          <a:xfrm>
            <a:off x="8357616" y="4928616"/>
            <a:ext cx="2816352" cy="256032"/>
          </a:xfrm>
          <a:prstGeom prst="rect">
            <a:avLst/>
          </a:prstGeom>
          <a:noFill/>
          <a:ln/>
        </p:spPr>
        <p:txBody>
          <a:bodyPr wrap="square" lIns="0" tIns="0" rIns="0" bIns="0" rtlCol="0" anchor="ctr">
            <a:normAutofit/>
          </a:bodyPr>
          <a:lstStyle/>
          <a:p>
            <a:pPr marL="0" indent="0" algn="ctr" rtl="1">
              <a:buNone/>
            </a:pPr>
            <a:r>
              <a:rPr lang="en-US" sz="152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۵ بخش × ۵ تکرار</a:t>
            </a:r>
            <a:endParaRPr lang="en-US" sz="15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2" name="Text 40"/>
          <p:cNvSpPr/>
          <p:nvPr/>
        </p:nvSpPr>
        <p:spPr>
          <a:xfrm>
            <a:off x="8302752" y="5340096"/>
            <a:ext cx="2926080" cy="274320"/>
          </a:xfrm>
          <a:prstGeom prst="rect">
            <a:avLst/>
          </a:prstGeom>
          <a:noFill/>
          <a:ln/>
        </p:spPr>
        <p:txBody>
          <a:bodyPr wrap="square" lIns="0" tIns="0" rIns="0" bIns="0" rtlCol="0" anchor="ctr">
            <a:normAutofit/>
          </a:bodyPr>
          <a:lstStyle/>
          <a:p>
            <a:pPr marL="0" indent="0" algn="ctr">
              <a:buNone/>
            </a:pPr>
            <a:r>
              <a:rPr lang="en-US" sz="105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Accuracy • Precision • Recall • Specificity • F1</a:t>
            </a:r>
            <a:endParaRPr lang="en-US" sz="10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3" name="Text 41"/>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4" name="Shape 42"/>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نتایج</a:t>
            </a:r>
            <a:endParaRPr lang="en-US" sz="98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مطالعه موردی: نتیجه فعالیت ایستادن</a:t>
            </a:r>
            <a:endParaRPr lang="en-US" sz="2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09</a:t>
            </a:r>
            <a:endParaRPr lang="en-US" sz="11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7" name="Shape 5"/>
          <p:cNvSpPr/>
          <p:nvPr/>
        </p:nvSpPr>
        <p:spPr>
          <a:xfrm>
            <a:off x="658368" y="1481328"/>
            <a:ext cx="3794760" cy="4526280"/>
          </a:xfrm>
          <a:prstGeom prst="roundRect">
            <a:avLst>
              <a:gd name="adj" fmla="val 1928"/>
            </a:avLst>
          </a:prstGeom>
          <a:solidFill>
            <a:srgbClr val="102A43"/>
          </a:solidFill>
          <a:ln w="12700">
            <a:solidFill>
              <a:srgbClr val="102A43"/>
            </a:solidFill>
            <a:prstDash val="solid"/>
          </a:ln>
          <a:effectLst>
            <a:outerShdw blurRad="12700" dist="50800" dir="2700000" algn="bl" rotWithShape="0">
              <a:srgbClr val="B0BEC5">
                <a:alpha val="12000"/>
              </a:srgbClr>
            </a:outerShdw>
          </a:effectLst>
        </p:spPr>
      </p:sp>
      <p:sp>
        <p:nvSpPr>
          <p:cNvPr id="8" name="Text 6"/>
          <p:cNvSpPr/>
          <p:nvPr/>
        </p:nvSpPr>
        <p:spPr>
          <a:xfrm>
            <a:off x="1051560" y="1792224"/>
            <a:ext cx="3017520" cy="310896"/>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مدل منتخب</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9" name="Text 7"/>
          <p:cNvSpPr/>
          <p:nvPr/>
        </p:nvSpPr>
        <p:spPr>
          <a:xfrm>
            <a:off x="960120" y="2148840"/>
            <a:ext cx="3200400" cy="502920"/>
          </a:xfrm>
          <a:prstGeom prst="rect">
            <a:avLst/>
          </a:prstGeom>
          <a:noFill/>
          <a:ln/>
        </p:spPr>
        <p:txBody>
          <a:bodyPr wrap="square" lIns="0" tIns="0" rIns="0" bIns="0" rtlCol="0" anchor="ctr">
            <a:normAutofit/>
          </a:bodyPr>
          <a:lstStyle/>
          <a:p>
            <a:pPr marL="0" indent="0" algn="ctr">
              <a:buNone/>
            </a:pPr>
            <a:r>
              <a:rPr lang="en-US" sz="29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SVM + PCA</a:t>
            </a:r>
            <a:endParaRPr lang="en-US" sz="2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8"/>
          <p:cNvSpPr/>
          <p:nvPr/>
        </p:nvSpPr>
        <p:spPr>
          <a:xfrm>
            <a:off x="1051560" y="2880360"/>
            <a:ext cx="3017520" cy="274320"/>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دقت</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p:cNvSpPr/>
          <p:nvPr/>
        </p:nvSpPr>
        <p:spPr>
          <a:xfrm>
            <a:off x="1097280" y="3163824"/>
            <a:ext cx="2926080" cy="786384"/>
          </a:xfrm>
          <a:prstGeom prst="rect">
            <a:avLst/>
          </a:prstGeom>
          <a:noFill/>
          <a:ln/>
        </p:spPr>
        <p:txBody>
          <a:bodyPr wrap="square" lIns="0" tIns="0" rIns="0" bIns="0" rtlCol="0" anchor="ctr">
            <a:normAutofit/>
          </a:bodyPr>
          <a:lstStyle/>
          <a:p>
            <a:pPr marL="0" indent="0" algn="ctr" rtl="1">
              <a:buNone/>
            </a:pPr>
            <a:r>
              <a:rPr lang="en-US" sz="4800" b="1" dirty="0">
                <a:solidFill>
                  <a:srgbClr val="57D6C6"/>
                </a:solidFill>
                <a:latin typeface="Sharif 1.2 Thin" panose="020B0000040000000000" pitchFamily="34" charset="-78"/>
                <a:ea typeface="Sharif 1.2 Thin" panose="020B0000040000000000" pitchFamily="34" charset="-78"/>
                <a:cs typeface="Sharif 1.2 Thin" panose="020B0000040000000000" pitchFamily="34" charset="-78"/>
              </a:rPr>
              <a:t>۹۶٪</a:t>
            </a:r>
            <a:endParaRPr lang="en-US" sz="4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2" name="Shape 10"/>
          <p:cNvSpPr/>
          <p:nvPr/>
        </p:nvSpPr>
        <p:spPr>
          <a:xfrm>
            <a:off x="1207008" y="4169664"/>
            <a:ext cx="2606040" cy="0"/>
          </a:xfrm>
          <a:prstGeom prst="line">
            <a:avLst/>
          </a:prstGeom>
          <a:noFill/>
          <a:ln w="12700">
            <a:solidFill>
              <a:srgbClr val="335A75"/>
            </a:solidFill>
            <a:prstDash val="solid"/>
          </a:ln>
        </p:spPr>
      </p:sp>
      <p:sp>
        <p:nvSpPr>
          <p:cNvPr id="13" name="Text 11"/>
          <p:cNvSpPr/>
          <p:nvPr/>
        </p:nvSpPr>
        <p:spPr>
          <a:xfrm>
            <a:off x="1143000" y="4370832"/>
            <a:ext cx="2788920" cy="347472"/>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۱۳ مؤلفه اصلی</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 name="Text 12"/>
          <p:cNvSpPr/>
          <p:nvPr/>
        </p:nvSpPr>
        <p:spPr>
          <a:xfrm>
            <a:off x="1143000" y="4782312"/>
            <a:ext cx="2788920" cy="274320"/>
          </a:xfrm>
          <a:prstGeom prst="rect">
            <a:avLst/>
          </a:prstGeom>
          <a:noFill/>
          <a:ln/>
        </p:spPr>
        <p:txBody>
          <a:bodyPr wrap="square" lIns="0" tIns="0" rIns="0" bIns="0" rtlCol="0" anchor="ctr">
            <a:normAutofit/>
          </a:bodyPr>
          <a:lstStyle/>
          <a:p>
            <a:pPr marL="0" indent="0" algn="ctr" rtl="1">
              <a:buNone/>
            </a:pPr>
            <a:r>
              <a:rPr lang="en-US" sz="125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حدود ۷۰٪ واریانس داده</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Text 13"/>
          <p:cNvSpPr/>
          <p:nvPr/>
        </p:nvSpPr>
        <p:spPr>
          <a:xfrm>
            <a:off x="1143000" y="5230368"/>
            <a:ext cx="2788920" cy="292608"/>
          </a:xfrm>
          <a:prstGeom prst="rect">
            <a:avLst/>
          </a:prstGeom>
          <a:noFill/>
          <a:ln/>
        </p:spPr>
        <p:txBody>
          <a:bodyPr wrap="square" lIns="0" tIns="0" rIns="0" bIns="0" rtlCol="0" anchor="ctr">
            <a:normAutofit/>
          </a:bodyPr>
          <a:lstStyle/>
          <a:p>
            <a:pPr marL="0" indent="0" algn="ctr" rtl="1">
              <a:buNone/>
            </a:pPr>
            <a:r>
              <a:rPr lang="en-US" sz="12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تفکیک سه سطح شبیه‌سازی‌شده</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6" name="Shape 14"/>
          <p:cNvSpPr/>
          <p:nvPr/>
        </p:nvSpPr>
        <p:spPr>
          <a:xfrm>
            <a:off x="4709160" y="1481328"/>
            <a:ext cx="681228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17" name="Shape 15"/>
          <p:cNvSpPr/>
          <p:nvPr/>
        </p:nvSpPr>
        <p:spPr>
          <a:xfrm>
            <a:off x="9738360" y="1746504"/>
            <a:ext cx="1444752" cy="347472"/>
          </a:xfrm>
          <a:prstGeom prst="roundRect">
            <a:avLst>
              <a:gd name="adj" fmla="val 47368"/>
            </a:avLst>
          </a:prstGeom>
          <a:solidFill>
            <a:srgbClr val="E7F4F8"/>
          </a:solidFill>
          <a:ln w="12700">
            <a:solidFill>
              <a:srgbClr val="E7F4F8"/>
            </a:solidFill>
            <a:prstDash val="solid"/>
          </a:ln>
        </p:spPr>
      </p:sp>
      <p:sp>
        <p:nvSpPr>
          <p:cNvPr id="18" name="Text 16"/>
          <p:cNvSpPr/>
          <p:nvPr/>
        </p:nvSpPr>
        <p:spPr>
          <a:xfrm>
            <a:off x="9848088" y="1764792"/>
            <a:ext cx="1225296" cy="310896"/>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مقایسه مدل‌ها</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17"/>
          <p:cNvSpPr/>
          <p:nvPr/>
        </p:nvSpPr>
        <p:spPr>
          <a:xfrm>
            <a:off x="5102352" y="253288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SVM</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0" name="Shape 18"/>
          <p:cNvSpPr/>
          <p:nvPr/>
        </p:nvSpPr>
        <p:spPr>
          <a:xfrm>
            <a:off x="6720840" y="2423160"/>
            <a:ext cx="4069080" cy="475488"/>
          </a:xfrm>
          <a:prstGeom prst="roundRect">
            <a:avLst>
              <a:gd name="adj" fmla="val 17308"/>
            </a:avLst>
          </a:prstGeom>
          <a:solidFill>
            <a:srgbClr val="EEF4F8"/>
          </a:solidFill>
          <a:ln w="12700">
            <a:solidFill>
              <a:srgbClr val="EEF4F8"/>
            </a:solidFill>
            <a:prstDash val="solid"/>
          </a:ln>
        </p:spPr>
      </p:sp>
      <p:sp>
        <p:nvSpPr>
          <p:cNvPr id="21" name="Shape 19"/>
          <p:cNvSpPr/>
          <p:nvPr/>
        </p:nvSpPr>
        <p:spPr>
          <a:xfrm>
            <a:off x="6720840" y="2423160"/>
            <a:ext cx="3906317" cy="475488"/>
          </a:xfrm>
          <a:prstGeom prst="roundRect">
            <a:avLst>
              <a:gd name="adj" fmla="val 17308"/>
            </a:avLst>
          </a:prstGeom>
          <a:solidFill>
            <a:srgbClr val="0B6E99"/>
          </a:solidFill>
          <a:ln w="12700">
            <a:solidFill>
              <a:srgbClr val="0B6E99"/>
            </a:solidFill>
            <a:prstDash val="solid"/>
          </a:ln>
        </p:spPr>
      </p:sp>
      <p:sp>
        <p:nvSpPr>
          <p:cNvPr id="22" name="Text 20"/>
          <p:cNvSpPr/>
          <p:nvPr/>
        </p:nvSpPr>
        <p:spPr>
          <a:xfrm>
            <a:off x="10890504" y="247802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۹۶٪</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3" name="Text 21"/>
          <p:cNvSpPr/>
          <p:nvPr/>
        </p:nvSpPr>
        <p:spPr>
          <a:xfrm>
            <a:off x="5102352" y="331012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KNN</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4" name="Shape 22"/>
          <p:cNvSpPr/>
          <p:nvPr/>
        </p:nvSpPr>
        <p:spPr>
          <a:xfrm>
            <a:off x="6720840" y="3200400"/>
            <a:ext cx="4069080" cy="475488"/>
          </a:xfrm>
          <a:prstGeom prst="roundRect">
            <a:avLst>
              <a:gd name="adj" fmla="val 17308"/>
            </a:avLst>
          </a:prstGeom>
          <a:solidFill>
            <a:srgbClr val="EEF4F8"/>
          </a:solidFill>
          <a:ln w="12700">
            <a:solidFill>
              <a:srgbClr val="EEF4F8"/>
            </a:solidFill>
            <a:prstDash val="solid"/>
          </a:ln>
        </p:spPr>
      </p:sp>
      <p:sp>
        <p:nvSpPr>
          <p:cNvPr id="25" name="Shape 23"/>
          <p:cNvSpPr/>
          <p:nvPr/>
        </p:nvSpPr>
        <p:spPr>
          <a:xfrm>
            <a:off x="6720840" y="3200400"/>
            <a:ext cx="3784244" cy="475488"/>
          </a:xfrm>
          <a:prstGeom prst="roundRect">
            <a:avLst>
              <a:gd name="adj" fmla="val 17308"/>
            </a:avLst>
          </a:prstGeom>
          <a:solidFill>
            <a:srgbClr val="0B7A75"/>
          </a:solidFill>
          <a:ln w="12700">
            <a:solidFill>
              <a:srgbClr val="0B7A75"/>
            </a:solidFill>
            <a:prstDash val="solid"/>
          </a:ln>
        </p:spPr>
      </p:sp>
      <p:sp>
        <p:nvSpPr>
          <p:cNvPr id="26" name="Text 24"/>
          <p:cNvSpPr/>
          <p:nvPr/>
        </p:nvSpPr>
        <p:spPr>
          <a:xfrm>
            <a:off x="10890504" y="325526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7A75"/>
                </a:solidFill>
                <a:latin typeface="Sharif 1.2 Thin" panose="020B0000040000000000" pitchFamily="34" charset="-78"/>
                <a:ea typeface="Sharif 1.2 Thin" panose="020B0000040000000000" pitchFamily="34" charset="-78"/>
                <a:cs typeface="Sharif 1.2 Thin" panose="020B0000040000000000" pitchFamily="34" charset="-78"/>
              </a:rPr>
              <a:t>۹۳٪</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7" name="Text 25"/>
          <p:cNvSpPr/>
          <p:nvPr/>
        </p:nvSpPr>
        <p:spPr>
          <a:xfrm>
            <a:off x="5102352" y="408736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Random Forest</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6720840" y="3977640"/>
            <a:ext cx="4069080" cy="475488"/>
          </a:xfrm>
          <a:prstGeom prst="roundRect">
            <a:avLst>
              <a:gd name="adj" fmla="val 17308"/>
            </a:avLst>
          </a:prstGeom>
          <a:solidFill>
            <a:srgbClr val="EEF4F8"/>
          </a:solidFill>
          <a:ln w="12700">
            <a:solidFill>
              <a:srgbClr val="EEF4F8"/>
            </a:solidFill>
            <a:prstDash val="solid"/>
          </a:ln>
        </p:spPr>
      </p:sp>
      <p:sp>
        <p:nvSpPr>
          <p:cNvPr id="29" name="Shape 27"/>
          <p:cNvSpPr/>
          <p:nvPr/>
        </p:nvSpPr>
        <p:spPr>
          <a:xfrm>
            <a:off x="6720840" y="3977640"/>
            <a:ext cx="3743554" cy="475488"/>
          </a:xfrm>
          <a:prstGeom prst="roundRect">
            <a:avLst>
              <a:gd name="adj" fmla="val 17308"/>
            </a:avLst>
          </a:prstGeom>
          <a:solidFill>
            <a:srgbClr val="94A3B8"/>
          </a:solidFill>
          <a:ln w="12700">
            <a:solidFill>
              <a:srgbClr val="94A3B8"/>
            </a:solidFill>
            <a:prstDash val="solid"/>
          </a:ln>
        </p:spPr>
      </p:sp>
      <p:sp>
        <p:nvSpPr>
          <p:cNvPr id="30" name="Text 28"/>
          <p:cNvSpPr/>
          <p:nvPr/>
        </p:nvSpPr>
        <p:spPr>
          <a:xfrm>
            <a:off x="10890504" y="4032504"/>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۹۲٪</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Text 29"/>
          <p:cNvSpPr/>
          <p:nvPr/>
        </p:nvSpPr>
        <p:spPr>
          <a:xfrm>
            <a:off x="7882128" y="4572000"/>
            <a:ext cx="2926080" cy="256032"/>
          </a:xfrm>
          <a:prstGeom prst="rect">
            <a:avLst/>
          </a:prstGeom>
          <a:noFill/>
          <a:ln/>
        </p:spPr>
        <p:txBody>
          <a:bodyPr wrap="square" lIns="0" tIns="0" rIns="0" bIns="0" rtlCol="0" anchor="ctr">
            <a:normAutofit/>
          </a:bodyPr>
          <a:lstStyle/>
          <a:p>
            <a:pPr marL="0" indent="0" algn="r" rtl="1">
              <a:buNone/>
            </a:pPr>
            <a:r>
              <a:rPr lang="en-US" sz="15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چرا ایستادن قابل تفکیک بود؟</a:t>
            </a:r>
            <a:endParaRPr lang="en-US" sz="15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2" name="Shape 30"/>
          <p:cNvSpPr/>
          <p:nvPr/>
        </p:nvSpPr>
        <p:spPr>
          <a:xfrm>
            <a:off x="10753344" y="5020056"/>
            <a:ext cx="82296" cy="82296"/>
          </a:xfrm>
          <a:prstGeom prst="ellipse">
            <a:avLst/>
          </a:prstGeom>
          <a:solidFill>
            <a:srgbClr val="0B6E99"/>
          </a:solidFill>
          <a:ln w="12700">
            <a:solidFill>
              <a:srgbClr val="0B6E99"/>
            </a:solidFill>
            <a:prstDash val="solid"/>
          </a:ln>
        </p:spPr>
      </p:sp>
      <p:sp>
        <p:nvSpPr>
          <p:cNvPr id="33" name="Text 31"/>
          <p:cNvSpPr/>
          <p:nvPr/>
        </p:nvSpPr>
        <p:spPr>
          <a:xfrm>
            <a:off x="7360920" y="4919472"/>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نوسان‌های ظریف بدن</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Shape 32"/>
          <p:cNvSpPr/>
          <p:nvPr/>
        </p:nvSpPr>
        <p:spPr>
          <a:xfrm>
            <a:off x="10753344" y="5266944"/>
            <a:ext cx="82296" cy="82296"/>
          </a:xfrm>
          <a:prstGeom prst="ellipse">
            <a:avLst/>
          </a:prstGeom>
          <a:solidFill>
            <a:srgbClr val="0B6E99"/>
          </a:solidFill>
          <a:ln w="12700">
            <a:solidFill>
              <a:srgbClr val="0B6E99"/>
            </a:solidFill>
            <a:prstDash val="solid"/>
          </a:ln>
        </p:spPr>
      </p:sp>
      <p:sp>
        <p:nvSpPr>
          <p:cNvPr id="35" name="Text 33"/>
          <p:cNvSpPr/>
          <p:nvPr/>
        </p:nvSpPr>
        <p:spPr>
          <a:xfrm>
            <a:off x="7360920" y="5166360"/>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نحوه حفظ 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Shape 34"/>
          <p:cNvSpPr/>
          <p:nvPr/>
        </p:nvSpPr>
        <p:spPr>
          <a:xfrm>
            <a:off x="10753344" y="5513832"/>
            <a:ext cx="82296" cy="82296"/>
          </a:xfrm>
          <a:prstGeom prst="ellipse">
            <a:avLst/>
          </a:prstGeom>
          <a:solidFill>
            <a:srgbClr val="0B6E99"/>
          </a:solidFill>
          <a:ln w="12700">
            <a:solidFill>
              <a:srgbClr val="0B6E99"/>
            </a:solidFill>
            <a:prstDash val="solid"/>
          </a:ln>
        </p:spPr>
      </p:sp>
      <p:sp>
        <p:nvSpPr>
          <p:cNvPr id="37" name="Text 35"/>
          <p:cNvSpPr/>
          <p:nvPr/>
        </p:nvSpPr>
        <p:spPr>
          <a:xfrm>
            <a:off x="7360920" y="5413248"/>
            <a:ext cx="3246120" cy="192024"/>
          </a:xfrm>
          <a:prstGeom prst="rect">
            <a:avLst/>
          </a:prstGeom>
          <a:noFill/>
          <a:ln/>
        </p:spPr>
        <p:txBody>
          <a:bodyPr wrap="square" lIns="0" tIns="0" rIns="0" bIns="0" rtlCol="0" anchor="ctr">
            <a:normAutofit/>
          </a:bodyPr>
          <a:lstStyle/>
          <a:p>
            <a:pPr marL="0" indent="0" algn="r" rtl="1">
              <a:buNone/>
            </a:pPr>
            <a:r>
              <a:rPr lang="en-US" sz="11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میزان حرکت جبرانی دست‌ها و سر</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Text 36"/>
          <p:cNvSpPr/>
          <p:nvPr/>
        </p:nvSpPr>
        <p:spPr>
          <a:xfrm>
            <a:off x="5120640" y="5669280"/>
            <a:ext cx="5349240" cy="228600"/>
          </a:xfrm>
          <a:prstGeom prst="rect">
            <a:avLst/>
          </a:prstGeom>
          <a:noFill/>
          <a:ln/>
        </p:spPr>
        <p:txBody>
          <a:bodyPr wrap="square" lIns="0" tIns="0" rIns="0" bIns="0" rtlCol="0" anchor="ctr">
            <a:normAutofit/>
          </a:bodyPr>
          <a:lstStyle/>
          <a:p>
            <a:pPr marL="0" indent="0" algn="ctr" rtl="1">
              <a:buNone/>
            </a:pPr>
            <a:r>
              <a:rPr lang="en-US" sz="1130" dirty="0">
                <a:solidFill>
                  <a:srgbClr val="C0392B"/>
                </a:solidFill>
                <a:latin typeface="Sharif 1.2 Thin" panose="020B0000040000000000" pitchFamily="34" charset="-78"/>
                <a:ea typeface="Sharif 1.2 Thin" panose="020B0000040000000000" pitchFamily="34" charset="-78"/>
                <a:cs typeface="Sharif 1.2 Thin" panose="020B0000040000000000" pitchFamily="34" charset="-78"/>
              </a:rPr>
              <a:t>نمره ۱ بیشترین هم‌پوشانی را با دو سطح دیگر داشت.</a:t>
            </a:r>
            <a:endParaRPr lang="en-US" sz="113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9" name="Text 37"/>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9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Shape 38"/>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نتایج</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خلاصه نتایج پنج فعالیت</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10</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5"/>
          <p:cNvSpPr/>
          <p:nvPr/>
        </p:nvSpPr>
        <p:spPr>
          <a:xfrm>
            <a:off x="4041648" y="1444752"/>
            <a:ext cx="704088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در تمام فعالیت‌ها، ترکیب منتخب شامل SVM و PCA بود</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804672" y="1938528"/>
            <a:ext cx="10588752" cy="502920"/>
          </a:xfrm>
          <a:prstGeom prst="roundRect">
            <a:avLst>
              <a:gd name="adj" fmla="val 14545"/>
            </a:avLst>
          </a:prstGeom>
          <a:solidFill>
            <a:srgbClr val="102A43"/>
          </a:solidFill>
          <a:ln w="12700">
            <a:solidFill>
              <a:srgbClr val="102A43"/>
            </a:solidFill>
            <a:prstDash val="solid"/>
          </a:ln>
        </p:spPr>
      </p:sp>
      <p:sp>
        <p:nvSpPr>
          <p:cNvPr id="9" name="Text 7"/>
          <p:cNvSpPr/>
          <p:nvPr/>
        </p:nvSpPr>
        <p:spPr>
          <a:xfrm>
            <a:off x="882396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فعالیت</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8"/>
          <p:cNvSpPr/>
          <p:nvPr/>
        </p:nvSpPr>
        <p:spPr>
          <a:xfrm>
            <a:off x="598932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تعداد مؤلفه اصلی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3721608" y="2029968"/>
            <a:ext cx="173736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حد نصاب داخلی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Text 10"/>
          <p:cNvSpPr/>
          <p:nvPr/>
        </p:nvSpPr>
        <p:spPr>
          <a:xfrm>
            <a:off x="960120" y="2029968"/>
            <a:ext cx="246888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برداشت اصلی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Shape 11"/>
          <p:cNvSpPr/>
          <p:nvPr/>
        </p:nvSpPr>
        <p:spPr>
          <a:xfrm>
            <a:off x="804672" y="2560320"/>
            <a:ext cx="10588752" cy="521208"/>
          </a:xfrm>
          <a:prstGeom prst="roundRect">
            <a:avLst>
              <a:gd name="adj" fmla="val 7018"/>
            </a:avLst>
          </a:prstGeom>
          <a:solidFill>
            <a:srgbClr val="FFFFFF"/>
          </a:solidFill>
          <a:ln w="12700">
            <a:solidFill>
              <a:srgbClr val="E0E8EE"/>
            </a:solidFill>
            <a:prstDash val="solid"/>
          </a:ln>
        </p:spPr>
      </p:sp>
      <p:sp>
        <p:nvSpPr>
          <p:cNvPr id="14" name="Shape 12"/>
          <p:cNvSpPr/>
          <p:nvPr/>
        </p:nvSpPr>
        <p:spPr>
          <a:xfrm>
            <a:off x="11219688" y="2560320"/>
            <a:ext cx="173736" cy="521208"/>
          </a:xfrm>
          <a:prstGeom prst="rect">
            <a:avLst/>
          </a:prstGeom>
          <a:solidFill>
            <a:srgbClr val="0B6E99"/>
          </a:solidFill>
          <a:ln w="12700">
            <a:solidFill>
              <a:srgbClr val="0B6E99"/>
            </a:solidFill>
            <a:prstDash val="solid"/>
          </a:ln>
        </p:spPr>
      </p:sp>
      <p:sp>
        <p:nvSpPr>
          <p:cNvPr id="15" name="Text 13"/>
          <p:cNvSpPr/>
          <p:nvPr/>
        </p:nvSpPr>
        <p:spPr>
          <a:xfrm>
            <a:off x="8668512" y="2651760"/>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ایستادن</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Shape 14"/>
          <p:cNvSpPr/>
          <p:nvPr/>
        </p:nvSpPr>
        <p:spPr>
          <a:xfrm>
            <a:off x="6053328" y="2798064"/>
            <a:ext cx="2103120" cy="0"/>
          </a:xfrm>
          <a:prstGeom prst="line">
            <a:avLst/>
          </a:prstGeom>
          <a:noFill/>
          <a:ln w="101600">
            <a:solidFill>
              <a:srgbClr val="EEF4F8"/>
            </a:solidFill>
            <a:prstDash val="solid"/>
            <a:headEnd type="none"/>
            <a:tailEnd type="none"/>
          </a:ln>
        </p:spPr>
      </p:sp>
      <p:sp>
        <p:nvSpPr>
          <p:cNvPr id="17" name="Shape 15"/>
          <p:cNvSpPr/>
          <p:nvPr/>
        </p:nvSpPr>
        <p:spPr>
          <a:xfrm>
            <a:off x="6053328" y="2706624"/>
            <a:ext cx="1822704" cy="182880"/>
          </a:xfrm>
          <a:prstGeom prst="roundRect">
            <a:avLst>
              <a:gd name="adj" fmla="val 30000"/>
            </a:avLst>
          </a:prstGeom>
          <a:solidFill>
            <a:srgbClr val="0B6E99"/>
          </a:solidFill>
          <a:ln w="12700">
            <a:solidFill>
              <a:srgbClr val="0B6E99"/>
            </a:solidFill>
            <a:prstDash val="solid"/>
          </a:ln>
        </p:spPr>
      </p:sp>
      <p:sp>
        <p:nvSpPr>
          <p:cNvPr id="18" name="Text 16"/>
          <p:cNvSpPr/>
          <p:nvPr/>
        </p:nvSpPr>
        <p:spPr>
          <a:xfrm>
            <a:off x="8211312" y="2624328"/>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۱۳</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Shape 17"/>
          <p:cNvSpPr/>
          <p:nvPr/>
        </p:nvSpPr>
        <p:spPr>
          <a:xfrm>
            <a:off x="4005072" y="2633472"/>
            <a:ext cx="1097280" cy="356616"/>
          </a:xfrm>
          <a:prstGeom prst="roundRect">
            <a:avLst>
              <a:gd name="adj" fmla="val 46154"/>
            </a:avLst>
          </a:prstGeom>
          <a:solidFill>
            <a:srgbClr val="E8F5EE"/>
          </a:solidFill>
          <a:ln w="12700">
            <a:solidFill>
              <a:srgbClr val="E8F5EE"/>
            </a:solidFill>
            <a:prstDash val="solid"/>
          </a:ln>
        </p:spPr>
      </p:sp>
      <p:sp>
        <p:nvSpPr>
          <p:cNvPr id="20" name="Text 18"/>
          <p:cNvSpPr/>
          <p:nvPr/>
        </p:nvSpPr>
        <p:spPr>
          <a:xfrm>
            <a:off x="4114800" y="2651760"/>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۹۰٪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Text 19"/>
          <p:cNvSpPr/>
          <p:nvPr/>
        </p:nvSpPr>
        <p:spPr>
          <a:xfrm>
            <a:off x="1005840" y="2651760"/>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نتیجه گزارش‌شده: ۹۶٪</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2" name="Shape 20"/>
          <p:cNvSpPr/>
          <p:nvPr/>
        </p:nvSpPr>
        <p:spPr>
          <a:xfrm>
            <a:off x="804672" y="3191256"/>
            <a:ext cx="10588752" cy="521208"/>
          </a:xfrm>
          <a:prstGeom prst="roundRect">
            <a:avLst>
              <a:gd name="adj" fmla="val 7018"/>
            </a:avLst>
          </a:prstGeom>
          <a:solidFill>
            <a:srgbClr val="F3F7FA"/>
          </a:solidFill>
          <a:ln w="12700">
            <a:solidFill>
              <a:srgbClr val="E0E8EE"/>
            </a:solidFill>
            <a:prstDash val="solid"/>
          </a:ln>
        </p:spPr>
      </p:sp>
      <p:sp>
        <p:nvSpPr>
          <p:cNvPr id="23" name="Shape 21"/>
          <p:cNvSpPr/>
          <p:nvPr/>
        </p:nvSpPr>
        <p:spPr>
          <a:xfrm>
            <a:off x="11219688" y="3191256"/>
            <a:ext cx="173736" cy="521208"/>
          </a:xfrm>
          <a:prstGeom prst="rect">
            <a:avLst/>
          </a:prstGeom>
          <a:solidFill>
            <a:srgbClr val="0B7A75"/>
          </a:solidFill>
          <a:ln w="12700">
            <a:solidFill>
              <a:srgbClr val="0B7A75"/>
            </a:solidFill>
            <a:prstDash val="solid"/>
          </a:ln>
        </p:spPr>
      </p:sp>
      <p:sp>
        <p:nvSpPr>
          <p:cNvPr id="24" name="Text 22"/>
          <p:cNvSpPr/>
          <p:nvPr/>
        </p:nvSpPr>
        <p:spPr>
          <a:xfrm>
            <a:off x="8668512" y="3282696"/>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برخاستن از صندلی</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Shape 23"/>
          <p:cNvSpPr/>
          <p:nvPr/>
        </p:nvSpPr>
        <p:spPr>
          <a:xfrm>
            <a:off x="6053328" y="3429000"/>
            <a:ext cx="2103120" cy="0"/>
          </a:xfrm>
          <a:prstGeom prst="line">
            <a:avLst/>
          </a:prstGeom>
          <a:noFill/>
          <a:ln w="101600">
            <a:solidFill>
              <a:srgbClr val="EEF4F8"/>
            </a:solidFill>
            <a:prstDash val="solid"/>
            <a:headEnd type="none"/>
            <a:tailEnd type="none"/>
          </a:ln>
        </p:spPr>
      </p:sp>
      <p:sp>
        <p:nvSpPr>
          <p:cNvPr id="26" name="Shape 24"/>
          <p:cNvSpPr/>
          <p:nvPr/>
        </p:nvSpPr>
        <p:spPr>
          <a:xfrm>
            <a:off x="6053328" y="3337560"/>
            <a:ext cx="1962912" cy="182880"/>
          </a:xfrm>
          <a:prstGeom prst="roundRect">
            <a:avLst>
              <a:gd name="adj" fmla="val 30000"/>
            </a:avLst>
          </a:prstGeom>
          <a:solidFill>
            <a:srgbClr val="0B7A75"/>
          </a:solidFill>
          <a:ln w="12700">
            <a:solidFill>
              <a:srgbClr val="0B7A75"/>
            </a:solidFill>
            <a:prstDash val="solid"/>
          </a:ln>
        </p:spPr>
      </p:sp>
      <p:sp>
        <p:nvSpPr>
          <p:cNvPr id="27" name="Text 25"/>
          <p:cNvSpPr/>
          <p:nvPr/>
        </p:nvSpPr>
        <p:spPr>
          <a:xfrm>
            <a:off x="8211312" y="3255264"/>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۱۴</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4005072" y="3264408"/>
            <a:ext cx="1097280" cy="356616"/>
          </a:xfrm>
          <a:prstGeom prst="roundRect">
            <a:avLst>
              <a:gd name="adj" fmla="val 46154"/>
            </a:avLst>
          </a:prstGeom>
          <a:solidFill>
            <a:srgbClr val="FFF5D8"/>
          </a:solidFill>
          <a:ln w="12700">
            <a:solidFill>
              <a:srgbClr val="FFF5D8"/>
            </a:solidFill>
            <a:prstDash val="solid"/>
          </a:ln>
        </p:spPr>
      </p:sp>
      <p:sp>
        <p:nvSpPr>
          <p:cNvPr id="29" name="Text 27"/>
          <p:cNvSpPr/>
          <p:nvPr/>
        </p:nvSpPr>
        <p:spPr>
          <a:xfrm>
            <a:off x="4114800" y="3282696"/>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Sharif 1.2 ExtraLight" panose="020B0000040000000000" pitchFamily="34" charset="-78"/>
                <a:ea typeface="Sharif 1.2 ExtraLight" panose="020B0000040000000000" pitchFamily="34" charset="-78"/>
                <a:cs typeface="Sharif 1.2 ExtraLight" panose="020B0000040000000000" pitchFamily="34" charset="-78"/>
              </a:rPr>
              <a:t>۸۰٪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8"/>
          <p:cNvSpPr/>
          <p:nvPr/>
        </p:nvSpPr>
        <p:spPr>
          <a:xfrm>
            <a:off x="1005840" y="3282696"/>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حرکت چندمرحله‌ای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804672" y="3822192"/>
            <a:ext cx="10588752" cy="521208"/>
          </a:xfrm>
          <a:prstGeom prst="roundRect">
            <a:avLst>
              <a:gd name="adj" fmla="val 7018"/>
            </a:avLst>
          </a:prstGeom>
          <a:solidFill>
            <a:srgbClr val="FFFFFF"/>
          </a:solidFill>
          <a:ln w="12700">
            <a:solidFill>
              <a:srgbClr val="E0E8EE"/>
            </a:solidFill>
            <a:prstDash val="solid"/>
          </a:ln>
        </p:spPr>
      </p:sp>
      <p:sp>
        <p:nvSpPr>
          <p:cNvPr id="32" name="Shape 30"/>
          <p:cNvSpPr/>
          <p:nvPr/>
        </p:nvSpPr>
        <p:spPr>
          <a:xfrm>
            <a:off x="11219688" y="3822192"/>
            <a:ext cx="173736" cy="521208"/>
          </a:xfrm>
          <a:prstGeom prst="rect">
            <a:avLst/>
          </a:prstGeom>
          <a:solidFill>
            <a:srgbClr val="E69F00"/>
          </a:solidFill>
          <a:ln w="12700">
            <a:solidFill>
              <a:srgbClr val="E69F00"/>
            </a:solidFill>
            <a:prstDash val="solid"/>
          </a:ln>
        </p:spPr>
      </p:sp>
      <p:sp>
        <p:nvSpPr>
          <p:cNvPr id="33" name="Text 31"/>
          <p:cNvSpPr/>
          <p:nvPr/>
        </p:nvSpPr>
        <p:spPr>
          <a:xfrm>
            <a:off x="8668512" y="3913632"/>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پریدن</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Shape 32"/>
          <p:cNvSpPr/>
          <p:nvPr/>
        </p:nvSpPr>
        <p:spPr>
          <a:xfrm>
            <a:off x="6053328" y="4059936"/>
            <a:ext cx="2103120" cy="0"/>
          </a:xfrm>
          <a:prstGeom prst="line">
            <a:avLst/>
          </a:prstGeom>
          <a:noFill/>
          <a:ln w="101600">
            <a:solidFill>
              <a:srgbClr val="EEF4F8"/>
            </a:solidFill>
            <a:prstDash val="solid"/>
            <a:headEnd type="none"/>
            <a:tailEnd type="none"/>
          </a:ln>
        </p:spPr>
      </p:sp>
      <p:sp>
        <p:nvSpPr>
          <p:cNvPr id="35" name="Shape 33"/>
          <p:cNvSpPr/>
          <p:nvPr/>
        </p:nvSpPr>
        <p:spPr>
          <a:xfrm>
            <a:off x="6053328" y="3968496"/>
            <a:ext cx="2103120" cy="182880"/>
          </a:xfrm>
          <a:prstGeom prst="roundRect">
            <a:avLst>
              <a:gd name="adj" fmla="val 30000"/>
            </a:avLst>
          </a:prstGeom>
          <a:solidFill>
            <a:srgbClr val="E69F00"/>
          </a:solidFill>
          <a:ln w="12700">
            <a:solidFill>
              <a:srgbClr val="E69F00"/>
            </a:solidFill>
            <a:prstDash val="solid"/>
          </a:ln>
        </p:spPr>
      </p:sp>
      <p:sp>
        <p:nvSpPr>
          <p:cNvPr id="36" name="Text 34"/>
          <p:cNvSpPr/>
          <p:nvPr/>
        </p:nvSpPr>
        <p:spPr>
          <a:xfrm>
            <a:off x="8211312" y="3886200"/>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E69F00"/>
                </a:solidFill>
                <a:latin typeface="Sharif 1.2 ExtraLight" panose="020B0000040000000000" pitchFamily="34" charset="-78"/>
                <a:ea typeface="Sharif 1.2 ExtraLight" panose="020B0000040000000000" pitchFamily="34" charset="-78"/>
                <a:cs typeface="Sharif 1.2 ExtraLight" panose="020B0000040000000000" pitchFamily="34" charset="-78"/>
              </a:rPr>
              <a:t>۱۵</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Shape 35"/>
          <p:cNvSpPr/>
          <p:nvPr/>
        </p:nvSpPr>
        <p:spPr>
          <a:xfrm>
            <a:off x="4005072" y="3895344"/>
            <a:ext cx="1097280" cy="356616"/>
          </a:xfrm>
          <a:prstGeom prst="roundRect">
            <a:avLst>
              <a:gd name="adj" fmla="val 46154"/>
            </a:avLst>
          </a:prstGeom>
          <a:solidFill>
            <a:srgbClr val="E8F5EE"/>
          </a:solidFill>
          <a:ln w="12700">
            <a:solidFill>
              <a:srgbClr val="E8F5EE"/>
            </a:solidFill>
            <a:prstDash val="solid"/>
          </a:ln>
        </p:spPr>
      </p:sp>
      <p:sp>
        <p:nvSpPr>
          <p:cNvPr id="38" name="Text 36"/>
          <p:cNvSpPr/>
          <p:nvPr/>
        </p:nvSpPr>
        <p:spPr>
          <a:xfrm>
            <a:off x="4114800" y="3913632"/>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۹۰٪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9" name="Text 37"/>
          <p:cNvSpPr/>
          <p:nvPr/>
        </p:nvSpPr>
        <p:spPr>
          <a:xfrm>
            <a:off x="1005840" y="3913632"/>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بیشترین تعداد مؤلفه</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Shape 38"/>
          <p:cNvSpPr/>
          <p:nvPr/>
        </p:nvSpPr>
        <p:spPr>
          <a:xfrm>
            <a:off x="804672" y="4453128"/>
            <a:ext cx="10588752" cy="521208"/>
          </a:xfrm>
          <a:prstGeom prst="roundRect">
            <a:avLst>
              <a:gd name="adj" fmla="val 7018"/>
            </a:avLst>
          </a:prstGeom>
          <a:solidFill>
            <a:srgbClr val="F3F7FA"/>
          </a:solidFill>
          <a:ln w="12700">
            <a:solidFill>
              <a:srgbClr val="E0E8EE"/>
            </a:solidFill>
            <a:prstDash val="solid"/>
          </a:ln>
        </p:spPr>
      </p:sp>
      <p:sp>
        <p:nvSpPr>
          <p:cNvPr id="41" name="Shape 39"/>
          <p:cNvSpPr/>
          <p:nvPr/>
        </p:nvSpPr>
        <p:spPr>
          <a:xfrm>
            <a:off x="11219688" y="4453128"/>
            <a:ext cx="173736" cy="521208"/>
          </a:xfrm>
          <a:prstGeom prst="rect">
            <a:avLst/>
          </a:prstGeom>
          <a:solidFill>
            <a:srgbClr val="2F855A"/>
          </a:solidFill>
          <a:ln w="12700">
            <a:solidFill>
              <a:srgbClr val="2F855A"/>
            </a:solidFill>
            <a:prstDash val="solid"/>
          </a:ln>
        </p:spPr>
      </p:sp>
      <p:sp>
        <p:nvSpPr>
          <p:cNvPr id="42" name="Text 40"/>
          <p:cNvSpPr/>
          <p:nvPr/>
        </p:nvSpPr>
        <p:spPr>
          <a:xfrm>
            <a:off x="8668512" y="4544568"/>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آوردن سر</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3" name="Shape 41"/>
          <p:cNvSpPr/>
          <p:nvPr/>
        </p:nvSpPr>
        <p:spPr>
          <a:xfrm>
            <a:off x="6053328" y="4690872"/>
            <a:ext cx="2103120" cy="0"/>
          </a:xfrm>
          <a:prstGeom prst="line">
            <a:avLst/>
          </a:prstGeom>
          <a:noFill/>
          <a:ln w="101600">
            <a:solidFill>
              <a:srgbClr val="EEF4F8"/>
            </a:solidFill>
            <a:prstDash val="solid"/>
            <a:headEnd type="none"/>
            <a:tailEnd type="none"/>
          </a:ln>
        </p:spPr>
      </p:sp>
      <p:sp>
        <p:nvSpPr>
          <p:cNvPr id="44" name="Shape 42"/>
          <p:cNvSpPr/>
          <p:nvPr/>
        </p:nvSpPr>
        <p:spPr>
          <a:xfrm>
            <a:off x="6053328" y="4599432"/>
            <a:ext cx="1962912" cy="182880"/>
          </a:xfrm>
          <a:prstGeom prst="roundRect">
            <a:avLst>
              <a:gd name="adj" fmla="val 30000"/>
            </a:avLst>
          </a:prstGeom>
          <a:solidFill>
            <a:srgbClr val="2F855A"/>
          </a:solidFill>
          <a:ln w="12700">
            <a:solidFill>
              <a:srgbClr val="2F855A"/>
            </a:solidFill>
            <a:prstDash val="solid"/>
          </a:ln>
        </p:spPr>
      </p:sp>
      <p:sp>
        <p:nvSpPr>
          <p:cNvPr id="45" name="Text 43"/>
          <p:cNvSpPr/>
          <p:nvPr/>
        </p:nvSpPr>
        <p:spPr>
          <a:xfrm>
            <a:off x="8211312" y="4517136"/>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۱۴</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6" name="Shape 44"/>
          <p:cNvSpPr/>
          <p:nvPr/>
        </p:nvSpPr>
        <p:spPr>
          <a:xfrm>
            <a:off x="4005072" y="4526280"/>
            <a:ext cx="1097280" cy="356616"/>
          </a:xfrm>
          <a:prstGeom prst="roundRect">
            <a:avLst>
              <a:gd name="adj" fmla="val 46154"/>
            </a:avLst>
          </a:prstGeom>
          <a:solidFill>
            <a:srgbClr val="E8F5EE"/>
          </a:solidFill>
          <a:ln w="12700">
            <a:solidFill>
              <a:srgbClr val="E8F5EE"/>
            </a:solidFill>
            <a:prstDash val="solid"/>
          </a:ln>
        </p:spPr>
      </p:sp>
      <p:sp>
        <p:nvSpPr>
          <p:cNvPr id="47" name="Text 45"/>
          <p:cNvSpPr/>
          <p:nvPr/>
        </p:nvSpPr>
        <p:spPr>
          <a:xfrm>
            <a:off x="4114800" y="4544568"/>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۹۰٪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8" name="Text 46"/>
          <p:cNvSpPr/>
          <p:nvPr/>
        </p:nvSpPr>
        <p:spPr>
          <a:xfrm>
            <a:off x="1005840" y="4544568"/>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نقش اصلی حسگر پیشانی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9" name="Shape 47"/>
          <p:cNvSpPr/>
          <p:nvPr/>
        </p:nvSpPr>
        <p:spPr>
          <a:xfrm>
            <a:off x="804672" y="5084064"/>
            <a:ext cx="10588752" cy="521208"/>
          </a:xfrm>
          <a:prstGeom prst="roundRect">
            <a:avLst>
              <a:gd name="adj" fmla="val 7018"/>
            </a:avLst>
          </a:prstGeom>
          <a:solidFill>
            <a:srgbClr val="FFFFFF"/>
          </a:solidFill>
          <a:ln w="12700">
            <a:solidFill>
              <a:srgbClr val="E0E8EE"/>
            </a:solidFill>
            <a:prstDash val="solid"/>
          </a:ln>
        </p:spPr>
      </p:sp>
      <p:sp>
        <p:nvSpPr>
          <p:cNvPr id="50" name="Shape 48"/>
          <p:cNvSpPr/>
          <p:nvPr/>
        </p:nvSpPr>
        <p:spPr>
          <a:xfrm>
            <a:off x="11219688" y="5084064"/>
            <a:ext cx="173736" cy="521208"/>
          </a:xfrm>
          <a:prstGeom prst="rect">
            <a:avLst/>
          </a:prstGeom>
          <a:solidFill>
            <a:srgbClr val="C0392B"/>
          </a:solidFill>
          <a:ln w="12700">
            <a:solidFill>
              <a:srgbClr val="C0392B"/>
            </a:solidFill>
            <a:prstDash val="solid"/>
          </a:ln>
        </p:spPr>
      </p:sp>
      <p:sp>
        <p:nvSpPr>
          <p:cNvPr id="51" name="Text 49"/>
          <p:cNvSpPr/>
          <p:nvPr/>
        </p:nvSpPr>
        <p:spPr>
          <a:xfrm>
            <a:off x="8668512" y="5175504"/>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رفتن از جعبه</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2" name="Shape 50"/>
          <p:cNvSpPr/>
          <p:nvPr/>
        </p:nvSpPr>
        <p:spPr>
          <a:xfrm>
            <a:off x="6053328" y="5321808"/>
            <a:ext cx="2103120" cy="0"/>
          </a:xfrm>
          <a:prstGeom prst="line">
            <a:avLst/>
          </a:prstGeom>
          <a:noFill/>
          <a:ln w="101600">
            <a:solidFill>
              <a:srgbClr val="EEF4F8"/>
            </a:solidFill>
            <a:prstDash val="solid"/>
            <a:headEnd type="none"/>
            <a:tailEnd type="none"/>
          </a:ln>
        </p:spPr>
      </p:sp>
      <p:sp>
        <p:nvSpPr>
          <p:cNvPr id="53" name="Shape 51"/>
          <p:cNvSpPr/>
          <p:nvPr/>
        </p:nvSpPr>
        <p:spPr>
          <a:xfrm>
            <a:off x="6053328" y="5230368"/>
            <a:ext cx="1402080" cy="182880"/>
          </a:xfrm>
          <a:prstGeom prst="roundRect">
            <a:avLst>
              <a:gd name="adj" fmla="val 30000"/>
            </a:avLst>
          </a:prstGeom>
          <a:solidFill>
            <a:srgbClr val="C0392B"/>
          </a:solidFill>
          <a:ln w="12700">
            <a:solidFill>
              <a:srgbClr val="C0392B"/>
            </a:solidFill>
            <a:prstDash val="solid"/>
          </a:ln>
        </p:spPr>
      </p:sp>
      <p:sp>
        <p:nvSpPr>
          <p:cNvPr id="54" name="Text 52"/>
          <p:cNvSpPr/>
          <p:nvPr/>
        </p:nvSpPr>
        <p:spPr>
          <a:xfrm>
            <a:off x="8211312" y="5148072"/>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۱۰</a:t>
            </a:r>
            <a:endParaRPr lang="en-US" sz="13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5" name="Shape 53"/>
          <p:cNvSpPr/>
          <p:nvPr/>
        </p:nvSpPr>
        <p:spPr>
          <a:xfrm>
            <a:off x="4005072" y="5157216"/>
            <a:ext cx="1097280" cy="356616"/>
          </a:xfrm>
          <a:prstGeom prst="roundRect">
            <a:avLst>
              <a:gd name="adj" fmla="val 46154"/>
            </a:avLst>
          </a:prstGeom>
          <a:solidFill>
            <a:srgbClr val="FFF5D8"/>
          </a:solidFill>
          <a:ln w="12700">
            <a:solidFill>
              <a:srgbClr val="FFF5D8"/>
            </a:solidFill>
            <a:prstDash val="solid"/>
          </a:ln>
        </p:spPr>
      </p:sp>
      <p:sp>
        <p:nvSpPr>
          <p:cNvPr id="56" name="Text 54"/>
          <p:cNvSpPr/>
          <p:nvPr/>
        </p:nvSpPr>
        <p:spPr>
          <a:xfrm>
            <a:off x="4114800" y="5175504"/>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Sharif 1.2 ExtraLight" panose="020B0000040000000000" pitchFamily="34" charset="-78"/>
                <a:ea typeface="Sharif 1.2 ExtraLight" panose="020B0000040000000000" pitchFamily="34" charset="-78"/>
                <a:cs typeface="Sharif 1.2 ExtraLight" panose="020B0000040000000000" pitchFamily="34" charset="-78"/>
              </a:rPr>
              <a:t>۸۰٪</a:t>
            </a:r>
            <a:endParaRPr lang="en-US" sz="12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7" name="Text 55"/>
          <p:cNvSpPr/>
          <p:nvPr/>
        </p:nvSpPr>
        <p:spPr>
          <a:xfrm>
            <a:off x="1005840" y="5175504"/>
            <a:ext cx="2468880" cy="256032"/>
          </a:xfrm>
          <a:prstGeom prst="rect">
            <a:avLst/>
          </a:prstGeom>
          <a:noFill/>
          <a:ln/>
        </p:spPr>
        <p:txBody>
          <a:bodyPr wrap="square" lIns="0" tIns="0" rIns="0" bIns="0" rtlCol="0" anchor="ctr">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فشرده‌ترین فضای ویژگی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8" name="Shape 56"/>
          <p:cNvSpPr/>
          <p:nvPr/>
        </p:nvSpPr>
        <p:spPr>
          <a:xfrm>
            <a:off x="1316736" y="5833872"/>
            <a:ext cx="9555480" cy="493776"/>
          </a:xfrm>
          <a:prstGeom prst="roundRect">
            <a:avLst>
              <a:gd name="adj" fmla="val 18519"/>
            </a:avLst>
          </a:prstGeom>
          <a:solidFill>
            <a:srgbClr val="FDECEA"/>
          </a:solidFill>
          <a:ln w="12700">
            <a:solidFill>
              <a:srgbClr val="F2C4BE"/>
            </a:solidFill>
            <a:prstDash val="solid"/>
          </a:ln>
        </p:spPr>
      </p:sp>
      <p:sp>
        <p:nvSpPr>
          <p:cNvPr id="59" name="Text 57"/>
          <p:cNvSpPr/>
          <p:nvPr/>
        </p:nvSpPr>
        <p:spPr>
          <a:xfrm>
            <a:off x="1572768" y="5934456"/>
            <a:ext cx="9052560" cy="256032"/>
          </a:xfrm>
          <a:prstGeom prst="rect">
            <a:avLst/>
          </a:prstGeom>
          <a:noFill/>
          <a:ln/>
        </p:spPr>
        <p:txBody>
          <a:bodyPr wrap="square" lIns="0" tIns="0" rIns="0" bIns="0" rtlCol="0" anchor="ctr">
            <a:normAutofit/>
          </a:bodyPr>
          <a:lstStyle/>
          <a:p>
            <a:pPr marL="0" indent="0" algn="ctr" rtl="1">
              <a:buNone/>
            </a:pPr>
            <a:r>
              <a:rPr lang="en-US" sz="122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حد نصاب‌ها فقط معیار مهندسی انتخاب مدل در این مجموعه داده هستند و بیانگر اعتبار بالینی نیستند.</a:t>
            </a:r>
            <a:endParaRPr lang="en-US" sz="12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60" name="Text 58"/>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61" name="Shape 59"/>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بحث</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تفسیر فعالیت‌محور نتایج</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11</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5"/>
          <p:cNvSpPr/>
          <p:nvPr/>
        </p:nvSpPr>
        <p:spPr>
          <a:xfrm>
            <a:off x="5010912" y="1444752"/>
            <a:ext cx="6108192"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اطلاعات تفکیک‌کننده برای هر حرکت یکسان نیست</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768096"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5751576" y="1993392"/>
            <a:ext cx="173736" cy="1170432"/>
          </a:xfrm>
          <a:prstGeom prst="rect">
            <a:avLst/>
          </a:prstGeom>
          <a:solidFill>
            <a:srgbClr val="0B6E99"/>
          </a:solidFill>
          <a:ln w="12700">
            <a:solidFill>
              <a:srgbClr val="0B6E99"/>
            </a:solidFill>
            <a:prstDash val="solid"/>
          </a:ln>
        </p:spPr>
      </p:sp>
      <p:sp>
        <p:nvSpPr>
          <p:cNvPr id="10" name="Text 8"/>
          <p:cNvSpPr/>
          <p:nvPr/>
        </p:nvSpPr>
        <p:spPr>
          <a:xfrm>
            <a:off x="3621024"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ایستادن</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9"/>
          <p:cNvSpPr/>
          <p:nvPr/>
        </p:nvSpPr>
        <p:spPr>
          <a:xfrm>
            <a:off x="1042416" y="2157984"/>
            <a:ext cx="1417320" cy="310896"/>
          </a:xfrm>
          <a:prstGeom prst="roundRect">
            <a:avLst>
              <a:gd name="adj" fmla="val 52941"/>
            </a:avLst>
          </a:prstGeom>
          <a:solidFill>
            <a:srgbClr val="EEF4F8"/>
          </a:solidFill>
          <a:ln w="12700">
            <a:solidFill>
              <a:srgbClr val="EEF4F8"/>
            </a:solidFill>
            <a:prstDash val="solid"/>
          </a:ln>
        </p:spPr>
      </p:sp>
      <p:sp>
        <p:nvSpPr>
          <p:cNvPr id="12" name="Text 10"/>
          <p:cNvSpPr/>
          <p:nvPr/>
        </p:nvSpPr>
        <p:spPr>
          <a:xfrm>
            <a:off x="1152144"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تعادل</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1"/>
          <p:cNvSpPr/>
          <p:nvPr/>
        </p:nvSpPr>
        <p:spPr>
          <a:xfrm>
            <a:off x="1060704"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نوسان‌های کم‌دامنه و حرکت جبرانی دست‌ها و سر اهمیت بیشتری داشت.</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2"/>
          <p:cNvSpPr/>
          <p:nvPr/>
        </p:nvSpPr>
        <p:spPr>
          <a:xfrm>
            <a:off x="768096"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5" name="Shape 13"/>
          <p:cNvSpPr/>
          <p:nvPr/>
        </p:nvSpPr>
        <p:spPr>
          <a:xfrm>
            <a:off x="5751576" y="3319272"/>
            <a:ext cx="173736" cy="1170432"/>
          </a:xfrm>
          <a:prstGeom prst="rect">
            <a:avLst/>
          </a:prstGeom>
          <a:solidFill>
            <a:srgbClr val="0B7A75"/>
          </a:solidFill>
          <a:ln w="12700">
            <a:solidFill>
              <a:srgbClr val="0B7A75"/>
            </a:solidFill>
            <a:prstDash val="solid"/>
          </a:ln>
        </p:spPr>
      </p:sp>
      <p:sp>
        <p:nvSpPr>
          <p:cNvPr id="16" name="Text 14"/>
          <p:cNvSpPr/>
          <p:nvPr/>
        </p:nvSpPr>
        <p:spPr>
          <a:xfrm>
            <a:off x="3621024"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برخاستن</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1042416" y="3483864"/>
            <a:ext cx="1417320" cy="310896"/>
          </a:xfrm>
          <a:prstGeom prst="roundRect">
            <a:avLst>
              <a:gd name="adj" fmla="val 52941"/>
            </a:avLst>
          </a:prstGeom>
          <a:solidFill>
            <a:srgbClr val="EEF4F8"/>
          </a:solidFill>
          <a:ln w="12700">
            <a:solidFill>
              <a:srgbClr val="EEF4F8"/>
            </a:solidFill>
            <a:prstDash val="solid"/>
          </a:ln>
        </p:spPr>
      </p:sp>
      <p:sp>
        <p:nvSpPr>
          <p:cNvPr id="18" name="Text 16"/>
          <p:cNvSpPr/>
          <p:nvPr/>
        </p:nvSpPr>
        <p:spPr>
          <a:xfrm>
            <a:off x="1152144"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7A75"/>
                </a:solidFill>
                <a:latin typeface="Sharif 1.2 ExtraLight" panose="020B0000040000000000" pitchFamily="34" charset="-78"/>
                <a:ea typeface="Sharif 1.2 ExtraLight" panose="020B0000040000000000" pitchFamily="34" charset="-78"/>
                <a:cs typeface="Sharif 1.2 ExtraLight" panose="020B0000040000000000" pitchFamily="34" charset="-78"/>
              </a:rPr>
              <a:t>هماهنگی</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7"/>
          <p:cNvSpPr/>
          <p:nvPr/>
        </p:nvSpPr>
        <p:spPr>
          <a:xfrm>
            <a:off x="1060704"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ترتیب حرکت تنه، بازشدن مفاصل و استفاده از دست‌ها تعیین‌کننده بود.</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Shape 18"/>
          <p:cNvSpPr/>
          <p:nvPr/>
        </p:nvSpPr>
        <p:spPr>
          <a:xfrm>
            <a:off x="768096" y="464515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1" name="Shape 19"/>
          <p:cNvSpPr/>
          <p:nvPr/>
        </p:nvSpPr>
        <p:spPr>
          <a:xfrm>
            <a:off x="5751576" y="4645152"/>
            <a:ext cx="173736" cy="1170432"/>
          </a:xfrm>
          <a:prstGeom prst="rect">
            <a:avLst/>
          </a:prstGeom>
          <a:solidFill>
            <a:srgbClr val="E69F00"/>
          </a:solidFill>
          <a:ln w="12700">
            <a:solidFill>
              <a:srgbClr val="E69F00"/>
            </a:solidFill>
            <a:prstDash val="solid"/>
          </a:ln>
        </p:spPr>
      </p:sp>
      <p:sp>
        <p:nvSpPr>
          <p:cNvPr id="22" name="Text 20"/>
          <p:cNvSpPr/>
          <p:nvPr/>
        </p:nvSpPr>
        <p:spPr>
          <a:xfrm>
            <a:off x="3621024" y="480974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پریدن</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Shape 21"/>
          <p:cNvSpPr/>
          <p:nvPr/>
        </p:nvSpPr>
        <p:spPr>
          <a:xfrm>
            <a:off x="1042416" y="4809744"/>
            <a:ext cx="1417320" cy="310896"/>
          </a:xfrm>
          <a:prstGeom prst="roundRect">
            <a:avLst>
              <a:gd name="adj" fmla="val 52941"/>
            </a:avLst>
          </a:prstGeom>
          <a:solidFill>
            <a:srgbClr val="FFF5D8"/>
          </a:solidFill>
          <a:ln w="12700">
            <a:solidFill>
              <a:srgbClr val="FFF5D8"/>
            </a:solidFill>
            <a:prstDash val="solid"/>
          </a:ln>
        </p:spPr>
      </p:sp>
      <p:sp>
        <p:nvSpPr>
          <p:cNvPr id="24" name="Text 22"/>
          <p:cNvSpPr/>
          <p:nvPr/>
        </p:nvSpPr>
        <p:spPr>
          <a:xfrm>
            <a:off x="1152144" y="482803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E69F00"/>
                </a:solidFill>
                <a:latin typeface="Sharif 1.2 ExtraLight" panose="020B0000040000000000" pitchFamily="34" charset="-78"/>
                <a:ea typeface="Sharif 1.2 ExtraLight" panose="020B0000040000000000" pitchFamily="34" charset="-78"/>
                <a:cs typeface="Sharif 1.2 ExtraLight" panose="020B0000040000000000" pitchFamily="34" charset="-78"/>
              </a:rPr>
              <a:t>انرژی و فرود</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3"/>
          <p:cNvSpPr/>
          <p:nvPr/>
        </p:nvSpPr>
        <p:spPr>
          <a:xfrm>
            <a:off x="1060704" y="520293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دامنه شتاب، انرژی سیگنال و پایداری پس از فرود شاخص‌تر بودند.</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Shape 24"/>
          <p:cNvSpPr/>
          <p:nvPr/>
        </p:nvSpPr>
        <p:spPr>
          <a:xfrm>
            <a:off x="6245352"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7" name="Shape 25"/>
          <p:cNvSpPr/>
          <p:nvPr/>
        </p:nvSpPr>
        <p:spPr>
          <a:xfrm>
            <a:off x="11228832" y="1993392"/>
            <a:ext cx="173736" cy="1170432"/>
          </a:xfrm>
          <a:prstGeom prst="rect">
            <a:avLst/>
          </a:prstGeom>
          <a:solidFill>
            <a:srgbClr val="2F855A"/>
          </a:solidFill>
          <a:ln w="12700">
            <a:solidFill>
              <a:srgbClr val="2F855A"/>
            </a:solidFill>
            <a:prstDash val="solid"/>
          </a:ln>
        </p:spPr>
      </p:sp>
      <p:sp>
        <p:nvSpPr>
          <p:cNvPr id="28" name="Text 26"/>
          <p:cNvSpPr/>
          <p:nvPr/>
        </p:nvSpPr>
        <p:spPr>
          <a:xfrm>
            <a:off x="9098280"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آوردن سر</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9" name="Shape 27"/>
          <p:cNvSpPr/>
          <p:nvPr/>
        </p:nvSpPr>
        <p:spPr>
          <a:xfrm>
            <a:off x="6519672" y="2157984"/>
            <a:ext cx="1417320" cy="310896"/>
          </a:xfrm>
          <a:prstGeom prst="roundRect">
            <a:avLst>
              <a:gd name="adj" fmla="val 52941"/>
            </a:avLst>
          </a:prstGeom>
          <a:solidFill>
            <a:srgbClr val="EEF4F8"/>
          </a:solidFill>
          <a:ln w="12700">
            <a:solidFill>
              <a:srgbClr val="EEF4F8"/>
            </a:solidFill>
            <a:prstDash val="solid"/>
          </a:ln>
        </p:spPr>
      </p:sp>
      <p:sp>
        <p:nvSpPr>
          <p:cNvPr id="30" name="Text 28"/>
          <p:cNvSpPr/>
          <p:nvPr/>
        </p:nvSpPr>
        <p:spPr>
          <a:xfrm>
            <a:off x="6629400"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2F855A"/>
                </a:solidFill>
                <a:latin typeface="Sharif 1.2 ExtraLight" panose="020B0000040000000000" pitchFamily="34" charset="-78"/>
                <a:ea typeface="Sharif 1.2 ExtraLight" panose="020B0000040000000000" pitchFamily="34" charset="-78"/>
                <a:cs typeface="Sharif 1.2 ExtraLight" panose="020B0000040000000000" pitchFamily="34" charset="-78"/>
              </a:rPr>
              <a:t>حسگر پیشانی</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Text 29"/>
          <p:cNvSpPr/>
          <p:nvPr/>
        </p:nvSpPr>
        <p:spPr>
          <a:xfrm>
            <a:off x="6537960"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دامنه و سرعت حرکت سر، همراه با حرکات جبرانی اندام‌ها، اهمیت داشت.</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2" name="Shape 30"/>
          <p:cNvSpPr/>
          <p:nvPr/>
        </p:nvSpPr>
        <p:spPr>
          <a:xfrm>
            <a:off x="6245352"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33" name="Shape 31"/>
          <p:cNvSpPr/>
          <p:nvPr/>
        </p:nvSpPr>
        <p:spPr>
          <a:xfrm>
            <a:off x="11228832" y="3319272"/>
            <a:ext cx="173736" cy="1170432"/>
          </a:xfrm>
          <a:prstGeom prst="rect">
            <a:avLst/>
          </a:prstGeom>
          <a:solidFill>
            <a:srgbClr val="C0392B"/>
          </a:solidFill>
          <a:ln w="12700">
            <a:solidFill>
              <a:srgbClr val="C0392B"/>
            </a:solidFill>
            <a:prstDash val="solid"/>
          </a:ln>
        </p:spPr>
      </p:sp>
      <p:sp>
        <p:nvSpPr>
          <p:cNvPr id="34" name="Text 32"/>
          <p:cNvSpPr/>
          <p:nvPr/>
        </p:nvSpPr>
        <p:spPr>
          <a:xfrm>
            <a:off x="9098280"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بالا رفتن از جعبه</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5" name="Shape 33"/>
          <p:cNvSpPr/>
          <p:nvPr/>
        </p:nvSpPr>
        <p:spPr>
          <a:xfrm>
            <a:off x="6519672" y="3483864"/>
            <a:ext cx="1417320" cy="310896"/>
          </a:xfrm>
          <a:prstGeom prst="roundRect">
            <a:avLst>
              <a:gd name="adj" fmla="val 52941"/>
            </a:avLst>
          </a:prstGeom>
          <a:solidFill>
            <a:srgbClr val="FDECEA"/>
          </a:solidFill>
          <a:ln w="12700">
            <a:solidFill>
              <a:srgbClr val="FDECEA"/>
            </a:solidFill>
            <a:prstDash val="solid"/>
          </a:ln>
        </p:spPr>
      </p:sp>
      <p:sp>
        <p:nvSpPr>
          <p:cNvPr id="36" name="Text 34"/>
          <p:cNvSpPr/>
          <p:nvPr/>
        </p:nvSpPr>
        <p:spPr>
          <a:xfrm>
            <a:off x="6629400"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انتقال وزن</a:t>
            </a:r>
            <a:endParaRPr lang="en-US" sz="11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7" name="Text 35"/>
          <p:cNvSpPr/>
          <p:nvPr/>
        </p:nvSpPr>
        <p:spPr>
          <a:xfrm>
            <a:off x="6537960"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حسگرهای پا و نحوه کشیدن بدن به بالا بیشترین اطلاعات را فراهم کردند.</a:t>
            </a:r>
            <a:endParaRPr lang="en-US" sz="121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8" name="Shape 36"/>
          <p:cNvSpPr/>
          <p:nvPr/>
        </p:nvSpPr>
        <p:spPr>
          <a:xfrm>
            <a:off x="6245352" y="4645152"/>
            <a:ext cx="5157216" cy="1316736"/>
          </a:xfrm>
          <a:prstGeom prst="roundRect">
            <a:avLst>
              <a:gd name="adj" fmla="val 5556"/>
            </a:avLst>
          </a:prstGeom>
          <a:solidFill>
            <a:srgbClr val="102A43"/>
          </a:solidFill>
          <a:ln w="12700">
            <a:solidFill>
              <a:srgbClr val="102A43"/>
            </a:solidFill>
            <a:prstDash val="solid"/>
          </a:ln>
        </p:spPr>
      </p:sp>
      <p:sp>
        <p:nvSpPr>
          <p:cNvPr id="39" name="Text 37"/>
          <p:cNvSpPr/>
          <p:nvPr/>
        </p:nvSpPr>
        <p:spPr>
          <a:xfrm>
            <a:off x="9509760" y="4846320"/>
            <a:ext cx="1508760" cy="274320"/>
          </a:xfrm>
          <a:prstGeom prst="rect">
            <a:avLst/>
          </a:prstGeom>
          <a:noFill/>
          <a:ln/>
        </p:spPr>
        <p:txBody>
          <a:bodyPr wrap="square" lIns="0" tIns="0" rIns="0" bIns="0" rtlCol="0" anchor="ctr">
            <a:normAutofit/>
          </a:bodyPr>
          <a:lstStyle/>
          <a:p>
            <a:pPr marL="0" indent="0" algn="r" rtl="1">
              <a:buNone/>
            </a:pPr>
            <a:r>
              <a:rPr lang="en-US" sz="1300" b="1" dirty="0">
                <a:solidFill>
                  <a:srgbClr val="A9D7E8"/>
                </a:solidFill>
                <a:latin typeface="Sharif 1.2 ExtraLight" panose="020B0000040000000000" pitchFamily="34" charset="-78"/>
                <a:ea typeface="Sharif 1.2 ExtraLight" panose="020B0000040000000000" pitchFamily="34" charset="-78"/>
                <a:cs typeface="Sharif 1.2 ExtraLight" panose="020B0000040000000000" pitchFamily="34" charset="-78"/>
              </a:rPr>
              <a:t>نتیجه روش‌شناختی</a:t>
            </a:r>
            <a:endParaRPr lang="en-US" sz="13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0" name="Text 38"/>
          <p:cNvSpPr/>
          <p:nvPr/>
        </p:nvSpPr>
        <p:spPr>
          <a:xfrm>
            <a:off x="6565392" y="5239512"/>
            <a:ext cx="4434840" cy="457200"/>
          </a:xfrm>
          <a:prstGeom prst="rect">
            <a:avLst/>
          </a:prstGeom>
          <a:noFill/>
          <a:ln/>
        </p:spPr>
        <p:txBody>
          <a:bodyPr wrap="square" lIns="0" tIns="0" rIns="0" bIns="0" rtlCol="0" anchor="ctr">
            <a:normAutofit lnSpcReduction="10000"/>
          </a:bodyPr>
          <a:lstStyle/>
          <a:p>
            <a:pPr marL="0" indent="0" algn="ctr" rtl="1">
              <a:buNone/>
            </a:pPr>
            <a:r>
              <a:rPr lang="en-US" sz="16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بهتر است هر فعالیت به‌صورت مستقل تحلیل و مدل مناسب همان حرکت انتخاب شود.</a:t>
            </a:r>
            <a:endParaRPr lang="en-US" sz="16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1" name="Text 39"/>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2" name="Shape 40"/>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تفسیر نتایج</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محدودیت‌های پژوهش</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12</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Shape 5"/>
          <p:cNvSpPr/>
          <p:nvPr/>
        </p:nvSpPr>
        <p:spPr>
          <a:xfrm>
            <a:off x="749808" y="1755648"/>
            <a:ext cx="3456432" cy="3401568"/>
          </a:xfrm>
          <a:prstGeom prst="roundRect">
            <a:avLst>
              <a:gd name="adj" fmla="val 2151"/>
            </a:avLst>
          </a:prstGeom>
          <a:solidFill>
            <a:srgbClr val="FFFFFF"/>
          </a:solidFill>
          <a:ln w="17145">
            <a:solidFill>
              <a:srgbClr val="C0392B"/>
            </a:solidFill>
            <a:prstDash val="solid"/>
          </a:ln>
          <a:effectLst>
            <a:outerShdw blurRad="12700" dist="50800" dir="2700000" algn="bl" rotWithShape="0">
              <a:srgbClr val="B0BEC5">
                <a:alpha val="12000"/>
              </a:srgbClr>
            </a:outerShdw>
          </a:effectLst>
        </p:spPr>
      </p:sp>
      <p:sp>
        <p:nvSpPr>
          <p:cNvPr id="8" name="Shape 6"/>
          <p:cNvSpPr/>
          <p:nvPr/>
        </p:nvSpPr>
        <p:spPr>
          <a:xfrm>
            <a:off x="2057400" y="2057400"/>
            <a:ext cx="841248" cy="841248"/>
          </a:xfrm>
          <a:prstGeom prst="ellipse">
            <a:avLst/>
          </a:prstGeom>
          <a:solidFill>
            <a:srgbClr val="C0392B"/>
          </a:solidFill>
          <a:ln w="12700">
            <a:solidFill>
              <a:srgbClr val="C0392B"/>
            </a:solidFill>
            <a:prstDash val="solid"/>
          </a:ln>
        </p:spPr>
      </p:sp>
      <p:sp>
        <p:nvSpPr>
          <p:cNvPr id="9" name="Text 7"/>
          <p:cNvSpPr/>
          <p:nvPr/>
        </p:nvSpPr>
        <p:spPr>
          <a:xfrm>
            <a:off x="2057400"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a:t>
            </a:r>
            <a:endParaRPr lang="en-US" sz="2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8"/>
          <p:cNvSpPr/>
          <p:nvPr/>
        </p:nvSpPr>
        <p:spPr>
          <a:xfrm>
            <a:off x="1069848"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داده از یک فرد سالم</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Text 9"/>
          <p:cNvSpPr/>
          <p:nvPr/>
        </p:nvSpPr>
        <p:spPr>
          <a:xfrm>
            <a:off x="1097280"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الگوهای واقعی بیماران تحت تأثیر شدت بیماری، خستگی، کوتاهی عضلات و راهبردهای جبرانی فردی هستند.</a:t>
            </a:r>
            <a:endParaRPr lang="en-US" sz="12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2" name="Shape 10"/>
          <p:cNvSpPr/>
          <p:nvPr/>
        </p:nvSpPr>
        <p:spPr>
          <a:xfrm>
            <a:off x="4562856" y="1755648"/>
            <a:ext cx="3456432" cy="3401568"/>
          </a:xfrm>
          <a:prstGeom prst="roundRect">
            <a:avLst>
              <a:gd name="adj" fmla="val 2151"/>
            </a:avLst>
          </a:prstGeom>
          <a:solidFill>
            <a:srgbClr val="FFFFFF"/>
          </a:solidFill>
          <a:ln w="17145">
            <a:solidFill>
              <a:srgbClr val="E69F00"/>
            </a:solidFill>
            <a:prstDash val="solid"/>
          </a:ln>
          <a:effectLst>
            <a:outerShdw blurRad="12700" dist="50800" dir="2700000" algn="bl" rotWithShape="0">
              <a:srgbClr val="B0BEC5">
                <a:alpha val="12000"/>
              </a:srgbClr>
            </a:outerShdw>
          </a:effectLst>
        </p:spPr>
      </p:sp>
      <p:sp>
        <p:nvSpPr>
          <p:cNvPr id="13" name="Shape 11"/>
          <p:cNvSpPr/>
          <p:nvPr/>
        </p:nvSpPr>
        <p:spPr>
          <a:xfrm>
            <a:off x="5870448" y="2057400"/>
            <a:ext cx="841248" cy="841248"/>
          </a:xfrm>
          <a:prstGeom prst="ellipse">
            <a:avLst/>
          </a:prstGeom>
          <a:solidFill>
            <a:srgbClr val="E69F00"/>
          </a:solidFill>
          <a:ln w="12700">
            <a:solidFill>
              <a:srgbClr val="E69F00"/>
            </a:solidFill>
            <a:prstDash val="solid"/>
          </a:ln>
        </p:spPr>
      </p:sp>
      <p:sp>
        <p:nvSpPr>
          <p:cNvPr id="14" name="Text 12"/>
          <p:cNvSpPr/>
          <p:nvPr/>
        </p:nvSpPr>
        <p:spPr>
          <a:xfrm>
            <a:off x="5870448"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۲</a:t>
            </a:r>
            <a:endParaRPr lang="en-US" sz="2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5" name="Text 13"/>
          <p:cNvSpPr/>
          <p:nvPr/>
        </p:nvSpPr>
        <p:spPr>
          <a:xfrm>
            <a:off x="4882896"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تعداد نمونه محدود</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4"/>
          <p:cNvSpPr/>
          <p:nvPr/>
        </p:nvSpPr>
        <p:spPr>
          <a:xfrm>
            <a:off x="4910328"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اعتبارسنجی متقاطع، پایداری میان تکرارهای همان فرد را می‌سنجد؛ نه تعمیم به افراد جدید.</a:t>
            </a:r>
            <a:endParaRPr lang="en-US" sz="12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8375904" y="1755648"/>
            <a:ext cx="3456432" cy="3401568"/>
          </a:xfrm>
          <a:prstGeom prst="roundRect">
            <a:avLst>
              <a:gd name="adj" fmla="val 2151"/>
            </a:avLst>
          </a:prstGeom>
          <a:solidFill>
            <a:srgbClr val="FFFFFF"/>
          </a:solidFill>
          <a:ln w="17145">
            <a:solidFill>
              <a:srgbClr val="0B6E99"/>
            </a:solidFill>
            <a:prstDash val="solid"/>
          </a:ln>
          <a:effectLst>
            <a:outerShdw blurRad="12700" dist="50800" dir="2700000" algn="bl" rotWithShape="0">
              <a:srgbClr val="B0BEC5">
                <a:alpha val="12000"/>
              </a:srgbClr>
            </a:outerShdw>
          </a:effectLst>
        </p:spPr>
      </p:sp>
      <p:sp>
        <p:nvSpPr>
          <p:cNvPr id="18" name="Shape 16"/>
          <p:cNvSpPr/>
          <p:nvPr/>
        </p:nvSpPr>
        <p:spPr>
          <a:xfrm>
            <a:off x="9683496" y="2057400"/>
            <a:ext cx="841248" cy="841248"/>
          </a:xfrm>
          <a:prstGeom prst="ellipse">
            <a:avLst/>
          </a:prstGeom>
          <a:solidFill>
            <a:srgbClr val="0B6E99"/>
          </a:solidFill>
          <a:ln w="12700">
            <a:solidFill>
              <a:srgbClr val="0B6E99"/>
            </a:solidFill>
            <a:prstDash val="solid"/>
          </a:ln>
        </p:spPr>
      </p:sp>
      <p:sp>
        <p:nvSpPr>
          <p:cNvPr id="19" name="Text 17"/>
          <p:cNvSpPr/>
          <p:nvPr/>
        </p:nvSpPr>
        <p:spPr>
          <a:xfrm>
            <a:off x="9683496"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۳</a:t>
            </a:r>
            <a:endParaRPr lang="en-US" sz="2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Text 18"/>
          <p:cNvSpPr/>
          <p:nvPr/>
        </p:nvSpPr>
        <p:spPr>
          <a:xfrm>
            <a:off x="8695944"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وابستگی به شرایط ثبت</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1" name="Text 19"/>
          <p:cNvSpPr/>
          <p:nvPr/>
        </p:nvSpPr>
        <p:spPr>
          <a:xfrm>
            <a:off x="8723376"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ExtraLight" panose="020B0000040000000000" pitchFamily="34" charset="-78"/>
                <a:ea typeface="Sharif 1.2 ExtraLight" panose="020B0000040000000000" pitchFamily="34" charset="-78"/>
                <a:cs typeface="Sharif 1.2 ExtraLight" panose="020B0000040000000000" pitchFamily="34" charset="-78"/>
              </a:rPr>
              <a:t>محل و زاویه نصب حسگر، نرخ نمونه‌برداری و پنجره زمانی می‌توانند ویژگی‌ها را تغییر دهند.</a:t>
            </a:r>
            <a:endParaRPr lang="en-US" sz="127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2" name="Shape 20"/>
          <p:cNvSpPr/>
          <p:nvPr/>
        </p:nvSpPr>
        <p:spPr>
          <a:xfrm>
            <a:off x="1051560" y="5468112"/>
            <a:ext cx="10085832" cy="694944"/>
          </a:xfrm>
          <a:prstGeom prst="roundRect">
            <a:avLst>
              <a:gd name="adj" fmla="val 15789"/>
            </a:avLst>
          </a:prstGeom>
          <a:solidFill>
            <a:srgbClr val="FDECEA"/>
          </a:solidFill>
          <a:ln w="12700">
            <a:solidFill>
              <a:srgbClr val="F0C8C2"/>
            </a:solidFill>
            <a:prstDash val="solid"/>
          </a:ln>
        </p:spPr>
      </p:sp>
      <p:sp>
        <p:nvSpPr>
          <p:cNvPr id="23" name="Text 21"/>
          <p:cNvSpPr/>
          <p:nvPr/>
        </p:nvSpPr>
        <p:spPr>
          <a:xfrm>
            <a:off x="1353312" y="5614416"/>
            <a:ext cx="9464040" cy="384048"/>
          </a:xfrm>
          <a:prstGeom prst="rect">
            <a:avLst/>
          </a:prstGeom>
          <a:noFill/>
          <a:ln/>
        </p:spPr>
        <p:txBody>
          <a:bodyPr wrap="square" lIns="0" tIns="0" rIns="0" bIns="0" rtlCol="0" anchor="ctr">
            <a:normAutofit/>
          </a:bodyPr>
          <a:lstStyle/>
          <a:p>
            <a:pPr marL="0" indent="0" algn="ctr" rtl="1">
              <a:buNone/>
            </a:pPr>
            <a:r>
              <a:rPr lang="en-US" sz="1600" b="1" dirty="0">
                <a:solidFill>
                  <a:srgbClr val="C0392B"/>
                </a:solidFill>
                <a:latin typeface="Sharif 1.2 ExtraLight" panose="020B0000040000000000" pitchFamily="34" charset="-78"/>
                <a:ea typeface="Sharif 1.2 ExtraLight" panose="020B0000040000000000" pitchFamily="34" charset="-78"/>
                <a:cs typeface="Sharif 1.2 ExtraLight" panose="020B0000040000000000" pitchFamily="34" charset="-78"/>
              </a:rPr>
              <a:t>نتیجه‌های فعلی قابل تعمیم مستقیم به بیماران نیستند و جایگزین ارزیابی بالینی NSAA محسوب نمی‌شوند.</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4" name="Text 22"/>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Shape 23"/>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3" name="Text 1"/>
          <p:cNvSpPr/>
          <p:nvPr/>
        </p:nvSpPr>
        <p:spPr>
          <a:xfrm>
            <a:off x="9281160" y="219456"/>
            <a:ext cx="2148840" cy="182880"/>
          </a:xfrm>
          <a:prstGeom prst="rect">
            <a:avLst/>
          </a:prstGeom>
          <a:noFill/>
          <a:ln/>
        </p:spPr>
        <p:txBody>
          <a:bodyPr wrap="square" lIns="0" tIns="0" rIns="0" bIns="0" rtlCol="0" anchor="ctr">
            <a:normAutofit/>
          </a:bodyPr>
          <a:lstStyle/>
          <a:p>
            <a:pPr marL="0" indent="0" algn="r" rtl="1">
              <a:buNone/>
            </a:pPr>
            <a:r>
              <a:rPr lang="en-US" sz="980" b="1" dirty="0">
                <a:solidFill>
                  <a:srgbClr val="0B6E99"/>
                </a:solidFill>
                <a:latin typeface="Sharif 1.2 ExtraLight" panose="020B0000040000000000" pitchFamily="34" charset="-78"/>
                <a:ea typeface="Sharif 1.2 ExtraLight" panose="020B0000040000000000" pitchFamily="34" charset="-78"/>
                <a:cs typeface="Sharif 1.2 ExtraLight" panose="020B0000040000000000" pitchFamily="34" charset="-78"/>
              </a:rPr>
              <a:t>کارهای آینده</a:t>
            </a:r>
            <a:endParaRPr lang="en-US" sz="98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مسیر پیشنهادی تا کاربرد بالینی</a:t>
            </a:r>
            <a:endParaRPr lang="en-US" sz="2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6" name="Text 4"/>
          <p:cNvSpPr/>
          <p:nvPr/>
        </p:nvSpPr>
        <p:spPr>
          <a:xfrm>
            <a:off x="475488" y="493776"/>
            <a:ext cx="411480" cy="320040"/>
          </a:xfrm>
          <a:prstGeom prst="rect">
            <a:avLst/>
          </a:prstGeom>
          <a:noFill/>
          <a:ln/>
        </p:spPr>
        <p:txBody>
          <a:bodyPr wrap="square" lIns="0" tIns="0" rIns="0" bIns="0" rtlCol="0" anchor="ctr">
            <a:normAutofit/>
          </a:bodyPr>
          <a:lstStyle/>
          <a:p>
            <a:pPr marL="0" indent="0" algn="l">
              <a:buNone/>
            </a:pPr>
            <a:r>
              <a:rPr lang="en-US" sz="110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13</a:t>
            </a:r>
            <a:endParaRPr lang="en-US" sz="1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5"/>
          <p:cNvSpPr/>
          <p:nvPr/>
        </p:nvSpPr>
        <p:spPr>
          <a:xfrm>
            <a:off x="3858768" y="1444752"/>
            <a:ext cx="72237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گام بعدی، تبدیل امکان‌سنجی فنی به یک مطالعه بالینی معتبر است</a:t>
            </a:r>
            <a:endParaRPr lang="en-US" sz="18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6"/>
          <p:cNvSpPr/>
          <p:nvPr/>
        </p:nvSpPr>
        <p:spPr>
          <a:xfrm>
            <a:off x="8677656" y="2889504"/>
            <a:ext cx="0" cy="0"/>
          </a:xfrm>
          <a:prstGeom prst="line">
            <a:avLst/>
          </a:prstGeom>
          <a:noFill/>
          <a:ln w="25400">
            <a:solidFill>
              <a:srgbClr val="94A3B8"/>
            </a:solidFill>
            <a:prstDash val="solid"/>
            <a:headEnd type="none"/>
            <a:tailEnd type="triangle"/>
          </a:ln>
        </p:spPr>
      </p:sp>
      <p:sp>
        <p:nvSpPr>
          <p:cNvPr id="9" name="Shape 7"/>
          <p:cNvSpPr/>
          <p:nvPr/>
        </p:nvSpPr>
        <p:spPr>
          <a:xfrm>
            <a:off x="9674352" y="2350008"/>
            <a:ext cx="786384" cy="786384"/>
          </a:xfrm>
          <a:prstGeom prst="ellipse">
            <a:avLst/>
          </a:prstGeom>
          <a:solidFill>
            <a:srgbClr val="0B6E99"/>
          </a:solidFill>
          <a:ln w="12700">
            <a:solidFill>
              <a:srgbClr val="0B6E99"/>
            </a:solidFill>
            <a:prstDash val="solid"/>
          </a:ln>
        </p:spPr>
      </p:sp>
      <p:sp>
        <p:nvSpPr>
          <p:cNvPr id="10" name="Text 8"/>
          <p:cNvSpPr/>
          <p:nvPr/>
        </p:nvSpPr>
        <p:spPr>
          <a:xfrm>
            <a:off x="9674352"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1</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9"/>
          <p:cNvSpPr/>
          <p:nvPr/>
        </p:nvSpPr>
        <p:spPr>
          <a:xfrm>
            <a:off x="8997696" y="3401568"/>
            <a:ext cx="2139696" cy="1627632"/>
          </a:xfrm>
          <a:prstGeom prst="roundRect">
            <a:avLst>
              <a:gd name="adj" fmla="val 4494"/>
            </a:avLst>
          </a:prstGeom>
          <a:solidFill>
            <a:srgbClr val="FFFFFF"/>
          </a:solidFill>
          <a:ln w="16510">
            <a:solidFill>
              <a:srgbClr val="0B6E99"/>
            </a:solidFill>
            <a:prstDash val="solid"/>
          </a:ln>
        </p:spPr>
      </p:sp>
      <p:sp>
        <p:nvSpPr>
          <p:cNvPr id="12" name="Text 10"/>
          <p:cNvSpPr/>
          <p:nvPr/>
        </p:nvSpPr>
        <p:spPr>
          <a:xfrm>
            <a:off x="9144000"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داده‌برداری از بیماران</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1"/>
          <p:cNvSpPr/>
          <p:nvPr/>
        </p:nvSpPr>
        <p:spPr>
          <a:xfrm>
            <a:off x="9171432"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اجرای رسمی NSAA با حضور متخصص</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2"/>
          <p:cNvSpPr/>
          <p:nvPr/>
        </p:nvSpPr>
        <p:spPr>
          <a:xfrm>
            <a:off x="6062472" y="2889504"/>
            <a:ext cx="0" cy="0"/>
          </a:xfrm>
          <a:prstGeom prst="line">
            <a:avLst/>
          </a:prstGeom>
          <a:noFill/>
          <a:ln w="25400">
            <a:solidFill>
              <a:srgbClr val="94A3B8"/>
            </a:solidFill>
            <a:prstDash val="solid"/>
            <a:headEnd type="none"/>
            <a:tailEnd type="triangle"/>
          </a:ln>
        </p:spPr>
      </p:sp>
      <p:sp>
        <p:nvSpPr>
          <p:cNvPr id="15" name="Shape 13"/>
          <p:cNvSpPr/>
          <p:nvPr/>
        </p:nvSpPr>
        <p:spPr>
          <a:xfrm>
            <a:off x="7059168" y="2350008"/>
            <a:ext cx="786384" cy="786384"/>
          </a:xfrm>
          <a:prstGeom prst="ellipse">
            <a:avLst/>
          </a:prstGeom>
          <a:solidFill>
            <a:srgbClr val="0B7A75"/>
          </a:solidFill>
          <a:ln w="12700">
            <a:solidFill>
              <a:srgbClr val="0B7A75"/>
            </a:solidFill>
            <a:prstDash val="solid"/>
          </a:ln>
        </p:spPr>
      </p:sp>
      <p:sp>
        <p:nvSpPr>
          <p:cNvPr id="16" name="Text 14"/>
          <p:cNvSpPr/>
          <p:nvPr/>
        </p:nvSpPr>
        <p:spPr>
          <a:xfrm>
            <a:off x="7059168"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2</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Shape 15"/>
          <p:cNvSpPr/>
          <p:nvPr/>
        </p:nvSpPr>
        <p:spPr>
          <a:xfrm>
            <a:off x="6382512" y="3401568"/>
            <a:ext cx="2139696" cy="1627632"/>
          </a:xfrm>
          <a:prstGeom prst="roundRect">
            <a:avLst>
              <a:gd name="adj" fmla="val 4494"/>
            </a:avLst>
          </a:prstGeom>
          <a:solidFill>
            <a:srgbClr val="FFFFFF"/>
          </a:solidFill>
          <a:ln w="16510">
            <a:solidFill>
              <a:srgbClr val="0B7A75"/>
            </a:solidFill>
            <a:prstDash val="solid"/>
          </a:ln>
        </p:spPr>
      </p:sp>
      <p:sp>
        <p:nvSpPr>
          <p:cNvPr id="18" name="Text 16"/>
          <p:cNvSpPr/>
          <p:nvPr/>
        </p:nvSpPr>
        <p:spPr>
          <a:xfrm>
            <a:off x="6528816"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اعتبارسنجی مستقل از آزمودنی</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9" name="Text 17"/>
          <p:cNvSpPr/>
          <p:nvPr/>
        </p:nvSpPr>
        <p:spPr>
          <a:xfrm>
            <a:off x="6556248"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کنار گذاشتن کامل داده یک فرد در آزمون</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0" name="Shape 18"/>
          <p:cNvSpPr/>
          <p:nvPr/>
        </p:nvSpPr>
        <p:spPr>
          <a:xfrm>
            <a:off x="3447288" y="2889504"/>
            <a:ext cx="0" cy="0"/>
          </a:xfrm>
          <a:prstGeom prst="line">
            <a:avLst/>
          </a:prstGeom>
          <a:noFill/>
          <a:ln w="25400">
            <a:solidFill>
              <a:srgbClr val="94A3B8"/>
            </a:solidFill>
            <a:prstDash val="solid"/>
            <a:headEnd type="none"/>
            <a:tailEnd type="triangle"/>
          </a:ln>
        </p:spPr>
      </p:sp>
      <p:sp>
        <p:nvSpPr>
          <p:cNvPr id="21" name="Shape 19"/>
          <p:cNvSpPr/>
          <p:nvPr/>
        </p:nvSpPr>
        <p:spPr>
          <a:xfrm>
            <a:off x="4443984" y="2350008"/>
            <a:ext cx="786384" cy="786384"/>
          </a:xfrm>
          <a:prstGeom prst="ellipse">
            <a:avLst/>
          </a:prstGeom>
          <a:solidFill>
            <a:srgbClr val="6B5BA6"/>
          </a:solidFill>
          <a:ln w="12700">
            <a:solidFill>
              <a:srgbClr val="6B5BA6"/>
            </a:solidFill>
            <a:prstDash val="solid"/>
          </a:ln>
        </p:spPr>
      </p:sp>
      <p:sp>
        <p:nvSpPr>
          <p:cNvPr id="22" name="Text 20"/>
          <p:cNvSpPr/>
          <p:nvPr/>
        </p:nvSpPr>
        <p:spPr>
          <a:xfrm>
            <a:off x="4443984"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3</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3" name="Shape 21"/>
          <p:cNvSpPr/>
          <p:nvPr/>
        </p:nvSpPr>
        <p:spPr>
          <a:xfrm>
            <a:off x="3767328" y="3401568"/>
            <a:ext cx="2139696" cy="1627632"/>
          </a:xfrm>
          <a:prstGeom prst="roundRect">
            <a:avLst>
              <a:gd name="adj" fmla="val 4494"/>
            </a:avLst>
          </a:prstGeom>
          <a:solidFill>
            <a:srgbClr val="FFFFFF"/>
          </a:solidFill>
          <a:ln w="16510">
            <a:solidFill>
              <a:srgbClr val="6B5BA6"/>
            </a:solidFill>
            <a:prstDash val="solid"/>
          </a:ln>
        </p:spPr>
      </p:sp>
      <p:sp>
        <p:nvSpPr>
          <p:cNvPr id="24" name="Text 22"/>
          <p:cNvSpPr/>
          <p:nvPr/>
        </p:nvSpPr>
        <p:spPr>
          <a:xfrm>
            <a:off x="3913632"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بهینه‌سازی مدل و ویژگی</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5" name="Text 23"/>
          <p:cNvSpPr/>
          <p:nvPr/>
        </p:nvSpPr>
        <p:spPr>
          <a:xfrm>
            <a:off x="3941064"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Nested CV، ویژگی‌های فرکانسی و مدل‌های زمانی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6" name="Shape 24"/>
          <p:cNvSpPr/>
          <p:nvPr/>
        </p:nvSpPr>
        <p:spPr>
          <a:xfrm>
            <a:off x="1828800" y="2350008"/>
            <a:ext cx="786384" cy="786384"/>
          </a:xfrm>
          <a:prstGeom prst="ellipse">
            <a:avLst/>
          </a:prstGeom>
          <a:solidFill>
            <a:srgbClr val="2F855A"/>
          </a:solidFill>
          <a:ln w="12700">
            <a:solidFill>
              <a:srgbClr val="2F855A"/>
            </a:solidFill>
            <a:prstDash val="solid"/>
          </a:ln>
        </p:spPr>
      </p:sp>
      <p:sp>
        <p:nvSpPr>
          <p:cNvPr id="27" name="Text 25"/>
          <p:cNvSpPr/>
          <p:nvPr/>
        </p:nvSpPr>
        <p:spPr>
          <a:xfrm>
            <a:off x="1828800" y="2441448"/>
            <a:ext cx="786384" cy="475488"/>
          </a:xfrm>
          <a:prstGeom prst="rect">
            <a:avLst/>
          </a:prstGeom>
          <a:noFill/>
          <a:ln/>
        </p:spPr>
        <p:txBody>
          <a:bodyPr wrap="square" lIns="0" tIns="0" rIns="0" bIns="0" rtlCol="0" anchor="ctr">
            <a:normAutofit/>
          </a:bodyPr>
          <a:lstStyle/>
          <a:p>
            <a:pPr marL="0" indent="0" algn="ctr">
              <a:buNone/>
            </a:pPr>
            <a:r>
              <a:rPr lang="en-US" sz="22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4</a:t>
            </a:r>
            <a:endParaRPr lang="en-US" sz="22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28" name="Shape 26"/>
          <p:cNvSpPr/>
          <p:nvPr/>
        </p:nvSpPr>
        <p:spPr>
          <a:xfrm>
            <a:off x="1152144" y="3401568"/>
            <a:ext cx="2139696" cy="1627632"/>
          </a:xfrm>
          <a:prstGeom prst="roundRect">
            <a:avLst>
              <a:gd name="adj" fmla="val 4494"/>
            </a:avLst>
          </a:prstGeom>
          <a:solidFill>
            <a:srgbClr val="FFFFFF"/>
          </a:solidFill>
          <a:ln w="16510">
            <a:solidFill>
              <a:srgbClr val="2F855A"/>
            </a:solidFill>
            <a:prstDash val="solid"/>
          </a:ln>
        </p:spPr>
      </p:sp>
      <p:sp>
        <p:nvSpPr>
          <p:cNvPr id="29" name="Text 27"/>
          <p:cNvSpPr/>
          <p:nvPr/>
        </p:nvSpPr>
        <p:spPr>
          <a:xfrm>
            <a:off x="1298448"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ExtraLight" panose="020B0000040000000000" pitchFamily="34" charset="-78"/>
                <a:ea typeface="Sharif 1.2 ExtraLight" panose="020B0000040000000000" pitchFamily="34" charset="-78"/>
                <a:cs typeface="Sharif 1.2 ExtraLight" panose="020B0000040000000000" pitchFamily="34" charset="-78"/>
              </a:rPr>
              <a:t>ساده‌سازی و توسعه سامانه</a:t>
            </a:r>
            <a:endParaRPr lang="en-US" sz="153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0" name="Text 28"/>
          <p:cNvSpPr/>
          <p:nvPr/>
        </p:nvSpPr>
        <p:spPr>
          <a:xfrm>
            <a:off x="1325880"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ExtraLight" panose="020B0000040000000000" pitchFamily="34" charset="-78"/>
                <a:ea typeface="Sharif 1.2 ExtraLight" panose="020B0000040000000000" pitchFamily="34" charset="-78"/>
                <a:cs typeface="Sharif 1.2 ExtraLight" panose="020B0000040000000000" pitchFamily="34" charset="-78"/>
              </a:rPr>
              <a:t>حذف مرحله‌ای حسگرها و رابط یکپارچه بالینی</a:t>
            </a:r>
            <a:endParaRPr lang="en-US" sz="114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1" name="Shape 29"/>
          <p:cNvSpPr/>
          <p:nvPr/>
        </p:nvSpPr>
        <p:spPr>
          <a:xfrm>
            <a:off x="1234440" y="5422392"/>
            <a:ext cx="9784080" cy="667512"/>
          </a:xfrm>
          <a:prstGeom prst="roundRect">
            <a:avLst>
              <a:gd name="adj" fmla="val 10959"/>
            </a:avLst>
          </a:prstGeom>
          <a:solidFill>
            <a:srgbClr val="102A43"/>
          </a:solidFill>
          <a:ln w="12700">
            <a:solidFill>
              <a:srgbClr val="102A43"/>
            </a:solidFill>
            <a:prstDash val="solid"/>
          </a:ln>
        </p:spPr>
      </p:sp>
      <p:sp>
        <p:nvSpPr>
          <p:cNvPr id="32" name="Text 30"/>
          <p:cNvSpPr/>
          <p:nvPr/>
        </p:nvSpPr>
        <p:spPr>
          <a:xfrm>
            <a:off x="1536192" y="5559552"/>
            <a:ext cx="9171432" cy="365760"/>
          </a:xfrm>
          <a:prstGeom prst="rect">
            <a:avLst/>
          </a:prstGeom>
          <a:noFill/>
          <a:ln/>
        </p:spPr>
        <p:txBody>
          <a:bodyPr wrap="square" lIns="0" tIns="0" rIns="0" bIns="0" rtlCol="0" anchor="ctr">
            <a:normAutofit/>
          </a:bodyPr>
          <a:lstStyle/>
          <a:p>
            <a:pPr marL="0" indent="0" algn="ctr" rtl="1">
              <a:buNone/>
            </a:pPr>
            <a:r>
              <a:rPr lang="en-US" sz="16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خروجی نهایی مورد انتظار: ابزار مکمل برای ارزیابی عینی‌تر، تکرارپذیرتر و پایش طولی عملکرد حرکتی</a:t>
            </a:r>
            <a:endParaRPr lang="en-US" sz="16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3" name="Text 31"/>
          <p:cNvSpPr/>
          <p:nvPr/>
        </p:nvSpPr>
        <p:spPr>
          <a:xfrm>
            <a:off x="7955280" y="6537960"/>
            <a:ext cx="3520440" cy="201168"/>
          </a:xfrm>
          <a:prstGeom prst="rect">
            <a:avLst/>
          </a:prstGeom>
          <a:noFill/>
          <a:ln/>
        </p:spPr>
        <p:txBody>
          <a:bodyPr wrap="square" lIns="0" tIns="0" rIns="0" bIns="0" rtlCol="0" anchor="ctr">
            <a:normAutofit/>
          </a:bodyPr>
          <a:lstStyle/>
          <a:p>
            <a:pPr marL="0" indent="0" algn="r" rtl="1">
              <a:buNone/>
            </a:pPr>
            <a:r>
              <a:rPr lang="en-US" sz="950" dirty="0">
                <a:solidFill>
                  <a:srgbClr val="94A3B8"/>
                </a:solidFill>
                <a:latin typeface="Sharif 1.2 ExtraLight" panose="020B0000040000000000" pitchFamily="34" charset="-78"/>
                <a:ea typeface="Sharif 1.2 ExtraLight" panose="020B0000040000000000" pitchFamily="34" charset="-78"/>
                <a:cs typeface="Sharif 1.2 ExtraLight" panose="020B0000040000000000" pitchFamily="34" charset="-78"/>
              </a:rPr>
              <a:t>پایان‌نامه کارشناسی مهندسی مکانیک</a:t>
            </a:r>
            <a:endParaRPr lang="en-US" sz="95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34" name="Shape 32"/>
          <p:cNvSpPr/>
          <p:nvPr/>
        </p:nvSpPr>
        <p:spPr>
          <a:xfrm>
            <a:off x="658368" y="6473952"/>
            <a:ext cx="10881360" cy="0"/>
          </a:xfrm>
          <a:prstGeom prst="line">
            <a:avLst/>
          </a:prstGeom>
          <a:noFill/>
          <a:ln w="10160">
            <a:solidFill>
              <a:srgbClr val="E9EEF2"/>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8AB5"/>
          </a:solidFill>
          <a:ln w="12700">
            <a:solidFill>
              <a:srgbClr val="1D8AB5"/>
            </a:solidFill>
            <a:prstDash val="solid"/>
          </a:ln>
        </p:spPr>
      </p:sp>
      <p:pic>
        <p:nvPicPr>
          <p:cNvPr id="3" name="Image 0" descr="/mnt/data/dmd_assets/crops/sharif_logo.png"/>
          <p:cNvPicPr>
            <a:picLocks noChangeAspect="1"/>
          </p:cNvPicPr>
          <p:nvPr/>
        </p:nvPicPr>
        <p:blipFill>
          <a:blip r:embed="rId3"/>
          <a:stretch>
            <a:fillRect/>
          </a:stretch>
        </p:blipFill>
        <p:spPr>
          <a:xfrm>
            <a:off x="10631456" y="256032"/>
            <a:ext cx="728407" cy="658368"/>
          </a:xfrm>
          <a:prstGeom prst="rect">
            <a:avLst/>
          </a:prstGeom>
        </p:spPr>
      </p:pic>
      <p:sp>
        <p:nvSpPr>
          <p:cNvPr id="4" name="Text 1"/>
          <p:cNvSpPr/>
          <p:nvPr/>
        </p:nvSpPr>
        <p:spPr>
          <a:xfrm>
            <a:off x="7772400" y="932688"/>
            <a:ext cx="2834640" cy="502920"/>
          </a:xfrm>
          <a:prstGeom prst="rect">
            <a:avLst/>
          </a:prstGeom>
          <a:noFill/>
          <a:ln/>
        </p:spPr>
        <p:txBody>
          <a:bodyPr wrap="square" lIns="0" tIns="0" rIns="0" bIns="0" rtlCol="0" anchor="ctr">
            <a:normAutofit/>
          </a:bodyPr>
          <a:lstStyle/>
          <a:p>
            <a:pPr marL="0" indent="0" algn="r" rtl="1">
              <a:buNone/>
            </a:pPr>
            <a:r>
              <a:rPr lang="en-US" sz="31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جمع‌بندی</a:t>
            </a:r>
            <a:endParaRPr lang="en-US" sz="31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5" name="Shape 2"/>
          <p:cNvSpPr/>
          <p:nvPr/>
        </p:nvSpPr>
        <p:spPr>
          <a:xfrm>
            <a:off x="10378440" y="1828800"/>
            <a:ext cx="512064" cy="512064"/>
          </a:xfrm>
          <a:prstGeom prst="ellipse">
            <a:avLst/>
          </a:prstGeom>
          <a:solidFill>
            <a:srgbClr val="1D8AB5"/>
          </a:solidFill>
          <a:ln w="12700">
            <a:solidFill>
              <a:srgbClr val="1D8AB5"/>
            </a:solidFill>
            <a:prstDash val="solid"/>
          </a:ln>
        </p:spPr>
      </p:sp>
      <p:sp>
        <p:nvSpPr>
          <p:cNvPr id="6" name="Text 3"/>
          <p:cNvSpPr/>
          <p:nvPr/>
        </p:nvSpPr>
        <p:spPr>
          <a:xfrm>
            <a:off x="10378440" y="1856232"/>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۱</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7" name="Text 4"/>
          <p:cNvSpPr/>
          <p:nvPr/>
        </p:nvSpPr>
        <p:spPr>
          <a:xfrm>
            <a:off x="2788920" y="1801368"/>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سامانه کامل ثبت، پردازش و طبقه‌بندی طراحی و پیاده‌سازی شد.</a:t>
            </a:r>
            <a:endParaRPr lang="en-US" sz="18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8" name="Shape 5"/>
          <p:cNvSpPr/>
          <p:nvPr/>
        </p:nvSpPr>
        <p:spPr>
          <a:xfrm>
            <a:off x="10378440" y="2761488"/>
            <a:ext cx="512064" cy="512064"/>
          </a:xfrm>
          <a:prstGeom prst="ellipse">
            <a:avLst/>
          </a:prstGeom>
          <a:solidFill>
            <a:srgbClr val="1D8AB5"/>
          </a:solidFill>
          <a:ln w="12700">
            <a:solidFill>
              <a:srgbClr val="1D8AB5"/>
            </a:solidFill>
            <a:prstDash val="solid"/>
          </a:ln>
        </p:spPr>
      </p:sp>
      <p:sp>
        <p:nvSpPr>
          <p:cNvPr id="9" name="Text 6"/>
          <p:cNvSpPr/>
          <p:nvPr/>
        </p:nvSpPr>
        <p:spPr>
          <a:xfrm>
            <a:off x="10378440" y="2788920"/>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۲</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0" name="Text 7"/>
          <p:cNvSpPr/>
          <p:nvPr/>
        </p:nvSpPr>
        <p:spPr>
          <a:xfrm>
            <a:off x="2788920" y="2734056"/>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بردار ۶۹۰ ویژگی با PCA به فضایی شامل ۱۰ تا ۱۵ مؤلفه کاهش یافت.</a:t>
            </a:r>
            <a:endParaRPr lang="en-US" sz="18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1" name="Shape 8"/>
          <p:cNvSpPr/>
          <p:nvPr/>
        </p:nvSpPr>
        <p:spPr>
          <a:xfrm>
            <a:off x="10378440" y="3694176"/>
            <a:ext cx="512064" cy="512064"/>
          </a:xfrm>
          <a:prstGeom prst="ellipse">
            <a:avLst/>
          </a:prstGeom>
          <a:solidFill>
            <a:srgbClr val="1D8AB5"/>
          </a:solidFill>
          <a:ln w="12700">
            <a:solidFill>
              <a:srgbClr val="1D8AB5"/>
            </a:solidFill>
            <a:prstDash val="solid"/>
          </a:ln>
        </p:spPr>
      </p:sp>
      <p:sp>
        <p:nvSpPr>
          <p:cNvPr id="12" name="Text 9"/>
          <p:cNvSpPr/>
          <p:nvPr/>
        </p:nvSpPr>
        <p:spPr>
          <a:xfrm>
            <a:off x="10378440" y="3721608"/>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۳</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3" name="Text 10"/>
          <p:cNvSpPr/>
          <p:nvPr/>
        </p:nvSpPr>
        <p:spPr>
          <a:xfrm>
            <a:off x="2788920" y="3666744"/>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سطوح عملکردی شبیه‌سازی‌شده در پنج فعالیت قابل تفکیک بودند.</a:t>
            </a:r>
            <a:endParaRPr lang="en-US" sz="182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4" name="Shape 11"/>
          <p:cNvSpPr/>
          <p:nvPr/>
        </p:nvSpPr>
        <p:spPr>
          <a:xfrm>
            <a:off x="1874520" y="4736592"/>
            <a:ext cx="8549640" cy="841248"/>
          </a:xfrm>
          <a:prstGeom prst="roundRect">
            <a:avLst>
              <a:gd name="adj" fmla="val 15217"/>
            </a:avLst>
          </a:prstGeom>
          <a:solidFill>
            <a:srgbClr val="183B56"/>
          </a:solidFill>
          <a:ln w="15240">
            <a:solidFill>
              <a:srgbClr val="335A75"/>
            </a:solidFill>
            <a:prstDash val="solid"/>
          </a:ln>
        </p:spPr>
      </p:sp>
      <p:sp>
        <p:nvSpPr>
          <p:cNvPr id="15" name="Text 12"/>
          <p:cNvSpPr/>
          <p:nvPr/>
        </p:nvSpPr>
        <p:spPr>
          <a:xfrm>
            <a:off x="2176272" y="4919472"/>
            <a:ext cx="7955280" cy="420624"/>
          </a:xfrm>
          <a:prstGeom prst="rect">
            <a:avLst/>
          </a:prstGeom>
          <a:noFill/>
          <a:ln/>
        </p:spPr>
        <p:txBody>
          <a:bodyPr wrap="square" lIns="0" tIns="0" rIns="0" bIns="0" rtlCol="0" anchor="ctr">
            <a:normAutofit/>
          </a:bodyPr>
          <a:lstStyle/>
          <a:p>
            <a:pPr marL="0" indent="0" algn="ctr" rtl="1">
              <a:buNone/>
            </a:pPr>
            <a:r>
              <a:rPr lang="en-US" sz="1800" b="1" dirty="0">
                <a:solidFill>
                  <a:srgbClr val="66E0D0"/>
                </a:solidFill>
                <a:latin typeface="Sharif 1.2 ExtraLight" panose="020B0000040000000000" pitchFamily="34" charset="-78"/>
                <a:ea typeface="Sharif 1.2 ExtraLight" panose="020B0000040000000000" pitchFamily="34" charset="-78"/>
                <a:cs typeface="Sharif 1.2 ExtraLight" panose="020B0000040000000000" pitchFamily="34" charset="-78"/>
              </a:rPr>
              <a:t>دستاورد اصلی: اثبات امکان‌پذیری فنی چارچوب — نه اثبات کاربرد بالینی</a:t>
            </a:r>
            <a:endParaRPr lang="en-US" sz="18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6" name="Text 13"/>
          <p:cNvSpPr/>
          <p:nvPr/>
        </p:nvSpPr>
        <p:spPr>
          <a:xfrm>
            <a:off x="4626864" y="5824728"/>
            <a:ext cx="2926080" cy="384048"/>
          </a:xfrm>
          <a:prstGeom prst="rect">
            <a:avLst/>
          </a:prstGeom>
          <a:noFill/>
          <a:ln/>
        </p:spPr>
        <p:txBody>
          <a:bodyPr wrap="square" lIns="0" tIns="0" rIns="0" bIns="0" rtlCol="0" anchor="ctr">
            <a:normAutofit/>
          </a:bodyPr>
          <a:lstStyle/>
          <a:p>
            <a:pPr marL="0" indent="0" algn="ctr" rtl="1">
              <a:buNone/>
            </a:pPr>
            <a:r>
              <a:rPr lang="en-US" sz="2400" b="1" dirty="0">
                <a:solidFill>
                  <a:srgbClr val="FFFFFF"/>
                </a:solidFill>
                <a:latin typeface="Sharif 1.2 ExtraLight" panose="020B0000040000000000" pitchFamily="34" charset="-78"/>
                <a:ea typeface="Sharif 1.2 ExtraLight" panose="020B0000040000000000" pitchFamily="34" charset="-78"/>
                <a:cs typeface="Sharif 1.2 ExtraLight" panose="020B0000040000000000" pitchFamily="34" charset="-78"/>
              </a:rPr>
              <a:t>سپاسگزارم</a:t>
            </a:r>
            <a:endParaRPr lang="en-US" sz="24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
        <p:nvSpPr>
          <p:cNvPr id="17" name="Text 14"/>
          <p:cNvSpPr/>
          <p:nvPr/>
        </p:nvSpPr>
        <p:spPr>
          <a:xfrm>
            <a:off x="4901184" y="6291072"/>
            <a:ext cx="2377440" cy="256032"/>
          </a:xfrm>
          <a:prstGeom prst="rect">
            <a:avLst/>
          </a:prstGeom>
          <a:noFill/>
          <a:ln/>
        </p:spPr>
        <p:txBody>
          <a:bodyPr wrap="square" lIns="0" tIns="0" rIns="0" bIns="0" rtlCol="0" anchor="ctr">
            <a:normAutofit lnSpcReduction="10000"/>
          </a:bodyPr>
          <a:lstStyle/>
          <a:p>
            <a:pPr marL="0" indent="0" algn="ctr" rtl="1">
              <a:buNone/>
            </a:pPr>
            <a:r>
              <a:rPr lang="en-US" sz="1700" dirty="0">
                <a:solidFill>
                  <a:srgbClr val="B7D5E4"/>
                </a:solidFill>
                <a:latin typeface="Sharif 1.2 ExtraLight" panose="020B0000040000000000" pitchFamily="34" charset="-78"/>
                <a:ea typeface="Sharif 1.2 ExtraLight" panose="020B0000040000000000" pitchFamily="34" charset="-78"/>
                <a:cs typeface="Sharif 1.2 ExtraLight" panose="020B0000040000000000" pitchFamily="34" charset="-78"/>
              </a:rPr>
              <a:t>پرسش‌ها؟</a:t>
            </a:r>
            <a:endParaRPr lang="en-US" sz="1700" dirty="0">
              <a:latin typeface="Sharif 1.2 ExtraLight" panose="020B0000040000000000" pitchFamily="34" charset="-78"/>
              <a:ea typeface="Sharif 1.2 ExtraLight" panose="020B0000040000000000" pitchFamily="34" charset="-78"/>
              <a:cs typeface="Sharif 1.2 ExtraLight" panose="020B0000040000000000" pitchFamily="34" charset="-7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2114</Words>
  <Application>Microsoft Macintosh PowerPoint</Application>
  <PresentationFormat>Widescreen</PresentationFormat>
  <Paragraphs>333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Sharif 1.2 ExtraLight</vt:lpstr>
      <vt:lpstr>Sharif 1.2 Light</vt:lpstr>
      <vt:lpstr>Sharif 1.2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Sharif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ارزیابی شاخص‌های عملکرد موتوری در بیماران دوشن به کمک حسگرهای اینرسیایی</dc:title>
  <dc:subject>Bachelor Thesis Defense - DMD motor performance assessment using inertial sensors</dc:subject>
  <dc:creator>Mohammad Rahmanitalab</dc:creator>
  <cp:lastModifiedBy>mohammad rahmanitalab</cp:lastModifiedBy>
  <cp:revision>2</cp:revision>
  <dcterms:created xsi:type="dcterms:W3CDTF">2026-07-19T14:18:04Z</dcterms:created>
  <dcterms:modified xsi:type="dcterms:W3CDTF">2026-07-19T14:46:23Z</dcterms:modified>
</cp:coreProperties>
</file>