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72" r:id="rId4"/>
    <p:sldId id="276" r:id="rId5"/>
    <p:sldId id="277" r:id="rId6"/>
    <p:sldId id="274" r:id="rId7"/>
    <p:sldId id="278" r:id="rId8"/>
    <p:sldId id="273" r:id="rId9"/>
    <p:sldId id="258" r:id="rId10"/>
    <p:sldId id="271" r:id="rId11"/>
    <p:sldId id="260" r:id="rId12"/>
    <p:sldId id="261" r:id="rId13"/>
    <p:sldId id="259" r:id="rId14"/>
    <p:sldId id="262" r:id="rId15"/>
    <p:sldId id="263" r:id="rId16"/>
    <p:sldId id="264" r:id="rId17"/>
    <p:sldId id="265" r:id="rId18"/>
    <p:sldId id="266" r:id="rId19"/>
    <p:sldId id="267" r:id="rId20"/>
    <p:sldId id="268" r:id="rId21"/>
    <p:sldId id="269"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597"/>
    <p:restoredTop sz="96376"/>
  </p:normalViewPr>
  <p:slideViewPr>
    <p:cSldViewPr snapToGrid="0" snapToObjects="1">
      <p:cViewPr>
        <p:scale>
          <a:sx n="100" d="100"/>
          <a:sy n="100" d="100"/>
        </p:scale>
        <p:origin x="248"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0288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25 ثانیه
در این ارائه، ابتدا مسئله و ایده اصلی پروژه را معرفی می‌کنم، سپس سامانه داده‌برداری و مسیر پردازش را توضیح می‌دهم و در پایان، نتایج پنج فعالیت، محدودیت‌ها و گام بعدی برای اعتبارسنجی بالینی را مرور می‌کنم.</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55 ثانیه
دوشن یک بیماری پیشرونده است و تغییرات عملکرد حرکتی برای تصمیم‌گیری درمانی اهمیت زیادی دارد. NSAA یک ابزار معتبر و رایج است، اما امتیازدهی آن بر مشاهده درمانگر استوار است. پرسش پروژه این بود که آیا داده‌های شتاب و سرعت زاویه‌ای می‌توانند سطوح صفر، یک و دو را از هم تفکیک کنند.</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20B71-2059-A68B-8AD9-922B51EA0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1C816-5482-4B00-46A5-FAE8AC10BD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2B3E7-657C-FA4F-829E-FD8C19900056}"/>
              </a:ext>
            </a:extLst>
          </p:cNvPr>
          <p:cNvSpPr>
            <a:spLocks noGrp="1"/>
          </p:cNvSpPr>
          <p:nvPr>
            <p:ph type="body" idx="1"/>
          </p:nvPr>
        </p:nvSpPr>
        <p:spPr/>
        <p:txBody>
          <a:bodyPr/>
          <a:lstStyle/>
          <a:p>
            <a:r>
              <a:rPr lang="en-US" dirty="0"/>
              <a:t>زمان پیشنهادی: 50 ثانیه
برای پوشش حرکات با ماهیت‌های مختلف، پنج فعالیت انتخاب شد: یک فعالیت تقریباً ایستا، یک حرکت چندمرحله‌ای، یک حرکت انفجاری، یک حرکت متمرکز بر سر و یک حرکت انتقال وزن. دستاورد پروژه فقط آموزش مدل نبود؛ سامانه سخت‌افزاری، نرم‌افزار دریافت و کل زنجیره پردازش نیز توسعه یافت.</a:t>
            </a:r>
          </a:p>
        </p:txBody>
      </p:sp>
      <p:sp>
        <p:nvSpPr>
          <p:cNvPr id="4" name="Slide Number Placeholder 3">
            <a:extLst>
              <a:ext uri="{FF2B5EF4-FFF2-40B4-BE49-F238E27FC236}">
                <a16:creationId xmlns:a16="http://schemas.microsoft.com/office/drawing/2014/main" id="{1FCAA548-86D4-D884-1839-5C87BD8A74B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56227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C59A9-809D-ACCA-2DF7-F42DD5BE2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79F16E-5964-BCC1-E759-1AA7089B98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64FE38-A51E-212A-1ADD-CC87658FBD18}"/>
              </a:ext>
            </a:extLst>
          </p:cNvPr>
          <p:cNvSpPr>
            <a:spLocks noGrp="1"/>
          </p:cNvSpPr>
          <p:nvPr>
            <p:ph type="body" idx="1"/>
          </p:nvPr>
        </p:nvSpPr>
        <p:spPr/>
        <p:txBody>
          <a:bodyPr/>
          <a:lstStyle/>
          <a:p>
            <a:r>
              <a:rPr lang="en-US" dirty="0"/>
              <a:t>زمان پیشنهادی: 50 ثانیه
برای پوشش حرکات با ماهیت‌های مختلف، پنج فعالیت انتخاب شد: یک فعالیت تقریباً ایستا، یک حرکت چندمرحله‌ای، یک حرکت انفجاری، یک حرکت متمرکز بر سر و یک حرکت انتقال وزن. دستاورد پروژه فقط آموزش مدل نبود؛ سامانه سخت‌افزاری، نرم‌افزار دریافت و کل زنجیره پردازش نیز توسعه یافت.</a:t>
            </a:r>
          </a:p>
        </p:txBody>
      </p:sp>
      <p:sp>
        <p:nvSpPr>
          <p:cNvPr id="4" name="Slide Number Placeholder 3">
            <a:extLst>
              <a:ext uri="{FF2B5EF4-FFF2-40B4-BE49-F238E27FC236}">
                <a16:creationId xmlns:a16="http://schemas.microsoft.com/office/drawing/2014/main" id="{35ADC69B-7A10-E02C-1BCA-669B2BA1E3FB}"/>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088368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5A918-B5D8-CB17-3542-95D63110EC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54397-456D-A272-57C8-BAFCA9AC73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F6089-B726-59BF-2F0C-28C88D004E7C}"/>
              </a:ext>
            </a:extLst>
          </p:cNvPr>
          <p:cNvSpPr>
            <a:spLocks noGrp="1"/>
          </p:cNvSpPr>
          <p:nvPr>
            <p:ph type="body" idx="1"/>
          </p:nvPr>
        </p:nvSpPr>
        <p:spPr/>
        <p:txBody>
          <a:bodyPr/>
          <a:lstStyle/>
          <a:p>
            <a:r>
              <a:rPr lang="en-US" dirty="0"/>
              <a:t>زمان پیشنهادی: 50 ثانیه
برای پوشش حرکات با ماهیت‌های مختلف، پنج فعالیت انتخاب شد: یک فعالیت تقریباً ایستا، یک حرکت چندمرحله‌ای، یک حرکت انفجاری، یک حرکت متمرکز بر سر و یک حرکت انتقال وزن. دستاورد پروژه فقط آموزش مدل نبود؛ سامانه سخت‌افزاری، نرم‌افزار دریافت و کل زنجیره پردازش نیز توسعه یافت.</a:t>
            </a:r>
          </a:p>
        </p:txBody>
      </p:sp>
      <p:sp>
        <p:nvSpPr>
          <p:cNvPr id="4" name="Slide Number Placeholder 3">
            <a:extLst>
              <a:ext uri="{FF2B5EF4-FFF2-40B4-BE49-F238E27FC236}">
                <a16:creationId xmlns:a16="http://schemas.microsoft.com/office/drawing/2014/main" id="{A08C236B-7EB3-8307-2699-1EE5D234714A}"/>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376005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13F87-FEEE-697B-970C-E5277CD78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F0CF25-A8CC-9D25-04B2-A615A6B6EF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45F8EF-56B9-F5D7-14AB-E767D7F99964}"/>
              </a:ext>
            </a:extLst>
          </p:cNvPr>
          <p:cNvSpPr>
            <a:spLocks noGrp="1"/>
          </p:cNvSpPr>
          <p:nvPr>
            <p:ph type="body" idx="1"/>
          </p:nvPr>
        </p:nvSpPr>
        <p:spPr/>
        <p:txBody>
          <a:bodyPr/>
          <a:lstStyle/>
          <a:p>
            <a:r>
              <a:rPr lang="en-US" dirty="0"/>
              <a:t>زمان پیشنهادی: 50 ثانیه
برای پوشش حرکات با ماهیت‌های مختلف، پنج فعالیت انتخاب شد: یک فعالیت تقریباً ایستا، یک حرکت چندمرحله‌ای، یک حرکت انفجاری، یک حرکت متمرکز بر سر و یک حرکت انتقال وزن. دستاورد پروژه فقط آموزش مدل نبود؛ سامانه سخت‌افزاری، نرم‌افزار دریافت و کل زنجیره پردازش نیز توسعه یافت.</a:t>
            </a:r>
          </a:p>
        </p:txBody>
      </p:sp>
      <p:sp>
        <p:nvSpPr>
          <p:cNvPr id="4" name="Slide Number Placeholder 3">
            <a:extLst>
              <a:ext uri="{FF2B5EF4-FFF2-40B4-BE49-F238E27FC236}">
                <a16:creationId xmlns:a16="http://schemas.microsoft.com/office/drawing/2014/main" id="{57BAC571-8B43-184D-DCB8-976C77B6290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92881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BF44F-B89E-F1ED-3157-AE10F42FA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167BC5-3EFB-CC56-443E-FCBEF17A8A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F55E04-B5DB-424A-F41E-51DDE2E7138A}"/>
              </a:ext>
            </a:extLst>
          </p:cNvPr>
          <p:cNvSpPr>
            <a:spLocks noGrp="1"/>
          </p:cNvSpPr>
          <p:nvPr>
            <p:ph type="body" idx="1"/>
          </p:nvPr>
        </p:nvSpPr>
        <p:spPr/>
        <p:txBody>
          <a:bodyPr/>
          <a:lstStyle/>
          <a:p>
            <a:r>
              <a:rPr lang="en-US" dirty="0"/>
              <a:t>زمان پیشنهادی: 50 ثانیه
برای پوشش حرکات با ماهیت‌های مختلف، پنج فعالیت انتخاب شد: یک فعالیت تقریباً ایستا، یک حرکت چندمرحله‌ای، یک حرکت انفجاری، یک حرکت متمرکز بر سر و یک حرکت انتقال وزن. دستاورد پروژه فقط آموزش مدل نبود؛ سامانه سخت‌افزاری، نرم‌افزار دریافت و کل زنجیره پردازش نیز توسعه یافت.</a:t>
            </a:r>
          </a:p>
        </p:txBody>
      </p:sp>
      <p:sp>
        <p:nvSpPr>
          <p:cNvPr id="4" name="Slide Number Placeholder 3">
            <a:extLst>
              <a:ext uri="{FF2B5EF4-FFF2-40B4-BE49-F238E27FC236}">
                <a16:creationId xmlns:a16="http://schemas.microsoft.com/office/drawing/2014/main" id="{D113433E-3C79-0B12-F622-822CAD09E3E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898608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D0BE2-871F-BE0F-D95B-C0C9DE680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DCDFD-140E-51E2-9E83-492076568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BFF078-0BD3-5640-188A-B00F87FE35B4}"/>
              </a:ext>
            </a:extLst>
          </p:cNvPr>
          <p:cNvSpPr>
            <a:spLocks noGrp="1"/>
          </p:cNvSpPr>
          <p:nvPr>
            <p:ph type="body" idx="1"/>
          </p:nvPr>
        </p:nvSpPr>
        <p:spPr/>
        <p:txBody>
          <a:bodyPr/>
          <a:lstStyle/>
          <a:p>
            <a:r>
              <a:rPr lang="en-US" dirty="0"/>
              <a:t>زمان پیشنهادی: 50 ثانیه
برای پوشش حرکات با ماهیت‌های مختلف، پنج فعالیت انتخاب شد: یک فعالیت تقریباً ایستا، یک حرکت چندمرحله‌ای، یک حرکت انفجاری، یک حرکت متمرکز بر سر و یک حرکت انتقال وزن. دستاورد پروژه فقط آموزش مدل نبود؛ سامانه سخت‌افزاری، نرم‌افزار دریافت و کل زنجیره پردازش نیز توسعه یافت.</a:t>
            </a:r>
          </a:p>
        </p:txBody>
      </p:sp>
      <p:sp>
        <p:nvSpPr>
          <p:cNvPr id="4" name="Slide Number Placeholder 3">
            <a:extLst>
              <a:ext uri="{FF2B5EF4-FFF2-40B4-BE49-F238E27FC236}">
                <a16:creationId xmlns:a16="http://schemas.microsoft.com/office/drawing/2014/main" id="{7D48A2EC-5D69-7404-D0A2-5F33787E286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649786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50 ثانیه
برای پوشش حرکات با ماهیت‌های مختلف، پنج فعالیت انتخاب شد: یک فعالیت تقریباً ایستا، یک حرکت چندمرحله‌ای، یک حرکت انفجاری، یک حرکت متمرکز بر سر و یک حرکت انتقال وزن. دستاورد پروژه فقط آموزش مدل نبود؛ سامانه سخت‌افزاری، نرم‌افزار دریافت و کل زنجیره پردازش نیز توسعه یافت.</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54D47-CF37-4003-C6B9-78A8C70808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C4413-4C4F-B106-A5E1-0FDA45437C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E2EF6C-1F71-76BB-48EA-27BC9897705F}"/>
              </a:ext>
            </a:extLst>
          </p:cNvPr>
          <p:cNvSpPr>
            <a:spLocks noGrp="1"/>
          </p:cNvSpPr>
          <p:nvPr>
            <p:ph type="body" idx="1"/>
          </p:nvPr>
        </p:nvSpPr>
        <p:spPr/>
        <p:txBody>
          <a:bodyPr/>
          <a:lstStyle/>
          <a:p>
            <a:r>
              <a:rPr lang="en-US" dirty="0"/>
              <a:t>زمان پیشنهادی: 50 ثانیه
برای پوشش حرکات با ماهیت‌های مختلف، پنج فعالیت انتخاب شد: یک فعالیت تقریباً ایستا، یک حرکت چندمرحله‌ای، یک حرکت انفجاری، یک حرکت متمرکز بر سر و یک حرکت انتقال وزن. دستاورد پروژه فقط آموزش مدل نبود؛ سامانه سخت‌افزاری، نرم‌افزار دریافت و کل زنجیره پردازش نیز توسعه یافت.</a:t>
            </a:r>
          </a:p>
        </p:txBody>
      </p:sp>
      <p:sp>
        <p:nvSpPr>
          <p:cNvPr id="4" name="Slide Number Placeholder 3">
            <a:extLst>
              <a:ext uri="{FF2B5EF4-FFF2-40B4-BE49-F238E27FC236}">
                <a16:creationId xmlns:a16="http://schemas.microsoft.com/office/drawing/2014/main" id="{E498CB78-11B4-AF1C-C455-DE78A86100F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989418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سامانه از پنج واحد T-Wristband استفاده می‌کند. یک حسگر روی پیشانی، دو حسگر روی پشت مچ دست‌ها و دو حسگر بالای قوزک خارجی پاها نصب شدند. هر واحد سه محور شتاب و سه محور سرعت زاویه‌ای را با نرخ حدود ۹۰ تا ۱۰۰ هرتز ثبت و از طریق بلوتوث ارسال می‌کرد. این چیدمان به‌طور هم‌زمان حرکت اصلی و الگوهای جبرانی را پوشش می‌دهد.</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جریان داده از اجرای فعالیت شروع می‌شود. حسگرها داده را ثبت می‌کنند و نرم‌افزار متلب آن را هم‌زمان دریافت و ذخیره می‌کند. سپس در پایتون پیش‌پردازش، استخراج ویژگی، کاهش ابعاد و مقایسه مدل‌ها انجام می‌شود. معماری به‌صورت ماژولار طراحی شد تا هر بخش مستقل قابل توسعه باشد.</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55 ثانیه
این مهم‌ترین نکته تفسیری پروژه است. داده‌ها از بیمار واقعی جمع‌آوری نشدند. یک فرد سالم که با بیماری و معیار امتیازدهی آشنا بود، الگوهای حرکتی را در شرایط کنترل‌شده شبیه‌سازی کرد. بنابراین اعداد گزارش‌شده، توان تفکیک الگوهای شبیه‌سازی‌شده را نشان می‌دهند و نباید به‌عنوان دقت بالینی سامانه بیان شوند.</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داده خام ابتدا از نظر بایاس ژیروسکوپ اصلاح شد و فیلتر باترورث مرتبه چهارم با فرکانس قطع چهار هرتز به‌صورت دوطرفه اعمال شد. سپس از هر یک از شش کانال هر حسگر، ۲۳ ویژگی زمانی و آماری استخراج شد. حاصل پنج حسگر ضربدر شش سیگنال ضربدر ۲۳ ویژگی، یک بردار ۶۹۰ بعدی برای هر نمونه بود.</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65 ثانیه
برای جلوگیری از نشت اطلاعات، تمام تبدیل‌ها داخل یک Pipeline قرار گرفتند. در هر تکرار اعتبارسنجی، استانداردسازی و PCA فقط بر داده آموزش برازش شدند. سه مدل SVM، KNN و جنگل تصادفی مقایسه شدند. ارزیابی اصلی با اعتبارسنجی متقاطع طبقه‌بندی‌شده پنج‌بخشی و پنج تکرار و چند معیار مکمل انجام شد.</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70 ثانیه
ایستادن به‌عنوان فعالیت مرجع برای توسعه روند تحلیل انتخاب شد. با وجود دامنه حرکت کم، ویژگی‌های آماری نوسان بدن و حرکت جبرانی دست‌ها و سر اطلاعات تفکیک‌کننده داشتند. SVM با ۱۳ مؤلفه اصلی به دقت ۹۶ درصد رسید و از KNN و جنگل تصادفی بهتر بود. در ماتریس درهم‌ریختگی، سطح یک دشوارترین کلاس بود.</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60 ثانیه
در هر پنج فعالیت، SVM همراه با PCA مدل منتخب شد، اما تعداد مؤلفه مناسب متفاوت بود و بین ۱۰ تا ۱۵ قرار گرفت. این تفاوت نشان می‌دهد که ماهیت هر فعالیت بر حجم اطلاعات موردنیاز اثر دارد. حد نصاب‌های ۸۰ و ۹۰ درصد صرفاً برای انتخاب داخلی مدل‌ها تعریف شدند و معادل دقت بالینی نیستند.</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60 ثانیه
مقایسه فعالیت‌ها نشان داد که یک مجموعه ویژگی یا تعداد مؤلفه ثابت برای همه حرکات مناسب نیست. در ایستادن، نوسان‌های ظریف مهم‌اند؛ در برخاستن هماهنگی چند اندام؛ در پریدن انرژی و فرود؛ در بالا آوردن سر، حسگر پیشانی؛ و در بالا رفتن از جعبه، انتقال وزن و حسگرهای پا. بنابراین تحلیل فعالیت‌محور منطقی‌تر است.</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50 ثانیه
سه محدودیت اصلی وجود دارد: اول، همه داده‌ها از یک فرد سالم گرفته شده‌اند؛ دوم، تعداد نمونه نسبت به فضای اولیه ویژگی‌ها محدود است؛ و سوم، نتیجه به شرایط نصب و ثبت وابسته است. بنابراین اعتبارسنجی متقاطع فعلی تعمیم به بیمار یا حتی فرد سالم جدید را اثبات نمی‌کند.</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50 ثانیه
مهم‌ترین گام بعدی، جمع‌آوری داده از بیماران با امتیازدهی هم‌زمان متخصص است. پس از آن باید ارزیابی مستقل از آزمودنی انجام شود. در مرحله مدل‌سازی نیز تنظیم ابرپارامترها، ویژگی‌های فرکانسی و مدل‌های زمانی قابل بررسی‌اند. در نهایت باید تعداد حسگرها و نرم‌افزار برای کاربرد بالینی ساده‌تر شوند.</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زمان پیشنهادی: 35 ثانیه
در جمع‌بندی، یک سامانه کامل از ثبت داده تا طبقه‌بندی ساخته شد. کاهش ابعاد نشان داد بخش عمده اطلاعات موردنیاز در فضای بسیار کوچک‌تری از ۶۹۰ ویژگی قرار دارد و سطوح شبیه‌سازی‌شده قابل تفکیک‌اند. با این حال، دستاورد اصلی پروژه یک چارچوب فنی و روش‌مند است و اعتبار بالینی آن باید در مطالعه بعدی بررسی شود.</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13" name="Text 9"/>
          <p:cNvSpPr/>
          <p:nvPr/>
        </p:nvSpPr>
        <p:spPr>
          <a:xfrm>
            <a:off x="4526280" y="1417320"/>
            <a:ext cx="6583680" cy="1847088"/>
          </a:xfrm>
          <a:prstGeom prst="rect">
            <a:avLst/>
          </a:prstGeom>
          <a:noFill/>
          <a:ln/>
        </p:spPr>
        <p:txBody>
          <a:bodyPr wrap="square" lIns="0" tIns="0" rIns="0" bIns="0" rtlCol="0" anchor="ctr">
            <a:normAutofit/>
          </a:bodyPr>
          <a:lstStyle/>
          <a:p>
            <a:pPr marL="0" indent="0" algn="r" rtl="1">
              <a:buNone/>
            </a:pPr>
            <a:r>
              <a:rPr lang="en-US" sz="30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ارزیابی شاخص‌های عملکرد موتوری</a:t>
            </a:r>
            <a:endParaRPr lang="en-US" sz="3000" b="1" dirty="0">
              <a:latin typeface="Sharif 1.2 SemiBold" panose="020B0000040000000000" pitchFamily="34" charset="-78"/>
              <a:ea typeface="Sharif 1.2 SemiBold" panose="020B0000040000000000" pitchFamily="34" charset="-78"/>
              <a:cs typeface="Sharif 1.2 SemiBold" panose="020B0000040000000000" pitchFamily="34" charset="-78"/>
            </a:endParaRPr>
          </a:p>
          <a:p>
            <a:pPr marL="0" indent="0" algn="r" rtl="1">
              <a:buNone/>
            </a:pPr>
            <a:r>
              <a:rPr lang="en-US" sz="30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در بیماران دوشن به کمک</a:t>
            </a:r>
            <a:endParaRPr lang="en-US" sz="3000" b="1" dirty="0">
              <a:latin typeface="Sharif 1.2 SemiBold" panose="020B0000040000000000" pitchFamily="34" charset="-78"/>
              <a:ea typeface="Sharif 1.2 SemiBold" panose="020B0000040000000000" pitchFamily="34" charset="-78"/>
              <a:cs typeface="Sharif 1.2 SemiBold" panose="020B0000040000000000" pitchFamily="34" charset="-78"/>
            </a:endParaRPr>
          </a:p>
          <a:p>
            <a:pPr marL="0" indent="0" algn="r" rtl="1">
              <a:buNone/>
            </a:pPr>
            <a:r>
              <a:rPr lang="en-US" sz="30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حسگرهای اینرسیایی</a:t>
            </a:r>
            <a:endParaRPr lang="en-US" sz="30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4" name="Shape 10"/>
          <p:cNvSpPr/>
          <p:nvPr/>
        </p:nvSpPr>
        <p:spPr>
          <a:xfrm>
            <a:off x="4892040" y="3520440"/>
            <a:ext cx="6108192" cy="0"/>
          </a:xfrm>
          <a:prstGeom prst="line">
            <a:avLst/>
          </a:prstGeom>
          <a:noFill/>
          <a:ln w="38100">
            <a:solidFill>
              <a:srgbClr val="0B6E99"/>
            </a:solidFill>
            <a:prstDash val="solid"/>
          </a:ln>
        </p:spPr>
      </p:sp>
      <p:sp>
        <p:nvSpPr>
          <p:cNvPr id="15" name="Text 11"/>
          <p:cNvSpPr/>
          <p:nvPr/>
        </p:nvSpPr>
        <p:spPr>
          <a:xfrm>
            <a:off x="6126480" y="3794760"/>
            <a:ext cx="4892040" cy="402336"/>
          </a:xfrm>
          <a:prstGeom prst="rect">
            <a:avLst/>
          </a:prstGeom>
          <a:noFill/>
          <a:ln/>
        </p:spPr>
        <p:txBody>
          <a:bodyPr wrap="square" lIns="0" tIns="0" rIns="0" bIns="0" rtlCol="0" anchor="ctr">
            <a:normAutofit/>
          </a:bodyPr>
          <a:lstStyle/>
          <a:p>
            <a:pPr marL="0" indent="0" algn="r" rtl="1">
              <a:buNone/>
            </a:pPr>
            <a:r>
              <a:rPr lang="en-US" sz="1600"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ارائه دفاع کارشناسی مهندسی مکانیک</a:t>
            </a:r>
            <a:endParaRPr lang="en-US" sz="16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6" name="Text 12"/>
          <p:cNvSpPr/>
          <p:nvPr/>
        </p:nvSpPr>
        <p:spPr>
          <a:xfrm>
            <a:off x="7360920" y="4590288"/>
            <a:ext cx="3657600" cy="384048"/>
          </a:xfrm>
          <a:prstGeom prst="rect">
            <a:avLst/>
          </a:prstGeom>
          <a:noFill/>
          <a:ln/>
        </p:spPr>
        <p:txBody>
          <a:bodyPr wrap="square" lIns="0" tIns="0" rIns="0" bIns="0" rtlCol="0" anchor="ctr">
            <a:normAutofit/>
          </a:bodyPr>
          <a:lstStyle/>
          <a:p>
            <a:pPr marL="0" indent="0" algn="r" rtl="1">
              <a:buNone/>
            </a:pPr>
            <a:r>
              <a:rPr lang="en-US" sz="1900" b="1" dirty="0">
                <a:solidFill>
                  <a:srgbClr val="1F2937"/>
                </a:solidFill>
                <a:latin typeface="Sharif 1.2 SemiBold" panose="020B0000040000000000" pitchFamily="34" charset="-78"/>
                <a:ea typeface="Sharif 1.2 SemiBold" panose="020B0000040000000000" pitchFamily="34" charset="-78"/>
                <a:cs typeface="Sharif 1.2 SemiBold" panose="020B0000040000000000" pitchFamily="34" charset="-78"/>
              </a:rPr>
              <a:t>محمد رحمانی‌طلب</a:t>
            </a:r>
            <a:endParaRPr lang="en-US" sz="19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7" name="Text 13"/>
          <p:cNvSpPr/>
          <p:nvPr/>
        </p:nvSpPr>
        <p:spPr>
          <a:xfrm>
            <a:off x="6263640" y="5065776"/>
            <a:ext cx="4754880" cy="329184"/>
          </a:xfrm>
          <a:prstGeom prst="rect">
            <a:avLst/>
          </a:prstGeom>
          <a:noFill/>
          <a:ln/>
        </p:spPr>
        <p:txBody>
          <a:bodyPr wrap="square" lIns="0" tIns="0" rIns="0" bIns="0" rtlCol="0" anchor="ctr">
            <a:normAutofit/>
          </a:bodyPr>
          <a:lstStyle/>
          <a:p>
            <a:pPr marL="0" indent="0" algn="r" rtl="1">
              <a:buNone/>
            </a:pPr>
            <a:r>
              <a:rPr lang="en-US" sz="140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استاد راهنما: دکتر سعید بهزادی‌پور</a:t>
            </a:r>
            <a:endParaRPr lang="en-US" sz="14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8" name="Text 14"/>
          <p:cNvSpPr/>
          <p:nvPr/>
        </p:nvSpPr>
        <p:spPr>
          <a:xfrm>
            <a:off x="6263640" y="5440680"/>
            <a:ext cx="4754880" cy="329184"/>
          </a:xfrm>
          <a:prstGeom prst="rect">
            <a:avLst/>
          </a:prstGeom>
          <a:noFill/>
          <a:ln/>
        </p:spPr>
        <p:txBody>
          <a:bodyPr wrap="square" lIns="0" tIns="0" rIns="0" bIns="0" rtlCol="0" anchor="ctr">
            <a:normAutofit/>
          </a:bodyPr>
          <a:lstStyle/>
          <a:p>
            <a:pPr marL="0" indent="0" algn="r" rtl="1">
              <a:buNone/>
            </a:pPr>
            <a:r>
              <a:rPr lang="en-US" sz="140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استاد مشاور: دکتر مرضیه بابایی</a:t>
            </a:r>
            <a:endParaRPr lang="en-US" sz="14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9" name="Text 15"/>
          <p:cNvSpPr/>
          <p:nvPr/>
        </p:nvSpPr>
        <p:spPr>
          <a:xfrm>
            <a:off x="8869680" y="6053328"/>
            <a:ext cx="2148840" cy="292608"/>
          </a:xfrm>
          <a:prstGeom prst="rect">
            <a:avLst/>
          </a:prstGeom>
          <a:noFill/>
          <a:ln/>
        </p:spPr>
        <p:txBody>
          <a:bodyPr wrap="square" lIns="0" tIns="0" rIns="0" bIns="0" rtlCol="0" anchor="ctr">
            <a:normAutofit/>
          </a:bodyPr>
          <a:lstStyle/>
          <a:p>
            <a:pPr marL="0" indent="0" algn="r" rtl="1">
              <a:buNone/>
            </a:pPr>
            <a:r>
              <a:rPr lang="en-US" sz="125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تیر ۱۴۰۵</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pic>
        <p:nvPicPr>
          <p:cNvPr id="22" name="Picture 21">
            <a:extLst>
              <a:ext uri="{FF2B5EF4-FFF2-40B4-BE49-F238E27FC236}">
                <a16:creationId xmlns:a16="http://schemas.microsoft.com/office/drawing/2014/main" id="{101F42FE-800A-6E4E-F7DB-A26C5E652184}"/>
              </a:ext>
            </a:extLst>
          </p:cNvPr>
          <p:cNvPicPr>
            <a:picLocks noChangeAspect="1"/>
          </p:cNvPicPr>
          <p:nvPr/>
        </p:nvPicPr>
        <p:blipFill>
          <a:blip r:embed="rId3"/>
          <a:stretch>
            <a:fillRect/>
          </a:stretch>
        </p:blipFill>
        <p:spPr>
          <a:xfrm>
            <a:off x="131350" y="539574"/>
            <a:ext cx="3584589" cy="5449667"/>
          </a:xfrm>
          <a:prstGeom prst="rect">
            <a:avLst/>
          </a:prstGeom>
        </p:spPr>
      </p:pic>
      <p:pic>
        <p:nvPicPr>
          <p:cNvPr id="23" name="Picture 22">
            <a:extLst>
              <a:ext uri="{FF2B5EF4-FFF2-40B4-BE49-F238E27FC236}">
                <a16:creationId xmlns:a16="http://schemas.microsoft.com/office/drawing/2014/main" id="{B9C78422-EC14-5C25-C6A6-98A7C38FA24E}"/>
              </a:ext>
            </a:extLst>
          </p:cNvPr>
          <p:cNvPicPr>
            <a:picLocks noChangeAspect="1"/>
          </p:cNvPicPr>
          <p:nvPr/>
        </p:nvPicPr>
        <p:blipFill>
          <a:blip r:embed="rId4"/>
          <a:stretch>
            <a:fillRect/>
          </a:stretch>
        </p:blipFill>
        <p:spPr>
          <a:xfrm>
            <a:off x="10243185" y="259080"/>
            <a:ext cx="1066800" cy="1066800"/>
          </a:xfrm>
          <a:prstGeom prst="rect">
            <a:avLst/>
          </a:prstGeom>
        </p:spPr>
      </p:pic>
      <p:pic>
        <p:nvPicPr>
          <p:cNvPr id="24" name="Picture 23">
            <a:extLst>
              <a:ext uri="{FF2B5EF4-FFF2-40B4-BE49-F238E27FC236}">
                <a16:creationId xmlns:a16="http://schemas.microsoft.com/office/drawing/2014/main" id="{F1823B88-1217-6856-A6FB-8D21E82E5759}"/>
              </a:ext>
            </a:extLst>
          </p:cNvPr>
          <p:cNvPicPr>
            <a:picLocks noChangeAspect="1"/>
          </p:cNvPicPr>
          <p:nvPr/>
        </p:nvPicPr>
        <p:blipFill>
          <a:blip r:embed="rId5"/>
          <a:stretch>
            <a:fillRect/>
          </a:stretch>
        </p:blipFill>
        <p:spPr>
          <a:xfrm>
            <a:off x="3821696" y="-34037"/>
            <a:ext cx="153651" cy="6952721"/>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مسئله پژوهش چیست؟</a:t>
            </a:r>
            <a:endParaRPr lang="en-US" sz="27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grpSp>
        <p:nvGrpSpPr>
          <p:cNvPr id="3" name="Group 2">
            <a:extLst>
              <a:ext uri="{FF2B5EF4-FFF2-40B4-BE49-F238E27FC236}">
                <a16:creationId xmlns:a16="http://schemas.microsoft.com/office/drawing/2014/main" id="{00C40A52-BCAF-54E0-CCDB-1A73032934B1}"/>
              </a:ext>
            </a:extLst>
          </p:cNvPr>
          <p:cNvGrpSpPr/>
          <p:nvPr/>
        </p:nvGrpSpPr>
        <p:grpSpPr>
          <a:xfrm>
            <a:off x="6510528" y="1463040"/>
            <a:ext cx="5029200" cy="3931920"/>
            <a:chOff x="658368" y="1508760"/>
            <a:chExt cx="5029200" cy="3931920"/>
          </a:xfrm>
        </p:grpSpPr>
        <p:sp>
          <p:nvSpPr>
            <p:cNvPr id="7" name="Shape 5"/>
            <p:cNvSpPr/>
            <p:nvPr/>
          </p:nvSpPr>
          <p:spPr>
            <a:xfrm>
              <a:off x="658368" y="1508760"/>
              <a:ext cx="5029200" cy="3931920"/>
            </a:xfrm>
            <a:prstGeom prst="roundRect">
              <a:avLst>
                <a:gd name="adj" fmla="val 1860"/>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8" name="Shape 6"/>
            <p:cNvSpPr/>
            <p:nvPr/>
          </p:nvSpPr>
          <p:spPr>
            <a:xfrm>
              <a:off x="3822192" y="1755648"/>
              <a:ext cx="1572768" cy="347472"/>
            </a:xfrm>
            <a:prstGeom prst="roundRect">
              <a:avLst>
                <a:gd name="adj" fmla="val 47368"/>
              </a:avLst>
            </a:prstGeom>
            <a:solidFill>
              <a:srgbClr val="FDECEA"/>
            </a:solidFill>
            <a:ln w="12700">
              <a:solidFill>
                <a:srgbClr val="FDECEA"/>
              </a:solidFill>
              <a:prstDash val="solid"/>
            </a:ln>
          </p:spPr>
        </p:sp>
        <p:sp>
          <p:nvSpPr>
            <p:cNvPr id="9" name="Text 7"/>
            <p:cNvSpPr/>
            <p:nvPr/>
          </p:nvSpPr>
          <p:spPr>
            <a:xfrm>
              <a:off x="3931920" y="1773936"/>
              <a:ext cx="1353312" cy="310896"/>
            </a:xfrm>
            <a:prstGeom prst="rect">
              <a:avLst/>
            </a:prstGeom>
            <a:noFill/>
            <a:ln/>
          </p:spPr>
          <p:txBody>
            <a:bodyPr wrap="square" lIns="0" tIns="0" rIns="0" bIns="0" rtlCol="0" anchor="ctr">
              <a:normAutofit/>
            </a:bodyPr>
            <a:lstStyle/>
            <a:p>
              <a:pPr marL="0" indent="0" algn="ctr" rtl="1">
                <a:buNone/>
              </a:pPr>
              <a:r>
                <a:rPr lang="en-US" sz="1350" b="1" dirty="0">
                  <a:solidFill>
                    <a:srgbClr val="C0392B"/>
                  </a:solidFill>
                  <a:latin typeface="Sharif 1.2" panose="020B0000040000000000" pitchFamily="34" charset="-78"/>
                  <a:ea typeface="Sharif 1.2" panose="020B0000040000000000" pitchFamily="34" charset="-78"/>
                  <a:cs typeface="Sharif 1.2" panose="020B0000040000000000" pitchFamily="34" charset="-78"/>
                </a:rPr>
                <a:t>چالش بالینی</a:t>
              </a:r>
              <a:endParaRPr lang="en-US" sz="135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10" name="Text 8"/>
            <p:cNvSpPr/>
            <p:nvPr/>
          </p:nvSpPr>
          <p:spPr>
            <a:xfrm>
              <a:off x="987552" y="2304288"/>
              <a:ext cx="4343400" cy="804672"/>
            </a:xfrm>
            <a:prstGeom prst="rect">
              <a:avLst/>
            </a:prstGeom>
            <a:noFill/>
            <a:ln/>
          </p:spPr>
          <p:txBody>
            <a:bodyPr wrap="square" lIns="0" tIns="0" rIns="0" bIns="0" rtlCol="0" anchor="t">
              <a:normAutofit/>
            </a:bodyPr>
            <a:lstStyle/>
            <a:p>
              <a:pPr marL="0" indent="0" algn="r" rtl="1">
                <a:buNone/>
              </a:pPr>
              <a:r>
                <a:rPr lang="en-US" sz="20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دیستروفی عضلانی دوشن با ضعف پیشرونده عضلات و کاهش تدریجی توانایی‌های حرکتی همراه است.</a:t>
              </a:r>
              <a:endParaRPr lang="en-US" sz="20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11" name="Shape 9"/>
            <p:cNvSpPr/>
            <p:nvPr/>
          </p:nvSpPr>
          <p:spPr>
            <a:xfrm>
              <a:off x="5074920" y="3273552"/>
              <a:ext cx="118872" cy="118872"/>
            </a:xfrm>
            <a:prstGeom prst="ellipse">
              <a:avLst/>
            </a:prstGeom>
            <a:solidFill>
              <a:srgbClr val="0B6E99"/>
            </a:solidFill>
            <a:ln w="12700">
              <a:solidFill>
                <a:srgbClr val="0B6E99"/>
              </a:solidFill>
              <a:prstDash val="solid"/>
            </a:ln>
          </p:spPr>
        </p:sp>
        <p:sp>
          <p:nvSpPr>
            <p:cNvPr id="12" name="Text 10"/>
            <p:cNvSpPr>
              <a:spLocks/>
            </p:cNvSpPr>
            <p:nvPr/>
          </p:nvSpPr>
          <p:spPr>
            <a:xfrm>
              <a:off x="1753929" y="3190865"/>
              <a:ext cx="3150303" cy="274320"/>
            </a:xfrm>
            <a:prstGeom prst="rect">
              <a:avLst/>
            </a:prstGeom>
            <a:noFill/>
            <a:ln/>
          </p:spPr>
          <p:txBody>
            <a:bodyPr wrap="square" lIns="0" tIns="0" rIns="0" bIns="0" rtlCol="0" anchor="t">
              <a:normAutofit/>
            </a:bodyPr>
            <a:lstStyle/>
            <a:p>
              <a:pPr marL="0" indent="0" algn="r" rtl="1">
                <a:buNone/>
              </a:pPr>
              <a:r>
                <a:rPr lang="en-US" sz="152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پایش روند بیماری به ارزیابی تکرارپذیر عملکرد حرکتی نیاز دارد.</a:t>
              </a:r>
              <a:endParaRPr lang="en-US" sz="15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3" name="Shape 11"/>
            <p:cNvSpPr/>
            <p:nvPr/>
          </p:nvSpPr>
          <p:spPr>
            <a:xfrm>
              <a:off x="5074920" y="3936492"/>
              <a:ext cx="118872" cy="118872"/>
            </a:xfrm>
            <a:prstGeom prst="ellipse">
              <a:avLst/>
            </a:prstGeom>
            <a:solidFill>
              <a:srgbClr val="0B6E99"/>
            </a:solidFill>
            <a:ln w="12700">
              <a:solidFill>
                <a:srgbClr val="0B6E99"/>
              </a:solidFill>
              <a:prstDash val="solid"/>
            </a:ln>
          </p:spPr>
        </p:sp>
        <p:sp>
          <p:nvSpPr>
            <p:cNvPr id="14" name="Text 12"/>
            <p:cNvSpPr/>
            <p:nvPr/>
          </p:nvSpPr>
          <p:spPr>
            <a:xfrm>
              <a:off x="1024128" y="3849624"/>
              <a:ext cx="3886200" cy="274320"/>
            </a:xfrm>
            <a:prstGeom prst="rect">
              <a:avLst/>
            </a:prstGeom>
            <a:noFill/>
            <a:ln/>
          </p:spPr>
          <p:txBody>
            <a:bodyPr wrap="square" lIns="0" tIns="0" rIns="0" bIns="0" rtlCol="0" anchor="t">
              <a:normAutofit/>
            </a:bodyPr>
            <a:lstStyle/>
            <a:p>
              <a:pPr marL="0" indent="0" algn="r" rtl="1">
                <a:buNone/>
              </a:pPr>
              <a:r>
                <a:rPr lang="en-US" sz="152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امتیازدهی NSAA تا حدی به مشاهده و قضاوت ارزیاب وابسته است.</a:t>
              </a:r>
              <a:endParaRPr lang="en-US" sz="15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5" name="Shape 13"/>
            <p:cNvSpPr/>
            <p:nvPr/>
          </p:nvSpPr>
          <p:spPr>
            <a:xfrm>
              <a:off x="5074920" y="4575986"/>
              <a:ext cx="118872" cy="118872"/>
            </a:xfrm>
            <a:prstGeom prst="ellipse">
              <a:avLst/>
            </a:prstGeom>
            <a:solidFill>
              <a:srgbClr val="2F855A"/>
            </a:solidFill>
            <a:ln w="12700">
              <a:solidFill>
                <a:srgbClr val="2F855A"/>
              </a:solidFill>
              <a:prstDash val="solid"/>
            </a:ln>
          </p:spPr>
        </p:sp>
        <p:sp>
          <p:nvSpPr>
            <p:cNvPr id="16" name="Text 14"/>
            <p:cNvSpPr/>
            <p:nvPr/>
          </p:nvSpPr>
          <p:spPr>
            <a:xfrm>
              <a:off x="1030380" y="4507992"/>
              <a:ext cx="3886200" cy="274320"/>
            </a:xfrm>
            <a:prstGeom prst="rect">
              <a:avLst/>
            </a:prstGeom>
            <a:noFill/>
            <a:ln/>
          </p:spPr>
          <p:txBody>
            <a:bodyPr wrap="square" lIns="0" tIns="0" rIns="0" bIns="0" rtlCol="0" anchor="t">
              <a:normAutofit/>
            </a:bodyPr>
            <a:lstStyle/>
            <a:p>
              <a:pPr marL="0" indent="0" algn="r" rtl="1">
                <a:buNone/>
              </a:pPr>
              <a:r>
                <a:rPr lang="en-US" sz="152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داده‌های IMU امکان ثبت کمی شتاب و سرعت زاویه‌ای را فراهم می‌کنند.</a:t>
              </a:r>
              <a:endParaRPr lang="en-US" sz="152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6" name="Group 5">
            <a:extLst>
              <a:ext uri="{FF2B5EF4-FFF2-40B4-BE49-F238E27FC236}">
                <a16:creationId xmlns:a16="http://schemas.microsoft.com/office/drawing/2014/main" id="{C3B19BCB-1FF8-A7F0-7304-6ED2BD9D83B1}"/>
              </a:ext>
            </a:extLst>
          </p:cNvPr>
          <p:cNvGrpSpPr/>
          <p:nvPr/>
        </p:nvGrpSpPr>
        <p:grpSpPr>
          <a:xfrm>
            <a:off x="713232" y="1472184"/>
            <a:ext cx="5532120" cy="3931920"/>
            <a:chOff x="5989320" y="1508760"/>
            <a:chExt cx="5532120" cy="3931920"/>
          </a:xfrm>
        </p:grpSpPr>
        <p:sp>
          <p:nvSpPr>
            <p:cNvPr id="17" name="Shape 15"/>
            <p:cNvSpPr/>
            <p:nvPr/>
          </p:nvSpPr>
          <p:spPr>
            <a:xfrm>
              <a:off x="5989320" y="1508760"/>
              <a:ext cx="5532120" cy="3931920"/>
            </a:xfrm>
            <a:prstGeom prst="roundRect">
              <a:avLst>
                <a:gd name="adj" fmla="val 1860"/>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sp>
          <p:nvSpPr>
            <p:cNvPr id="18" name="Shape 16"/>
            <p:cNvSpPr/>
            <p:nvPr/>
          </p:nvSpPr>
          <p:spPr>
            <a:xfrm>
              <a:off x="8942832" y="1755648"/>
              <a:ext cx="2240280" cy="347472"/>
            </a:xfrm>
            <a:prstGeom prst="roundRect">
              <a:avLst>
                <a:gd name="adj" fmla="val 47368"/>
              </a:avLst>
            </a:prstGeom>
            <a:solidFill>
              <a:srgbClr val="E7F4F8"/>
            </a:solidFill>
            <a:ln w="12700">
              <a:solidFill>
                <a:srgbClr val="E7F4F8"/>
              </a:solidFill>
              <a:prstDash val="solid"/>
            </a:ln>
          </p:spPr>
        </p:sp>
        <p:sp>
          <p:nvSpPr>
            <p:cNvPr id="19" name="Text 17"/>
            <p:cNvSpPr/>
            <p:nvPr/>
          </p:nvSpPr>
          <p:spPr>
            <a:xfrm>
              <a:off x="9052560" y="1773936"/>
              <a:ext cx="2020824" cy="310896"/>
            </a:xfrm>
            <a:prstGeom prst="rect">
              <a:avLst/>
            </a:prstGeom>
            <a:noFill/>
            <a:ln/>
          </p:spPr>
          <p:txBody>
            <a:bodyPr wrap="square" lIns="0" tIns="0" rIns="0" bIns="0" rtlCol="0" anchor="ctr">
              <a:normAutofit/>
            </a:bodyPr>
            <a:lstStyle/>
            <a:p>
              <a:pPr marL="0" indent="0" algn="ctr" rtl="1">
                <a:buNone/>
              </a:pPr>
              <a:r>
                <a:rPr lang="en-US" sz="1320" b="1" dirty="0">
                  <a:solidFill>
                    <a:srgbClr val="0B6E99"/>
                  </a:solidFill>
                  <a:latin typeface="Sharif 1.2" panose="020B0000040000000000" pitchFamily="34" charset="-78"/>
                  <a:ea typeface="Sharif 1.2" panose="020B0000040000000000" pitchFamily="34" charset="-78"/>
                  <a:cs typeface="Sharif 1.2" panose="020B0000040000000000" pitchFamily="34" charset="-78"/>
                </a:rPr>
                <a:t>مرجع ارزیابی: NSAA</a:t>
              </a:r>
              <a:endParaRPr lang="en-US" sz="13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20" name="Text 18"/>
            <p:cNvSpPr/>
            <p:nvPr/>
          </p:nvSpPr>
          <p:spPr>
            <a:xfrm>
              <a:off x="6446520" y="2267712"/>
              <a:ext cx="4663440" cy="411480"/>
            </a:xfrm>
            <a:prstGeom prst="rect">
              <a:avLst/>
            </a:prstGeom>
            <a:noFill/>
            <a:ln/>
          </p:spPr>
          <p:txBody>
            <a:bodyPr wrap="square" lIns="0" tIns="0" rIns="0" bIns="0" rtlCol="0" anchor="ctr">
              <a:normAutofit/>
            </a:bodyPr>
            <a:lstStyle/>
            <a:p>
              <a:pPr marL="0" indent="0" algn="ctr" rtl="1">
                <a:buNone/>
              </a:pPr>
              <a:r>
                <a:rPr lang="en-US"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هر فعالیت با یک نمره گسسته ارزیابی می‌شود</a:t>
              </a:r>
              <a:endParaRPr lang="en-US"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21" name="Shape 19"/>
            <p:cNvSpPr/>
            <p:nvPr/>
          </p:nvSpPr>
          <p:spPr>
            <a:xfrm>
              <a:off x="6492240" y="2816352"/>
              <a:ext cx="4498848" cy="658368"/>
            </a:xfrm>
            <a:prstGeom prst="roundRect">
              <a:avLst>
                <a:gd name="adj" fmla="val 11111"/>
              </a:avLst>
            </a:prstGeom>
            <a:solidFill>
              <a:srgbClr val="E8F5EE"/>
            </a:solidFill>
            <a:ln w="15240">
              <a:solidFill>
                <a:srgbClr val="2F855A"/>
              </a:solidFill>
              <a:prstDash val="solid"/>
            </a:ln>
          </p:spPr>
        </p:sp>
        <p:sp>
          <p:nvSpPr>
            <p:cNvPr id="22" name="Shape 20"/>
            <p:cNvSpPr/>
            <p:nvPr/>
          </p:nvSpPr>
          <p:spPr>
            <a:xfrm>
              <a:off x="10314432" y="2907792"/>
              <a:ext cx="457200" cy="457200"/>
            </a:xfrm>
            <a:prstGeom prst="ellipse">
              <a:avLst/>
            </a:prstGeom>
            <a:solidFill>
              <a:srgbClr val="2F855A"/>
            </a:solidFill>
            <a:ln w="12700">
              <a:solidFill>
                <a:srgbClr val="2F855A"/>
              </a:solidFill>
              <a:prstDash val="solid"/>
            </a:ln>
          </p:spPr>
        </p:sp>
        <p:sp>
          <p:nvSpPr>
            <p:cNvPr id="23" name="Text 21"/>
            <p:cNvSpPr/>
            <p:nvPr/>
          </p:nvSpPr>
          <p:spPr>
            <a:xfrm>
              <a:off x="10314432" y="2907792"/>
              <a:ext cx="457200" cy="402336"/>
            </a:xfrm>
            <a:prstGeom prst="rect">
              <a:avLst/>
            </a:prstGeom>
            <a:noFill/>
            <a:ln/>
          </p:spPr>
          <p:txBody>
            <a:bodyPr wrap="square" lIns="0" tIns="0" rIns="0" bIns="0" rtlCol="0" anchor="ctr">
              <a:normAutofit/>
            </a:bodyPr>
            <a:lstStyle/>
            <a:p>
              <a:pPr marL="0" indent="0" algn="ctr" rtl="1">
                <a:buNone/>
              </a:pPr>
              <a:r>
                <a:rPr lang="en-US" sz="19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۲</a:t>
              </a:r>
              <a:endParaRPr lang="en-US" sz="19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4" name="Text 22"/>
            <p:cNvSpPr/>
            <p:nvPr/>
          </p:nvSpPr>
          <p:spPr>
            <a:xfrm>
              <a:off x="7374636" y="3017520"/>
              <a:ext cx="2761488" cy="256032"/>
            </a:xfrm>
            <a:prstGeom prst="rect">
              <a:avLst/>
            </a:prstGeom>
            <a:noFill/>
            <a:ln/>
          </p:spPr>
          <p:txBody>
            <a:bodyPr wrap="square" lIns="0" tIns="0" rIns="0" bIns="0" rtlCol="0" anchor="ctr">
              <a:normAutofit/>
            </a:bodyPr>
            <a:lstStyle/>
            <a:p>
              <a:pPr marL="0" indent="0" algn="r" rtl="1">
                <a:buNone/>
              </a:pPr>
              <a:r>
                <a:rPr lang="en-US" sz="1420" b="1" dirty="0">
                  <a:solidFill>
                    <a:srgbClr val="1F2937"/>
                  </a:solidFill>
                  <a:latin typeface="Sharif 1.2" panose="020B0000040000000000" pitchFamily="34" charset="-78"/>
                  <a:ea typeface="Sharif 1.2" panose="020B0000040000000000" pitchFamily="34" charset="-78"/>
                  <a:cs typeface="Sharif 1.2" panose="020B0000040000000000" pitchFamily="34" charset="-78"/>
                </a:rPr>
                <a:t>اجرای طبیعی و مستقل</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26" name="Shape 24"/>
            <p:cNvSpPr/>
            <p:nvPr/>
          </p:nvSpPr>
          <p:spPr>
            <a:xfrm>
              <a:off x="6492240" y="3657600"/>
              <a:ext cx="4498848" cy="658368"/>
            </a:xfrm>
            <a:prstGeom prst="roundRect">
              <a:avLst>
                <a:gd name="adj" fmla="val 11111"/>
              </a:avLst>
            </a:prstGeom>
            <a:solidFill>
              <a:srgbClr val="FFF5D8"/>
            </a:solidFill>
            <a:ln w="15240">
              <a:solidFill>
                <a:srgbClr val="E69F00"/>
              </a:solidFill>
              <a:prstDash val="solid"/>
            </a:ln>
          </p:spPr>
        </p:sp>
        <p:sp>
          <p:nvSpPr>
            <p:cNvPr id="27" name="Shape 25"/>
            <p:cNvSpPr/>
            <p:nvPr/>
          </p:nvSpPr>
          <p:spPr>
            <a:xfrm>
              <a:off x="10314432" y="3749040"/>
              <a:ext cx="457200" cy="457200"/>
            </a:xfrm>
            <a:prstGeom prst="ellipse">
              <a:avLst/>
            </a:prstGeom>
            <a:solidFill>
              <a:srgbClr val="E69F00"/>
            </a:solidFill>
            <a:ln w="12700">
              <a:solidFill>
                <a:srgbClr val="E69F00"/>
              </a:solidFill>
              <a:prstDash val="solid"/>
            </a:ln>
          </p:spPr>
        </p:sp>
        <p:sp>
          <p:nvSpPr>
            <p:cNvPr id="28" name="Text 26"/>
            <p:cNvSpPr/>
            <p:nvPr/>
          </p:nvSpPr>
          <p:spPr>
            <a:xfrm>
              <a:off x="10314432" y="3749040"/>
              <a:ext cx="457200" cy="402336"/>
            </a:xfrm>
            <a:prstGeom prst="rect">
              <a:avLst/>
            </a:prstGeom>
            <a:noFill/>
            <a:ln/>
          </p:spPr>
          <p:txBody>
            <a:bodyPr wrap="square" lIns="0" tIns="0" rIns="0" bIns="0" rtlCol="0" anchor="ctr">
              <a:normAutofit/>
            </a:bodyPr>
            <a:lstStyle/>
            <a:p>
              <a:pPr marL="0" indent="0" algn="ctr" rtl="1">
                <a:buNone/>
              </a:pPr>
              <a:r>
                <a:rPr lang="en-US" sz="19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19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9" name="Text 27"/>
            <p:cNvSpPr/>
            <p:nvPr/>
          </p:nvSpPr>
          <p:spPr>
            <a:xfrm>
              <a:off x="7370064" y="3862026"/>
              <a:ext cx="2761488" cy="256032"/>
            </a:xfrm>
            <a:prstGeom prst="rect">
              <a:avLst/>
            </a:prstGeom>
            <a:noFill/>
            <a:ln/>
          </p:spPr>
          <p:txBody>
            <a:bodyPr wrap="square" lIns="0" tIns="0" rIns="0" bIns="0" rtlCol="0" anchor="ctr">
              <a:normAutofit/>
            </a:bodyPr>
            <a:lstStyle/>
            <a:p>
              <a:pPr marL="0" indent="0" algn="r" rtl="1">
                <a:buNone/>
              </a:pPr>
              <a:r>
                <a:rPr lang="en-US" sz="1420" b="1" dirty="0">
                  <a:solidFill>
                    <a:srgbClr val="1F2937"/>
                  </a:solidFill>
                  <a:latin typeface="Sharif 1.2" panose="020B0000040000000000" pitchFamily="34" charset="-78"/>
                  <a:ea typeface="Sharif 1.2" panose="020B0000040000000000" pitchFamily="34" charset="-78"/>
                  <a:cs typeface="Sharif 1.2" panose="020B0000040000000000" pitchFamily="34" charset="-78"/>
                </a:rPr>
                <a:t>اجرای مستقل </a:t>
              </a:r>
              <a:r>
                <a:rPr lang="en-US" sz="1420" b="1" dirty="0" err="1">
                  <a:solidFill>
                    <a:srgbClr val="1F2937"/>
                  </a:solidFill>
                  <a:latin typeface="Sharif 1.2 Medium" panose="020B0000040000000000" pitchFamily="34" charset="-78"/>
                  <a:ea typeface="Sharif 1.2 Medium" panose="020B0000040000000000" pitchFamily="34" charset="-78"/>
                  <a:cs typeface="Sharif 1.2 Medium" panose="020B0000040000000000" pitchFamily="34" charset="-78"/>
                </a:rPr>
                <a:t>با</a:t>
              </a:r>
              <a:r>
                <a:rPr lang="en-US" sz="1420" b="1" dirty="0">
                  <a:solidFill>
                    <a:srgbClr val="1F2937"/>
                  </a:solidFill>
                  <a:latin typeface="Sharif 1.2 Medium" panose="020B0000040000000000" pitchFamily="34" charset="-78"/>
                  <a:ea typeface="Sharif 1.2 Medium" panose="020B0000040000000000" pitchFamily="34" charset="-78"/>
                  <a:cs typeface="Sharif 1.2 Medium" panose="020B0000040000000000" pitchFamily="34" charset="-78"/>
                </a:rPr>
                <a:t> </a:t>
              </a:r>
              <a:r>
                <a:rPr lang="fa-IR" sz="1420" b="1" dirty="0">
                  <a:solidFill>
                    <a:srgbClr val="1F2937"/>
                  </a:solidFill>
                  <a:latin typeface="Sharif 1.2 Medium" panose="020B0000040000000000" pitchFamily="34" charset="-78"/>
                  <a:ea typeface="Sharif 1.2 Medium" panose="020B0000040000000000" pitchFamily="34" charset="-78"/>
                  <a:cs typeface="Sharif 1.2 Medium" panose="020B0000040000000000" pitchFamily="34" charset="-78"/>
                </a:rPr>
                <a:t>حرکات</a:t>
              </a:r>
              <a:r>
                <a:rPr lang="fa-IR" sz="1420" b="1" dirty="0">
                  <a:solidFill>
                    <a:srgbClr val="1F2937"/>
                  </a:solidFill>
                  <a:latin typeface="Sharif 1.2 SemiBold" panose="020B0000040000000000" pitchFamily="34" charset="-78"/>
                  <a:ea typeface="Sharif 1.2 SemiBold" panose="020B0000040000000000" pitchFamily="34" charset="-78"/>
                  <a:cs typeface="Sharif 1.2 SemiBold" panose="020B0000040000000000" pitchFamily="34" charset="-78"/>
                </a:rPr>
                <a:t> </a:t>
              </a:r>
              <a:r>
                <a:rPr lang="en-US" sz="1420" b="1" dirty="0" err="1">
                  <a:solidFill>
                    <a:srgbClr val="1F2937"/>
                  </a:solidFill>
                  <a:latin typeface="Sharif 1.2" panose="020B0000040000000000" pitchFamily="34" charset="-78"/>
                  <a:ea typeface="Sharif 1.2" panose="020B0000040000000000" pitchFamily="34" charset="-78"/>
                  <a:cs typeface="Sharif 1.2" panose="020B0000040000000000" pitchFamily="34" charset="-78"/>
                </a:rPr>
                <a:t>جبران</a:t>
              </a:r>
              <a:r>
                <a:rPr lang="fa-IR" sz="1420" b="1" dirty="0" err="1">
                  <a:solidFill>
                    <a:srgbClr val="1F2937"/>
                  </a:solidFill>
                  <a:latin typeface="Sharif 1.2" panose="020B0000040000000000" pitchFamily="34" charset="-78"/>
                  <a:ea typeface="Sharif 1.2" panose="020B0000040000000000" pitchFamily="34" charset="-78"/>
                  <a:cs typeface="Sharif 1.2" panose="020B0000040000000000" pitchFamily="34" charset="-78"/>
                </a:rPr>
                <a:t>ی</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31" name="Shape 29"/>
            <p:cNvSpPr/>
            <p:nvPr/>
          </p:nvSpPr>
          <p:spPr>
            <a:xfrm>
              <a:off x="6492240" y="4498848"/>
              <a:ext cx="4498848" cy="658368"/>
            </a:xfrm>
            <a:prstGeom prst="roundRect">
              <a:avLst>
                <a:gd name="adj" fmla="val 11111"/>
              </a:avLst>
            </a:prstGeom>
            <a:solidFill>
              <a:srgbClr val="FDECEA"/>
            </a:solidFill>
            <a:ln w="15240">
              <a:solidFill>
                <a:srgbClr val="C0392B"/>
              </a:solidFill>
              <a:prstDash val="solid"/>
            </a:ln>
          </p:spPr>
        </p:sp>
        <p:sp>
          <p:nvSpPr>
            <p:cNvPr id="32" name="Shape 30"/>
            <p:cNvSpPr/>
            <p:nvPr/>
          </p:nvSpPr>
          <p:spPr>
            <a:xfrm>
              <a:off x="10314432" y="4590288"/>
              <a:ext cx="457200" cy="457200"/>
            </a:xfrm>
            <a:prstGeom prst="ellipse">
              <a:avLst/>
            </a:prstGeom>
            <a:solidFill>
              <a:srgbClr val="C0392B"/>
            </a:solidFill>
            <a:ln w="12700">
              <a:solidFill>
                <a:srgbClr val="C0392B"/>
              </a:solidFill>
              <a:prstDash val="solid"/>
            </a:ln>
          </p:spPr>
        </p:sp>
        <p:sp>
          <p:nvSpPr>
            <p:cNvPr id="33" name="Text 31"/>
            <p:cNvSpPr/>
            <p:nvPr/>
          </p:nvSpPr>
          <p:spPr>
            <a:xfrm>
              <a:off x="10314432" y="4590288"/>
              <a:ext cx="457200" cy="402336"/>
            </a:xfrm>
            <a:prstGeom prst="rect">
              <a:avLst/>
            </a:prstGeom>
            <a:noFill/>
            <a:ln/>
          </p:spPr>
          <p:txBody>
            <a:bodyPr wrap="square" lIns="0" tIns="0" rIns="0" bIns="0" rtlCol="0" anchor="ctr">
              <a:normAutofit/>
            </a:bodyPr>
            <a:lstStyle/>
            <a:p>
              <a:pPr marL="0" indent="0" algn="ctr" rtl="1">
                <a:buNone/>
              </a:pPr>
              <a:r>
                <a:rPr lang="en-US" sz="19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۰</a:t>
              </a:r>
              <a:endParaRPr lang="en-US" sz="19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4" name="Text 32"/>
            <p:cNvSpPr/>
            <p:nvPr/>
          </p:nvSpPr>
          <p:spPr>
            <a:xfrm>
              <a:off x="7374636" y="4700016"/>
              <a:ext cx="2761488" cy="256032"/>
            </a:xfrm>
            <a:prstGeom prst="rect">
              <a:avLst/>
            </a:prstGeom>
            <a:noFill/>
            <a:ln/>
          </p:spPr>
          <p:txBody>
            <a:bodyPr wrap="square" lIns="0" tIns="0" rIns="0" bIns="0" rtlCol="0" anchor="ctr">
              <a:normAutofit/>
            </a:bodyPr>
            <a:lstStyle/>
            <a:p>
              <a:pPr marL="0" indent="0" algn="r" rtl="1">
                <a:buNone/>
              </a:pPr>
              <a:r>
                <a:rPr lang="en-US" sz="1420" b="1" dirty="0">
                  <a:solidFill>
                    <a:srgbClr val="1F2937"/>
                  </a:solidFill>
                  <a:latin typeface="Sharif 1.2" panose="020B0000040000000000" pitchFamily="34" charset="-78"/>
                  <a:ea typeface="Sharif 1.2" panose="020B0000040000000000" pitchFamily="34" charset="-78"/>
                  <a:cs typeface="Sharif 1.2" panose="020B0000040000000000" pitchFamily="34" charset="-78"/>
                </a:rPr>
                <a:t>ناتوانی در اجرای مستقل</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grpSp>
      <p:grpSp>
        <p:nvGrpSpPr>
          <p:cNvPr id="25" name="Group 24">
            <a:extLst>
              <a:ext uri="{FF2B5EF4-FFF2-40B4-BE49-F238E27FC236}">
                <a16:creationId xmlns:a16="http://schemas.microsoft.com/office/drawing/2014/main" id="{3C1E19BB-5FA1-7284-08C7-5BC547D47FA4}"/>
              </a:ext>
            </a:extLst>
          </p:cNvPr>
          <p:cNvGrpSpPr/>
          <p:nvPr/>
        </p:nvGrpSpPr>
        <p:grpSpPr>
          <a:xfrm>
            <a:off x="1874520" y="5577840"/>
            <a:ext cx="8458200" cy="530352"/>
            <a:chOff x="1874520" y="5577840"/>
            <a:chExt cx="8458200" cy="530352"/>
          </a:xfrm>
        </p:grpSpPr>
        <p:sp>
          <p:nvSpPr>
            <p:cNvPr id="36" name="Shape 34"/>
            <p:cNvSpPr/>
            <p:nvPr/>
          </p:nvSpPr>
          <p:spPr>
            <a:xfrm>
              <a:off x="1874520" y="5577840"/>
              <a:ext cx="8458200" cy="530352"/>
            </a:xfrm>
            <a:prstGeom prst="roundRect">
              <a:avLst>
                <a:gd name="adj" fmla="val 20690"/>
              </a:avLst>
            </a:prstGeom>
            <a:solidFill>
              <a:srgbClr val="102A43"/>
            </a:solidFill>
            <a:ln w="12700">
              <a:solidFill>
                <a:srgbClr val="102A43"/>
              </a:solidFill>
              <a:prstDash val="solid"/>
            </a:ln>
          </p:spPr>
        </p:sp>
        <p:sp>
          <p:nvSpPr>
            <p:cNvPr id="37" name="Text 35"/>
            <p:cNvSpPr/>
            <p:nvPr/>
          </p:nvSpPr>
          <p:spPr>
            <a:xfrm>
              <a:off x="2103120" y="5650992"/>
              <a:ext cx="8001000" cy="329184"/>
            </a:xfrm>
            <a:prstGeom prst="rect">
              <a:avLst/>
            </a:prstGeom>
            <a:noFill/>
            <a:ln/>
          </p:spPr>
          <p:txBody>
            <a:bodyPr wrap="square" lIns="0" tIns="0" rIns="0" bIns="0" rtlCol="0" anchor="ctr">
              <a:normAutofit/>
            </a:bodyPr>
            <a:lstStyle/>
            <a:p>
              <a:pPr marL="0" indent="0" algn="ctr" rtl="1">
                <a:buNone/>
              </a:pPr>
              <a:r>
                <a:rPr lang="en-US" sz="1720" b="1" dirty="0">
                  <a:solidFill>
                    <a:srgbClr val="FFFFFF"/>
                  </a:solidFill>
                  <a:latin typeface="Sharif 1.2" panose="020B0000040000000000" pitchFamily="34" charset="-78"/>
                  <a:ea typeface="Sharif 1.2" panose="020B0000040000000000" pitchFamily="34" charset="-78"/>
                  <a:cs typeface="Sharif 1.2" panose="020B0000040000000000" pitchFamily="34" charset="-78"/>
                </a:rPr>
                <a:t>پرسش اصلی: آیا می‌توان سطوح عملکردی تعریف‌شده را از داده‌های حسگرهای اینرسیایی تفکیک کرد؟</a:t>
              </a:r>
              <a:endParaRPr lang="en-US" sz="1720" b="1" dirty="0">
                <a:latin typeface="Sharif 1.2" panose="020B0000040000000000" pitchFamily="34" charset="-78"/>
                <a:ea typeface="Sharif 1.2" panose="020B0000040000000000" pitchFamily="34" charset="-78"/>
                <a:cs typeface="Sharif 1.2" panose="020B0000040000000000" pitchFamily="34" charset="-78"/>
              </a:endParaRPr>
            </a:p>
          </p:txBody>
        </p:sp>
      </p:grpSp>
      <p:sp>
        <p:nvSpPr>
          <p:cNvPr id="38" name="Shape 36"/>
          <p:cNvSpPr/>
          <p:nvPr/>
        </p:nvSpPr>
        <p:spPr>
          <a:xfrm>
            <a:off x="658368" y="6473952"/>
            <a:ext cx="10881360" cy="0"/>
          </a:xfrm>
          <a:prstGeom prst="line">
            <a:avLst/>
          </a:prstGeom>
          <a:noFill/>
          <a:ln w="10160">
            <a:solidFill>
              <a:srgbClr val="E9EEF2"/>
            </a:solidFill>
            <a:prstDash val="solid"/>
          </a:ln>
        </p:spPr>
      </p:sp>
      <p:sp>
        <p:nvSpPr>
          <p:cNvPr id="39" name="Text 37"/>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0" name="Text 38"/>
          <p:cNvSpPr/>
          <p:nvPr/>
        </p:nvSpPr>
        <p:spPr>
          <a:xfrm>
            <a:off x="3451860"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مقدمه</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تعریف مسئله | ۱۲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1" name="Text 39"/>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۲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2" name="Shape 40"/>
          <p:cNvSpPr/>
          <p:nvPr/>
        </p:nvSpPr>
        <p:spPr>
          <a:xfrm>
            <a:off x="2560320" y="6766560"/>
            <a:ext cx="940526" cy="41148"/>
          </a:xfrm>
          <a:prstGeom prst="rect">
            <a:avLst/>
          </a:prstGeom>
          <a:solidFill>
            <a:srgbClr val="0B6E99"/>
          </a:solidFill>
          <a:ln w="12700">
            <a:solidFill>
              <a:srgbClr val="0B6E99"/>
            </a:solidFill>
            <a:prstDash val="solid"/>
          </a:ln>
        </p:spPr>
      </p:sp>
      <p:sp>
        <p:nvSpPr>
          <p:cNvPr id="43" name="Shape 41"/>
          <p:cNvSpPr/>
          <p:nvPr/>
        </p:nvSpPr>
        <p:spPr>
          <a:xfrm>
            <a:off x="3500846" y="6766560"/>
            <a:ext cx="5643154" cy="41148"/>
          </a:xfrm>
          <a:prstGeom prst="rect">
            <a:avLst/>
          </a:prstGeom>
          <a:solidFill>
            <a:srgbClr val="E6EDF2"/>
          </a:solidFill>
          <a:ln w="12700">
            <a:solidFill>
              <a:srgbClr val="E6EDF2"/>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righ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righ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down)">
                                      <p:cBhvr>
                                        <p:cTn id="1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rgbClr val="F7FAFC"/>
        </a:solidFill>
        <a:effectLst/>
      </p:bgPr>
    </p:bg>
    <p:spTree>
      <p:nvGrpSpPr>
        <p:cNvPr id="1" name="">
          <a:extLst>
            <a:ext uri="{FF2B5EF4-FFF2-40B4-BE49-F238E27FC236}">
              <a16:creationId xmlns:a16="http://schemas.microsoft.com/office/drawing/2014/main" id="{3FBAECD1-4475-8665-5352-B18AF659EC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BC8CB6C-A1F5-39AD-BD86-F8BD1BFD76DD}"/>
              </a:ext>
            </a:extLst>
          </p:cNvPr>
          <p:cNvSpPr/>
          <p:nvPr/>
        </p:nvSpPr>
        <p:spPr>
          <a:xfrm>
            <a:off x="0" y="0"/>
            <a:ext cx="12191695" cy="128016"/>
          </a:xfrm>
          <a:prstGeom prst="rect">
            <a:avLst/>
          </a:prstGeom>
          <a:solidFill>
            <a:srgbClr val="0B6E99"/>
          </a:solidFill>
          <a:ln w="12700">
            <a:solidFill>
              <a:srgbClr val="0B6E99"/>
            </a:solidFill>
            <a:prstDash val="solid"/>
          </a:ln>
        </p:spPr>
      </p:sp>
      <p:sp>
        <p:nvSpPr>
          <p:cNvPr id="4" name="Text 2">
            <a:extLst>
              <a:ext uri="{FF2B5EF4-FFF2-40B4-BE49-F238E27FC236}">
                <a16:creationId xmlns:a16="http://schemas.microsoft.com/office/drawing/2014/main" id="{C3D7AFB8-CF53-FFEC-6C6D-A3B6DB5DB58F}"/>
              </a:ext>
            </a:extLst>
          </p:cNvPr>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دامنه و دستاوردهای پروژه</a:t>
            </a:r>
            <a:endParaRPr lang="en-US" sz="2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5" name="Shape 3">
            <a:extLst>
              <a:ext uri="{FF2B5EF4-FFF2-40B4-BE49-F238E27FC236}">
                <a16:creationId xmlns:a16="http://schemas.microsoft.com/office/drawing/2014/main" id="{56D33C02-A9F9-0B5F-2D90-D2E841E244BA}"/>
              </a:ext>
            </a:extLst>
          </p:cNvPr>
          <p:cNvSpPr/>
          <p:nvPr/>
        </p:nvSpPr>
        <p:spPr>
          <a:xfrm>
            <a:off x="658368" y="1207008"/>
            <a:ext cx="10881360" cy="0"/>
          </a:xfrm>
          <a:prstGeom prst="line">
            <a:avLst/>
          </a:prstGeom>
          <a:noFill/>
          <a:ln w="15240">
            <a:solidFill>
              <a:srgbClr val="D9E2EC"/>
            </a:solidFill>
            <a:prstDash val="solid"/>
          </a:ln>
        </p:spPr>
      </p:sp>
      <p:sp>
        <p:nvSpPr>
          <p:cNvPr id="7" name="Text 5">
            <a:extLst>
              <a:ext uri="{FF2B5EF4-FFF2-40B4-BE49-F238E27FC236}">
                <a16:creationId xmlns:a16="http://schemas.microsoft.com/office/drawing/2014/main" id="{9DE14035-5B77-B428-68A0-6E72E2477108}"/>
              </a:ext>
            </a:extLst>
          </p:cNvPr>
          <p:cNvSpPr/>
          <p:nvPr/>
        </p:nvSpPr>
        <p:spPr>
          <a:xfrm>
            <a:off x="3794760" y="1481328"/>
            <a:ext cx="7360920" cy="457200"/>
          </a:xfrm>
          <a:prstGeom prst="rect">
            <a:avLst/>
          </a:prstGeom>
          <a:noFill/>
          <a:ln/>
        </p:spPr>
        <p:txBody>
          <a:bodyPr wrap="square" lIns="0" tIns="0" rIns="0" bIns="0" rtlCol="0" anchor="ctr">
            <a:normAutofit/>
          </a:bodyPr>
          <a:lstStyle/>
          <a:p>
            <a:pPr marL="0" indent="0" algn="r" rtl="1">
              <a:buNone/>
            </a:pPr>
            <a:r>
              <a:rPr lang="en-US" sz="19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از ۱۷ فعالیت NSAA، پنج فعالیت با ماهیت حرکتی متفاوت انتخاب شد</a:t>
            </a:r>
            <a:endParaRPr lang="en-US" sz="19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46" name="Shape 44">
            <a:extLst>
              <a:ext uri="{FF2B5EF4-FFF2-40B4-BE49-F238E27FC236}">
                <a16:creationId xmlns:a16="http://schemas.microsoft.com/office/drawing/2014/main" id="{DCD78F8D-F4D9-A767-DACB-8D078991F6E9}"/>
              </a:ext>
            </a:extLst>
          </p:cNvPr>
          <p:cNvSpPr/>
          <p:nvPr/>
        </p:nvSpPr>
        <p:spPr>
          <a:xfrm>
            <a:off x="658368" y="6473952"/>
            <a:ext cx="10881360" cy="0"/>
          </a:xfrm>
          <a:prstGeom prst="line">
            <a:avLst/>
          </a:prstGeom>
          <a:noFill/>
          <a:ln w="10160">
            <a:solidFill>
              <a:srgbClr val="E9EEF2"/>
            </a:solidFill>
            <a:prstDash val="solid"/>
          </a:ln>
        </p:spPr>
      </p:sp>
      <p:sp>
        <p:nvSpPr>
          <p:cNvPr id="47" name="Text 45">
            <a:extLst>
              <a:ext uri="{FF2B5EF4-FFF2-40B4-BE49-F238E27FC236}">
                <a16:creationId xmlns:a16="http://schemas.microsoft.com/office/drawing/2014/main" id="{8B38F62F-281E-1D28-2DB8-89F64A7BB033}"/>
              </a:ext>
            </a:extLst>
          </p:cNvPr>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8" name="Text 46">
            <a:extLst>
              <a:ext uri="{FF2B5EF4-FFF2-40B4-BE49-F238E27FC236}">
                <a16:creationId xmlns:a16="http://schemas.microsoft.com/office/drawing/2014/main" id="{872FA9B8-E103-7FE1-66A5-DC0AD0193481}"/>
              </a:ext>
            </a:extLst>
          </p:cNvPr>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مقدمه</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تعریف مسئله | ۱۱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9" name="Text 47">
            <a:extLst>
              <a:ext uri="{FF2B5EF4-FFF2-40B4-BE49-F238E27FC236}">
                <a16:creationId xmlns:a16="http://schemas.microsoft.com/office/drawing/2014/main" id="{8FEA9B13-308A-60D0-E9CE-7A0B17C9E3B4}"/>
              </a:ext>
            </a:extLst>
          </p:cNvPr>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۳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0" name="Shape 48">
            <a:extLst>
              <a:ext uri="{FF2B5EF4-FFF2-40B4-BE49-F238E27FC236}">
                <a16:creationId xmlns:a16="http://schemas.microsoft.com/office/drawing/2014/main" id="{184CD0E2-28CE-98F0-8A89-B91117070A6E}"/>
              </a:ext>
            </a:extLst>
          </p:cNvPr>
          <p:cNvSpPr/>
          <p:nvPr/>
        </p:nvSpPr>
        <p:spPr>
          <a:xfrm>
            <a:off x="2560320" y="6766560"/>
            <a:ext cx="1410789" cy="41148"/>
          </a:xfrm>
          <a:prstGeom prst="rect">
            <a:avLst/>
          </a:prstGeom>
          <a:solidFill>
            <a:srgbClr val="0B6E99"/>
          </a:solidFill>
          <a:ln w="12700">
            <a:solidFill>
              <a:srgbClr val="0B6E99"/>
            </a:solidFill>
            <a:prstDash val="solid"/>
          </a:ln>
        </p:spPr>
      </p:sp>
      <p:sp>
        <p:nvSpPr>
          <p:cNvPr id="51" name="Shape 49">
            <a:extLst>
              <a:ext uri="{FF2B5EF4-FFF2-40B4-BE49-F238E27FC236}">
                <a16:creationId xmlns:a16="http://schemas.microsoft.com/office/drawing/2014/main" id="{323ED1A6-1086-1EAA-8E14-303F0A40BCC0}"/>
              </a:ext>
            </a:extLst>
          </p:cNvPr>
          <p:cNvSpPr/>
          <p:nvPr/>
        </p:nvSpPr>
        <p:spPr>
          <a:xfrm>
            <a:off x="3971109" y="6766560"/>
            <a:ext cx="5172891" cy="41148"/>
          </a:xfrm>
          <a:prstGeom prst="rect">
            <a:avLst/>
          </a:prstGeom>
          <a:solidFill>
            <a:srgbClr val="E6EDF2"/>
          </a:solidFill>
          <a:ln w="12700">
            <a:solidFill>
              <a:srgbClr val="E6EDF2"/>
            </a:solidFill>
            <a:prstDash val="solid"/>
          </a:ln>
        </p:spPr>
      </p:sp>
      <p:grpSp>
        <p:nvGrpSpPr>
          <p:cNvPr id="69" name="Group 68">
            <a:extLst>
              <a:ext uri="{FF2B5EF4-FFF2-40B4-BE49-F238E27FC236}">
                <a16:creationId xmlns:a16="http://schemas.microsoft.com/office/drawing/2014/main" id="{54ABA6CB-1261-4275-D98E-8A1EEF75CB49}"/>
              </a:ext>
            </a:extLst>
          </p:cNvPr>
          <p:cNvGrpSpPr/>
          <p:nvPr/>
        </p:nvGrpSpPr>
        <p:grpSpPr>
          <a:xfrm>
            <a:off x="3246120" y="2962789"/>
            <a:ext cx="2029968" cy="1039101"/>
            <a:chOff x="713232" y="2971800"/>
            <a:chExt cx="2029968" cy="731520"/>
          </a:xfrm>
        </p:grpSpPr>
        <p:sp>
          <p:nvSpPr>
            <p:cNvPr id="70" name="Shape 6">
              <a:extLst>
                <a:ext uri="{FF2B5EF4-FFF2-40B4-BE49-F238E27FC236}">
                  <a16:creationId xmlns:a16="http://schemas.microsoft.com/office/drawing/2014/main" id="{5D08A0BB-467D-FBB0-FD93-E17F997763DD}"/>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endParaRPr lang="en-US" dirty="0"/>
            </a:p>
          </p:txBody>
        </p:sp>
        <p:sp>
          <p:nvSpPr>
            <p:cNvPr id="71" name="Text 8">
              <a:extLst>
                <a:ext uri="{FF2B5EF4-FFF2-40B4-BE49-F238E27FC236}">
                  <a16:creationId xmlns:a16="http://schemas.microsoft.com/office/drawing/2014/main" id="{AB9743C6-A89D-1390-1296-6EC818144615}"/>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72" name="Text 9">
              <a:extLst>
                <a:ext uri="{FF2B5EF4-FFF2-40B4-BE49-F238E27FC236}">
                  <a16:creationId xmlns:a16="http://schemas.microsoft.com/office/drawing/2014/main" id="{50BEECC2-DF38-3011-DA61-B515C7B31E2F}"/>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en-US" sz="1700" b="1" dirty="0" err="1">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ایستادن</a:t>
              </a:r>
              <a:r>
                <a:rPr lang="fa-IR"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 روی پای راست</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grpSp>
      <p:grpSp>
        <p:nvGrpSpPr>
          <p:cNvPr id="73" name="Group 72">
            <a:extLst>
              <a:ext uri="{FF2B5EF4-FFF2-40B4-BE49-F238E27FC236}">
                <a16:creationId xmlns:a16="http://schemas.microsoft.com/office/drawing/2014/main" id="{561043A0-105E-57AE-6537-F1C7066C5214}"/>
              </a:ext>
            </a:extLst>
          </p:cNvPr>
          <p:cNvGrpSpPr/>
          <p:nvPr/>
        </p:nvGrpSpPr>
        <p:grpSpPr>
          <a:xfrm>
            <a:off x="5957316" y="2976506"/>
            <a:ext cx="2029968" cy="1039101"/>
            <a:chOff x="713232" y="2971800"/>
            <a:chExt cx="2029968" cy="731520"/>
          </a:xfrm>
        </p:grpSpPr>
        <p:sp>
          <p:nvSpPr>
            <p:cNvPr id="74" name="Shape 6">
              <a:extLst>
                <a:ext uri="{FF2B5EF4-FFF2-40B4-BE49-F238E27FC236}">
                  <a16:creationId xmlns:a16="http://schemas.microsoft.com/office/drawing/2014/main" id="{5B275F5A-F640-3B8C-496B-72ACB2971389}"/>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endParaRPr lang="en-US" dirty="0"/>
            </a:p>
          </p:txBody>
        </p:sp>
        <p:sp>
          <p:nvSpPr>
            <p:cNvPr id="75" name="Text 8">
              <a:extLst>
                <a:ext uri="{FF2B5EF4-FFF2-40B4-BE49-F238E27FC236}">
                  <a16:creationId xmlns:a16="http://schemas.microsoft.com/office/drawing/2014/main" id="{17D8B3A7-C38B-45CD-7643-2DFCA1EEEFD4}"/>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76" name="Text 9">
              <a:extLst>
                <a:ext uri="{FF2B5EF4-FFF2-40B4-BE49-F238E27FC236}">
                  <a16:creationId xmlns:a16="http://schemas.microsoft.com/office/drawing/2014/main" id="{AF0CF97A-E66E-BBA3-01EF-3DB27D627F63}"/>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en-US" sz="1700" b="1" dirty="0" err="1">
                  <a:solidFill>
                    <a:srgbClr val="102A43"/>
                  </a:solidFill>
                  <a:latin typeface="Sharif 1.2" panose="020B0000040000000000" pitchFamily="34" charset="-78"/>
                  <a:ea typeface="Sharif 1.2" panose="020B0000040000000000" pitchFamily="34" charset="-78"/>
                  <a:cs typeface="Sharif 1.2" panose="020B0000040000000000" pitchFamily="34" charset="-78"/>
                </a:rPr>
                <a:t>ایستادن</a:t>
              </a:r>
              <a:r>
                <a:rPr lang="fa-IR"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روی پای چپ</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grpSp>
      <p:grpSp>
        <p:nvGrpSpPr>
          <p:cNvPr id="77" name="Group 76">
            <a:extLst>
              <a:ext uri="{FF2B5EF4-FFF2-40B4-BE49-F238E27FC236}">
                <a16:creationId xmlns:a16="http://schemas.microsoft.com/office/drawing/2014/main" id="{F461A43A-28A7-40C6-F9FA-7BE493A62572}"/>
              </a:ext>
            </a:extLst>
          </p:cNvPr>
          <p:cNvGrpSpPr/>
          <p:nvPr/>
        </p:nvGrpSpPr>
        <p:grpSpPr>
          <a:xfrm>
            <a:off x="8663940" y="2949801"/>
            <a:ext cx="2029968" cy="1039099"/>
            <a:chOff x="713232" y="2971801"/>
            <a:chExt cx="2029968" cy="731519"/>
          </a:xfrm>
        </p:grpSpPr>
        <p:sp>
          <p:nvSpPr>
            <p:cNvPr id="78" name="Shape 6">
              <a:extLst>
                <a:ext uri="{FF2B5EF4-FFF2-40B4-BE49-F238E27FC236}">
                  <a16:creationId xmlns:a16="http://schemas.microsoft.com/office/drawing/2014/main" id="{1EB61DC4-EF1C-B307-41F2-28A8F9507F8C}"/>
                </a:ext>
              </a:extLst>
            </p:cNvPr>
            <p:cNvSpPr/>
            <p:nvPr/>
          </p:nvSpPr>
          <p:spPr>
            <a:xfrm>
              <a:off x="713232" y="2971801"/>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pPr marL="0" algn="r" defTabSz="914400" rtl="1" eaLnBrk="1" latinLnBrk="0" hangingPunct="1"/>
              <a:endParaRPr lang="en-US" dirty="0"/>
            </a:p>
          </p:txBody>
        </p:sp>
        <p:sp>
          <p:nvSpPr>
            <p:cNvPr id="79" name="Text 8">
              <a:extLst>
                <a:ext uri="{FF2B5EF4-FFF2-40B4-BE49-F238E27FC236}">
                  <a16:creationId xmlns:a16="http://schemas.microsoft.com/office/drawing/2014/main" id="{FEBC3253-8863-BC73-31D8-F7FD2D7CC2B7}"/>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80" name="Text 9">
              <a:extLst>
                <a:ext uri="{FF2B5EF4-FFF2-40B4-BE49-F238E27FC236}">
                  <a16:creationId xmlns:a16="http://schemas.microsoft.com/office/drawing/2014/main" id="{7FD457BC-73FC-02B0-4D96-A035DC869CB0}"/>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en-US" sz="1700" b="1" dirty="0" err="1">
                  <a:solidFill>
                    <a:srgbClr val="102A43"/>
                  </a:solidFill>
                  <a:latin typeface="Sharif 1.2" panose="020B0000040000000000" pitchFamily="34" charset="-78"/>
                  <a:ea typeface="Sharif 1.2" panose="020B0000040000000000" pitchFamily="34" charset="-78"/>
                  <a:cs typeface="Sharif 1.2" panose="020B0000040000000000" pitchFamily="34" charset="-78"/>
                </a:rPr>
                <a:t>ایستادن</a:t>
              </a:r>
              <a:r>
                <a:rPr lang="fa-IR"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روی </a:t>
              </a:r>
              <a:r>
                <a:rPr lang="fa-IR" sz="1700" b="1" dirty="0" err="1">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پاشنه‌های</a:t>
              </a:r>
              <a:r>
                <a:rPr lang="fa-IR"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 پا</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grpSp>
      <p:grpSp>
        <p:nvGrpSpPr>
          <p:cNvPr id="81" name="Group 80">
            <a:extLst>
              <a:ext uri="{FF2B5EF4-FFF2-40B4-BE49-F238E27FC236}">
                <a16:creationId xmlns:a16="http://schemas.microsoft.com/office/drawing/2014/main" id="{5DE042CD-B0E3-B73D-22D9-1A299ED7735E}"/>
              </a:ext>
            </a:extLst>
          </p:cNvPr>
          <p:cNvGrpSpPr/>
          <p:nvPr/>
        </p:nvGrpSpPr>
        <p:grpSpPr>
          <a:xfrm>
            <a:off x="539496" y="2325624"/>
            <a:ext cx="2029968" cy="1965960"/>
            <a:chOff x="713232" y="2971800"/>
            <a:chExt cx="2029968" cy="1965960"/>
          </a:xfrm>
        </p:grpSpPr>
        <p:sp>
          <p:nvSpPr>
            <p:cNvPr id="82" name="Shape 6">
              <a:extLst>
                <a:ext uri="{FF2B5EF4-FFF2-40B4-BE49-F238E27FC236}">
                  <a16:creationId xmlns:a16="http://schemas.microsoft.com/office/drawing/2014/main" id="{FDC00E6B-1894-F62C-D19C-345539A0D04B}"/>
                </a:ext>
              </a:extLst>
            </p:cNvPr>
            <p:cNvSpPr/>
            <p:nvPr/>
          </p:nvSpPr>
          <p:spPr>
            <a:xfrm>
              <a:off x="713232"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83" name="Shape 7">
              <a:extLst>
                <a:ext uri="{FF2B5EF4-FFF2-40B4-BE49-F238E27FC236}">
                  <a16:creationId xmlns:a16="http://schemas.microsoft.com/office/drawing/2014/main" id="{405C50D0-21E9-2A11-580A-D1F7FD140B2A}"/>
                </a:ext>
              </a:extLst>
            </p:cNvPr>
            <p:cNvSpPr/>
            <p:nvPr/>
          </p:nvSpPr>
          <p:spPr>
            <a:xfrm>
              <a:off x="1389888" y="3182112"/>
              <a:ext cx="658368" cy="658368"/>
            </a:xfrm>
            <a:prstGeom prst="ellipse">
              <a:avLst/>
            </a:prstGeom>
            <a:solidFill>
              <a:srgbClr val="0B6E99"/>
            </a:solidFill>
            <a:ln w="12700">
              <a:solidFill>
                <a:srgbClr val="0B6E99"/>
              </a:solidFill>
              <a:prstDash val="solid"/>
            </a:ln>
          </p:spPr>
          <p:txBody>
            <a:bodyPr/>
            <a:lstStyle/>
            <a:p>
              <a:endParaRPr lang="en-US" dirty="0"/>
            </a:p>
          </p:txBody>
        </p:sp>
        <p:sp>
          <p:nvSpPr>
            <p:cNvPr id="84" name="Text 8">
              <a:extLst>
                <a:ext uri="{FF2B5EF4-FFF2-40B4-BE49-F238E27FC236}">
                  <a16:creationId xmlns:a16="http://schemas.microsoft.com/office/drawing/2014/main" id="{8A35A849-8293-AAA0-5051-7C44FAE4E778}"/>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85" name="Text 9">
              <a:extLst>
                <a:ext uri="{FF2B5EF4-FFF2-40B4-BE49-F238E27FC236}">
                  <a16:creationId xmlns:a16="http://schemas.microsoft.com/office/drawing/2014/main" id="{18C2B3FF-4C3A-02D2-9C80-A50679F2709C}"/>
                </a:ext>
              </a:extLst>
            </p:cNvPr>
            <p:cNvSpPr/>
            <p:nvPr/>
          </p:nvSpPr>
          <p:spPr>
            <a:xfrm>
              <a:off x="877824"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ایستادن</a:t>
              </a:r>
              <a:endParaRPr lang="en-US" sz="1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86" name="Text 10">
              <a:extLst>
                <a:ext uri="{FF2B5EF4-FFF2-40B4-BE49-F238E27FC236}">
                  <a16:creationId xmlns:a16="http://schemas.microsoft.com/office/drawing/2014/main" id="{AA19D7D4-A8C1-1F59-6A0D-D23BE2EEAE68}"/>
                </a:ext>
              </a:extLst>
            </p:cNvPr>
            <p:cNvSpPr/>
            <p:nvPr/>
          </p:nvSpPr>
          <p:spPr>
            <a:xfrm>
              <a:off x="877824"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تعادل و نوسان کم‌دامنه</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spTree>
    <p:extLst>
      <p:ext uri="{BB962C8B-B14F-4D97-AF65-F5344CB8AC3E}">
        <p14:creationId xmlns:p14="http://schemas.microsoft.com/office/powerpoint/2010/main" val="114676550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 calcmode="lin" valueType="num">
                                      <p:cBhvr additive="base">
                                        <p:cTn id="7" dur="500"/>
                                        <p:tgtEl>
                                          <p:spTgt spid="81"/>
                                        </p:tgtEl>
                                        <p:attrNameLst>
                                          <p:attrName>ppt_x</p:attrName>
                                        </p:attrNameLst>
                                      </p:cBhvr>
                                      <p:tavLst>
                                        <p:tav tm="0">
                                          <p:val>
                                            <p:strVal val="#ppt_x-#ppt_w*1.125000"/>
                                          </p:val>
                                        </p:tav>
                                        <p:tav tm="100000">
                                          <p:val>
                                            <p:strVal val="#ppt_x"/>
                                          </p:val>
                                        </p:tav>
                                      </p:tavLst>
                                    </p:anim>
                                    <p:animEffect transition="in" filter="wipe(right)">
                                      <p:cBhvr>
                                        <p:cTn id="8" dur="500"/>
                                        <p:tgtEl>
                                          <p:spTgt spid="81"/>
                                        </p:tgtEl>
                                      </p:cBhvr>
                                    </p:animEffect>
                                  </p:childTnLst>
                                </p:cTn>
                              </p:par>
                            </p:childTnLst>
                          </p:cTn>
                        </p:par>
                        <p:par>
                          <p:cTn id="9" fill="hold">
                            <p:stCondLst>
                              <p:cond delay="500"/>
                            </p:stCondLst>
                            <p:childTnLst>
                              <p:par>
                                <p:cTn id="10" presetID="12" presetClass="entr" presetSubtype="8" fill="hold" nodeType="afterEffect">
                                  <p:stCondLst>
                                    <p:cond delay="0"/>
                                  </p:stCondLst>
                                  <p:childTnLst>
                                    <p:set>
                                      <p:cBhvr>
                                        <p:cTn id="11" dur="1" fill="hold">
                                          <p:stCondLst>
                                            <p:cond delay="0"/>
                                          </p:stCondLst>
                                        </p:cTn>
                                        <p:tgtEl>
                                          <p:spTgt spid="69"/>
                                        </p:tgtEl>
                                        <p:attrNameLst>
                                          <p:attrName>style.visibility</p:attrName>
                                        </p:attrNameLst>
                                      </p:cBhvr>
                                      <p:to>
                                        <p:strVal val="visible"/>
                                      </p:to>
                                    </p:set>
                                    <p:anim calcmode="lin" valueType="num">
                                      <p:cBhvr additive="base">
                                        <p:cTn id="12" dur="500"/>
                                        <p:tgtEl>
                                          <p:spTgt spid="69"/>
                                        </p:tgtEl>
                                        <p:attrNameLst>
                                          <p:attrName>ppt_x</p:attrName>
                                        </p:attrNameLst>
                                      </p:cBhvr>
                                      <p:tavLst>
                                        <p:tav tm="0">
                                          <p:val>
                                            <p:strVal val="#ppt_x-#ppt_w*1.125000"/>
                                          </p:val>
                                        </p:tav>
                                        <p:tav tm="100000">
                                          <p:val>
                                            <p:strVal val="#ppt_x"/>
                                          </p:val>
                                        </p:tav>
                                      </p:tavLst>
                                    </p:anim>
                                    <p:animEffect transition="in" filter="wipe(right)">
                                      <p:cBhvr>
                                        <p:cTn id="13" dur="500"/>
                                        <p:tgtEl>
                                          <p:spTgt spid="69"/>
                                        </p:tgtEl>
                                      </p:cBhvr>
                                    </p:animEffect>
                                  </p:childTnLst>
                                </p:cTn>
                              </p:par>
                            </p:childTnLst>
                          </p:cTn>
                        </p:par>
                        <p:par>
                          <p:cTn id="14" fill="hold">
                            <p:stCondLst>
                              <p:cond delay="1000"/>
                            </p:stCondLst>
                            <p:childTnLst>
                              <p:par>
                                <p:cTn id="15" presetID="12" presetClass="entr" presetSubtype="8" fill="hold" nodeType="afterEffect">
                                  <p:stCondLst>
                                    <p:cond delay="0"/>
                                  </p:stCondLst>
                                  <p:childTnLst>
                                    <p:set>
                                      <p:cBhvr>
                                        <p:cTn id="16" dur="1" fill="hold">
                                          <p:stCondLst>
                                            <p:cond delay="0"/>
                                          </p:stCondLst>
                                        </p:cTn>
                                        <p:tgtEl>
                                          <p:spTgt spid="73"/>
                                        </p:tgtEl>
                                        <p:attrNameLst>
                                          <p:attrName>style.visibility</p:attrName>
                                        </p:attrNameLst>
                                      </p:cBhvr>
                                      <p:to>
                                        <p:strVal val="visible"/>
                                      </p:to>
                                    </p:set>
                                    <p:anim calcmode="lin" valueType="num">
                                      <p:cBhvr additive="base">
                                        <p:cTn id="17" dur="500"/>
                                        <p:tgtEl>
                                          <p:spTgt spid="73"/>
                                        </p:tgtEl>
                                        <p:attrNameLst>
                                          <p:attrName>ppt_x</p:attrName>
                                        </p:attrNameLst>
                                      </p:cBhvr>
                                      <p:tavLst>
                                        <p:tav tm="0">
                                          <p:val>
                                            <p:strVal val="#ppt_x-#ppt_w*1.125000"/>
                                          </p:val>
                                        </p:tav>
                                        <p:tav tm="100000">
                                          <p:val>
                                            <p:strVal val="#ppt_x"/>
                                          </p:val>
                                        </p:tav>
                                      </p:tavLst>
                                    </p:anim>
                                    <p:animEffect transition="in" filter="wipe(right)">
                                      <p:cBhvr>
                                        <p:cTn id="18" dur="500"/>
                                        <p:tgtEl>
                                          <p:spTgt spid="73"/>
                                        </p:tgtEl>
                                      </p:cBhvr>
                                    </p:animEffect>
                                  </p:childTnLst>
                                </p:cTn>
                              </p:par>
                            </p:childTnLst>
                          </p:cTn>
                        </p:par>
                        <p:par>
                          <p:cTn id="19" fill="hold">
                            <p:stCondLst>
                              <p:cond delay="1500"/>
                            </p:stCondLst>
                            <p:childTnLst>
                              <p:par>
                                <p:cTn id="20" presetID="12" presetClass="entr" presetSubtype="8" fill="hold" nodeType="afterEffect">
                                  <p:stCondLst>
                                    <p:cond delay="0"/>
                                  </p:stCondLst>
                                  <p:childTnLst>
                                    <p:set>
                                      <p:cBhvr>
                                        <p:cTn id="21" dur="1" fill="hold">
                                          <p:stCondLst>
                                            <p:cond delay="0"/>
                                          </p:stCondLst>
                                        </p:cTn>
                                        <p:tgtEl>
                                          <p:spTgt spid="77"/>
                                        </p:tgtEl>
                                        <p:attrNameLst>
                                          <p:attrName>style.visibility</p:attrName>
                                        </p:attrNameLst>
                                      </p:cBhvr>
                                      <p:to>
                                        <p:strVal val="visible"/>
                                      </p:to>
                                    </p:set>
                                    <p:anim calcmode="lin" valueType="num">
                                      <p:cBhvr additive="base">
                                        <p:cTn id="22" dur="500"/>
                                        <p:tgtEl>
                                          <p:spTgt spid="77"/>
                                        </p:tgtEl>
                                        <p:attrNameLst>
                                          <p:attrName>ppt_x</p:attrName>
                                        </p:attrNameLst>
                                      </p:cBhvr>
                                      <p:tavLst>
                                        <p:tav tm="0">
                                          <p:val>
                                            <p:strVal val="#ppt_x-#ppt_w*1.125000"/>
                                          </p:val>
                                        </p:tav>
                                        <p:tav tm="100000">
                                          <p:val>
                                            <p:strVal val="#ppt_x"/>
                                          </p:val>
                                        </p:tav>
                                      </p:tavLst>
                                    </p:anim>
                                    <p:animEffect transition="in" filter="wipe(right)">
                                      <p:cBhvr>
                                        <p:cTn id="23"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rgbClr val="F7FAFC"/>
        </a:solidFill>
        <a:effectLst/>
      </p:bgPr>
    </p:bg>
    <p:spTree>
      <p:nvGrpSpPr>
        <p:cNvPr id="1" name="">
          <a:extLst>
            <a:ext uri="{FF2B5EF4-FFF2-40B4-BE49-F238E27FC236}">
              <a16:creationId xmlns:a16="http://schemas.microsoft.com/office/drawing/2014/main" id="{AC8D4F0D-0880-1364-3F3C-2BCEED55C9A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92DD1F0-5E6A-0219-5CD6-89272BAAB073}"/>
              </a:ext>
            </a:extLst>
          </p:cNvPr>
          <p:cNvSpPr/>
          <p:nvPr/>
        </p:nvSpPr>
        <p:spPr>
          <a:xfrm>
            <a:off x="0" y="0"/>
            <a:ext cx="12191695" cy="128016"/>
          </a:xfrm>
          <a:prstGeom prst="rect">
            <a:avLst/>
          </a:prstGeom>
          <a:solidFill>
            <a:srgbClr val="0B6E99"/>
          </a:solidFill>
          <a:ln w="12700">
            <a:solidFill>
              <a:srgbClr val="0B6E99"/>
            </a:solidFill>
            <a:prstDash val="solid"/>
          </a:ln>
        </p:spPr>
      </p:sp>
      <p:sp>
        <p:nvSpPr>
          <p:cNvPr id="4" name="Text 2">
            <a:extLst>
              <a:ext uri="{FF2B5EF4-FFF2-40B4-BE49-F238E27FC236}">
                <a16:creationId xmlns:a16="http://schemas.microsoft.com/office/drawing/2014/main" id="{6B2348B2-F69A-B252-30E3-2633A5BB2B5B}"/>
              </a:ext>
            </a:extLst>
          </p:cNvPr>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دامنه و دستاوردهای پروژه</a:t>
            </a:r>
            <a:endParaRPr lang="en-US" sz="27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5" name="Shape 3">
            <a:extLst>
              <a:ext uri="{FF2B5EF4-FFF2-40B4-BE49-F238E27FC236}">
                <a16:creationId xmlns:a16="http://schemas.microsoft.com/office/drawing/2014/main" id="{FC03911B-92A4-3C9F-59C2-392E6FF86ACE}"/>
              </a:ext>
            </a:extLst>
          </p:cNvPr>
          <p:cNvSpPr/>
          <p:nvPr/>
        </p:nvSpPr>
        <p:spPr>
          <a:xfrm>
            <a:off x="658368" y="1207008"/>
            <a:ext cx="10881360" cy="0"/>
          </a:xfrm>
          <a:prstGeom prst="line">
            <a:avLst/>
          </a:prstGeom>
          <a:noFill/>
          <a:ln w="15240">
            <a:solidFill>
              <a:srgbClr val="D9E2EC"/>
            </a:solidFill>
            <a:prstDash val="solid"/>
          </a:ln>
        </p:spPr>
      </p:sp>
      <p:sp>
        <p:nvSpPr>
          <p:cNvPr id="7" name="Text 5">
            <a:extLst>
              <a:ext uri="{FF2B5EF4-FFF2-40B4-BE49-F238E27FC236}">
                <a16:creationId xmlns:a16="http://schemas.microsoft.com/office/drawing/2014/main" id="{9BBDE647-5557-3A49-6DAC-F82AA72866EC}"/>
              </a:ext>
            </a:extLst>
          </p:cNvPr>
          <p:cNvSpPr/>
          <p:nvPr/>
        </p:nvSpPr>
        <p:spPr>
          <a:xfrm>
            <a:off x="3794760" y="1481328"/>
            <a:ext cx="7360920" cy="457200"/>
          </a:xfrm>
          <a:prstGeom prst="rect">
            <a:avLst/>
          </a:prstGeom>
          <a:noFill/>
          <a:ln/>
        </p:spPr>
        <p:txBody>
          <a:bodyPr wrap="square" lIns="0" tIns="0" rIns="0" bIns="0" rtlCol="0" anchor="ctr">
            <a:normAutofit/>
          </a:bodyPr>
          <a:lstStyle/>
          <a:p>
            <a:pPr marL="0" indent="0" algn="r" rtl="1">
              <a:buNone/>
            </a:pPr>
            <a:r>
              <a:rPr lang="en-US" sz="19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از ۱۷ فعالیت NSAA، پنج فعالیت با ماهیت حرکتی متفاوت انتخاب شد</a:t>
            </a:r>
            <a:endParaRPr lang="en-US" sz="19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46" name="Shape 44">
            <a:extLst>
              <a:ext uri="{FF2B5EF4-FFF2-40B4-BE49-F238E27FC236}">
                <a16:creationId xmlns:a16="http://schemas.microsoft.com/office/drawing/2014/main" id="{AB289554-513E-2701-4227-9AE5AF7DFFE8}"/>
              </a:ext>
            </a:extLst>
          </p:cNvPr>
          <p:cNvSpPr/>
          <p:nvPr/>
        </p:nvSpPr>
        <p:spPr>
          <a:xfrm>
            <a:off x="658368" y="6473952"/>
            <a:ext cx="10881360" cy="0"/>
          </a:xfrm>
          <a:prstGeom prst="line">
            <a:avLst/>
          </a:prstGeom>
          <a:noFill/>
          <a:ln w="10160">
            <a:solidFill>
              <a:srgbClr val="E9EEF2"/>
            </a:solidFill>
            <a:prstDash val="solid"/>
          </a:ln>
        </p:spPr>
      </p:sp>
      <p:sp>
        <p:nvSpPr>
          <p:cNvPr id="47" name="Text 45">
            <a:extLst>
              <a:ext uri="{FF2B5EF4-FFF2-40B4-BE49-F238E27FC236}">
                <a16:creationId xmlns:a16="http://schemas.microsoft.com/office/drawing/2014/main" id="{C6C475BC-8B42-4C3D-3A30-D88F7873CB2E}"/>
              </a:ext>
            </a:extLst>
          </p:cNvPr>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8" name="Text 46">
            <a:extLst>
              <a:ext uri="{FF2B5EF4-FFF2-40B4-BE49-F238E27FC236}">
                <a16:creationId xmlns:a16="http://schemas.microsoft.com/office/drawing/2014/main" id="{B65C3408-ED6F-9205-2CD6-244C1D9AA5CE}"/>
              </a:ext>
            </a:extLst>
          </p:cNvPr>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مقدمه</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تعریف مسئله | ۱۱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9" name="Text 47">
            <a:extLst>
              <a:ext uri="{FF2B5EF4-FFF2-40B4-BE49-F238E27FC236}">
                <a16:creationId xmlns:a16="http://schemas.microsoft.com/office/drawing/2014/main" id="{A2D0140C-221E-12DE-6D21-B6536445A9E5}"/>
              </a:ext>
            </a:extLst>
          </p:cNvPr>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۳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0" name="Shape 48">
            <a:extLst>
              <a:ext uri="{FF2B5EF4-FFF2-40B4-BE49-F238E27FC236}">
                <a16:creationId xmlns:a16="http://schemas.microsoft.com/office/drawing/2014/main" id="{1A83E07B-D1AD-59FD-FFCF-B0600B4408B5}"/>
              </a:ext>
            </a:extLst>
          </p:cNvPr>
          <p:cNvSpPr/>
          <p:nvPr/>
        </p:nvSpPr>
        <p:spPr>
          <a:xfrm>
            <a:off x="2560320" y="6766560"/>
            <a:ext cx="1410789" cy="41148"/>
          </a:xfrm>
          <a:prstGeom prst="rect">
            <a:avLst/>
          </a:prstGeom>
          <a:solidFill>
            <a:srgbClr val="0B6E99"/>
          </a:solidFill>
          <a:ln w="12700">
            <a:solidFill>
              <a:srgbClr val="0B6E99"/>
            </a:solidFill>
            <a:prstDash val="solid"/>
          </a:ln>
        </p:spPr>
      </p:sp>
      <p:sp>
        <p:nvSpPr>
          <p:cNvPr id="51" name="Shape 49">
            <a:extLst>
              <a:ext uri="{FF2B5EF4-FFF2-40B4-BE49-F238E27FC236}">
                <a16:creationId xmlns:a16="http://schemas.microsoft.com/office/drawing/2014/main" id="{6371FDB0-E1FC-0C79-F04A-879D7EFE315A}"/>
              </a:ext>
            </a:extLst>
          </p:cNvPr>
          <p:cNvSpPr/>
          <p:nvPr/>
        </p:nvSpPr>
        <p:spPr>
          <a:xfrm>
            <a:off x="3971109" y="6766560"/>
            <a:ext cx="5172891" cy="41148"/>
          </a:xfrm>
          <a:prstGeom prst="rect">
            <a:avLst/>
          </a:prstGeom>
          <a:solidFill>
            <a:srgbClr val="E6EDF2"/>
          </a:solidFill>
          <a:ln w="12700">
            <a:solidFill>
              <a:srgbClr val="E6EDF2"/>
            </a:solidFill>
            <a:prstDash val="solid"/>
          </a:ln>
        </p:spPr>
      </p:sp>
      <p:grpSp>
        <p:nvGrpSpPr>
          <p:cNvPr id="3" name="Group 2">
            <a:extLst>
              <a:ext uri="{FF2B5EF4-FFF2-40B4-BE49-F238E27FC236}">
                <a16:creationId xmlns:a16="http://schemas.microsoft.com/office/drawing/2014/main" id="{2D6C639B-8ADC-E23C-2D32-6167BE6C3AF7}"/>
              </a:ext>
            </a:extLst>
          </p:cNvPr>
          <p:cNvGrpSpPr/>
          <p:nvPr/>
        </p:nvGrpSpPr>
        <p:grpSpPr>
          <a:xfrm>
            <a:off x="541782" y="2326286"/>
            <a:ext cx="2029968" cy="1965960"/>
            <a:chOff x="2980944" y="2971800"/>
            <a:chExt cx="2029968" cy="1965960"/>
          </a:xfrm>
        </p:grpSpPr>
        <p:sp>
          <p:nvSpPr>
            <p:cNvPr id="6" name="Shape 11">
              <a:extLst>
                <a:ext uri="{FF2B5EF4-FFF2-40B4-BE49-F238E27FC236}">
                  <a16:creationId xmlns:a16="http://schemas.microsoft.com/office/drawing/2014/main" id="{5B8D7A56-1166-35C4-BD73-DB7EE92AAFDB}"/>
                </a:ext>
              </a:extLst>
            </p:cNvPr>
            <p:cNvSpPr/>
            <p:nvPr/>
          </p:nvSpPr>
          <p:spPr>
            <a:xfrm>
              <a:off x="2980944"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8" name="Shape 12">
              <a:extLst>
                <a:ext uri="{FF2B5EF4-FFF2-40B4-BE49-F238E27FC236}">
                  <a16:creationId xmlns:a16="http://schemas.microsoft.com/office/drawing/2014/main" id="{90A08FC7-378A-1C70-BAEB-B21877CA45B4}"/>
                </a:ext>
              </a:extLst>
            </p:cNvPr>
            <p:cNvSpPr/>
            <p:nvPr/>
          </p:nvSpPr>
          <p:spPr>
            <a:xfrm>
              <a:off x="3657600" y="3182112"/>
              <a:ext cx="658368" cy="658368"/>
            </a:xfrm>
            <a:prstGeom prst="ellipse">
              <a:avLst/>
            </a:prstGeom>
            <a:solidFill>
              <a:srgbClr val="0B7A75"/>
            </a:solidFill>
            <a:ln w="12700">
              <a:solidFill>
                <a:srgbClr val="0B7A75"/>
              </a:solidFill>
              <a:prstDash val="solid"/>
            </a:ln>
          </p:spPr>
          <p:txBody>
            <a:bodyPr/>
            <a:lstStyle/>
            <a:p>
              <a:endParaRPr lang="en-US" dirty="0"/>
            </a:p>
          </p:txBody>
        </p:sp>
        <p:sp>
          <p:nvSpPr>
            <p:cNvPr id="9" name="Text 13">
              <a:extLst>
                <a:ext uri="{FF2B5EF4-FFF2-40B4-BE49-F238E27FC236}">
                  <a16:creationId xmlns:a16="http://schemas.microsoft.com/office/drawing/2014/main" id="{1253C181-1492-917D-747E-B416FD89E16B}"/>
                </a:ext>
              </a:extLst>
            </p:cNvPr>
            <p:cNvSpPr/>
            <p:nvPr/>
          </p:nvSpPr>
          <p:spPr>
            <a:xfrm>
              <a:off x="3657600"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۲</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0" name="Text 14">
              <a:extLst>
                <a:ext uri="{FF2B5EF4-FFF2-40B4-BE49-F238E27FC236}">
                  <a16:creationId xmlns:a16="http://schemas.microsoft.com/office/drawing/2014/main" id="{242BEA51-34DB-6DBE-ED2C-547EA60A6D3F}"/>
                </a:ext>
              </a:extLst>
            </p:cNvPr>
            <p:cNvSpPr/>
            <p:nvPr/>
          </p:nvSpPr>
          <p:spPr>
            <a:xfrm>
              <a:off x="3145536"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برخاستن از صندلی</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11" name="Text 15">
              <a:extLst>
                <a:ext uri="{FF2B5EF4-FFF2-40B4-BE49-F238E27FC236}">
                  <a16:creationId xmlns:a16="http://schemas.microsoft.com/office/drawing/2014/main" id="{DC898567-3C54-F6DF-C4EB-49C765B1535A}"/>
                </a:ext>
              </a:extLst>
            </p:cNvPr>
            <p:cNvSpPr/>
            <p:nvPr/>
          </p:nvSpPr>
          <p:spPr>
            <a:xfrm>
              <a:off x="3145536"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هماهنگی تنه، دست و پا</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12" name="Group 11">
            <a:extLst>
              <a:ext uri="{FF2B5EF4-FFF2-40B4-BE49-F238E27FC236}">
                <a16:creationId xmlns:a16="http://schemas.microsoft.com/office/drawing/2014/main" id="{6637B7C1-8EBB-6D81-05F6-80197909DB76}"/>
              </a:ext>
            </a:extLst>
          </p:cNvPr>
          <p:cNvGrpSpPr/>
          <p:nvPr/>
        </p:nvGrpSpPr>
        <p:grpSpPr>
          <a:xfrm>
            <a:off x="3250692" y="2975776"/>
            <a:ext cx="2029968" cy="1039101"/>
            <a:chOff x="713232" y="2971800"/>
            <a:chExt cx="2029968" cy="731520"/>
          </a:xfrm>
        </p:grpSpPr>
        <p:sp>
          <p:nvSpPr>
            <p:cNvPr id="13" name="Shape 6">
              <a:extLst>
                <a:ext uri="{FF2B5EF4-FFF2-40B4-BE49-F238E27FC236}">
                  <a16:creationId xmlns:a16="http://schemas.microsoft.com/office/drawing/2014/main" id="{C1656DDD-7420-525B-DC3F-8852933C611B}"/>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endParaRPr lang="en-US" dirty="0"/>
            </a:p>
          </p:txBody>
        </p:sp>
        <p:sp>
          <p:nvSpPr>
            <p:cNvPr id="14" name="Text 8">
              <a:extLst>
                <a:ext uri="{FF2B5EF4-FFF2-40B4-BE49-F238E27FC236}">
                  <a16:creationId xmlns:a16="http://schemas.microsoft.com/office/drawing/2014/main" id="{3B189C2C-5970-5F43-BFC9-710C63C1BAA6}"/>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5" name="Text 9">
              <a:extLst>
                <a:ext uri="{FF2B5EF4-FFF2-40B4-BE49-F238E27FC236}">
                  <a16:creationId xmlns:a16="http://schemas.microsoft.com/office/drawing/2014/main" id="{38646C60-9F27-37C2-7C5C-0215C62154E2}"/>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نشستن روی زمین</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grpSp>
      <p:grpSp>
        <p:nvGrpSpPr>
          <p:cNvPr id="16" name="Group 15">
            <a:extLst>
              <a:ext uri="{FF2B5EF4-FFF2-40B4-BE49-F238E27FC236}">
                <a16:creationId xmlns:a16="http://schemas.microsoft.com/office/drawing/2014/main" id="{1BAE3DD0-D0C1-F91A-111D-4C3DCC5FED45}"/>
              </a:ext>
            </a:extLst>
          </p:cNvPr>
          <p:cNvGrpSpPr/>
          <p:nvPr/>
        </p:nvGrpSpPr>
        <p:grpSpPr>
          <a:xfrm>
            <a:off x="5957316" y="2982272"/>
            <a:ext cx="2029968" cy="1039101"/>
            <a:chOff x="713232" y="2971800"/>
            <a:chExt cx="2029968" cy="731520"/>
          </a:xfrm>
        </p:grpSpPr>
        <p:sp>
          <p:nvSpPr>
            <p:cNvPr id="17" name="Shape 6">
              <a:extLst>
                <a:ext uri="{FF2B5EF4-FFF2-40B4-BE49-F238E27FC236}">
                  <a16:creationId xmlns:a16="http://schemas.microsoft.com/office/drawing/2014/main" id="{5FE6BF2A-D5FF-9AA1-EC27-F0A6970860C0}"/>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pPr marL="0" algn="r" defTabSz="914400" rtl="1" eaLnBrk="1" latinLnBrk="0" hangingPunct="1"/>
              <a:endParaRPr lang="en-US" dirty="0"/>
            </a:p>
          </p:txBody>
        </p:sp>
        <p:sp>
          <p:nvSpPr>
            <p:cNvPr id="18" name="Text 8">
              <a:extLst>
                <a:ext uri="{FF2B5EF4-FFF2-40B4-BE49-F238E27FC236}">
                  <a16:creationId xmlns:a16="http://schemas.microsoft.com/office/drawing/2014/main" id="{56E9D737-4FC0-F76D-B960-A5BBEE8F1EEB}"/>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9" name="Text 9">
              <a:extLst>
                <a:ext uri="{FF2B5EF4-FFF2-40B4-BE49-F238E27FC236}">
                  <a16:creationId xmlns:a16="http://schemas.microsoft.com/office/drawing/2014/main" id="{67B2A5F9-6F06-425D-D7FC-C5B4B6E1FFFB}"/>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برخاستن</a:t>
              </a:r>
              <a:r>
                <a:rPr lang="fa-IR"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 </a:t>
              </a:r>
              <a:r>
                <a:rPr lang="fa-IR"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از</a:t>
              </a:r>
              <a:r>
                <a:rPr lang="fa-IR"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زمین</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grpSp>
    </p:spTree>
    <p:extLst>
      <p:ext uri="{BB962C8B-B14F-4D97-AF65-F5344CB8AC3E}">
        <p14:creationId xmlns:p14="http://schemas.microsoft.com/office/powerpoint/2010/main" val="8637545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rgbClr val="F7FAFC"/>
        </a:solidFill>
        <a:effectLst/>
      </p:bgPr>
    </p:bg>
    <p:spTree>
      <p:nvGrpSpPr>
        <p:cNvPr id="1" name="">
          <a:extLst>
            <a:ext uri="{FF2B5EF4-FFF2-40B4-BE49-F238E27FC236}">
              <a16:creationId xmlns:a16="http://schemas.microsoft.com/office/drawing/2014/main" id="{3DEF89E4-6162-B447-6C5A-424A5FE1290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6630F7F-1378-59AA-93F8-8A64A4F9CA61}"/>
              </a:ext>
            </a:extLst>
          </p:cNvPr>
          <p:cNvSpPr/>
          <p:nvPr/>
        </p:nvSpPr>
        <p:spPr>
          <a:xfrm>
            <a:off x="0" y="0"/>
            <a:ext cx="12191695" cy="128016"/>
          </a:xfrm>
          <a:prstGeom prst="rect">
            <a:avLst/>
          </a:prstGeom>
          <a:solidFill>
            <a:srgbClr val="0B6E99"/>
          </a:solidFill>
          <a:ln w="12700">
            <a:solidFill>
              <a:srgbClr val="0B6E99"/>
            </a:solidFill>
            <a:prstDash val="solid"/>
          </a:ln>
        </p:spPr>
      </p:sp>
      <p:sp>
        <p:nvSpPr>
          <p:cNvPr id="4" name="Text 2">
            <a:extLst>
              <a:ext uri="{FF2B5EF4-FFF2-40B4-BE49-F238E27FC236}">
                <a16:creationId xmlns:a16="http://schemas.microsoft.com/office/drawing/2014/main" id="{E4B1F99A-B622-6DDD-B82A-096BBD4237F5}"/>
              </a:ext>
            </a:extLst>
          </p:cNvPr>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دامنه و دستاوردهای پروژه</a:t>
            </a:r>
            <a:endParaRPr lang="en-US" sz="27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5" name="Shape 3">
            <a:extLst>
              <a:ext uri="{FF2B5EF4-FFF2-40B4-BE49-F238E27FC236}">
                <a16:creationId xmlns:a16="http://schemas.microsoft.com/office/drawing/2014/main" id="{EEB0B45D-C34B-75AF-DEF4-B1C1FB1EAE9D}"/>
              </a:ext>
            </a:extLst>
          </p:cNvPr>
          <p:cNvSpPr/>
          <p:nvPr/>
        </p:nvSpPr>
        <p:spPr>
          <a:xfrm>
            <a:off x="658368" y="1207008"/>
            <a:ext cx="10881360" cy="0"/>
          </a:xfrm>
          <a:prstGeom prst="line">
            <a:avLst/>
          </a:prstGeom>
          <a:noFill/>
          <a:ln w="15240">
            <a:solidFill>
              <a:srgbClr val="D9E2EC"/>
            </a:solidFill>
            <a:prstDash val="solid"/>
          </a:ln>
        </p:spPr>
      </p:sp>
      <p:sp>
        <p:nvSpPr>
          <p:cNvPr id="7" name="Text 5">
            <a:extLst>
              <a:ext uri="{FF2B5EF4-FFF2-40B4-BE49-F238E27FC236}">
                <a16:creationId xmlns:a16="http://schemas.microsoft.com/office/drawing/2014/main" id="{6CE622A9-33BB-16BD-EE26-685DE1947533}"/>
              </a:ext>
            </a:extLst>
          </p:cNvPr>
          <p:cNvSpPr/>
          <p:nvPr/>
        </p:nvSpPr>
        <p:spPr>
          <a:xfrm>
            <a:off x="3794760" y="1481328"/>
            <a:ext cx="7360920" cy="457200"/>
          </a:xfrm>
          <a:prstGeom prst="rect">
            <a:avLst/>
          </a:prstGeom>
          <a:noFill/>
          <a:ln/>
        </p:spPr>
        <p:txBody>
          <a:bodyPr wrap="square" lIns="0" tIns="0" rIns="0" bIns="0" rtlCol="0" anchor="ctr">
            <a:normAutofit/>
          </a:bodyPr>
          <a:lstStyle/>
          <a:p>
            <a:pPr marL="0" indent="0" algn="r" rtl="1">
              <a:buNone/>
            </a:pPr>
            <a:r>
              <a:rPr lang="en-US" sz="19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از ۱۷ فعالیت NSAA، پنج فعالیت با ماهیت حرکتی متفاوت انتخاب شد</a:t>
            </a:r>
            <a:endParaRPr lang="en-US" sz="19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46" name="Shape 44">
            <a:extLst>
              <a:ext uri="{FF2B5EF4-FFF2-40B4-BE49-F238E27FC236}">
                <a16:creationId xmlns:a16="http://schemas.microsoft.com/office/drawing/2014/main" id="{521AF51F-EC99-F982-01EB-E5B2797FAFEB}"/>
              </a:ext>
            </a:extLst>
          </p:cNvPr>
          <p:cNvSpPr/>
          <p:nvPr/>
        </p:nvSpPr>
        <p:spPr>
          <a:xfrm>
            <a:off x="658368" y="6473952"/>
            <a:ext cx="10881360" cy="0"/>
          </a:xfrm>
          <a:prstGeom prst="line">
            <a:avLst/>
          </a:prstGeom>
          <a:noFill/>
          <a:ln w="10160">
            <a:solidFill>
              <a:srgbClr val="E9EEF2"/>
            </a:solidFill>
            <a:prstDash val="solid"/>
          </a:ln>
        </p:spPr>
      </p:sp>
      <p:sp>
        <p:nvSpPr>
          <p:cNvPr id="47" name="Text 45">
            <a:extLst>
              <a:ext uri="{FF2B5EF4-FFF2-40B4-BE49-F238E27FC236}">
                <a16:creationId xmlns:a16="http://schemas.microsoft.com/office/drawing/2014/main" id="{0E58D7B9-0FE4-434C-99A8-8FF609ECC8E3}"/>
              </a:ext>
            </a:extLst>
          </p:cNvPr>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8" name="Text 46">
            <a:extLst>
              <a:ext uri="{FF2B5EF4-FFF2-40B4-BE49-F238E27FC236}">
                <a16:creationId xmlns:a16="http://schemas.microsoft.com/office/drawing/2014/main" id="{2EFC56B9-7C6B-66E0-3E51-076BF7D7947F}"/>
              </a:ext>
            </a:extLst>
          </p:cNvPr>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مقدمه</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تعریف مسئله | ۱۱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9" name="Text 47">
            <a:extLst>
              <a:ext uri="{FF2B5EF4-FFF2-40B4-BE49-F238E27FC236}">
                <a16:creationId xmlns:a16="http://schemas.microsoft.com/office/drawing/2014/main" id="{F127BB42-6876-C84B-702E-5CC54261088E}"/>
              </a:ext>
            </a:extLst>
          </p:cNvPr>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۳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0" name="Shape 48">
            <a:extLst>
              <a:ext uri="{FF2B5EF4-FFF2-40B4-BE49-F238E27FC236}">
                <a16:creationId xmlns:a16="http://schemas.microsoft.com/office/drawing/2014/main" id="{AA997D5B-1588-4C15-F41A-39244D4B6B53}"/>
              </a:ext>
            </a:extLst>
          </p:cNvPr>
          <p:cNvSpPr/>
          <p:nvPr/>
        </p:nvSpPr>
        <p:spPr>
          <a:xfrm>
            <a:off x="2560320" y="6766560"/>
            <a:ext cx="1410789" cy="41148"/>
          </a:xfrm>
          <a:prstGeom prst="rect">
            <a:avLst/>
          </a:prstGeom>
          <a:solidFill>
            <a:srgbClr val="0B6E99"/>
          </a:solidFill>
          <a:ln w="12700">
            <a:solidFill>
              <a:srgbClr val="0B6E99"/>
            </a:solidFill>
            <a:prstDash val="solid"/>
          </a:ln>
        </p:spPr>
      </p:sp>
      <p:sp>
        <p:nvSpPr>
          <p:cNvPr id="51" name="Shape 49">
            <a:extLst>
              <a:ext uri="{FF2B5EF4-FFF2-40B4-BE49-F238E27FC236}">
                <a16:creationId xmlns:a16="http://schemas.microsoft.com/office/drawing/2014/main" id="{040BF076-F918-A2F7-BE7B-18A23AEAE303}"/>
              </a:ext>
            </a:extLst>
          </p:cNvPr>
          <p:cNvSpPr/>
          <p:nvPr/>
        </p:nvSpPr>
        <p:spPr>
          <a:xfrm>
            <a:off x="3971109" y="6766560"/>
            <a:ext cx="5172891" cy="41148"/>
          </a:xfrm>
          <a:prstGeom prst="rect">
            <a:avLst/>
          </a:prstGeom>
          <a:solidFill>
            <a:srgbClr val="E6EDF2"/>
          </a:solidFill>
          <a:ln w="12700">
            <a:solidFill>
              <a:srgbClr val="E6EDF2"/>
            </a:solidFill>
            <a:prstDash val="solid"/>
          </a:ln>
        </p:spPr>
      </p:sp>
      <p:grpSp>
        <p:nvGrpSpPr>
          <p:cNvPr id="20" name="Group 19">
            <a:extLst>
              <a:ext uri="{FF2B5EF4-FFF2-40B4-BE49-F238E27FC236}">
                <a16:creationId xmlns:a16="http://schemas.microsoft.com/office/drawing/2014/main" id="{21AC9E51-F381-A7A7-5C4C-5E84825CED4C}"/>
              </a:ext>
            </a:extLst>
          </p:cNvPr>
          <p:cNvGrpSpPr/>
          <p:nvPr/>
        </p:nvGrpSpPr>
        <p:grpSpPr>
          <a:xfrm>
            <a:off x="534924" y="2322145"/>
            <a:ext cx="2029968" cy="1965960"/>
            <a:chOff x="5248656" y="2971800"/>
            <a:chExt cx="2029968" cy="1965960"/>
          </a:xfrm>
        </p:grpSpPr>
        <p:sp>
          <p:nvSpPr>
            <p:cNvPr id="21" name="Shape 16">
              <a:extLst>
                <a:ext uri="{FF2B5EF4-FFF2-40B4-BE49-F238E27FC236}">
                  <a16:creationId xmlns:a16="http://schemas.microsoft.com/office/drawing/2014/main" id="{60652B7A-43F5-A3AD-A196-7A5D1E682ADA}"/>
                </a:ext>
              </a:extLst>
            </p:cNvPr>
            <p:cNvSpPr/>
            <p:nvPr/>
          </p:nvSpPr>
          <p:spPr>
            <a:xfrm>
              <a:off x="5248656"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2" name="Shape 17">
              <a:extLst>
                <a:ext uri="{FF2B5EF4-FFF2-40B4-BE49-F238E27FC236}">
                  <a16:creationId xmlns:a16="http://schemas.microsoft.com/office/drawing/2014/main" id="{1C9925E3-6561-F744-0E73-C6FF1715DDB6}"/>
                </a:ext>
              </a:extLst>
            </p:cNvPr>
            <p:cNvSpPr/>
            <p:nvPr/>
          </p:nvSpPr>
          <p:spPr>
            <a:xfrm>
              <a:off x="5925312" y="3182112"/>
              <a:ext cx="658368" cy="658368"/>
            </a:xfrm>
            <a:prstGeom prst="ellipse">
              <a:avLst/>
            </a:prstGeom>
            <a:solidFill>
              <a:srgbClr val="E69F00"/>
            </a:solidFill>
            <a:ln w="12700">
              <a:solidFill>
                <a:srgbClr val="E69F00"/>
              </a:solidFill>
              <a:prstDash val="solid"/>
            </a:ln>
          </p:spPr>
        </p:sp>
        <p:sp>
          <p:nvSpPr>
            <p:cNvPr id="23" name="Text 18">
              <a:extLst>
                <a:ext uri="{FF2B5EF4-FFF2-40B4-BE49-F238E27FC236}">
                  <a16:creationId xmlns:a16="http://schemas.microsoft.com/office/drawing/2014/main" id="{FFDB29F4-E256-92C5-0B0D-06AAE2A5711E}"/>
                </a:ext>
              </a:extLst>
            </p:cNvPr>
            <p:cNvSpPr/>
            <p:nvPr/>
          </p:nvSpPr>
          <p:spPr>
            <a:xfrm>
              <a:off x="5925312"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۳</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4" name="Text 19">
              <a:extLst>
                <a:ext uri="{FF2B5EF4-FFF2-40B4-BE49-F238E27FC236}">
                  <a16:creationId xmlns:a16="http://schemas.microsoft.com/office/drawing/2014/main" id="{D73E49E3-7523-489E-F7FD-6169D17CE7E6}"/>
                </a:ext>
              </a:extLst>
            </p:cNvPr>
            <p:cNvSpPr/>
            <p:nvPr/>
          </p:nvSpPr>
          <p:spPr>
            <a:xfrm>
              <a:off x="5413248"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پریدن</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25" name="Text 20">
              <a:extLst>
                <a:ext uri="{FF2B5EF4-FFF2-40B4-BE49-F238E27FC236}">
                  <a16:creationId xmlns:a16="http://schemas.microsoft.com/office/drawing/2014/main" id="{AB91F226-29EA-30DE-3C28-1FF911B0C8B7}"/>
                </a:ext>
              </a:extLst>
            </p:cNvPr>
            <p:cNvSpPr/>
            <p:nvPr/>
          </p:nvSpPr>
          <p:spPr>
            <a:xfrm>
              <a:off x="5413248"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حرکت سریع و انفجاری</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26" name="Group 25">
            <a:extLst>
              <a:ext uri="{FF2B5EF4-FFF2-40B4-BE49-F238E27FC236}">
                <a16:creationId xmlns:a16="http://schemas.microsoft.com/office/drawing/2014/main" id="{FCE583DF-7B9B-B74C-364C-FAA26F790A7E}"/>
              </a:ext>
            </a:extLst>
          </p:cNvPr>
          <p:cNvGrpSpPr/>
          <p:nvPr/>
        </p:nvGrpSpPr>
        <p:grpSpPr>
          <a:xfrm>
            <a:off x="3249549" y="2975776"/>
            <a:ext cx="2029968" cy="1039101"/>
            <a:chOff x="713232" y="2971800"/>
            <a:chExt cx="2029968" cy="731520"/>
          </a:xfrm>
        </p:grpSpPr>
        <p:sp>
          <p:nvSpPr>
            <p:cNvPr id="27" name="Shape 6">
              <a:extLst>
                <a:ext uri="{FF2B5EF4-FFF2-40B4-BE49-F238E27FC236}">
                  <a16:creationId xmlns:a16="http://schemas.microsoft.com/office/drawing/2014/main" id="{8242BD4F-3A9A-F2BE-26D3-1DFB26819561}"/>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endParaRPr lang="en-US" dirty="0"/>
            </a:p>
          </p:txBody>
        </p:sp>
        <p:sp>
          <p:nvSpPr>
            <p:cNvPr id="28" name="Text 8">
              <a:extLst>
                <a:ext uri="{FF2B5EF4-FFF2-40B4-BE49-F238E27FC236}">
                  <a16:creationId xmlns:a16="http://schemas.microsoft.com/office/drawing/2014/main" id="{1C22B363-5A59-1A50-EB4A-5DE768536AB4}"/>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9" name="Text 9">
              <a:extLst>
                <a:ext uri="{FF2B5EF4-FFF2-40B4-BE49-F238E27FC236}">
                  <a16:creationId xmlns:a16="http://schemas.microsoft.com/office/drawing/2014/main" id="{3712E531-5C21-7FD0-D28B-C289E1E257B4}"/>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پریدن روی پای راست</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grpSp>
      <p:grpSp>
        <p:nvGrpSpPr>
          <p:cNvPr id="30" name="Group 29">
            <a:extLst>
              <a:ext uri="{FF2B5EF4-FFF2-40B4-BE49-F238E27FC236}">
                <a16:creationId xmlns:a16="http://schemas.microsoft.com/office/drawing/2014/main" id="{D82B9AA4-AE8E-75F1-3213-D7155A1D4A05}"/>
              </a:ext>
            </a:extLst>
          </p:cNvPr>
          <p:cNvGrpSpPr/>
          <p:nvPr/>
        </p:nvGrpSpPr>
        <p:grpSpPr>
          <a:xfrm>
            <a:off x="5957316" y="2982272"/>
            <a:ext cx="2029968" cy="1039101"/>
            <a:chOff x="713232" y="2971800"/>
            <a:chExt cx="2029968" cy="731520"/>
          </a:xfrm>
        </p:grpSpPr>
        <p:sp>
          <p:nvSpPr>
            <p:cNvPr id="31" name="Shape 6">
              <a:extLst>
                <a:ext uri="{FF2B5EF4-FFF2-40B4-BE49-F238E27FC236}">
                  <a16:creationId xmlns:a16="http://schemas.microsoft.com/office/drawing/2014/main" id="{0A0103D3-4F27-E35B-E219-0ED7EA489930}"/>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pPr marL="0" algn="r" defTabSz="914400" rtl="1" eaLnBrk="1" latinLnBrk="0" hangingPunct="1"/>
              <a:endParaRPr lang="en-US" dirty="0"/>
            </a:p>
          </p:txBody>
        </p:sp>
        <p:sp>
          <p:nvSpPr>
            <p:cNvPr id="32" name="Text 8">
              <a:extLst>
                <a:ext uri="{FF2B5EF4-FFF2-40B4-BE49-F238E27FC236}">
                  <a16:creationId xmlns:a16="http://schemas.microsoft.com/office/drawing/2014/main" id="{4340FCD2-6DCD-CE1E-6519-C803AE92F036}"/>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3" name="Text 9">
              <a:extLst>
                <a:ext uri="{FF2B5EF4-FFF2-40B4-BE49-F238E27FC236}">
                  <a16:creationId xmlns:a16="http://schemas.microsoft.com/office/drawing/2014/main" id="{5651CCFD-1C8D-1DE8-29C6-B8251D638994}"/>
                </a:ext>
              </a:extLst>
            </p:cNvPr>
            <p:cNvSpPr/>
            <p:nvPr/>
          </p:nvSpPr>
          <p:spPr>
            <a:xfrm>
              <a:off x="877824" y="3159252"/>
              <a:ext cx="1700784" cy="384048"/>
            </a:xfrm>
            <a:prstGeom prst="rect">
              <a:avLst/>
            </a:prstGeom>
            <a:noFill/>
            <a:ln/>
          </p:spPr>
          <p:txBody>
            <a:bodyPr wrap="square" lIns="0" tIns="0" rIns="0" bIns="0" rtlCol="0" anchor="ctr">
              <a:normAutofit/>
            </a:bodyPr>
            <a:lstStyle/>
            <a:p>
              <a:pPr algn="ctr" rtl="1"/>
              <a:r>
                <a:rPr lang="fa-IR"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پریدن روی پای چپ</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grpSp>
    </p:spTree>
    <p:extLst>
      <p:ext uri="{BB962C8B-B14F-4D97-AF65-F5344CB8AC3E}">
        <p14:creationId xmlns:p14="http://schemas.microsoft.com/office/powerpoint/2010/main" val="8915288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rgbClr val="F7FAFC"/>
        </a:solidFill>
        <a:effectLst/>
      </p:bgPr>
    </p:bg>
    <p:spTree>
      <p:nvGrpSpPr>
        <p:cNvPr id="1" name="">
          <a:extLst>
            <a:ext uri="{FF2B5EF4-FFF2-40B4-BE49-F238E27FC236}">
              <a16:creationId xmlns:a16="http://schemas.microsoft.com/office/drawing/2014/main" id="{E7C48942-09C8-FECD-B332-4A4A977B20A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D1F44AF-04C5-D69C-0B46-54CDB4B5E1DF}"/>
              </a:ext>
            </a:extLst>
          </p:cNvPr>
          <p:cNvSpPr/>
          <p:nvPr/>
        </p:nvSpPr>
        <p:spPr>
          <a:xfrm>
            <a:off x="0" y="0"/>
            <a:ext cx="12191695" cy="128016"/>
          </a:xfrm>
          <a:prstGeom prst="rect">
            <a:avLst/>
          </a:prstGeom>
          <a:solidFill>
            <a:srgbClr val="0B6E99"/>
          </a:solidFill>
          <a:ln w="12700">
            <a:solidFill>
              <a:srgbClr val="0B6E99"/>
            </a:solidFill>
            <a:prstDash val="solid"/>
          </a:ln>
        </p:spPr>
      </p:sp>
      <p:sp>
        <p:nvSpPr>
          <p:cNvPr id="4" name="Text 2">
            <a:extLst>
              <a:ext uri="{FF2B5EF4-FFF2-40B4-BE49-F238E27FC236}">
                <a16:creationId xmlns:a16="http://schemas.microsoft.com/office/drawing/2014/main" id="{C7C008A0-B721-3C6C-9791-AFB700C08550}"/>
              </a:ext>
            </a:extLst>
          </p:cNvPr>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دامنه و دستاوردهای پروژه</a:t>
            </a:r>
            <a:endParaRPr lang="en-US" sz="2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5" name="Shape 3">
            <a:extLst>
              <a:ext uri="{FF2B5EF4-FFF2-40B4-BE49-F238E27FC236}">
                <a16:creationId xmlns:a16="http://schemas.microsoft.com/office/drawing/2014/main" id="{082525C6-EBF4-DAC5-9995-2CDEB3E30AF2}"/>
              </a:ext>
            </a:extLst>
          </p:cNvPr>
          <p:cNvSpPr/>
          <p:nvPr/>
        </p:nvSpPr>
        <p:spPr>
          <a:xfrm>
            <a:off x="658368" y="1207008"/>
            <a:ext cx="10881360" cy="0"/>
          </a:xfrm>
          <a:prstGeom prst="line">
            <a:avLst/>
          </a:prstGeom>
          <a:noFill/>
          <a:ln w="15240">
            <a:solidFill>
              <a:srgbClr val="D9E2EC"/>
            </a:solidFill>
            <a:prstDash val="solid"/>
          </a:ln>
        </p:spPr>
      </p:sp>
      <p:sp>
        <p:nvSpPr>
          <p:cNvPr id="7" name="Text 5">
            <a:extLst>
              <a:ext uri="{FF2B5EF4-FFF2-40B4-BE49-F238E27FC236}">
                <a16:creationId xmlns:a16="http://schemas.microsoft.com/office/drawing/2014/main" id="{F78A31D4-338D-982A-CB78-43AE5B89F5E6}"/>
              </a:ext>
            </a:extLst>
          </p:cNvPr>
          <p:cNvSpPr/>
          <p:nvPr/>
        </p:nvSpPr>
        <p:spPr>
          <a:xfrm>
            <a:off x="3794760" y="1481328"/>
            <a:ext cx="7360920" cy="457200"/>
          </a:xfrm>
          <a:prstGeom prst="rect">
            <a:avLst/>
          </a:prstGeom>
          <a:noFill/>
          <a:ln/>
        </p:spPr>
        <p:txBody>
          <a:bodyPr wrap="square" lIns="0" tIns="0" rIns="0" bIns="0" rtlCol="0" anchor="ctr">
            <a:normAutofit/>
          </a:bodyPr>
          <a:lstStyle/>
          <a:p>
            <a:pPr marL="0" indent="0" algn="r" rtl="1">
              <a:buNone/>
            </a:pPr>
            <a:r>
              <a:rPr lang="en-US" sz="19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از ۱۷ فعالیت NSAA، پنج فعالیت با ماهیت حرکتی متفاوت انتخاب شد</a:t>
            </a:r>
            <a:endParaRPr lang="en-US" sz="19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46" name="Shape 44">
            <a:extLst>
              <a:ext uri="{FF2B5EF4-FFF2-40B4-BE49-F238E27FC236}">
                <a16:creationId xmlns:a16="http://schemas.microsoft.com/office/drawing/2014/main" id="{DBD6EF95-698A-EABF-5CEF-69CAC42C896D}"/>
              </a:ext>
            </a:extLst>
          </p:cNvPr>
          <p:cNvSpPr/>
          <p:nvPr/>
        </p:nvSpPr>
        <p:spPr>
          <a:xfrm>
            <a:off x="658368" y="6473952"/>
            <a:ext cx="10881360" cy="0"/>
          </a:xfrm>
          <a:prstGeom prst="line">
            <a:avLst/>
          </a:prstGeom>
          <a:noFill/>
          <a:ln w="10160">
            <a:solidFill>
              <a:srgbClr val="E9EEF2"/>
            </a:solidFill>
            <a:prstDash val="solid"/>
          </a:ln>
        </p:spPr>
      </p:sp>
      <p:sp>
        <p:nvSpPr>
          <p:cNvPr id="47" name="Text 45">
            <a:extLst>
              <a:ext uri="{FF2B5EF4-FFF2-40B4-BE49-F238E27FC236}">
                <a16:creationId xmlns:a16="http://schemas.microsoft.com/office/drawing/2014/main" id="{AAD4B0D0-6367-B038-3C77-2FB8B16D60B5}"/>
              </a:ext>
            </a:extLst>
          </p:cNvPr>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8" name="Text 46">
            <a:extLst>
              <a:ext uri="{FF2B5EF4-FFF2-40B4-BE49-F238E27FC236}">
                <a16:creationId xmlns:a16="http://schemas.microsoft.com/office/drawing/2014/main" id="{F3F5308D-459A-D279-327F-D6560FAA0EED}"/>
              </a:ext>
            </a:extLst>
          </p:cNvPr>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مقدمه</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تعریف مسئله | ۱۱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9" name="Text 47">
            <a:extLst>
              <a:ext uri="{FF2B5EF4-FFF2-40B4-BE49-F238E27FC236}">
                <a16:creationId xmlns:a16="http://schemas.microsoft.com/office/drawing/2014/main" id="{976A62FB-7A1E-912B-A848-50F2842FBD08}"/>
              </a:ext>
            </a:extLst>
          </p:cNvPr>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۳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0" name="Shape 48">
            <a:extLst>
              <a:ext uri="{FF2B5EF4-FFF2-40B4-BE49-F238E27FC236}">
                <a16:creationId xmlns:a16="http://schemas.microsoft.com/office/drawing/2014/main" id="{2AB4445E-94CE-AB47-345D-03DD4BC9A3A4}"/>
              </a:ext>
            </a:extLst>
          </p:cNvPr>
          <p:cNvSpPr/>
          <p:nvPr/>
        </p:nvSpPr>
        <p:spPr>
          <a:xfrm>
            <a:off x="2560320" y="6766560"/>
            <a:ext cx="1410789" cy="41148"/>
          </a:xfrm>
          <a:prstGeom prst="rect">
            <a:avLst/>
          </a:prstGeom>
          <a:solidFill>
            <a:srgbClr val="0B6E99"/>
          </a:solidFill>
          <a:ln w="12700">
            <a:solidFill>
              <a:srgbClr val="0B6E99"/>
            </a:solidFill>
            <a:prstDash val="solid"/>
          </a:ln>
        </p:spPr>
      </p:sp>
      <p:sp>
        <p:nvSpPr>
          <p:cNvPr id="51" name="Shape 49">
            <a:extLst>
              <a:ext uri="{FF2B5EF4-FFF2-40B4-BE49-F238E27FC236}">
                <a16:creationId xmlns:a16="http://schemas.microsoft.com/office/drawing/2014/main" id="{419967B2-1092-E9E3-3D94-FCAE217E2D16}"/>
              </a:ext>
            </a:extLst>
          </p:cNvPr>
          <p:cNvSpPr/>
          <p:nvPr/>
        </p:nvSpPr>
        <p:spPr>
          <a:xfrm>
            <a:off x="3971109" y="6766560"/>
            <a:ext cx="5172891" cy="41148"/>
          </a:xfrm>
          <a:prstGeom prst="rect">
            <a:avLst/>
          </a:prstGeom>
          <a:solidFill>
            <a:srgbClr val="E6EDF2"/>
          </a:solidFill>
          <a:ln w="12700">
            <a:solidFill>
              <a:srgbClr val="E6EDF2"/>
            </a:solidFill>
            <a:prstDash val="solid"/>
          </a:ln>
        </p:spPr>
      </p:sp>
      <p:grpSp>
        <p:nvGrpSpPr>
          <p:cNvPr id="3" name="Group 2">
            <a:extLst>
              <a:ext uri="{FF2B5EF4-FFF2-40B4-BE49-F238E27FC236}">
                <a16:creationId xmlns:a16="http://schemas.microsoft.com/office/drawing/2014/main" id="{DAC99F0F-2C27-8FEC-EDC1-21D69DA0ED9E}"/>
              </a:ext>
            </a:extLst>
          </p:cNvPr>
          <p:cNvGrpSpPr/>
          <p:nvPr/>
        </p:nvGrpSpPr>
        <p:grpSpPr>
          <a:xfrm>
            <a:off x="530352" y="2318004"/>
            <a:ext cx="2029968" cy="1965960"/>
            <a:chOff x="7516368" y="2971800"/>
            <a:chExt cx="2029968" cy="1965960"/>
          </a:xfrm>
        </p:grpSpPr>
        <p:sp>
          <p:nvSpPr>
            <p:cNvPr id="6" name="Shape 21">
              <a:extLst>
                <a:ext uri="{FF2B5EF4-FFF2-40B4-BE49-F238E27FC236}">
                  <a16:creationId xmlns:a16="http://schemas.microsoft.com/office/drawing/2014/main" id="{3C0E57B9-B6C0-6656-42FD-5A8E36042B7F}"/>
                </a:ext>
              </a:extLst>
            </p:cNvPr>
            <p:cNvSpPr/>
            <p:nvPr/>
          </p:nvSpPr>
          <p:spPr>
            <a:xfrm>
              <a:off x="7516368"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8" name="Shape 22">
              <a:extLst>
                <a:ext uri="{FF2B5EF4-FFF2-40B4-BE49-F238E27FC236}">
                  <a16:creationId xmlns:a16="http://schemas.microsoft.com/office/drawing/2014/main" id="{D6B7F0E0-2372-F611-CEBC-4AB06169063A}"/>
                </a:ext>
              </a:extLst>
            </p:cNvPr>
            <p:cNvSpPr/>
            <p:nvPr/>
          </p:nvSpPr>
          <p:spPr>
            <a:xfrm>
              <a:off x="8193024" y="3182112"/>
              <a:ext cx="658368" cy="658368"/>
            </a:xfrm>
            <a:prstGeom prst="ellipse">
              <a:avLst/>
            </a:prstGeom>
            <a:solidFill>
              <a:srgbClr val="2F855A"/>
            </a:solidFill>
            <a:ln w="12700">
              <a:solidFill>
                <a:srgbClr val="2F855A"/>
              </a:solidFill>
              <a:prstDash val="solid"/>
            </a:ln>
          </p:spPr>
        </p:sp>
        <p:sp>
          <p:nvSpPr>
            <p:cNvPr id="9" name="Text 23">
              <a:extLst>
                <a:ext uri="{FF2B5EF4-FFF2-40B4-BE49-F238E27FC236}">
                  <a16:creationId xmlns:a16="http://schemas.microsoft.com/office/drawing/2014/main" id="{32801DEB-1FDA-419B-5CD2-EC98D9910CDE}"/>
                </a:ext>
              </a:extLst>
            </p:cNvPr>
            <p:cNvSpPr/>
            <p:nvPr/>
          </p:nvSpPr>
          <p:spPr>
            <a:xfrm>
              <a:off x="8193024"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۴</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0" name="Text 24">
              <a:extLst>
                <a:ext uri="{FF2B5EF4-FFF2-40B4-BE49-F238E27FC236}">
                  <a16:creationId xmlns:a16="http://schemas.microsoft.com/office/drawing/2014/main" id="{EB683AB1-E753-B117-D3C5-8361002670B4}"/>
                </a:ext>
              </a:extLst>
            </p:cNvPr>
            <p:cNvSpPr/>
            <p:nvPr/>
          </p:nvSpPr>
          <p:spPr>
            <a:xfrm>
              <a:off x="7680960"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بالا آوردن سر</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11" name="Text 25">
              <a:extLst>
                <a:ext uri="{FF2B5EF4-FFF2-40B4-BE49-F238E27FC236}">
                  <a16:creationId xmlns:a16="http://schemas.microsoft.com/office/drawing/2014/main" id="{D9606376-B83E-735E-17A2-5CFC4128FAFF}"/>
                </a:ext>
              </a:extLst>
            </p:cNvPr>
            <p:cNvSpPr/>
            <p:nvPr/>
          </p:nvSpPr>
          <p:spPr>
            <a:xfrm>
              <a:off x="7680960"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حرکت ضدجاذبه گردن</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spTree>
    <p:extLst>
      <p:ext uri="{BB962C8B-B14F-4D97-AF65-F5344CB8AC3E}">
        <p14:creationId xmlns:p14="http://schemas.microsoft.com/office/powerpoint/2010/main" val="8132801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F7FAFC"/>
        </a:solidFill>
        <a:effectLst/>
      </p:bgPr>
    </p:bg>
    <p:spTree>
      <p:nvGrpSpPr>
        <p:cNvPr id="1" name="">
          <a:extLst>
            <a:ext uri="{FF2B5EF4-FFF2-40B4-BE49-F238E27FC236}">
              <a16:creationId xmlns:a16="http://schemas.microsoft.com/office/drawing/2014/main" id="{1538D853-1483-E99C-033D-0528F0C251D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A9A766E-F8E7-FA96-EBFE-EDCA0E37E151}"/>
              </a:ext>
            </a:extLst>
          </p:cNvPr>
          <p:cNvSpPr/>
          <p:nvPr/>
        </p:nvSpPr>
        <p:spPr>
          <a:xfrm>
            <a:off x="0" y="0"/>
            <a:ext cx="12191695" cy="128016"/>
          </a:xfrm>
          <a:prstGeom prst="rect">
            <a:avLst/>
          </a:prstGeom>
          <a:solidFill>
            <a:srgbClr val="0B6E99"/>
          </a:solidFill>
          <a:ln w="12700">
            <a:solidFill>
              <a:srgbClr val="0B6E99"/>
            </a:solidFill>
            <a:prstDash val="solid"/>
          </a:ln>
        </p:spPr>
      </p:sp>
      <p:sp>
        <p:nvSpPr>
          <p:cNvPr id="4" name="Text 2">
            <a:extLst>
              <a:ext uri="{FF2B5EF4-FFF2-40B4-BE49-F238E27FC236}">
                <a16:creationId xmlns:a16="http://schemas.microsoft.com/office/drawing/2014/main" id="{BE6E0BED-14E8-4009-3F07-353BB830E629}"/>
              </a:ext>
            </a:extLst>
          </p:cNvPr>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دامنه و دستاوردهای پروژه</a:t>
            </a:r>
            <a:endParaRPr lang="en-US" sz="2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5" name="Shape 3">
            <a:extLst>
              <a:ext uri="{FF2B5EF4-FFF2-40B4-BE49-F238E27FC236}">
                <a16:creationId xmlns:a16="http://schemas.microsoft.com/office/drawing/2014/main" id="{03EA2A0B-4A67-79AE-8057-9FF7E27539B5}"/>
              </a:ext>
            </a:extLst>
          </p:cNvPr>
          <p:cNvSpPr/>
          <p:nvPr/>
        </p:nvSpPr>
        <p:spPr>
          <a:xfrm>
            <a:off x="658368" y="1207008"/>
            <a:ext cx="10881360" cy="0"/>
          </a:xfrm>
          <a:prstGeom prst="line">
            <a:avLst/>
          </a:prstGeom>
          <a:noFill/>
          <a:ln w="15240">
            <a:solidFill>
              <a:srgbClr val="D9E2EC"/>
            </a:solidFill>
            <a:prstDash val="solid"/>
          </a:ln>
        </p:spPr>
      </p:sp>
      <p:sp>
        <p:nvSpPr>
          <p:cNvPr id="7" name="Text 5">
            <a:extLst>
              <a:ext uri="{FF2B5EF4-FFF2-40B4-BE49-F238E27FC236}">
                <a16:creationId xmlns:a16="http://schemas.microsoft.com/office/drawing/2014/main" id="{0829A15C-F614-1140-FBE4-7477D86FE4CC}"/>
              </a:ext>
            </a:extLst>
          </p:cNvPr>
          <p:cNvSpPr/>
          <p:nvPr/>
        </p:nvSpPr>
        <p:spPr>
          <a:xfrm>
            <a:off x="3794760" y="1481328"/>
            <a:ext cx="7360920" cy="457200"/>
          </a:xfrm>
          <a:prstGeom prst="rect">
            <a:avLst/>
          </a:prstGeom>
          <a:noFill/>
          <a:ln/>
        </p:spPr>
        <p:txBody>
          <a:bodyPr wrap="square" lIns="0" tIns="0" rIns="0" bIns="0" rtlCol="0" anchor="ctr">
            <a:normAutofit/>
          </a:bodyPr>
          <a:lstStyle/>
          <a:p>
            <a:pPr marL="0" indent="0" algn="r" rtl="1">
              <a:buNone/>
            </a:pPr>
            <a:r>
              <a:rPr lang="en-US" sz="19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از ۱۷ فعالیت NSAA، پنج فعالیت با ماهیت حرکتی متفاوت انتخاب شد</a:t>
            </a:r>
            <a:endParaRPr lang="en-US" sz="19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46" name="Shape 44">
            <a:extLst>
              <a:ext uri="{FF2B5EF4-FFF2-40B4-BE49-F238E27FC236}">
                <a16:creationId xmlns:a16="http://schemas.microsoft.com/office/drawing/2014/main" id="{CF624EE2-6561-BCCF-1443-AACBAEC37CC1}"/>
              </a:ext>
            </a:extLst>
          </p:cNvPr>
          <p:cNvSpPr/>
          <p:nvPr/>
        </p:nvSpPr>
        <p:spPr>
          <a:xfrm>
            <a:off x="658368" y="6473952"/>
            <a:ext cx="10881360" cy="0"/>
          </a:xfrm>
          <a:prstGeom prst="line">
            <a:avLst/>
          </a:prstGeom>
          <a:noFill/>
          <a:ln w="10160">
            <a:solidFill>
              <a:srgbClr val="E9EEF2"/>
            </a:solidFill>
            <a:prstDash val="solid"/>
          </a:ln>
        </p:spPr>
      </p:sp>
      <p:sp>
        <p:nvSpPr>
          <p:cNvPr id="47" name="Text 45">
            <a:extLst>
              <a:ext uri="{FF2B5EF4-FFF2-40B4-BE49-F238E27FC236}">
                <a16:creationId xmlns:a16="http://schemas.microsoft.com/office/drawing/2014/main" id="{C4D09DE8-909C-B999-F95C-A049F46A32F9}"/>
              </a:ext>
            </a:extLst>
          </p:cNvPr>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8" name="Text 46">
            <a:extLst>
              <a:ext uri="{FF2B5EF4-FFF2-40B4-BE49-F238E27FC236}">
                <a16:creationId xmlns:a16="http://schemas.microsoft.com/office/drawing/2014/main" id="{26539015-6913-8499-E48B-38CE71D8A29D}"/>
              </a:ext>
            </a:extLst>
          </p:cNvPr>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مقدمه</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تعریف مسئله | ۱۱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9" name="Text 47">
            <a:extLst>
              <a:ext uri="{FF2B5EF4-FFF2-40B4-BE49-F238E27FC236}">
                <a16:creationId xmlns:a16="http://schemas.microsoft.com/office/drawing/2014/main" id="{CF6CF669-9986-109D-195E-23578B1ABF53}"/>
              </a:ext>
            </a:extLst>
          </p:cNvPr>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۳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0" name="Shape 48">
            <a:extLst>
              <a:ext uri="{FF2B5EF4-FFF2-40B4-BE49-F238E27FC236}">
                <a16:creationId xmlns:a16="http://schemas.microsoft.com/office/drawing/2014/main" id="{67AF9A4F-DEE7-792E-5BE7-9F766A6943BF}"/>
              </a:ext>
            </a:extLst>
          </p:cNvPr>
          <p:cNvSpPr/>
          <p:nvPr/>
        </p:nvSpPr>
        <p:spPr>
          <a:xfrm>
            <a:off x="2560320" y="6766560"/>
            <a:ext cx="1410789" cy="41148"/>
          </a:xfrm>
          <a:prstGeom prst="rect">
            <a:avLst/>
          </a:prstGeom>
          <a:solidFill>
            <a:srgbClr val="0B6E99"/>
          </a:solidFill>
          <a:ln w="12700">
            <a:solidFill>
              <a:srgbClr val="0B6E99"/>
            </a:solidFill>
            <a:prstDash val="solid"/>
          </a:ln>
        </p:spPr>
      </p:sp>
      <p:sp>
        <p:nvSpPr>
          <p:cNvPr id="51" name="Shape 49">
            <a:extLst>
              <a:ext uri="{FF2B5EF4-FFF2-40B4-BE49-F238E27FC236}">
                <a16:creationId xmlns:a16="http://schemas.microsoft.com/office/drawing/2014/main" id="{B0FAE97C-DAA6-0A1D-B89D-638D7862082E}"/>
              </a:ext>
            </a:extLst>
          </p:cNvPr>
          <p:cNvSpPr/>
          <p:nvPr/>
        </p:nvSpPr>
        <p:spPr>
          <a:xfrm>
            <a:off x="3971109" y="6766560"/>
            <a:ext cx="5172891" cy="41148"/>
          </a:xfrm>
          <a:prstGeom prst="rect">
            <a:avLst/>
          </a:prstGeom>
          <a:solidFill>
            <a:srgbClr val="E6EDF2"/>
          </a:solidFill>
          <a:ln w="12700">
            <a:solidFill>
              <a:srgbClr val="E6EDF2"/>
            </a:solidFill>
            <a:prstDash val="solid"/>
          </a:ln>
        </p:spPr>
      </p:sp>
      <p:grpSp>
        <p:nvGrpSpPr>
          <p:cNvPr id="12" name="Group 11">
            <a:extLst>
              <a:ext uri="{FF2B5EF4-FFF2-40B4-BE49-F238E27FC236}">
                <a16:creationId xmlns:a16="http://schemas.microsoft.com/office/drawing/2014/main" id="{6AB416BA-1D7C-2A27-3292-FA0EF2A64487}"/>
              </a:ext>
            </a:extLst>
          </p:cNvPr>
          <p:cNvGrpSpPr/>
          <p:nvPr/>
        </p:nvGrpSpPr>
        <p:grpSpPr>
          <a:xfrm>
            <a:off x="3249549" y="2975776"/>
            <a:ext cx="2029968" cy="1039101"/>
            <a:chOff x="713232" y="2971800"/>
            <a:chExt cx="2029968" cy="731520"/>
          </a:xfrm>
        </p:grpSpPr>
        <p:sp>
          <p:nvSpPr>
            <p:cNvPr id="13" name="Shape 6">
              <a:extLst>
                <a:ext uri="{FF2B5EF4-FFF2-40B4-BE49-F238E27FC236}">
                  <a16:creationId xmlns:a16="http://schemas.microsoft.com/office/drawing/2014/main" id="{931D99AE-55CA-1A46-FCF6-6267D2217106}"/>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endParaRPr lang="en-US" dirty="0"/>
            </a:p>
          </p:txBody>
        </p:sp>
        <p:sp>
          <p:nvSpPr>
            <p:cNvPr id="14" name="Text 8">
              <a:extLst>
                <a:ext uri="{FF2B5EF4-FFF2-40B4-BE49-F238E27FC236}">
                  <a16:creationId xmlns:a16="http://schemas.microsoft.com/office/drawing/2014/main" id="{C00E59A5-3134-496C-C0EF-B473D0A5D9B0}"/>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5" name="Text 9">
              <a:extLst>
                <a:ext uri="{FF2B5EF4-FFF2-40B4-BE49-F238E27FC236}">
                  <a16:creationId xmlns:a16="http://schemas.microsoft.com/office/drawing/2014/main" id="{954B84E3-E847-0862-CC72-5578DA0C0782}"/>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بالا رفتن از جعبه با پای چپ</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grpSp>
      <p:grpSp>
        <p:nvGrpSpPr>
          <p:cNvPr id="16" name="Group 15">
            <a:extLst>
              <a:ext uri="{FF2B5EF4-FFF2-40B4-BE49-F238E27FC236}">
                <a16:creationId xmlns:a16="http://schemas.microsoft.com/office/drawing/2014/main" id="{B661696B-3D62-43A1-9D9C-01A3B094AEF9}"/>
              </a:ext>
            </a:extLst>
          </p:cNvPr>
          <p:cNvGrpSpPr/>
          <p:nvPr/>
        </p:nvGrpSpPr>
        <p:grpSpPr>
          <a:xfrm>
            <a:off x="5965454" y="2975776"/>
            <a:ext cx="2029968" cy="1039101"/>
            <a:chOff x="713232" y="2971800"/>
            <a:chExt cx="2029968" cy="731520"/>
          </a:xfrm>
        </p:grpSpPr>
        <p:sp>
          <p:nvSpPr>
            <p:cNvPr id="17" name="Shape 6">
              <a:extLst>
                <a:ext uri="{FF2B5EF4-FFF2-40B4-BE49-F238E27FC236}">
                  <a16:creationId xmlns:a16="http://schemas.microsoft.com/office/drawing/2014/main" id="{F13706F3-7E59-149B-190C-A0EC9B26EDC4}"/>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pPr marL="0" algn="r" defTabSz="914400" rtl="1" eaLnBrk="1" latinLnBrk="0" hangingPunct="1"/>
              <a:endParaRPr lang="en-US" dirty="0"/>
            </a:p>
          </p:txBody>
        </p:sp>
        <p:sp>
          <p:nvSpPr>
            <p:cNvPr id="18" name="Text 8">
              <a:extLst>
                <a:ext uri="{FF2B5EF4-FFF2-40B4-BE49-F238E27FC236}">
                  <a16:creationId xmlns:a16="http://schemas.microsoft.com/office/drawing/2014/main" id="{9FE6DBE3-D7C4-B272-CCEB-E7D728D05B4E}"/>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9" name="Text 9">
              <a:extLst>
                <a:ext uri="{FF2B5EF4-FFF2-40B4-BE49-F238E27FC236}">
                  <a16:creationId xmlns:a16="http://schemas.microsoft.com/office/drawing/2014/main" id="{5F4C503D-61A1-0852-A4D6-CD648A019D58}"/>
                </a:ext>
              </a:extLst>
            </p:cNvPr>
            <p:cNvSpPr/>
            <p:nvPr/>
          </p:nvSpPr>
          <p:spPr>
            <a:xfrm>
              <a:off x="775960" y="3159252"/>
              <a:ext cx="1904512"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پایین آمدن </a:t>
              </a:r>
              <a:r>
                <a:rPr lang="fa-IR"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از جعبه با پای راست</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grpSp>
      <p:grpSp>
        <p:nvGrpSpPr>
          <p:cNvPr id="20" name="Group 19">
            <a:extLst>
              <a:ext uri="{FF2B5EF4-FFF2-40B4-BE49-F238E27FC236}">
                <a16:creationId xmlns:a16="http://schemas.microsoft.com/office/drawing/2014/main" id="{7E5DB628-51CF-680C-D261-A912BF4AEA1E}"/>
              </a:ext>
            </a:extLst>
          </p:cNvPr>
          <p:cNvGrpSpPr/>
          <p:nvPr/>
        </p:nvGrpSpPr>
        <p:grpSpPr>
          <a:xfrm>
            <a:off x="8667711" y="2948481"/>
            <a:ext cx="2029968" cy="1039101"/>
            <a:chOff x="713232" y="2971800"/>
            <a:chExt cx="2029968" cy="731520"/>
          </a:xfrm>
        </p:grpSpPr>
        <p:sp>
          <p:nvSpPr>
            <p:cNvPr id="21" name="Shape 6">
              <a:extLst>
                <a:ext uri="{FF2B5EF4-FFF2-40B4-BE49-F238E27FC236}">
                  <a16:creationId xmlns:a16="http://schemas.microsoft.com/office/drawing/2014/main" id="{4CEDA05A-0205-E898-0DE2-4F80861F1CFF}"/>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pPr marL="0" algn="r" defTabSz="914400" rtl="1" eaLnBrk="1" latinLnBrk="0" hangingPunct="1"/>
              <a:endParaRPr lang="en-US" dirty="0"/>
            </a:p>
          </p:txBody>
        </p:sp>
        <p:sp>
          <p:nvSpPr>
            <p:cNvPr id="22" name="Text 8">
              <a:extLst>
                <a:ext uri="{FF2B5EF4-FFF2-40B4-BE49-F238E27FC236}">
                  <a16:creationId xmlns:a16="http://schemas.microsoft.com/office/drawing/2014/main" id="{A690E5AE-43E6-EA7B-8F33-ABA9F1A3AA68}"/>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3" name="Text 9">
              <a:extLst>
                <a:ext uri="{FF2B5EF4-FFF2-40B4-BE49-F238E27FC236}">
                  <a16:creationId xmlns:a16="http://schemas.microsoft.com/office/drawing/2014/main" id="{BF17488C-096F-70BC-A734-FFBD2A0814E8}"/>
                </a:ext>
              </a:extLst>
            </p:cNvPr>
            <p:cNvSpPr/>
            <p:nvPr/>
          </p:nvSpPr>
          <p:spPr>
            <a:xfrm>
              <a:off x="775960" y="3159252"/>
              <a:ext cx="1904512"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پایین آمدن از جعبه با پای چپ</a:t>
              </a:r>
              <a:endParaRPr lang="en-US" sz="1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grpSp>
      <p:grpSp>
        <p:nvGrpSpPr>
          <p:cNvPr id="24" name="Group 23">
            <a:extLst>
              <a:ext uri="{FF2B5EF4-FFF2-40B4-BE49-F238E27FC236}">
                <a16:creationId xmlns:a16="http://schemas.microsoft.com/office/drawing/2014/main" id="{1559C184-1784-2FD6-B757-FFEDBF498FAB}"/>
              </a:ext>
            </a:extLst>
          </p:cNvPr>
          <p:cNvGrpSpPr/>
          <p:nvPr/>
        </p:nvGrpSpPr>
        <p:grpSpPr>
          <a:xfrm>
            <a:off x="539496" y="2314880"/>
            <a:ext cx="2029968" cy="1965960"/>
            <a:chOff x="9784080" y="2971800"/>
            <a:chExt cx="2029968" cy="1965960"/>
          </a:xfrm>
        </p:grpSpPr>
        <p:sp>
          <p:nvSpPr>
            <p:cNvPr id="25" name="Shape 26">
              <a:extLst>
                <a:ext uri="{FF2B5EF4-FFF2-40B4-BE49-F238E27FC236}">
                  <a16:creationId xmlns:a16="http://schemas.microsoft.com/office/drawing/2014/main" id="{2B8C1585-F582-CDBC-EF0E-583F24E4EDFE}"/>
                </a:ext>
              </a:extLst>
            </p:cNvPr>
            <p:cNvSpPr/>
            <p:nvPr/>
          </p:nvSpPr>
          <p:spPr>
            <a:xfrm>
              <a:off x="9784080"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6" name="Shape 27">
              <a:extLst>
                <a:ext uri="{FF2B5EF4-FFF2-40B4-BE49-F238E27FC236}">
                  <a16:creationId xmlns:a16="http://schemas.microsoft.com/office/drawing/2014/main" id="{09EA6904-1378-4939-5C36-CC8CC1424731}"/>
                </a:ext>
              </a:extLst>
            </p:cNvPr>
            <p:cNvSpPr/>
            <p:nvPr/>
          </p:nvSpPr>
          <p:spPr>
            <a:xfrm>
              <a:off x="10460736" y="3182112"/>
              <a:ext cx="658368" cy="658368"/>
            </a:xfrm>
            <a:prstGeom prst="ellipse">
              <a:avLst/>
            </a:prstGeom>
            <a:solidFill>
              <a:srgbClr val="C0392B"/>
            </a:solidFill>
            <a:ln w="12700">
              <a:solidFill>
                <a:srgbClr val="C0392B"/>
              </a:solidFill>
              <a:prstDash val="solid"/>
            </a:ln>
          </p:spPr>
        </p:sp>
        <p:sp>
          <p:nvSpPr>
            <p:cNvPr id="27" name="Text 28">
              <a:extLst>
                <a:ext uri="{FF2B5EF4-FFF2-40B4-BE49-F238E27FC236}">
                  <a16:creationId xmlns:a16="http://schemas.microsoft.com/office/drawing/2014/main" id="{8EEAF6BE-0B34-C112-3245-F7F7A1897A64}"/>
                </a:ext>
              </a:extLst>
            </p:cNvPr>
            <p:cNvSpPr/>
            <p:nvPr/>
          </p:nvSpPr>
          <p:spPr>
            <a:xfrm>
              <a:off x="10460736"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۵</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8" name="Text 29">
              <a:extLst>
                <a:ext uri="{FF2B5EF4-FFF2-40B4-BE49-F238E27FC236}">
                  <a16:creationId xmlns:a16="http://schemas.microsoft.com/office/drawing/2014/main" id="{89D93AA2-179B-277D-CF4D-43F93134EE21}"/>
                </a:ext>
              </a:extLst>
            </p:cNvPr>
            <p:cNvSpPr/>
            <p:nvPr/>
          </p:nvSpPr>
          <p:spPr>
            <a:xfrm>
              <a:off x="9948672"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بالا رفتن از جعبه</a:t>
              </a:r>
              <a:endParaRPr lang="en-US" sz="1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29" name="Text 30">
              <a:extLst>
                <a:ext uri="{FF2B5EF4-FFF2-40B4-BE49-F238E27FC236}">
                  <a16:creationId xmlns:a16="http://schemas.microsoft.com/office/drawing/2014/main" id="{6C4243A2-BA76-AA33-AA17-945339BA208D}"/>
                </a:ext>
              </a:extLst>
            </p:cNvPr>
            <p:cNvSpPr/>
            <p:nvPr/>
          </p:nvSpPr>
          <p:spPr>
            <a:xfrm>
              <a:off x="9948672"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انتقال وزن و تعادل</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spTree>
    <p:extLst>
      <p:ext uri="{BB962C8B-B14F-4D97-AF65-F5344CB8AC3E}">
        <p14:creationId xmlns:p14="http://schemas.microsoft.com/office/powerpoint/2010/main" val="7787216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rgbClr val="F7FAFC"/>
        </a:solidFill>
        <a:effectLst/>
      </p:bgPr>
    </p:bg>
    <p:spTree>
      <p:nvGrpSpPr>
        <p:cNvPr id="1" name="">
          <a:extLst>
            <a:ext uri="{FF2B5EF4-FFF2-40B4-BE49-F238E27FC236}">
              <a16:creationId xmlns:a16="http://schemas.microsoft.com/office/drawing/2014/main" id="{E59F3CF9-040A-94F3-FCC0-E884D8BFCF5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86733EC-FAE0-B049-5FC5-8FCC0A21FC5B}"/>
              </a:ext>
            </a:extLst>
          </p:cNvPr>
          <p:cNvSpPr/>
          <p:nvPr/>
        </p:nvSpPr>
        <p:spPr>
          <a:xfrm>
            <a:off x="0" y="0"/>
            <a:ext cx="12191695" cy="128016"/>
          </a:xfrm>
          <a:prstGeom prst="rect">
            <a:avLst/>
          </a:prstGeom>
          <a:solidFill>
            <a:srgbClr val="0B6E99"/>
          </a:solidFill>
          <a:ln w="12700">
            <a:solidFill>
              <a:srgbClr val="0B6E99"/>
            </a:solidFill>
            <a:prstDash val="solid"/>
          </a:ln>
        </p:spPr>
      </p:sp>
      <p:sp>
        <p:nvSpPr>
          <p:cNvPr id="4" name="Text 2">
            <a:extLst>
              <a:ext uri="{FF2B5EF4-FFF2-40B4-BE49-F238E27FC236}">
                <a16:creationId xmlns:a16="http://schemas.microsoft.com/office/drawing/2014/main" id="{FCFA3820-A068-CA36-0E8E-16E6CC9D5514}"/>
              </a:ext>
            </a:extLst>
          </p:cNvPr>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دامنه و دستاوردهای پروژه</a:t>
            </a:r>
            <a:endParaRPr lang="en-US" sz="2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5" name="Shape 3">
            <a:extLst>
              <a:ext uri="{FF2B5EF4-FFF2-40B4-BE49-F238E27FC236}">
                <a16:creationId xmlns:a16="http://schemas.microsoft.com/office/drawing/2014/main" id="{EA238E21-F20D-4FB3-D923-BCF6B22AF368}"/>
              </a:ext>
            </a:extLst>
          </p:cNvPr>
          <p:cNvSpPr/>
          <p:nvPr/>
        </p:nvSpPr>
        <p:spPr>
          <a:xfrm>
            <a:off x="658368" y="1207008"/>
            <a:ext cx="10881360" cy="0"/>
          </a:xfrm>
          <a:prstGeom prst="line">
            <a:avLst/>
          </a:prstGeom>
          <a:noFill/>
          <a:ln w="15240">
            <a:solidFill>
              <a:srgbClr val="D9E2EC"/>
            </a:solidFill>
            <a:prstDash val="solid"/>
          </a:ln>
        </p:spPr>
      </p:sp>
      <p:sp>
        <p:nvSpPr>
          <p:cNvPr id="7" name="Text 5">
            <a:extLst>
              <a:ext uri="{FF2B5EF4-FFF2-40B4-BE49-F238E27FC236}">
                <a16:creationId xmlns:a16="http://schemas.microsoft.com/office/drawing/2014/main" id="{33E08E54-A144-1C08-0424-E2218651B217}"/>
              </a:ext>
            </a:extLst>
          </p:cNvPr>
          <p:cNvSpPr/>
          <p:nvPr/>
        </p:nvSpPr>
        <p:spPr>
          <a:xfrm>
            <a:off x="3794760" y="1481328"/>
            <a:ext cx="7360920" cy="457200"/>
          </a:xfrm>
          <a:prstGeom prst="rect">
            <a:avLst/>
          </a:prstGeom>
          <a:noFill/>
          <a:ln/>
        </p:spPr>
        <p:txBody>
          <a:bodyPr wrap="square" lIns="0" tIns="0" rIns="0" bIns="0" rtlCol="0" anchor="ctr">
            <a:normAutofit/>
          </a:bodyPr>
          <a:lstStyle/>
          <a:p>
            <a:pPr marL="0" indent="0" algn="r" rtl="1">
              <a:buNone/>
            </a:pPr>
            <a:r>
              <a:rPr lang="en-US" sz="19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از ۱۷ فعالیت NSAA، پنج فعالیت با ماهیت حرکتی متفاوت انتخاب شد</a:t>
            </a:r>
            <a:endParaRPr lang="en-US" sz="19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46" name="Shape 44">
            <a:extLst>
              <a:ext uri="{FF2B5EF4-FFF2-40B4-BE49-F238E27FC236}">
                <a16:creationId xmlns:a16="http://schemas.microsoft.com/office/drawing/2014/main" id="{ACE86DB5-6AE4-B436-C4C0-CEE85F2B0E00}"/>
              </a:ext>
            </a:extLst>
          </p:cNvPr>
          <p:cNvSpPr/>
          <p:nvPr/>
        </p:nvSpPr>
        <p:spPr>
          <a:xfrm>
            <a:off x="658368" y="6473952"/>
            <a:ext cx="10881360" cy="0"/>
          </a:xfrm>
          <a:prstGeom prst="line">
            <a:avLst/>
          </a:prstGeom>
          <a:noFill/>
          <a:ln w="10160">
            <a:solidFill>
              <a:srgbClr val="E9EEF2"/>
            </a:solidFill>
            <a:prstDash val="solid"/>
          </a:ln>
        </p:spPr>
      </p:sp>
      <p:sp>
        <p:nvSpPr>
          <p:cNvPr id="47" name="Text 45">
            <a:extLst>
              <a:ext uri="{FF2B5EF4-FFF2-40B4-BE49-F238E27FC236}">
                <a16:creationId xmlns:a16="http://schemas.microsoft.com/office/drawing/2014/main" id="{48912343-DD3E-F2F0-00B4-44EF9673DA11}"/>
              </a:ext>
            </a:extLst>
          </p:cNvPr>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8" name="Text 46">
            <a:extLst>
              <a:ext uri="{FF2B5EF4-FFF2-40B4-BE49-F238E27FC236}">
                <a16:creationId xmlns:a16="http://schemas.microsoft.com/office/drawing/2014/main" id="{8BC126F7-AD7B-DE85-E9F4-D28E72E42093}"/>
              </a:ext>
            </a:extLst>
          </p:cNvPr>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مقدمه</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تعریف مسئله | ۱۱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9" name="Text 47">
            <a:extLst>
              <a:ext uri="{FF2B5EF4-FFF2-40B4-BE49-F238E27FC236}">
                <a16:creationId xmlns:a16="http://schemas.microsoft.com/office/drawing/2014/main" id="{615409FD-93E5-8208-763C-3E166D230CA4}"/>
              </a:ext>
            </a:extLst>
          </p:cNvPr>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۳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0" name="Shape 48">
            <a:extLst>
              <a:ext uri="{FF2B5EF4-FFF2-40B4-BE49-F238E27FC236}">
                <a16:creationId xmlns:a16="http://schemas.microsoft.com/office/drawing/2014/main" id="{8C0C6699-70E3-45FD-6539-9208B51411ED}"/>
              </a:ext>
            </a:extLst>
          </p:cNvPr>
          <p:cNvSpPr/>
          <p:nvPr/>
        </p:nvSpPr>
        <p:spPr>
          <a:xfrm>
            <a:off x="2560320" y="6766560"/>
            <a:ext cx="1410789" cy="41148"/>
          </a:xfrm>
          <a:prstGeom prst="rect">
            <a:avLst/>
          </a:prstGeom>
          <a:solidFill>
            <a:srgbClr val="0B6E99"/>
          </a:solidFill>
          <a:ln w="12700">
            <a:solidFill>
              <a:srgbClr val="0B6E99"/>
            </a:solidFill>
            <a:prstDash val="solid"/>
          </a:ln>
        </p:spPr>
      </p:sp>
      <p:sp>
        <p:nvSpPr>
          <p:cNvPr id="51" name="Shape 49">
            <a:extLst>
              <a:ext uri="{FF2B5EF4-FFF2-40B4-BE49-F238E27FC236}">
                <a16:creationId xmlns:a16="http://schemas.microsoft.com/office/drawing/2014/main" id="{7CC2C8B8-F72C-2CC2-6D1A-F2436BC05EC1}"/>
              </a:ext>
            </a:extLst>
          </p:cNvPr>
          <p:cNvSpPr/>
          <p:nvPr/>
        </p:nvSpPr>
        <p:spPr>
          <a:xfrm>
            <a:off x="3971109" y="6766560"/>
            <a:ext cx="5172891" cy="41148"/>
          </a:xfrm>
          <a:prstGeom prst="rect">
            <a:avLst/>
          </a:prstGeom>
          <a:solidFill>
            <a:srgbClr val="E6EDF2"/>
          </a:solidFill>
          <a:ln w="12700">
            <a:solidFill>
              <a:srgbClr val="E6EDF2"/>
            </a:solidFill>
            <a:prstDash val="solid"/>
          </a:ln>
        </p:spPr>
      </p:sp>
      <p:grpSp>
        <p:nvGrpSpPr>
          <p:cNvPr id="3" name="Group 2">
            <a:extLst>
              <a:ext uri="{FF2B5EF4-FFF2-40B4-BE49-F238E27FC236}">
                <a16:creationId xmlns:a16="http://schemas.microsoft.com/office/drawing/2014/main" id="{11B074E6-1CB9-4419-32AA-035BD767405C}"/>
              </a:ext>
            </a:extLst>
          </p:cNvPr>
          <p:cNvGrpSpPr/>
          <p:nvPr/>
        </p:nvGrpSpPr>
        <p:grpSpPr>
          <a:xfrm>
            <a:off x="3249549" y="2975776"/>
            <a:ext cx="2029968" cy="1039101"/>
            <a:chOff x="713232" y="2971800"/>
            <a:chExt cx="2029968" cy="731520"/>
          </a:xfrm>
        </p:grpSpPr>
        <p:sp>
          <p:nvSpPr>
            <p:cNvPr id="6" name="Shape 6">
              <a:extLst>
                <a:ext uri="{FF2B5EF4-FFF2-40B4-BE49-F238E27FC236}">
                  <a16:creationId xmlns:a16="http://schemas.microsoft.com/office/drawing/2014/main" id="{B86A9D71-439E-9CA6-F9FA-BC9E98AEAAC0}"/>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endParaRPr lang="en-US" dirty="0"/>
            </a:p>
          </p:txBody>
        </p:sp>
        <p:sp>
          <p:nvSpPr>
            <p:cNvPr id="8" name="Text 8">
              <a:extLst>
                <a:ext uri="{FF2B5EF4-FFF2-40B4-BE49-F238E27FC236}">
                  <a16:creationId xmlns:a16="http://schemas.microsoft.com/office/drawing/2014/main" id="{12A5481D-0CF3-F278-2EBE-886FBAC603A9}"/>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9" name="Text 9">
              <a:extLst>
                <a:ext uri="{FF2B5EF4-FFF2-40B4-BE49-F238E27FC236}">
                  <a16:creationId xmlns:a16="http://schemas.microsoft.com/office/drawing/2014/main" id="{1872F071-C7B8-A73A-40B4-404A06480490}"/>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بالا رفتن از جعبه با پای چپ</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grpSp>
      <p:grpSp>
        <p:nvGrpSpPr>
          <p:cNvPr id="10" name="Group 9">
            <a:extLst>
              <a:ext uri="{FF2B5EF4-FFF2-40B4-BE49-F238E27FC236}">
                <a16:creationId xmlns:a16="http://schemas.microsoft.com/office/drawing/2014/main" id="{6DC9DCBA-C1EB-A0BB-B2F8-F59D14F5A769}"/>
              </a:ext>
            </a:extLst>
          </p:cNvPr>
          <p:cNvGrpSpPr/>
          <p:nvPr/>
        </p:nvGrpSpPr>
        <p:grpSpPr>
          <a:xfrm>
            <a:off x="5965454" y="2975776"/>
            <a:ext cx="2029968" cy="1039101"/>
            <a:chOff x="713232" y="2971800"/>
            <a:chExt cx="2029968" cy="731520"/>
          </a:xfrm>
        </p:grpSpPr>
        <p:sp>
          <p:nvSpPr>
            <p:cNvPr id="11" name="Shape 6">
              <a:extLst>
                <a:ext uri="{FF2B5EF4-FFF2-40B4-BE49-F238E27FC236}">
                  <a16:creationId xmlns:a16="http://schemas.microsoft.com/office/drawing/2014/main" id="{FE30D4CA-6525-DC6D-2C8A-285962B2F37A}"/>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pPr marL="0" algn="r" defTabSz="914400" rtl="1" eaLnBrk="1" latinLnBrk="0" hangingPunct="1"/>
              <a:endParaRPr lang="en-US" dirty="0"/>
            </a:p>
          </p:txBody>
        </p:sp>
        <p:sp>
          <p:nvSpPr>
            <p:cNvPr id="12" name="Text 8">
              <a:extLst>
                <a:ext uri="{FF2B5EF4-FFF2-40B4-BE49-F238E27FC236}">
                  <a16:creationId xmlns:a16="http://schemas.microsoft.com/office/drawing/2014/main" id="{BD003D8A-150D-EC99-250B-5E2CC51973A0}"/>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3" name="Text 9">
              <a:extLst>
                <a:ext uri="{FF2B5EF4-FFF2-40B4-BE49-F238E27FC236}">
                  <a16:creationId xmlns:a16="http://schemas.microsoft.com/office/drawing/2014/main" id="{97C6F7A9-A553-81B8-D5F0-E9FCEDCB1C47}"/>
                </a:ext>
              </a:extLst>
            </p:cNvPr>
            <p:cNvSpPr/>
            <p:nvPr/>
          </p:nvSpPr>
          <p:spPr>
            <a:xfrm>
              <a:off x="775960" y="3159252"/>
              <a:ext cx="1904512"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پایین آمدن </a:t>
              </a:r>
              <a:r>
                <a:rPr lang="fa-IR"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از جعبه با پای راست</a:t>
              </a:r>
              <a:endParaRPr lang="en-US" sz="1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grpSp>
      <p:grpSp>
        <p:nvGrpSpPr>
          <p:cNvPr id="14" name="Group 13">
            <a:extLst>
              <a:ext uri="{FF2B5EF4-FFF2-40B4-BE49-F238E27FC236}">
                <a16:creationId xmlns:a16="http://schemas.microsoft.com/office/drawing/2014/main" id="{51F5B1E5-E16C-F758-2291-6D2623CABBAB}"/>
              </a:ext>
            </a:extLst>
          </p:cNvPr>
          <p:cNvGrpSpPr/>
          <p:nvPr/>
        </p:nvGrpSpPr>
        <p:grpSpPr>
          <a:xfrm>
            <a:off x="8667711" y="2948481"/>
            <a:ext cx="2029968" cy="1039101"/>
            <a:chOff x="713232" y="2971800"/>
            <a:chExt cx="2029968" cy="731520"/>
          </a:xfrm>
        </p:grpSpPr>
        <p:sp>
          <p:nvSpPr>
            <p:cNvPr id="15" name="Shape 6">
              <a:extLst>
                <a:ext uri="{FF2B5EF4-FFF2-40B4-BE49-F238E27FC236}">
                  <a16:creationId xmlns:a16="http://schemas.microsoft.com/office/drawing/2014/main" id="{0F8D0661-73DE-3E8B-C901-625E1BE3C8C1}"/>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pPr marL="0" algn="r" defTabSz="914400" rtl="1" eaLnBrk="1" latinLnBrk="0" hangingPunct="1"/>
              <a:endParaRPr lang="en-US" dirty="0"/>
            </a:p>
          </p:txBody>
        </p:sp>
        <p:sp>
          <p:nvSpPr>
            <p:cNvPr id="16" name="Text 8">
              <a:extLst>
                <a:ext uri="{FF2B5EF4-FFF2-40B4-BE49-F238E27FC236}">
                  <a16:creationId xmlns:a16="http://schemas.microsoft.com/office/drawing/2014/main" id="{D26F7AE0-BBCF-85CD-0FA4-E5BFD074DB90}"/>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7" name="Text 9">
              <a:extLst>
                <a:ext uri="{FF2B5EF4-FFF2-40B4-BE49-F238E27FC236}">
                  <a16:creationId xmlns:a16="http://schemas.microsoft.com/office/drawing/2014/main" id="{821BFBFA-61B3-D652-D025-F3E409D3E6F3}"/>
                </a:ext>
              </a:extLst>
            </p:cNvPr>
            <p:cNvSpPr/>
            <p:nvPr/>
          </p:nvSpPr>
          <p:spPr>
            <a:xfrm>
              <a:off x="775960" y="3159252"/>
              <a:ext cx="1904512"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پایین آمدن از جعبه با پای چپ</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grpSp>
      <p:grpSp>
        <p:nvGrpSpPr>
          <p:cNvPr id="18" name="Group 17">
            <a:extLst>
              <a:ext uri="{FF2B5EF4-FFF2-40B4-BE49-F238E27FC236}">
                <a16:creationId xmlns:a16="http://schemas.microsoft.com/office/drawing/2014/main" id="{DD3552DA-A991-3E66-ED6E-06038C83C505}"/>
              </a:ext>
            </a:extLst>
          </p:cNvPr>
          <p:cNvGrpSpPr/>
          <p:nvPr/>
        </p:nvGrpSpPr>
        <p:grpSpPr>
          <a:xfrm>
            <a:off x="539496" y="2314880"/>
            <a:ext cx="2029968" cy="1965960"/>
            <a:chOff x="9784080" y="2971800"/>
            <a:chExt cx="2029968" cy="1965960"/>
          </a:xfrm>
        </p:grpSpPr>
        <p:sp>
          <p:nvSpPr>
            <p:cNvPr id="19" name="Shape 26">
              <a:extLst>
                <a:ext uri="{FF2B5EF4-FFF2-40B4-BE49-F238E27FC236}">
                  <a16:creationId xmlns:a16="http://schemas.microsoft.com/office/drawing/2014/main" id="{746F234F-5604-DC52-380E-96E1F23F81E8}"/>
                </a:ext>
              </a:extLst>
            </p:cNvPr>
            <p:cNvSpPr/>
            <p:nvPr/>
          </p:nvSpPr>
          <p:spPr>
            <a:xfrm>
              <a:off x="9784080"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0" name="Shape 27">
              <a:extLst>
                <a:ext uri="{FF2B5EF4-FFF2-40B4-BE49-F238E27FC236}">
                  <a16:creationId xmlns:a16="http://schemas.microsoft.com/office/drawing/2014/main" id="{C2830A2F-9B9F-33A0-7282-1D529A187F09}"/>
                </a:ext>
              </a:extLst>
            </p:cNvPr>
            <p:cNvSpPr/>
            <p:nvPr/>
          </p:nvSpPr>
          <p:spPr>
            <a:xfrm>
              <a:off x="10460736" y="3182112"/>
              <a:ext cx="658368" cy="658368"/>
            </a:xfrm>
            <a:prstGeom prst="ellipse">
              <a:avLst/>
            </a:prstGeom>
            <a:solidFill>
              <a:srgbClr val="C0392B"/>
            </a:solidFill>
            <a:ln w="12700">
              <a:solidFill>
                <a:srgbClr val="C0392B"/>
              </a:solidFill>
              <a:prstDash val="solid"/>
            </a:ln>
          </p:spPr>
        </p:sp>
        <p:sp>
          <p:nvSpPr>
            <p:cNvPr id="21" name="Text 28">
              <a:extLst>
                <a:ext uri="{FF2B5EF4-FFF2-40B4-BE49-F238E27FC236}">
                  <a16:creationId xmlns:a16="http://schemas.microsoft.com/office/drawing/2014/main" id="{9D363117-2B8F-D8B0-E5D5-6218132DAAA5}"/>
                </a:ext>
              </a:extLst>
            </p:cNvPr>
            <p:cNvSpPr/>
            <p:nvPr/>
          </p:nvSpPr>
          <p:spPr>
            <a:xfrm>
              <a:off x="10460736"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۵</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2" name="Text 29">
              <a:extLst>
                <a:ext uri="{FF2B5EF4-FFF2-40B4-BE49-F238E27FC236}">
                  <a16:creationId xmlns:a16="http://schemas.microsoft.com/office/drawing/2014/main" id="{22280185-E9AF-86BD-0900-68C3740FB659}"/>
                </a:ext>
              </a:extLst>
            </p:cNvPr>
            <p:cNvSpPr/>
            <p:nvPr/>
          </p:nvSpPr>
          <p:spPr>
            <a:xfrm>
              <a:off x="9948672"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بالا رفتن از جعبه</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23" name="Text 30">
              <a:extLst>
                <a:ext uri="{FF2B5EF4-FFF2-40B4-BE49-F238E27FC236}">
                  <a16:creationId xmlns:a16="http://schemas.microsoft.com/office/drawing/2014/main" id="{20972157-0DCD-8E74-708D-F0EF8ED6A6C6}"/>
                </a:ext>
              </a:extLst>
            </p:cNvPr>
            <p:cNvSpPr/>
            <p:nvPr/>
          </p:nvSpPr>
          <p:spPr>
            <a:xfrm>
              <a:off x="9948672"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انتقال وزن و تعادل</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spTree>
    <p:extLst>
      <p:ext uri="{BB962C8B-B14F-4D97-AF65-F5344CB8AC3E}">
        <p14:creationId xmlns:p14="http://schemas.microsoft.com/office/powerpoint/2010/main" val="36082298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err="1">
                <a:solidFill>
                  <a:srgbClr val="102A43"/>
                </a:solidFill>
                <a:latin typeface="Sharif 1.2" panose="020B0000040000000000" pitchFamily="34" charset="-78"/>
                <a:ea typeface="Sharif 1.2" panose="020B0000040000000000" pitchFamily="34" charset="-78"/>
                <a:cs typeface="Sharif 1.2" panose="020B0000040000000000" pitchFamily="34" charset="-78"/>
              </a:rPr>
              <a:t>دامنه</a:t>
            </a:r>
            <a:r>
              <a:rPr lang="en-US" sz="2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a:t>
            </a:r>
            <a:r>
              <a:rPr lang="en-US" sz="2700" b="1" dirty="0" err="1">
                <a:solidFill>
                  <a:srgbClr val="102A43"/>
                </a:solidFill>
                <a:latin typeface="Sharif 1.2" panose="020B0000040000000000" pitchFamily="34" charset="-78"/>
                <a:ea typeface="Sharif 1.2" panose="020B0000040000000000" pitchFamily="34" charset="-78"/>
                <a:cs typeface="Sharif 1.2" panose="020B0000040000000000" pitchFamily="34" charset="-78"/>
              </a:rPr>
              <a:t>پروژه</a:t>
            </a:r>
            <a:endParaRPr lang="en-US" sz="2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Text 5"/>
          <p:cNvSpPr/>
          <p:nvPr/>
        </p:nvSpPr>
        <p:spPr>
          <a:xfrm>
            <a:off x="3794760" y="1481328"/>
            <a:ext cx="7360920" cy="457200"/>
          </a:xfrm>
          <a:prstGeom prst="rect">
            <a:avLst/>
          </a:prstGeom>
          <a:noFill/>
          <a:ln/>
        </p:spPr>
        <p:txBody>
          <a:bodyPr wrap="square" lIns="0" tIns="0" rIns="0" bIns="0" rtlCol="0" anchor="ctr">
            <a:normAutofit/>
          </a:bodyPr>
          <a:lstStyle/>
          <a:p>
            <a:pPr marL="0" indent="0" algn="r" rtl="1">
              <a:buNone/>
            </a:pPr>
            <a:r>
              <a:rPr lang="en-US" sz="19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از ۱۷ </a:t>
            </a:r>
            <a:r>
              <a:rPr lang="en-US" sz="1900" b="1" dirty="0" err="1">
                <a:solidFill>
                  <a:srgbClr val="102A43"/>
                </a:solidFill>
                <a:latin typeface="Sharif 1.2" panose="020B0000040000000000" pitchFamily="34" charset="-78"/>
                <a:ea typeface="Sharif 1.2" panose="020B0000040000000000" pitchFamily="34" charset="-78"/>
                <a:cs typeface="Sharif 1.2" panose="020B0000040000000000" pitchFamily="34" charset="-78"/>
              </a:rPr>
              <a:t>فعالیت</a:t>
            </a:r>
            <a:r>
              <a:rPr lang="fa-IR" sz="19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a:t>
            </a:r>
            <a:r>
              <a:rPr lang="en-US" sz="19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NSAA</a:t>
            </a:r>
            <a:r>
              <a:rPr lang="fa-IR" sz="19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a:t>
            </a:r>
            <a:r>
              <a:rPr lang="en-US" sz="1900" b="1" dirty="0" err="1">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پنج</a:t>
            </a:r>
            <a:r>
              <a:rPr lang="en-US" sz="19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 </a:t>
            </a:r>
            <a:r>
              <a:rPr lang="en-US" sz="19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فعالیت با ماهیت حرکتی متفاوت </a:t>
            </a:r>
            <a:r>
              <a:rPr lang="en-US" sz="1900" b="1" dirty="0" err="1">
                <a:solidFill>
                  <a:srgbClr val="102A43"/>
                </a:solidFill>
                <a:latin typeface="Sharif 1.2" panose="020B0000040000000000" pitchFamily="34" charset="-78"/>
                <a:ea typeface="Sharif 1.2" panose="020B0000040000000000" pitchFamily="34" charset="-78"/>
                <a:cs typeface="Sharif 1.2" panose="020B0000040000000000" pitchFamily="34" charset="-78"/>
              </a:rPr>
              <a:t>انتخاب</a:t>
            </a:r>
            <a:r>
              <a:rPr lang="en-US" sz="19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 </a:t>
            </a:r>
            <a:r>
              <a:rPr lang="en-US" sz="1900" b="1" dirty="0" err="1">
                <a:solidFill>
                  <a:srgbClr val="102A43"/>
                </a:solidFill>
                <a:latin typeface="Sharif 1.2" panose="020B0000040000000000" pitchFamily="34" charset="-78"/>
                <a:ea typeface="Sharif 1.2" panose="020B0000040000000000" pitchFamily="34" charset="-78"/>
                <a:cs typeface="Sharif 1.2" panose="020B0000040000000000" pitchFamily="34" charset="-78"/>
              </a:rPr>
              <a:t>شد</a:t>
            </a:r>
            <a:r>
              <a:rPr lang="fa-IR" sz="19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a:t>
            </a:r>
            <a:endParaRPr lang="en-US" sz="19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46" name="Shape 44"/>
          <p:cNvSpPr/>
          <p:nvPr/>
        </p:nvSpPr>
        <p:spPr>
          <a:xfrm>
            <a:off x="658368" y="6473952"/>
            <a:ext cx="10881360" cy="0"/>
          </a:xfrm>
          <a:prstGeom prst="line">
            <a:avLst/>
          </a:prstGeom>
          <a:noFill/>
          <a:ln w="10160">
            <a:solidFill>
              <a:srgbClr val="E9EEF2"/>
            </a:solidFill>
            <a:prstDash val="solid"/>
          </a:ln>
        </p:spPr>
      </p:sp>
      <p:sp>
        <p:nvSpPr>
          <p:cNvPr id="47" name="Text 45"/>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8" name="Text 46"/>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مقدمه</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تعریف مسئله | ۱۱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9" name="Text 47"/>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۳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0" name="Shape 48"/>
          <p:cNvSpPr/>
          <p:nvPr/>
        </p:nvSpPr>
        <p:spPr>
          <a:xfrm>
            <a:off x="2560320" y="6766560"/>
            <a:ext cx="1410789" cy="41148"/>
          </a:xfrm>
          <a:prstGeom prst="rect">
            <a:avLst/>
          </a:prstGeom>
          <a:solidFill>
            <a:srgbClr val="0B6E99"/>
          </a:solidFill>
          <a:ln w="12700">
            <a:solidFill>
              <a:srgbClr val="0B6E99"/>
            </a:solidFill>
            <a:prstDash val="solid"/>
          </a:ln>
        </p:spPr>
      </p:sp>
      <p:sp>
        <p:nvSpPr>
          <p:cNvPr id="51" name="Shape 49"/>
          <p:cNvSpPr/>
          <p:nvPr/>
        </p:nvSpPr>
        <p:spPr>
          <a:xfrm>
            <a:off x="3971109" y="6766560"/>
            <a:ext cx="5172891" cy="41148"/>
          </a:xfrm>
          <a:prstGeom prst="rect">
            <a:avLst/>
          </a:prstGeom>
          <a:solidFill>
            <a:srgbClr val="E6EDF2"/>
          </a:solidFill>
          <a:ln w="12700">
            <a:solidFill>
              <a:srgbClr val="E6EDF2"/>
            </a:solidFill>
            <a:prstDash val="solid"/>
          </a:ln>
        </p:spPr>
      </p:sp>
      <p:grpSp>
        <p:nvGrpSpPr>
          <p:cNvPr id="69" name="Group 68">
            <a:extLst>
              <a:ext uri="{FF2B5EF4-FFF2-40B4-BE49-F238E27FC236}">
                <a16:creationId xmlns:a16="http://schemas.microsoft.com/office/drawing/2014/main" id="{15950925-0225-067D-1A74-B36C1A519019}"/>
              </a:ext>
            </a:extLst>
          </p:cNvPr>
          <p:cNvGrpSpPr/>
          <p:nvPr/>
        </p:nvGrpSpPr>
        <p:grpSpPr>
          <a:xfrm>
            <a:off x="3246120" y="2962789"/>
            <a:ext cx="2029968" cy="1039101"/>
            <a:chOff x="713232" y="2971800"/>
            <a:chExt cx="2029968" cy="731520"/>
          </a:xfrm>
        </p:grpSpPr>
        <p:sp>
          <p:nvSpPr>
            <p:cNvPr id="70" name="Shape 6">
              <a:extLst>
                <a:ext uri="{FF2B5EF4-FFF2-40B4-BE49-F238E27FC236}">
                  <a16:creationId xmlns:a16="http://schemas.microsoft.com/office/drawing/2014/main" id="{0E7FC7A7-5778-C305-A61A-7A40DCD9227C}"/>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endParaRPr lang="en-US" dirty="0"/>
            </a:p>
          </p:txBody>
        </p:sp>
        <p:sp>
          <p:nvSpPr>
            <p:cNvPr id="71" name="Text 8">
              <a:extLst>
                <a:ext uri="{FF2B5EF4-FFF2-40B4-BE49-F238E27FC236}">
                  <a16:creationId xmlns:a16="http://schemas.microsoft.com/office/drawing/2014/main" id="{16A1EED6-0235-8C5B-A6C7-9BC455B4D4CC}"/>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72" name="Text 9">
              <a:extLst>
                <a:ext uri="{FF2B5EF4-FFF2-40B4-BE49-F238E27FC236}">
                  <a16:creationId xmlns:a16="http://schemas.microsoft.com/office/drawing/2014/main" id="{67F2AE29-CFD3-DFF6-7977-C2A7FFC9B87F}"/>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en-US" sz="1700" b="1" dirty="0" err="1">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ایستادن</a:t>
              </a:r>
              <a:r>
                <a:rPr lang="fa-IR"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 روی پای راست</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grpSp>
      <p:grpSp>
        <p:nvGrpSpPr>
          <p:cNvPr id="73" name="Group 72">
            <a:extLst>
              <a:ext uri="{FF2B5EF4-FFF2-40B4-BE49-F238E27FC236}">
                <a16:creationId xmlns:a16="http://schemas.microsoft.com/office/drawing/2014/main" id="{7CBB4F93-5381-1ED7-F76D-8F25B3A20134}"/>
              </a:ext>
            </a:extLst>
          </p:cNvPr>
          <p:cNvGrpSpPr/>
          <p:nvPr/>
        </p:nvGrpSpPr>
        <p:grpSpPr>
          <a:xfrm>
            <a:off x="5957316" y="2976506"/>
            <a:ext cx="2029968" cy="1039101"/>
            <a:chOff x="713232" y="2971800"/>
            <a:chExt cx="2029968" cy="731520"/>
          </a:xfrm>
        </p:grpSpPr>
        <p:sp>
          <p:nvSpPr>
            <p:cNvPr id="74" name="Shape 6">
              <a:extLst>
                <a:ext uri="{FF2B5EF4-FFF2-40B4-BE49-F238E27FC236}">
                  <a16:creationId xmlns:a16="http://schemas.microsoft.com/office/drawing/2014/main" id="{464C45C4-319F-7030-A194-6D16469C6DAC}"/>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endParaRPr lang="en-US" dirty="0"/>
            </a:p>
          </p:txBody>
        </p:sp>
        <p:sp>
          <p:nvSpPr>
            <p:cNvPr id="75" name="Text 8">
              <a:extLst>
                <a:ext uri="{FF2B5EF4-FFF2-40B4-BE49-F238E27FC236}">
                  <a16:creationId xmlns:a16="http://schemas.microsoft.com/office/drawing/2014/main" id="{26136088-0DE0-D618-4125-FDDCEE27D172}"/>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76" name="Text 9">
              <a:extLst>
                <a:ext uri="{FF2B5EF4-FFF2-40B4-BE49-F238E27FC236}">
                  <a16:creationId xmlns:a16="http://schemas.microsoft.com/office/drawing/2014/main" id="{644F7F26-886F-6723-B24E-8B9C0408F2A4}"/>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en-US" sz="1700" b="1" dirty="0" err="1">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ایستادن</a:t>
              </a:r>
              <a:r>
                <a:rPr lang="fa-IR"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 روی پای چپ</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grpSp>
      <p:grpSp>
        <p:nvGrpSpPr>
          <p:cNvPr id="77" name="Group 76">
            <a:extLst>
              <a:ext uri="{FF2B5EF4-FFF2-40B4-BE49-F238E27FC236}">
                <a16:creationId xmlns:a16="http://schemas.microsoft.com/office/drawing/2014/main" id="{D1FFA725-9402-752B-EFB3-5E9075319DC9}"/>
              </a:ext>
            </a:extLst>
          </p:cNvPr>
          <p:cNvGrpSpPr/>
          <p:nvPr/>
        </p:nvGrpSpPr>
        <p:grpSpPr>
          <a:xfrm>
            <a:off x="8663940" y="2949801"/>
            <a:ext cx="2029968" cy="1039099"/>
            <a:chOff x="713232" y="2971801"/>
            <a:chExt cx="2029968" cy="731519"/>
          </a:xfrm>
        </p:grpSpPr>
        <p:sp>
          <p:nvSpPr>
            <p:cNvPr id="78" name="Shape 6">
              <a:extLst>
                <a:ext uri="{FF2B5EF4-FFF2-40B4-BE49-F238E27FC236}">
                  <a16:creationId xmlns:a16="http://schemas.microsoft.com/office/drawing/2014/main" id="{A273E5FA-D618-BED8-7368-8D89B854616B}"/>
                </a:ext>
              </a:extLst>
            </p:cNvPr>
            <p:cNvSpPr/>
            <p:nvPr/>
          </p:nvSpPr>
          <p:spPr>
            <a:xfrm>
              <a:off x="713232" y="2971801"/>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pPr marL="0" algn="r" defTabSz="914400" rtl="1" eaLnBrk="1" latinLnBrk="0" hangingPunct="1"/>
              <a:endParaRPr lang="en-US" dirty="0"/>
            </a:p>
          </p:txBody>
        </p:sp>
        <p:sp>
          <p:nvSpPr>
            <p:cNvPr id="79" name="Text 8">
              <a:extLst>
                <a:ext uri="{FF2B5EF4-FFF2-40B4-BE49-F238E27FC236}">
                  <a16:creationId xmlns:a16="http://schemas.microsoft.com/office/drawing/2014/main" id="{A17A6E70-43C0-0DC2-5F3A-1711C657F4A6}"/>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80" name="Text 9">
              <a:extLst>
                <a:ext uri="{FF2B5EF4-FFF2-40B4-BE49-F238E27FC236}">
                  <a16:creationId xmlns:a16="http://schemas.microsoft.com/office/drawing/2014/main" id="{A12F4E55-0639-F43A-029F-C44B56FA5F1A}"/>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en-US" sz="1700" b="1" dirty="0" err="1">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ایستادن</a:t>
              </a:r>
              <a:r>
                <a:rPr lang="fa-IR"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 روی </a:t>
              </a:r>
              <a:r>
                <a:rPr lang="fa-IR" sz="1700" b="1" dirty="0" err="1">
                  <a:solidFill>
                    <a:srgbClr val="102A43"/>
                  </a:solidFill>
                  <a:latin typeface="Sharif 1.2" panose="020B0000040000000000" pitchFamily="34" charset="-78"/>
                  <a:ea typeface="Sharif 1.2" panose="020B0000040000000000" pitchFamily="34" charset="-78"/>
                  <a:cs typeface="Sharif 1.2" panose="020B0000040000000000" pitchFamily="34" charset="-78"/>
                </a:rPr>
                <a:t>پاشنه‌های</a:t>
              </a:r>
              <a:r>
                <a:rPr lang="fa-IR"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پا</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grpSp>
      <p:grpSp>
        <p:nvGrpSpPr>
          <p:cNvPr id="81" name="Group 80">
            <a:extLst>
              <a:ext uri="{FF2B5EF4-FFF2-40B4-BE49-F238E27FC236}">
                <a16:creationId xmlns:a16="http://schemas.microsoft.com/office/drawing/2014/main" id="{127FA0C3-CB86-BBCE-C226-A79A5040D371}"/>
              </a:ext>
            </a:extLst>
          </p:cNvPr>
          <p:cNvGrpSpPr/>
          <p:nvPr/>
        </p:nvGrpSpPr>
        <p:grpSpPr>
          <a:xfrm>
            <a:off x="539496" y="2325624"/>
            <a:ext cx="2029968" cy="1965960"/>
            <a:chOff x="713232" y="2971800"/>
            <a:chExt cx="2029968" cy="1965960"/>
          </a:xfrm>
        </p:grpSpPr>
        <p:sp>
          <p:nvSpPr>
            <p:cNvPr id="82" name="Shape 6">
              <a:extLst>
                <a:ext uri="{FF2B5EF4-FFF2-40B4-BE49-F238E27FC236}">
                  <a16:creationId xmlns:a16="http://schemas.microsoft.com/office/drawing/2014/main" id="{4DB3357F-AFD1-D951-9A85-70C5D684E768}"/>
                </a:ext>
              </a:extLst>
            </p:cNvPr>
            <p:cNvSpPr/>
            <p:nvPr/>
          </p:nvSpPr>
          <p:spPr>
            <a:xfrm>
              <a:off x="713232"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83" name="Shape 7">
              <a:extLst>
                <a:ext uri="{FF2B5EF4-FFF2-40B4-BE49-F238E27FC236}">
                  <a16:creationId xmlns:a16="http://schemas.microsoft.com/office/drawing/2014/main" id="{69E62B26-41B7-B1E2-5874-5D82E57F61E1}"/>
                </a:ext>
              </a:extLst>
            </p:cNvPr>
            <p:cNvSpPr/>
            <p:nvPr/>
          </p:nvSpPr>
          <p:spPr>
            <a:xfrm>
              <a:off x="1389888" y="3182112"/>
              <a:ext cx="658368" cy="658368"/>
            </a:xfrm>
            <a:prstGeom prst="ellipse">
              <a:avLst/>
            </a:prstGeom>
            <a:solidFill>
              <a:srgbClr val="0B6E99"/>
            </a:solidFill>
            <a:ln w="12700">
              <a:solidFill>
                <a:srgbClr val="0B6E99"/>
              </a:solidFill>
              <a:prstDash val="solid"/>
            </a:ln>
          </p:spPr>
          <p:txBody>
            <a:bodyPr/>
            <a:lstStyle/>
            <a:p>
              <a:endParaRPr lang="en-US" dirty="0"/>
            </a:p>
          </p:txBody>
        </p:sp>
        <p:sp>
          <p:nvSpPr>
            <p:cNvPr id="84" name="Text 8">
              <a:extLst>
                <a:ext uri="{FF2B5EF4-FFF2-40B4-BE49-F238E27FC236}">
                  <a16:creationId xmlns:a16="http://schemas.microsoft.com/office/drawing/2014/main" id="{C6C40C34-2693-DF8C-8EE6-6C3935E68433}"/>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85" name="Text 9">
              <a:extLst>
                <a:ext uri="{FF2B5EF4-FFF2-40B4-BE49-F238E27FC236}">
                  <a16:creationId xmlns:a16="http://schemas.microsoft.com/office/drawing/2014/main" id="{38E5C44F-57D2-7C5B-B50C-FBDDDFD888AB}"/>
                </a:ext>
              </a:extLst>
            </p:cNvPr>
            <p:cNvSpPr/>
            <p:nvPr/>
          </p:nvSpPr>
          <p:spPr>
            <a:xfrm>
              <a:off x="877824"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ایستادن</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86" name="Text 10">
              <a:extLst>
                <a:ext uri="{FF2B5EF4-FFF2-40B4-BE49-F238E27FC236}">
                  <a16:creationId xmlns:a16="http://schemas.microsoft.com/office/drawing/2014/main" id="{7C9EA69C-BD09-375F-38A4-C4612F2874FB}"/>
                </a:ext>
              </a:extLst>
            </p:cNvPr>
            <p:cNvSpPr/>
            <p:nvPr/>
          </p:nvSpPr>
          <p:spPr>
            <a:xfrm>
              <a:off x="877824"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تعادل و نوسان کم‌دامنه</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87" name="Group 86">
            <a:extLst>
              <a:ext uri="{FF2B5EF4-FFF2-40B4-BE49-F238E27FC236}">
                <a16:creationId xmlns:a16="http://schemas.microsoft.com/office/drawing/2014/main" id="{1B73F786-BAE6-3B10-80FD-58A8EB34907E}"/>
              </a:ext>
            </a:extLst>
          </p:cNvPr>
          <p:cNvGrpSpPr/>
          <p:nvPr/>
        </p:nvGrpSpPr>
        <p:grpSpPr>
          <a:xfrm>
            <a:off x="541782" y="2326286"/>
            <a:ext cx="2029968" cy="1965960"/>
            <a:chOff x="2980944" y="2971800"/>
            <a:chExt cx="2029968" cy="1965960"/>
          </a:xfrm>
        </p:grpSpPr>
        <p:sp>
          <p:nvSpPr>
            <p:cNvPr id="88" name="Shape 11">
              <a:extLst>
                <a:ext uri="{FF2B5EF4-FFF2-40B4-BE49-F238E27FC236}">
                  <a16:creationId xmlns:a16="http://schemas.microsoft.com/office/drawing/2014/main" id="{A289036E-331F-C548-843D-BB674360EA1F}"/>
                </a:ext>
              </a:extLst>
            </p:cNvPr>
            <p:cNvSpPr/>
            <p:nvPr/>
          </p:nvSpPr>
          <p:spPr>
            <a:xfrm>
              <a:off x="2980944"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89" name="Shape 12">
              <a:extLst>
                <a:ext uri="{FF2B5EF4-FFF2-40B4-BE49-F238E27FC236}">
                  <a16:creationId xmlns:a16="http://schemas.microsoft.com/office/drawing/2014/main" id="{C7768258-A305-F4FC-383E-A10636F6CC87}"/>
                </a:ext>
              </a:extLst>
            </p:cNvPr>
            <p:cNvSpPr/>
            <p:nvPr/>
          </p:nvSpPr>
          <p:spPr>
            <a:xfrm>
              <a:off x="3657600" y="3182112"/>
              <a:ext cx="658368" cy="658368"/>
            </a:xfrm>
            <a:prstGeom prst="ellipse">
              <a:avLst/>
            </a:prstGeom>
            <a:solidFill>
              <a:srgbClr val="0B7A75"/>
            </a:solidFill>
            <a:ln w="12700">
              <a:solidFill>
                <a:srgbClr val="0B7A75"/>
              </a:solidFill>
              <a:prstDash val="solid"/>
            </a:ln>
          </p:spPr>
          <p:txBody>
            <a:bodyPr/>
            <a:lstStyle/>
            <a:p>
              <a:endParaRPr lang="en-US" dirty="0"/>
            </a:p>
          </p:txBody>
        </p:sp>
        <p:sp>
          <p:nvSpPr>
            <p:cNvPr id="90" name="Text 13">
              <a:extLst>
                <a:ext uri="{FF2B5EF4-FFF2-40B4-BE49-F238E27FC236}">
                  <a16:creationId xmlns:a16="http://schemas.microsoft.com/office/drawing/2014/main" id="{4AEF417A-7081-9C30-EE00-7072A17F8467}"/>
                </a:ext>
              </a:extLst>
            </p:cNvPr>
            <p:cNvSpPr/>
            <p:nvPr/>
          </p:nvSpPr>
          <p:spPr>
            <a:xfrm>
              <a:off x="3657600"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۲</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91" name="Text 14">
              <a:extLst>
                <a:ext uri="{FF2B5EF4-FFF2-40B4-BE49-F238E27FC236}">
                  <a16:creationId xmlns:a16="http://schemas.microsoft.com/office/drawing/2014/main" id="{C1A7546F-9B06-E810-6D75-4EE743FDF710}"/>
                </a:ext>
              </a:extLst>
            </p:cNvPr>
            <p:cNvSpPr/>
            <p:nvPr/>
          </p:nvSpPr>
          <p:spPr>
            <a:xfrm>
              <a:off x="3145536"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برخاستن از صندلی</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92" name="Text 15">
              <a:extLst>
                <a:ext uri="{FF2B5EF4-FFF2-40B4-BE49-F238E27FC236}">
                  <a16:creationId xmlns:a16="http://schemas.microsoft.com/office/drawing/2014/main" id="{1EFD121D-FF31-B0FF-95AE-944D170524D6}"/>
                </a:ext>
              </a:extLst>
            </p:cNvPr>
            <p:cNvSpPr/>
            <p:nvPr/>
          </p:nvSpPr>
          <p:spPr>
            <a:xfrm>
              <a:off x="3145536"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هماهنگی تنه، دست و پا</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93" name="Group 92">
            <a:extLst>
              <a:ext uri="{FF2B5EF4-FFF2-40B4-BE49-F238E27FC236}">
                <a16:creationId xmlns:a16="http://schemas.microsoft.com/office/drawing/2014/main" id="{EF900793-0920-1B8F-8C86-29E666132BF4}"/>
              </a:ext>
            </a:extLst>
          </p:cNvPr>
          <p:cNvGrpSpPr/>
          <p:nvPr/>
        </p:nvGrpSpPr>
        <p:grpSpPr>
          <a:xfrm>
            <a:off x="3250692" y="2975776"/>
            <a:ext cx="2029968" cy="1039101"/>
            <a:chOff x="713232" y="2971800"/>
            <a:chExt cx="2029968" cy="731520"/>
          </a:xfrm>
        </p:grpSpPr>
        <p:sp>
          <p:nvSpPr>
            <p:cNvPr id="94" name="Shape 6">
              <a:extLst>
                <a:ext uri="{FF2B5EF4-FFF2-40B4-BE49-F238E27FC236}">
                  <a16:creationId xmlns:a16="http://schemas.microsoft.com/office/drawing/2014/main" id="{75337D4B-AE4B-ECB7-A839-C7175DB178D9}"/>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endParaRPr lang="en-US" dirty="0"/>
            </a:p>
          </p:txBody>
        </p:sp>
        <p:sp>
          <p:nvSpPr>
            <p:cNvPr id="95" name="Text 8">
              <a:extLst>
                <a:ext uri="{FF2B5EF4-FFF2-40B4-BE49-F238E27FC236}">
                  <a16:creationId xmlns:a16="http://schemas.microsoft.com/office/drawing/2014/main" id="{8C1689DC-E09A-8711-90F2-8D25D00B5C75}"/>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96" name="Text 9">
              <a:extLst>
                <a:ext uri="{FF2B5EF4-FFF2-40B4-BE49-F238E27FC236}">
                  <a16:creationId xmlns:a16="http://schemas.microsoft.com/office/drawing/2014/main" id="{A32AD80C-F769-C6DF-EBF1-7F56FDFDA118}"/>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نشستن روی زمین</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grpSp>
      <p:grpSp>
        <p:nvGrpSpPr>
          <p:cNvPr id="97" name="Group 96">
            <a:extLst>
              <a:ext uri="{FF2B5EF4-FFF2-40B4-BE49-F238E27FC236}">
                <a16:creationId xmlns:a16="http://schemas.microsoft.com/office/drawing/2014/main" id="{0483E476-1D6C-73D8-CD92-FF76DA9BB6ED}"/>
              </a:ext>
            </a:extLst>
          </p:cNvPr>
          <p:cNvGrpSpPr/>
          <p:nvPr/>
        </p:nvGrpSpPr>
        <p:grpSpPr>
          <a:xfrm>
            <a:off x="5957316" y="2982272"/>
            <a:ext cx="2029968" cy="1039101"/>
            <a:chOff x="713232" y="2971800"/>
            <a:chExt cx="2029968" cy="731520"/>
          </a:xfrm>
        </p:grpSpPr>
        <p:sp>
          <p:nvSpPr>
            <p:cNvPr id="98" name="Shape 6">
              <a:extLst>
                <a:ext uri="{FF2B5EF4-FFF2-40B4-BE49-F238E27FC236}">
                  <a16:creationId xmlns:a16="http://schemas.microsoft.com/office/drawing/2014/main" id="{F3442319-60EA-1194-E9DF-3768B790A257}"/>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pPr marL="0" algn="r" defTabSz="914400" rtl="1" eaLnBrk="1" latinLnBrk="0" hangingPunct="1"/>
              <a:endParaRPr lang="en-US" dirty="0"/>
            </a:p>
          </p:txBody>
        </p:sp>
        <p:sp>
          <p:nvSpPr>
            <p:cNvPr id="99" name="Text 8">
              <a:extLst>
                <a:ext uri="{FF2B5EF4-FFF2-40B4-BE49-F238E27FC236}">
                  <a16:creationId xmlns:a16="http://schemas.microsoft.com/office/drawing/2014/main" id="{E64D30C7-482C-126C-E9BE-96DB85BA7490}"/>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00" name="Text 9">
              <a:extLst>
                <a:ext uri="{FF2B5EF4-FFF2-40B4-BE49-F238E27FC236}">
                  <a16:creationId xmlns:a16="http://schemas.microsoft.com/office/drawing/2014/main" id="{8609A15E-D465-0169-64C6-08BC500BD646}"/>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برخاستن</a:t>
              </a:r>
              <a:r>
                <a:rPr lang="fa-IR"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a:t>
              </a:r>
              <a:r>
                <a:rPr lang="fa-IR"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از</a:t>
              </a:r>
              <a:r>
                <a:rPr lang="fa-IR"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 زمین</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grpSp>
      <p:grpSp>
        <p:nvGrpSpPr>
          <p:cNvPr id="101" name="Group 100">
            <a:extLst>
              <a:ext uri="{FF2B5EF4-FFF2-40B4-BE49-F238E27FC236}">
                <a16:creationId xmlns:a16="http://schemas.microsoft.com/office/drawing/2014/main" id="{86568A90-74A8-C7CF-7B75-5E6B81ECDE39}"/>
              </a:ext>
            </a:extLst>
          </p:cNvPr>
          <p:cNvGrpSpPr/>
          <p:nvPr/>
        </p:nvGrpSpPr>
        <p:grpSpPr>
          <a:xfrm>
            <a:off x="534924" y="2322145"/>
            <a:ext cx="2029968" cy="1965960"/>
            <a:chOff x="5248656" y="2971800"/>
            <a:chExt cx="2029968" cy="1965960"/>
          </a:xfrm>
        </p:grpSpPr>
        <p:sp>
          <p:nvSpPr>
            <p:cNvPr id="102" name="Shape 16">
              <a:extLst>
                <a:ext uri="{FF2B5EF4-FFF2-40B4-BE49-F238E27FC236}">
                  <a16:creationId xmlns:a16="http://schemas.microsoft.com/office/drawing/2014/main" id="{47DE2052-14BD-ACD9-E180-FF5675805C02}"/>
                </a:ext>
              </a:extLst>
            </p:cNvPr>
            <p:cNvSpPr/>
            <p:nvPr/>
          </p:nvSpPr>
          <p:spPr>
            <a:xfrm>
              <a:off x="5248656"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03" name="Shape 17">
              <a:extLst>
                <a:ext uri="{FF2B5EF4-FFF2-40B4-BE49-F238E27FC236}">
                  <a16:creationId xmlns:a16="http://schemas.microsoft.com/office/drawing/2014/main" id="{7E402F73-F12A-8D54-B70E-9718AA29DFEB}"/>
                </a:ext>
              </a:extLst>
            </p:cNvPr>
            <p:cNvSpPr/>
            <p:nvPr/>
          </p:nvSpPr>
          <p:spPr>
            <a:xfrm>
              <a:off x="5925312" y="3182112"/>
              <a:ext cx="658368" cy="658368"/>
            </a:xfrm>
            <a:prstGeom prst="ellipse">
              <a:avLst/>
            </a:prstGeom>
            <a:solidFill>
              <a:srgbClr val="E69F00"/>
            </a:solidFill>
            <a:ln w="12700">
              <a:solidFill>
                <a:srgbClr val="E69F00"/>
              </a:solidFill>
              <a:prstDash val="solid"/>
            </a:ln>
          </p:spPr>
        </p:sp>
        <p:sp>
          <p:nvSpPr>
            <p:cNvPr id="104" name="Text 18">
              <a:extLst>
                <a:ext uri="{FF2B5EF4-FFF2-40B4-BE49-F238E27FC236}">
                  <a16:creationId xmlns:a16="http://schemas.microsoft.com/office/drawing/2014/main" id="{A48849D4-6AF8-DD27-51C3-365A0E5F0314}"/>
                </a:ext>
              </a:extLst>
            </p:cNvPr>
            <p:cNvSpPr/>
            <p:nvPr/>
          </p:nvSpPr>
          <p:spPr>
            <a:xfrm>
              <a:off x="5925312"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۳</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05" name="Text 19">
              <a:extLst>
                <a:ext uri="{FF2B5EF4-FFF2-40B4-BE49-F238E27FC236}">
                  <a16:creationId xmlns:a16="http://schemas.microsoft.com/office/drawing/2014/main" id="{63DE53BF-B819-AFD8-C8CE-0DD1F1CCC3C3}"/>
                </a:ext>
              </a:extLst>
            </p:cNvPr>
            <p:cNvSpPr/>
            <p:nvPr/>
          </p:nvSpPr>
          <p:spPr>
            <a:xfrm>
              <a:off x="5413248"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پریدن</a:t>
              </a:r>
              <a:endParaRPr lang="en-US" sz="1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106" name="Text 20">
              <a:extLst>
                <a:ext uri="{FF2B5EF4-FFF2-40B4-BE49-F238E27FC236}">
                  <a16:creationId xmlns:a16="http://schemas.microsoft.com/office/drawing/2014/main" id="{0672FB8D-BD3B-B29A-FB2F-A59E01871639}"/>
                </a:ext>
              </a:extLst>
            </p:cNvPr>
            <p:cNvSpPr/>
            <p:nvPr/>
          </p:nvSpPr>
          <p:spPr>
            <a:xfrm>
              <a:off x="5413248"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حرکت سریع و انفجاری</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107" name="Group 106">
            <a:extLst>
              <a:ext uri="{FF2B5EF4-FFF2-40B4-BE49-F238E27FC236}">
                <a16:creationId xmlns:a16="http://schemas.microsoft.com/office/drawing/2014/main" id="{22AEB3C0-DD23-A354-CA0E-1DCF25983DAF}"/>
              </a:ext>
            </a:extLst>
          </p:cNvPr>
          <p:cNvGrpSpPr/>
          <p:nvPr/>
        </p:nvGrpSpPr>
        <p:grpSpPr>
          <a:xfrm>
            <a:off x="3249549" y="2975776"/>
            <a:ext cx="2029968" cy="1039101"/>
            <a:chOff x="713232" y="2971800"/>
            <a:chExt cx="2029968" cy="731520"/>
          </a:xfrm>
        </p:grpSpPr>
        <p:sp>
          <p:nvSpPr>
            <p:cNvPr id="108" name="Shape 6">
              <a:extLst>
                <a:ext uri="{FF2B5EF4-FFF2-40B4-BE49-F238E27FC236}">
                  <a16:creationId xmlns:a16="http://schemas.microsoft.com/office/drawing/2014/main" id="{C75EC5B5-9877-7256-2228-FBBBF0B9B2C5}"/>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endParaRPr lang="en-US" dirty="0"/>
            </a:p>
          </p:txBody>
        </p:sp>
        <p:sp>
          <p:nvSpPr>
            <p:cNvPr id="109" name="Text 8">
              <a:extLst>
                <a:ext uri="{FF2B5EF4-FFF2-40B4-BE49-F238E27FC236}">
                  <a16:creationId xmlns:a16="http://schemas.microsoft.com/office/drawing/2014/main" id="{675A5B64-B8E6-B9AA-59C5-877F579E6C4E}"/>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10" name="Text 9">
              <a:extLst>
                <a:ext uri="{FF2B5EF4-FFF2-40B4-BE49-F238E27FC236}">
                  <a16:creationId xmlns:a16="http://schemas.microsoft.com/office/drawing/2014/main" id="{EA0AA408-8ACB-1EA7-768C-B1EF3A7A92B7}"/>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پریدن روی پای راست</a:t>
              </a:r>
              <a:endParaRPr lang="en-US" sz="1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grpSp>
      <p:grpSp>
        <p:nvGrpSpPr>
          <p:cNvPr id="111" name="Group 110">
            <a:extLst>
              <a:ext uri="{FF2B5EF4-FFF2-40B4-BE49-F238E27FC236}">
                <a16:creationId xmlns:a16="http://schemas.microsoft.com/office/drawing/2014/main" id="{AD12F43A-5410-0E54-73CA-F5BBCA026D6A}"/>
              </a:ext>
            </a:extLst>
          </p:cNvPr>
          <p:cNvGrpSpPr/>
          <p:nvPr/>
        </p:nvGrpSpPr>
        <p:grpSpPr>
          <a:xfrm>
            <a:off x="5957316" y="2982272"/>
            <a:ext cx="2029968" cy="1039101"/>
            <a:chOff x="713232" y="2971800"/>
            <a:chExt cx="2029968" cy="731520"/>
          </a:xfrm>
        </p:grpSpPr>
        <p:sp>
          <p:nvSpPr>
            <p:cNvPr id="112" name="Shape 6">
              <a:extLst>
                <a:ext uri="{FF2B5EF4-FFF2-40B4-BE49-F238E27FC236}">
                  <a16:creationId xmlns:a16="http://schemas.microsoft.com/office/drawing/2014/main" id="{607951A6-4876-9932-6DC2-FBE0D972CE54}"/>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pPr marL="0" algn="r" defTabSz="914400" rtl="1" eaLnBrk="1" latinLnBrk="0" hangingPunct="1"/>
              <a:endParaRPr lang="en-US" dirty="0"/>
            </a:p>
          </p:txBody>
        </p:sp>
        <p:sp>
          <p:nvSpPr>
            <p:cNvPr id="113" name="Text 8">
              <a:extLst>
                <a:ext uri="{FF2B5EF4-FFF2-40B4-BE49-F238E27FC236}">
                  <a16:creationId xmlns:a16="http://schemas.microsoft.com/office/drawing/2014/main" id="{90830596-C519-AFA8-448C-A28F5D0F7BF4}"/>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14" name="Text 9">
              <a:extLst>
                <a:ext uri="{FF2B5EF4-FFF2-40B4-BE49-F238E27FC236}">
                  <a16:creationId xmlns:a16="http://schemas.microsoft.com/office/drawing/2014/main" id="{F992C517-718D-19C1-D1B7-039D5757E77E}"/>
                </a:ext>
              </a:extLst>
            </p:cNvPr>
            <p:cNvSpPr/>
            <p:nvPr/>
          </p:nvSpPr>
          <p:spPr>
            <a:xfrm>
              <a:off x="877824" y="3159252"/>
              <a:ext cx="1700784" cy="384048"/>
            </a:xfrm>
            <a:prstGeom prst="rect">
              <a:avLst/>
            </a:prstGeom>
            <a:noFill/>
            <a:ln/>
          </p:spPr>
          <p:txBody>
            <a:bodyPr wrap="square" lIns="0" tIns="0" rIns="0" bIns="0" rtlCol="0" anchor="ctr">
              <a:normAutofit/>
            </a:bodyPr>
            <a:lstStyle/>
            <a:p>
              <a:pPr algn="ctr" rtl="1"/>
              <a:r>
                <a:rPr lang="fa-IR"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پریدن روی پای چپ</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grpSp>
      <p:grpSp>
        <p:nvGrpSpPr>
          <p:cNvPr id="115" name="Group 114">
            <a:extLst>
              <a:ext uri="{FF2B5EF4-FFF2-40B4-BE49-F238E27FC236}">
                <a16:creationId xmlns:a16="http://schemas.microsoft.com/office/drawing/2014/main" id="{8E5B132B-F058-EA6F-F087-3F9678C22C87}"/>
              </a:ext>
            </a:extLst>
          </p:cNvPr>
          <p:cNvGrpSpPr/>
          <p:nvPr/>
        </p:nvGrpSpPr>
        <p:grpSpPr>
          <a:xfrm>
            <a:off x="530352" y="2318004"/>
            <a:ext cx="2029968" cy="1965960"/>
            <a:chOff x="7516368" y="2971800"/>
            <a:chExt cx="2029968" cy="1965960"/>
          </a:xfrm>
        </p:grpSpPr>
        <p:sp>
          <p:nvSpPr>
            <p:cNvPr id="116" name="Shape 21">
              <a:extLst>
                <a:ext uri="{FF2B5EF4-FFF2-40B4-BE49-F238E27FC236}">
                  <a16:creationId xmlns:a16="http://schemas.microsoft.com/office/drawing/2014/main" id="{995CA7D3-9EAC-931A-07E1-5A5CE597A231}"/>
                </a:ext>
              </a:extLst>
            </p:cNvPr>
            <p:cNvSpPr/>
            <p:nvPr/>
          </p:nvSpPr>
          <p:spPr>
            <a:xfrm>
              <a:off x="7516368"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17" name="Shape 22">
              <a:extLst>
                <a:ext uri="{FF2B5EF4-FFF2-40B4-BE49-F238E27FC236}">
                  <a16:creationId xmlns:a16="http://schemas.microsoft.com/office/drawing/2014/main" id="{CF8C0457-BD4F-9EEA-A1D7-8912D76348A4}"/>
                </a:ext>
              </a:extLst>
            </p:cNvPr>
            <p:cNvSpPr/>
            <p:nvPr/>
          </p:nvSpPr>
          <p:spPr>
            <a:xfrm>
              <a:off x="8193024" y="3182112"/>
              <a:ext cx="658368" cy="658368"/>
            </a:xfrm>
            <a:prstGeom prst="ellipse">
              <a:avLst/>
            </a:prstGeom>
            <a:solidFill>
              <a:srgbClr val="2F855A"/>
            </a:solidFill>
            <a:ln w="12700">
              <a:solidFill>
                <a:srgbClr val="2F855A"/>
              </a:solidFill>
              <a:prstDash val="solid"/>
            </a:ln>
          </p:spPr>
        </p:sp>
        <p:sp>
          <p:nvSpPr>
            <p:cNvPr id="118" name="Text 23">
              <a:extLst>
                <a:ext uri="{FF2B5EF4-FFF2-40B4-BE49-F238E27FC236}">
                  <a16:creationId xmlns:a16="http://schemas.microsoft.com/office/drawing/2014/main" id="{6787E6ED-29A7-DDD1-9CD8-81E2EE5C6F1B}"/>
                </a:ext>
              </a:extLst>
            </p:cNvPr>
            <p:cNvSpPr/>
            <p:nvPr/>
          </p:nvSpPr>
          <p:spPr>
            <a:xfrm>
              <a:off x="8193024"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۴</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19" name="Text 24">
              <a:extLst>
                <a:ext uri="{FF2B5EF4-FFF2-40B4-BE49-F238E27FC236}">
                  <a16:creationId xmlns:a16="http://schemas.microsoft.com/office/drawing/2014/main" id="{CFE4C387-F394-5298-671F-66FBF1424DBA}"/>
                </a:ext>
              </a:extLst>
            </p:cNvPr>
            <p:cNvSpPr/>
            <p:nvPr/>
          </p:nvSpPr>
          <p:spPr>
            <a:xfrm>
              <a:off x="7680960"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بالا آوردن سر</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120" name="Text 25">
              <a:extLst>
                <a:ext uri="{FF2B5EF4-FFF2-40B4-BE49-F238E27FC236}">
                  <a16:creationId xmlns:a16="http://schemas.microsoft.com/office/drawing/2014/main" id="{579B04CC-D2D2-2128-9C9D-06A2C748AA3A}"/>
                </a:ext>
              </a:extLst>
            </p:cNvPr>
            <p:cNvSpPr/>
            <p:nvPr/>
          </p:nvSpPr>
          <p:spPr>
            <a:xfrm>
              <a:off x="7680960"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حرکت ضدجاذبه گردن</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127" name="Group 126">
            <a:extLst>
              <a:ext uri="{FF2B5EF4-FFF2-40B4-BE49-F238E27FC236}">
                <a16:creationId xmlns:a16="http://schemas.microsoft.com/office/drawing/2014/main" id="{D02B20AF-4AD5-B0FA-F507-ED05EDED927B}"/>
              </a:ext>
            </a:extLst>
          </p:cNvPr>
          <p:cNvGrpSpPr/>
          <p:nvPr/>
        </p:nvGrpSpPr>
        <p:grpSpPr>
          <a:xfrm>
            <a:off x="3249549" y="2975776"/>
            <a:ext cx="2029968" cy="1039101"/>
            <a:chOff x="713232" y="2971800"/>
            <a:chExt cx="2029968" cy="731520"/>
          </a:xfrm>
        </p:grpSpPr>
        <p:sp>
          <p:nvSpPr>
            <p:cNvPr id="128" name="Shape 6">
              <a:extLst>
                <a:ext uri="{FF2B5EF4-FFF2-40B4-BE49-F238E27FC236}">
                  <a16:creationId xmlns:a16="http://schemas.microsoft.com/office/drawing/2014/main" id="{94C79520-E4F6-BBA1-067B-580A6DE22D42}"/>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endParaRPr lang="en-US" dirty="0"/>
            </a:p>
          </p:txBody>
        </p:sp>
        <p:sp>
          <p:nvSpPr>
            <p:cNvPr id="129" name="Text 8">
              <a:extLst>
                <a:ext uri="{FF2B5EF4-FFF2-40B4-BE49-F238E27FC236}">
                  <a16:creationId xmlns:a16="http://schemas.microsoft.com/office/drawing/2014/main" id="{030A3EF6-C740-706C-C23E-29FB74E4AE83}"/>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30" name="Text 9">
              <a:extLst>
                <a:ext uri="{FF2B5EF4-FFF2-40B4-BE49-F238E27FC236}">
                  <a16:creationId xmlns:a16="http://schemas.microsoft.com/office/drawing/2014/main" id="{12FDDB31-03CD-E4A7-AA8D-ADEDDBB3918F}"/>
                </a:ext>
              </a:extLst>
            </p:cNvPr>
            <p:cNvSpPr/>
            <p:nvPr/>
          </p:nvSpPr>
          <p:spPr>
            <a:xfrm>
              <a:off x="877824" y="3159252"/>
              <a:ext cx="1700784"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بالا رفتن از جعبه با پای چپ</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grpSp>
      <p:grpSp>
        <p:nvGrpSpPr>
          <p:cNvPr id="131" name="Group 130">
            <a:extLst>
              <a:ext uri="{FF2B5EF4-FFF2-40B4-BE49-F238E27FC236}">
                <a16:creationId xmlns:a16="http://schemas.microsoft.com/office/drawing/2014/main" id="{0EA0551E-DFAA-C63D-4F25-8760ED0AE87D}"/>
              </a:ext>
            </a:extLst>
          </p:cNvPr>
          <p:cNvGrpSpPr/>
          <p:nvPr/>
        </p:nvGrpSpPr>
        <p:grpSpPr>
          <a:xfrm>
            <a:off x="5965454" y="2975776"/>
            <a:ext cx="2029968" cy="1039101"/>
            <a:chOff x="713232" y="2971800"/>
            <a:chExt cx="2029968" cy="731520"/>
          </a:xfrm>
        </p:grpSpPr>
        <p:sp>
          <p:nvSpPr>
            <p:cNvPr id="132" name="Shape 6">
              <a:extLst>
                <a:ext uri="{FF2B5EF4-FFF2-40B4-BE49-F238E27FC236}">
                  <a16:creationId xmlns:a16="http://schemas.microsoft.com/office/drawing/2014/main" id="{C2212D26-F825-32EE-8E12-8B74D8CC7EE9}"/>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pPr marL="0" algn="r" defTabSz="914400" rtl="1" eaLnBrk="1" latinLnBrk="0" hangingPunct="1"/>
              <a:endParaRPr lang="en-US" dirty="0"/>
            </a:p>
          </p:txBody>
        </p:sp>
        <p:sp>
          <p:nvSpPr>
            <p:cNvPr id="133" name="Text 8">
              <a:extLst>
                <a:ext uri="{FF2B5EF4-FFF2-40B4-BE49-F238E27FC236}">
                  <a16:creationId xmlns:a16="http://schemas.microsoft.com/office/drawing/2014/main" id="{2E122BED-A681-37CC-B57A-D114AA832E0D}"/>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34" name="Text 9">
              <a:extLst>
                <a:ext uri="{FF2B5EF4-FFF2-40B4-BE49-F238E27FC236}">
                  <a16:creationId xmlns:a16="http://schemas.microsoft.com/office/drawing/2014/main" id="{FBE0710C-3FAB-C65A-EE2D-290D9B7CE15E}"/>
                </a:ext>
              </a:extLst>
            </p:cNvPr>
            <p:cNvSpPr/>
            <p:nvPr/>
          </p:nvSpPr>
          <p:spPr>
            <a:xfrm>
              <a:off x="775960" y="3159252"/>
              <a:ext cx="1904512"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پایین آمدن </a:t>
              </a:r>
              <a:r>
                <a:rPr lang="fa-IR"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از جعبه با پای راست</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grpSp>
      <p:grpSp>
        <p:nvGrpSpPr>
          <p:cNvPr id="135" name="Group 134">
            <a:extLst>
              <a:ext uri="{FF2B5EF4-FFF2-40B4-BE49-F238E27FC236}">
                <a16:creationId xmlns:a16="http://schemas.microsoft.com/office/drawing/2014/main" id="{C55D6352-3C9B-C2E1-7612-6D3142581EB5}"/>
              </a:ext>
            </a:extLst>
          </p:cNvPr>
          <p:cNvGrpSpPr/>
          <p:nvPr/>
        </p:nvGrpSpPr>
        <p:grpSpPr>
          <a:xfrm>
            <a:off x="8667711" y="2948481"/>
            <a:ext cx="2029968" cy="1039101"/>
            <a:chOff x="713232" y="2971800"/>
            <a:chExt cx="2029968" cy="731520"/>
          </a:xfrm>
        </p:grpSpPr>
        <p:sp>
          <p:nvSpPr>
            <p:cNvPr id="136" name="Shape 6">
              <a:extLst>
                <a:ext uri="{FF2B5EF4-FFF2-40B4-BE49-F238E27FC236}">
                  <a16:creationId xmlns:a16="http://schemas.microsoft.com/office/drawing/2014/main" id="{815534B6-87DE-5478-DAA2-851E96ED603E}"/>
                </a:ext>
              </a:extLst>
            </p:cNvPr>
            <p:cNvSpPr/>
            <p:nvPr/>
          </p:nvSpPr>
          <p:spPr>
            <a:xfrm>
              <a:off x="713232" y="2971800"/>
              <a:ext cx="2029968" cy="722375"/>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txBody>
            <a:bodyPr/>
            <a:lstStyle/>
            <a:p>
              <a:pPr marL="0" algn="r" defTabSz="914400" rtl="1" eaLnBrk="1" latinLnBrk="0" hangingPunct="1"/>
              <a:endParaRPr lang="en-US" dirty="0"/>
            </a:p>
          </p:txBody>
        </p:sp>
        <p:sp>
          <p:nvSpPr>
            <p:cNvPr id="137" name="Text 8">
              <a:extLst>
                <a:ext uri="{FF2B5EF4-FFF2-40B4-BE49-F238E27FC236}">
                  <a16:creationId xmlns:a16="http://schemas.microsoft.com/office/drawing/2014/main" id="{B1EA8593-AAEE-52AC-D788-F33F6BCBCE6B}"/>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38" name="Text 9">
              <a:extLst>
                <a:ext uri="{FF2B5EF4-FFF2-40B4-BE49-F238E27FC236}">
                  <a16:creationId xmlns:a16="http://schemas.microsoft.com/office/drawing/2014/main" id="{42D2FBD2-7EEC-480B-21E8-AC1F524E752B}"/>
                </a:ext>
              </a:extLst>
            </p:cNvPr>
            <p:cNvSpPr/>
            <p:nvPr/>
          </p:nvSpPr>
          <p:spPr>
            <a:xfrm>
              <a:off x="775960" y="3159252"/>
              <a:ext cx="1904512" cy="384048"/>
            </a:xfrm>
            <a:prstGeom prst="rect">
              <a:avLst/>
            </a:prstGeom>
            <a:noFill/>
            <a:ln/>
          </p:spPr>
          <p:txBody>
            <a:bodyPr wrap="square" lIns="0" tIns="0" rIns="0" bIns="0" rtlCol="0" anchor="ctr">
              <a:normAutofit/>
            </a:bodyPr>
            <a:lstStyle/>
            <a:p>
              <a:pPr marL="0" indent="0" algn="ctr" rtl="1">
                <a:buNone/>
              </a:pPr>
              <a:r>
                <a:rPr lang="fa-IR"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پایین آمدن از جعبه با پای چپ</a:t>
              </a:r>
              <a:endParaRPr lang="en-US" sz="1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grpSp>
      <p:grpSp>
        <p:nvGrpSpPr>
          <p:cNvPr id="139" name="Group 138">
            <a:extLst>
              <a:ext uri="{FF2B5EF4-FFF2-40B4-BE49-F238E27FC236}">
                <a16:creationId xmlns:a16="http://schemas.microsoft.com/office/drawing/2014/main" id="{D6F6F634-FDB1-9629-55AC-F896F2B0E4BC}"/>
              </a:ext>
            </a:extLst>
          </p:cNvPr>
          <p:cNvGrpSpPr/>
          <p:nvPr/>
        </p:nvGrpSpPr>
        <p:grpSpPr>
          <a:xfrm>
            <a:off x="539496" y="2314880"/>
            <a:ext cx="2029968" cy="1965960"/>
            <a:chOff x="9784080" y="2971800"/>
            <a:chExt cx="2029968" cy="1965960"/>
          </a:xfrm>
        </p:grpSpPr>
        <p:sp>
          <p:nvSpPr>
            <p:cNvPr id="140" name="Shape 26">
              <a:extLst>
                <a:ext uri="{FF2B5EF4-FFF2-40B4-BE49-F238E27FC236}">
                  <a16:creationId xmlns:a16="http://schemas.microsoft.com/office/drawing/2014/main" id="{CB7D7C11-0369-F73F-26D4-CFD8D9B8E799}"/>
                </a:ext>
              </a:extLst>
            </p:cNvPr>
            <p:cNvSpPr/>
            <p:nvPr/>
          </p:nvSpPr>
          <p:spPr>
            <a:xfrm>
              <a:off x="9784080"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41" name="Shape 27">
              <a:extLst>
                <a:ext uri="{FF2B5EF4-FFF2-40B4-BE49-F238E27FC236}">
                  <a16:creationId xmlns:a16="http://schemas.microsoft.com/office/drawing/2014/main" id="{3819938B-6B9B-3F99-E925-36401FF1D545}"/>
                </a:ext>
              </a:extLst>
            </p:cNvPr>
            <p:cNvSpPr/>
            <p:nvPr/>
          </p:nvSpPr>
          <p:spPr>
            <a:xfrm>
              <a:off x="10460736" y="3182112"/>
              <a:ext cx="658368" cy="658368"/>
            </a:xfrm>
            <a:prstGeom prst="ellipse">
              <a:avLst/>
            </a:prstGeom>
            <a:solidFill>
              <a:srgbClr val="C0392B"/>
            </a:solidFill>
            <a:ln w="12700">
              <a:solidFill>
                <a:srgbClr val="C0392B"/>
              </a:solidFill>
              <a:prstDash val="solid"/>
            </a:ln>
          </p:spPr>
        </p:sp>
        <p:sp>
          <p:nvSpPr>
            <p:cNvPr id="142" name="Text 28">
              <a:extLst>
                <a:ext uri="{FF2B5EF4-FFF2-40B4-BE49-F238E27FC236}">
                  <a16:creationId xmlns:a16="http://schemas.microsoft.com/office/drawing/2014/main" id="{365B5B7B-A696-272F-4364-AD06BAA3E8EE}"/>
                </a:ext>
              </a:extLst>
            </p:cNvPr>
            <p:cNvSpPr/>
            <p:nvPr/>
          </p:nvSpPr>
          <p:spPr>
            <a:xfrm>
              <a:off x="10460736"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۵</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43" name="Text 29">
              <a:extLst>
                <a:ext uri="{FF2B5EF4-FFF2-40B4-BE49-F238E27FC236}">
                  <a16:creationId xmlns:a16="http://schemas.microsoft.com/office/drawing/2014/main" id="{77156FFA-A628-DF3C-FF21-E5A046B2F3B0}"/>
                </a:ext>
              </a:extLst>
            </p:cNvPr>
            <p:cNvSpPr/>
            <p:nvPr/>
          </p:nvSpPr>
          <p:spPr>
            <a:xfrm>
              <a:off x="9948672"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بالا رفتن از جعبه</a:t>
              </a:r>
              <a:endParaRPr lang="en-US" sz="1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144" name="Text 30">
              <a:extLst>
                <a:ext uri="{FF2B5EF4-FFF2-40B4-BE49-F238E27FC236}">
                  <a16:creationId xmlns:a16="http://schemas.microsoft.com/office/drawing/2014/main" id="{2C71AEB3-2169-A2AF-4BD9-AAFFFD62C727}"/>
                </a:ext>
              </a:extLst>
            </p:cNvPr>
            <p:cNvSpPr/>
            <p:nvPr/>
          </p:nvSpPr>
          <p:spPr>
            <a:xfrm>
              <a:off x="9948672"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انتقال وزن و تعادل</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nodeType="clickEffect">
                                  <p:stCondLst>
                                    <p:cond delay="0"/>
                                  </p:stCondLst>
                                  <p:childTnLst>
                                    <p:set>
                                      <p:cBhvr>
                                        <p:cTn id="10" dur="1" fill="hold">
                                          <p:stCondLst>
                                            <p:cond delay="0"/>
                                          </p:stCondLst>
                                        </p:cTn>
                                        <p:tgtEl>
                                          <p:spTgt spid="81"/>
                                        </p:tgtEl>
                                        <p:attrNameLst>
                                          <p:attrName>style.visibility</p:attrName>
                                        </p:attrNameLst>
                                      </p:cBhvr>
                                      <p:to>
                                        <p:strVal val="visible"/>
                                      </p:to>
                                    </p:set>
                                    <p:anim calcmode="lin" valueType="num">
                                      <p:cBhvr additive="base">
                                        <p:cTn id="11" dur="500"/>
                                        <p:tgtEl>
                                          <p:spTgt spid="81"/>
                                        </p:tgtEl>
                                        <p:attrNameLst>
                                          <p:attrName>ppt_x</p:attrName>
                                        </p:attrNameLst>
                                      </p:cBhvr>
                                      <p:tavLst>
                                        <p:tav tm="0">
                                          <p:val>
                                            <p:strVal val="#ppt_x-#ppt_w*1.125000"/>
                                          </p:val>
                                        </p:tav>
                                        <p:tav tm="100000">
                                          <p:val>
                                            <p:strVal val="#ppt_x"/>
                                          </p:val>
                                        </p:tav>
                                      </p:tavLst>
                                    </p:anim>
                                    <p:animEffect transition="in" filter="wipe(right)">
                                      <p:cBhvr>
                                        <p:cTn id="12" dur="500"/>
                                        <p:tgtEl>
                                          <p:spTgt spid="81"/>
                                        </p:tgtEl>
                                      </p:cBhvr>
                                    </p:animEffect>
                                  </p:childTnLst>
                                </p:cTn>
                              </p:par>
                            </p:childTnLst>
                          </p:cTn>
                        </p:par>
                        <p:par>
                          <p:cTn id="13" fill="hold">
                            <p:stCondLst>
                              <p:cond delay="500"/>
                            </p:stCondLst>
                            <p:childTnLst>
                              <p:par>
                                <p:cTn id="14" presetID="12" presetClass="entr" presetSubtype="8" fill="hold" nodeType="afterEffect">
                                  <p:stCondLst>
                                    <p:cond delay="0"/>
                                  </p:stCondLst>
                                  <p:childTnLst>
                                    <p:set>
                                      <p:cBhvr>
                                        <p:cTn id="15" dur="1" fill="hold">
                                          <p:stCondLst>
                                            <p:cond delay="0"/>
                                          </p:stCondLst>
                                        </p:cTn>
                                        <p:tgtEl>
                                          <p:spTgt spid="69"/>
                                        </p:tgtEl>
                                        <p:attrNameLst>
                                          <p:attrName>style.visibility</p:attrName>
                                        </p:attrNameLst>
                                      </p:cBhvr>
                                      <p:to>
                                        <p:strVal val="visible"/>
                                      </p:to>
                                    </p:set>
                                    <p:anim calcmode="lin" valueType="num">
                                      <p:cBhvr additive="base">
                                        <p:cTn id="16" dur="500"/>
                                        <p:tgtEl>
                                          <p:spTgt spid="69"/>
                                        </p:tgtEl>
                                        <p:attrNameLst>
                                          <p:attrName>ppt_x</p:attrName>
                                        </p:attrNameLst>
                                      </p:cBhvr>
                                      <p:tavLst>
                                        <p:tav tm="0">
                                          <p:val>
                                            <p:strVal val="#ppt_x-#ppt_w*1.125000"/>
                                          </p:val>
                                        </p:tav>
                                        <p:tav tm="100000">
                                          <p:val>
                                            <p:strVal val="#ppt_x"/>
                                          </p:val>
                                        </p:tav>
                                      </p:tavLst>
                                    </p:anim>
                                    <p:animEffect transition="in" filter="wipe(right)">
                                      <p:cBhvr>
                                        <p:cTn id="17" dur="500"/>
                                        <p:tgtEl>
                                          <p:spTgt spid="69"/>
                                        </p:tgtEl>
                                      </p:cBhvr>
                                    </p:animEffect>
                                  </p:childTnLst>
                                </p:cTn>
                              </p:par>
                            </p:childTnLst>
                          </p:cTn>
                        </p:par>
                        <p:par>
                          <p:cTn id="18" fill="hold">
                            <p:stCondLst>
                              <p:cond delay="1000"/>
                            </p:stCondLst>
                            <p:childTnLst>
                              <p:par>
                                <p:cTn id="19" presetID="12" presetClass="entr" presetSubtype="8" fill="hold" nodeType="afterEffect">
                                  <p:stCondLst>
                                    <p:cond delay="0"/>
                                  </p:stCondLst>
                                  <p:childTnLst>
                                    <p:set>
                                      <p:cBhvr>
                                        <p:cTn id="20" dur="1" fill="hold">
                                          <p:stCondLst>
                                            <p:cond delay="0"/>
                                          </p:stCondLst>
                                        </p:cTn>
                                        <p:tgtEl>
                                          <p:spTgt spid="73"/>
                                        </p:tgtEl>
                                        <p:attrNameLst>
                                          <p:attrName>style.visibility</p:attrName>
                                        </p:attrNameLst>
                                      </p:cBhvr>
                                      <p:to>
                                        <p:strVal val="visible"/>
                                      </p:to>
                                    </p:set>
                                    <p:anim calcmode="lin" valueType="num">
                                      <p:cBhvr additive="base">
                                        <p:cTn id="21" dur="500"/>
                                        <p:tgtEl>
                                          <p:spTgt spid="73"/>
                                        </p:tgtEl>
                                        <p:attrNameLst>
                                          <p:attrName>ppt_x</p:attrName>
                                        </p:attrNameLst>
                                      </p:cBhvr>
                                      <p:tavLst>
                                        <p:tav tm="0">
                                          <p:val>
                                            <p:strVal val="#ppt_x-#ppt_w*1.125000"/>
                                          </p:val>
                                        </p:tav>
                                        <p:tav tm="100000">
                                          <p:val>
                                            <p:strVal val="#ppt_x"/>
                                          </p:val>
                                        </p:tav>
                                      </p:tavLst>
                                    </p:anim>
                                    <p:animEffect transition="in" filter="wipe(right)">
                                      <p:cBhvr>
                                        <p:cTn id="22" dur="500"/>
                                        <p:tgtEl>
                                          <p:spTgt spid="73"/>
                                        </p:tgtEl>
                                      </p:cBhvr>
                                    </p:animEffect>
                                  </p:childTnLst>
                                </p:cTn>
                              </p:par>
                            </p:childTnLst>
                          </p:cTn>
                        </p:par>
                        <p:par>
                          <p:cTn id="23" fill="hold">
                            <p:stCondLst>
                              <p:cond delay="1500"/>
                            </p:stCondLst>
                            <p:childTnLst>
                              <p:par>
                                <p:cTn id="24" presetID="12" presetClass="entr" presetSubtype="8" fill="hold" nodeType="afterEffect">
                                  <p:stCondLst>
                                    <p:cond delay="0"/>
                                  </p:stCondLst>
                                  <p:childTnLst>
                                    <p:set>
                                      <p:cBhvr>
                                        <p:cTn id="25" dur="1" fill="hold">
                                          <p:stCondLst>
                                            <p:cond delay="0"/>
                                          </p:stCondLst>
                                        </p:cTn>
                                        <p:tgtEl>
                                          <p:spTgt spid="77"/>
                                        </p:tgtEl>
                                        <p:attrNameLst>
                                          <p:attrName>style.visibility</p:attrName>
                                        </p:attrNameLst>
                                      </p:cBhvr>
                                      <p:to>
                                        <p:strVal val="visible"/>
                                      </p:to>
                                    </p:set>
                                    <p:anim calcmode="lin" valueType="num">
                                      <p:cBhvr additive="base">
                                        <p:cTn id="26" dur="500"/>
                                        <p:tgtEl>
                                          <p:spTgt spid="77"/>
                                        </p:tgtEl>
                                        <p:attrNameLst>
                                          <p:attrName>ppt_x</p:attrName>
                                        </p:attrNameLst>
                                      </p:cBhvr>
                                      <p:tavLst>
                                        <p:tav tm="0">
                                          <p:val>
                                            <p:strVal val="#ppt_x-#ppt_w*1.125000"/>
                                          </p:val>
                                        </p:tav>
                                        <p:tav tm="100000">
                                          <p:val>
                                            <p:strVal val="#ppt_x"/>
                                          </p:val>
                                        </p:tav>
                                      </p:tavLst>
                                    </p:anim>
                                    <p:animEffect transition="in" filter="wipe(right)">
                                      <p:cBhvr>
                                        <p:cTn id="27" dur="500"/>
                                        <p:tgtEl>
                                          <p:spTgt spid="7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87"/>
                                        </p:tgtEl>
                                        <p:attrNameLst>
                                          <p:attrName>style.visibility</p:attrName>
                                        </p:attrNameLst>
                                      </p:cBhvr>
                                      <p:to>
                                        <p:strVal val="visible"/>
                                      </p:to>
                                    </p:set>
                                    <p:animEffect transition="in" filter="wipe(down)">
                                      <p:cBhvr>
                                        <p:cTn id="32" dur="500"/>
                                        <p:tgtEl>
                                          <p:spTgt spid="87"/>
                                        </p:tgtEl>
                                      </p:cBhvr>
                                    </p:animEffect>
                                  </p:childTnLst>
                                </p:cTn>
                              </p:par>
                            </p:childTnLst>
                          </p:cTn>
                        </p:par>
                        <p:par>
                          <p:cTn id="33" fill="hold">
                            <p:stCondLst>
                              <p:cond delay="500"/>
                            </p:stCondLst>
                            <p:childTnLst>
                              <p:par>
                                <p:cTn id="34" presetID="22" presetClass="exit" presetSubtype="4" fill="hold" nodeType="afterEffect">
                                  <p:stCondLst>
                                    <p:cond delay="0"/>
                                  </p:stCondLst>
                                  <p:childTnLst>
                                    <p:animEffect transition="out" filter="wipe(down)">
                                      <p:cBhvr>
                                        <p:cTn id="35" dur="500"/>
                                        <p:tgtEl>
                                          <p:spTgt spid="69"/>
                                        </p:tgtEl>
                                      </p:cBhvr>
                                    </p:animEffect>
                                    <p:set>
                                      <p:cBhvr>
                                        <p:cTn id="36" dur="1" fill="hold">
                                          <p:stCondLst>
                                            <p:cond delay="499"/>
                                          </p:stCondLst>
                                        </p:cTn>
                                        <p:tgtEl>
                                          <p:spTgt spid="69"/>
                                        </p:tgtEl>
                                        <p:attrNameLst>
                                          <p:attrName>style.visibility</p:attrName>
                                        </p:attrNameLst>
                                      </p:cBhvr>
                                      <p:to>
                                        <p:strVal val="hidden"/>
                                      </p:to>
                                    </p:set>
                                  </p:childTnLst>
                                </p:cTn>
                              </p:par>
                              <p:par>
                                <p:cTn id="37" presetID="22" presetClass="entr" presetSubtype="4" fill="hold" nodeType="withEffect">
                                  <p:stCondLst>
                                    <p:cond delay="0"/>
                                  </p:stCondLst>
                                  <p:childTnLst>
                                    <p:set>
                                      <p:cBhvr>
                                        <p:cTn id="38" dur="1" fill="hold">
                                          <p:stCondLst>
                                            <p:cond delay="0"/>
                                          </p:stCondLst>
                                        </p:cTn>
                                        <p:tgtEl>
                                          <p:spTgt spid="93"/>
                                        </p:tgtEl>
                                        <p:attrNameLst>
                                          <p:attrName>style.visibility</p:attrName>
                                        </p:attrNameLst>
                                      </p:cBhvr>
                                      <p:to>
                                        <p:strVal val="visible"/>
                                      </p:to>
                                    </p:set>
                                    <p:animEffect transition="in" filter="wipe(down)">
                                      <p:cBhvr>
                                        <p:cTn id="39" dur="500"/>
                                        <p:tgtEl>
                                          <p:spTgt spid="93"/>
                                        </p:tgtEl>
                                      </p:cBhvr>
                                    </p:animEffect>
                                  </p:childTnLst>
                                </p:cTn>
                              </p:par>
                            </p:childTnLst>
                          </p:cTn>
                        </p:par>
                        <p:par>
                          <p:cTn id="40" fill="hold">
                            <p:stCondLst>
                              <p:cond delay="1000"/>
                            </p:stCondLst>
                            <p:childTnLst>
                              <p:par>
                                <p:cTn id="41" presetID="22" presetClass="exit" presetSubtype="4" fill="hold" nodeType="afterEffect">
                                  <p:stCondLst>
                                    <p:cond delay="0"/>
                                  </p:stCondLst>
                                  <p:childTnLst>
                                    <p:animEffect transition="out" filter="wipe(down)">
                                      <p:cBhvr>
                                        <p:cTn id="42" dur="500"/>
                                        <p:tgtEl>
                                          <p:spTgt spid="73"/>
                                        </p:tgtEl>
                                      </p:cBhvr>
                                    </p:animEffect>
                                    <p:set>
                                      <p:cBhvr>
                                        <p:cTn id="43" dur="1" fill="hold">
                                          <p:stCondLst>
                                            <p:cond delay="499"/>
                                          </p:stCondLst>
                                        </p:cTn>
                                        <p:tgtEl>
                                          <p:spTgt spid="73"/>
                                        </p:tgtEl>
                                        <p:attrNameLst>
                                          <p:attrName>style.visibility</p:attrName>
                                        </p:attrNameLst>
                                      </p:cBhvr>
                                      <p:to>
                                        <p:strVal val="hidden"/>
                                      </p:to>
                                    </p:set>
                                  </p:childTnLst>
                                </p:cTn>
                              </p:par>
                              <p:par>
                                <p:cTn id="44" presetID="22" presetClass="entr" presetSubtype="4" fill="hold" nodeType="withEffect">
                                  <p:stCondLst>
                                    <p:cond delay="0"/>
                                  </p:stCondLst>
                                  <p:childTnLst>
                                    <p:set>
                                      <p:cBhvr>
                                        <p:cTn id="45" dur="1" fill="hold">
                                          <p:stCondLst>
                                            <p:cond delay="0"/>
                                          </p:stCondLst>
                                        </p:cTn>
                                        <p:tgtEl>
                                          <p:spTgt spid="97"/>
                                        </p:tgtEl>
                                        <p:attrNameLst>
                                          <p:attrName>style.visibility</p:attrName>
                                        </p:attrNameLst>
                                      </p:cBhvr>
                                      <p:to>
                                        <p:strVal val="visible"/>
                                      </p:to>
                                    </p:set>
                                    <p:animEffect transition="in" filter="wipe(down)">
                                      <p:cBhvr>
                                        <p:cTn id="46" dur="500"/>
                                        <p:tgtEl>
                                          <p:spTgt spid="97"/>
                                        </p:tgtEl>
                                      </p:cBhvr>
                                    </p:animEffect>
                                  </p:childTnLst>
                                </p:cTn>
                              </p:par>
                            </p:childTnLst>
                          </p:cTn>
                        </p:par>
                        <p:par>
                          <p:cTn id="47" fill="hold">
                            <p:stCondLst>
                              <p:cond delay="1500"/>
                            </p:stCondLst>
                            <p:childTnLst>
                              <p:par>
                                <p:cTn id="48" presetID="22" presetClass="exit" presetSubtype="4" fill="hold" nodeType="afterEffect">
                                  <p:stCondLst>
                                    <p:cond delay="0"/>
                                  </p:stCondLst>
                                  <p:childTnLst>
                                    <p:animEffect transition="out" filter="wipe(down)">
                                      <p:cBhvr>
                                        <p:cTn id="49" dur="500"/>
                                        <p:tgtEl>
                                          <p:spTgt spid="77"/>
                                        </p:tgtEl>
                                      </p:cBhvr>
                                    </p:animEffect>
                                    <p:set>
                                      <p:cBhvr>
                                        <p:cTn id="50" dur="1" fill="hold">
                                          <p:stCondLst>
                                            <p:cond delay="499"/>
                                          </p:stCondLst>
                                        </p:cTn>
                                        <p:tgtEl>
                                          <p:spTgt spid="7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101"/>
                                        </p:tgtEl>
                                        <p:attrNameLst>
                                          <p:attrName>style.visibility</p:attrName>
                                        </p:attrNameLst>
                                      </p:cBhvr>
                                      <p:to>
                                        <p:strVal val="visible"/>
                                      </p:to>
                                    </p:set>
                                    <p:animEffect transition="in" filter="wipe(down)">
                                      <p:cBhvr>
                                        <p:cTn id="55" dur="500"/>
                                        <p:tgtEl>
                                          <p:spTgt spid="101"/>
                                        </p:tgtEl>
                                      </p:cBhvr>
                                    </p:animEffect>
                                  </p:childTnLst>
                                </p:cTn>
                              </p:par>
                            </p:childTnLst>
                          </p:cTn>
                        </p:par>
                        <p:par>
                          <p:cTn id="56" fill="hold">
                            <p:stCondLst>
                              <p:cond delay="500"/>
                            </p:stCondLst>
                            <p:childTnLst>
                              <p:par>
                                <p:cTn id="57" presetID="22" presetClass="exit" presetSubtype="4" fill="hold" nodeType="afterEffect">
                                  <p:stCondLst>
                                    <p:cond delay="0"/>
                                  </p:stCondLst>
                                  <p:childTnLst>
                                    <p:animEffect transition="out" filter="wipe(down)">
                                      <p:cBhvr>
                                        <p:cTn id="58" dur="500"/>
                                        <p:tgtEl>
                                          <p:spTgt spid="93"/>
                                        </p:tgtEl>
                                      </p:cBhvr>
                                    </p:animEffect>
                                    <p:set>
                                      <p:cBhvr>
                                        <p:cTn id="59" dur="1" fill="hold">
                                          <p:stCondLst>
                                            <p:cond delay="499"/>
                                          </p:stCondLst>
                                        </p:cTn>
                                        <p:tgtEl>
                                          <p:spTgt spid="93"/>
                                        </p:tgtEl>
                                        <p:attrNameLst>
                                          <p:attrName>style.visibility</p:attrName>
                                        </p:attrNameLst>
                                      </p:cBhvr>
                                      <p:to>
                                        <p:strVal val="hidden"/>
                                      </p:to>
                                    </p:set>
                                  </p:childTnLst>
                                </p:cTn>
                              </p:par>
                              <p:par>
                                <p:cTn id="60" presetID="22" presetClass="entr" presetSubtype="4" fill="hold" nodeType="withEffect">
                                  <p:stCondLst>
                                    <p:cond delay="0"/>
                                  </p:stCondLst>
                                  <p:childTnLst>
                                    <p:set>
                                      <p:cBhvr>
                                        <p:cTn id="61" dur="1" fill="hold">
                                          <p:stCondLst>
                                            <p:cond delay="0"/>
                                          </p:stCondLst>
                                        </p:cTn>
                                        <p:tgtEl>
                                          <p:spTgt spid="107"/>
                                        </p:tgtEl>
                                        <p:attrNameLst>
                                          <p:attrName>style.visibility</p:attrName>
                                        </p:attrNameLst>
                                      </p:cBhvr>
                                      <p:to>
                                        <p:strVal val="visible"/>
                                      </p:to>
                                    </p:set>
                                    <p:animEffect transition="in" filter="wipe(down)">
                                      <p:cBhvr>
                                        <p:cTn id="62" dur="500"/>
                                        <p:tgtEl>
                                          <p:spTgt spid="107"/>
                                        </p:tgtEl>
                                      </p:cBhvr>
                                    </p:animEffect>
                                  </p:childTnLst>
                                </p:cTn>
                              </p:par>
                            </p:childTnLst>
                          </p:cTn>
                        </p:par>
                        <p:par>
                          <p:cTn id="63" fill="hold">
                            <p:stCondLst>
                              <p:cond delay="1000"/>
                            </p:stCondLst>
                            <p:childTnLst>
                              <p:par>
                                <p:cTn id="64" presetID="22" presetClass="exit" presetSubtype="4" fill="hold" nodeType="afterEffect">
                                  <p:stCondLst>
                                    <p:cond delay="0"/>
                                  </p:stCondLst>
                                  <p:childTnLst>
                                    <p:animEffect transition="out" filter="wipe(down)">
                                      <p:cBhvr>
                                        <p:cTn id="65" dur="500"/>
                                        <p:tgtEl>
                                          <p:spTgt spid="97"/>
                                        </p:tgtEl>
                                      </p:cBhvr>
                                    </p:animEffect>
                                    <p:set>
                                      <p:cBhvr>
                                        <p:cTn id="66" dur="1" fill="hold">
                                          <p:stCondLst>
                                            <p:cond delay="499"/>
                                          </p:stCondLst>
                                        </p:cTn>
                                        <p:tgtEl>
                                          <p:spTgt spid="97"/>
                                        </p:tgtEl>
                                        <p:attrNameLst>
                                          <p:attrName>style.visibility</p:attrName>
                                        </p:attrNameLst>
                                      </p:cBhvr>
                                      <p:to>
                                        <p:strVal val="hidden"/>
                                      </p:to>
                                    </p:set>
                                  </p:childTnLst>
                                </p:cTn>
                              </p:par>
                              <p:par>
                                <p:cTn id="67" presetID="22" presetClass="entr" presetSubtype="4" fill="hold" nodeType="withEffect">
                                  <p:stCondLst>
                                    <p:cond delay="0"/>
                                  </p:stCondLst>
                                  <p:childTnLst>
                                    <p:set>
                                      <p:cBhvr>
                                        <p:cTn id="68" dur="1" fill="hold">
                                          <p:stCondLst>
                                            <p:cond delay="0"/>
                                          </p:stCondLst>
                                        </p:cTn>
                                        <p:tgtEl>
                                          <p:spTgt spid="111"/>
                                        </p:tgtEl>
                                        <p:attrNameLst>
                                          <p:attrName>style.visibility</p:attrName>
                                        </p:attrNameLst>
                                      </p:cBhvr>
                                      <p:to>
                                        <p:strVal val="visible"/>
                                      </p:to>
                                    </p:set>
                                    <p:animEffect transition="in" filter="wipe(down)">
                                      <p:cBhvr>
                                        <p:cTn id="69" dur="500"/>
                                        <p:tgtEl>
                                          <p:spTgt spid="111"/>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115"/>
                                        </p:tgtEl>
                                        <p:attrNameLst>
                                          <p:attrName>style.visibility</p:attrName>
                                        </p:attrNameLst>
                                      </p:cBhvr>
                                      <p:to>
                                        <p:strVal val="visible"/>
                                      </p:to>
                                    </p:set>
                                    <p:animEffect transition="in" filter="wipe(down)">
                                      <p:cBhvr>
                                        <p:cTn id="74" dur="500"/>
                                        <p:tgtEl>
                                          <p:spTgt spid="115"/>
                                        </p:tgtEl>
                                      </p:cBhvr>
                                    </p:animEffect>
                                  </p:childTnLst>
                                </p:cTn>
                              </p:par>
                            </p:childTnLst>
                          </p:cTn>
                        </p:par>
                        <p:par>
                          <p:cTn id="75" fill="hold">
                            <p:stCondLst>
                              <p:cond delay="500"/>
                            </p:stCondLst>
                            <p:childTnLst>
                              <p:par>
                                <p:cTn id="76" presetID="22" presetClass="exit" presetSubtype="4" fill="hold" nodeType="afterEffect">
                                  <p:stCondLst>
                                    <p:cond delay="0"/>
                                  </p:stCondLst>
                                  <p:childTnLst>
                                    <p:animEffect transition="out" filter="wipe(down)">
                                      <p:cBhvr>
                                        <p:cTn id="77" dur="500"/>
                                        <p:tgtEl>
                                          <p:spTgt spid="107"/>
                                        </p:tgtEl>
                                      </p:cBhvr>
                                    </p:animEffect>
                                    <p:set>
                                      <p:cBhvr>
                                        <p:cTn id="78" dur="1" fill="hold">
                                          <p:stCondLst>
                                            <p:cond delay="499"/>
                                          </p:stCondLst>
                                        </p:cTn>
                                        <p:tgtEl>
                                          <p:spTgt spid="107"/>
                                        </p:tgtEl>
                                        <p:attrNameLst>
                                          <p:attrName>style.visibility</p:attrName>
                                        </p:attrNameLst>
                                      </p:cBhvr>
                                      <p:to>
                                        <p:strVal val="hidden"/>
                                      </p:to>
                                    </p:set>
                                  </p:childTnLst>
                                </p:cTn>
                              </p:par>
                            </p:childTnLst>
                          </p:cTn>
                        </p:par>
                        <p:par>
                          <p:cTn id="79" fill="hold">
                            <p:stCondLst>
                              <p:cond delay="1000"/>
                            </p:stCondLst>
                            <p:childTnLst>
                              <p:par>
                                <p:cTn id="80" presetID="22" presetClass="exit" presetSubtype="4" fill="hold" nodeType="afterEffect">
                                  <p:stCondLst>
                                    <p:cond delay="0"/>
                                  </p:stCondLst>
                                  <p:childTnLst>
                                    <p:animEffect transition="out" filter="wipe(down)">
                                      <p:cBhvr>
                                        <p:cTn id="81" dur="500"/>
                                        <p:tgtEl>
                                          <p:spTgt spid="111"/>
                                        </p:tgtEl>
                                      </p:cBhvr>
                                    </p:animEffect>
                                    <p:set>
                                      <p:cBhvr>
                                        <p:cTn id="82" dur="1" fill="hold">
                                          <p:stCondLst>
                                            <p:cond delay="499"/>
                                          </p:stCondLst>
                                        </p:cTn>
                                        <p:tgtEl>
                                          <p:spTgt spid="111"/>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139"/>
                                        </p:tgtEl>
                                        <p:attrNameLst>
                                          <p:attrName>style.visibility</p:attrName>
                                        </p:attrNameLst>
                                      </p:cBhvr>
                                      <p:to>
                                        <p:strVal val="visible"/>
                                      </p:to>
                                    </p:set>
                                    <p:animEffect transition="in" filter="wipe(down)">
                                      <p:cBhvr>
                                        <p:cTn id="87" dur="500"/>
                                        <p:tgtEl>
                                          <p:spTgt spid="139"/>
                                        </p:tgtEl>
                                      </p:cBhvr>
                                    </p:animEffect>
                                  </p:childTnLst>
                                </p:cTn>
                              </p:par>
                            </p:childTnLst>
                          </p:cTn>
                        </p:par>
                        <p:par>
                          <p:cTn id="88" fill="hold">
                            <p:stCondLst>
                              <p:cond delay="500"/>
                            </p:stCondLst>
                            <p:childTnLst>
                              <p:par>
                                <p:cTn id="89" presetID="22" presetClass="entr" presetSubtype="4" fill="hold" nodeType="afterEffect">
                                  <p:stCondLst>
                                    <p:cond delay="0"/>
                                  </p:stCondLst>
                                  <p:childTnLst>
                                    <p:set>
                                      <p:cBhvr>
                                        <p:cTn id="90" dur="1" fill="hold">
                                          <p:stCondLst>
                                            <p:cond delay="0"/>
                                          </p:stCondLst>
                                        </p:cTn>
                                        <p:tgtEl>
                                          <p:spTgt spid="127"/>
                                        </p:tgtEl>
                                        <p:attrNameLst>
                                          <p:attrName>style.visibility</p:attrName>
                                        </p:attrNameLst>
                                      </p:cBhvr>
                                      <p:to>
                                        <p:strVal val="visible"/>
                                      </p:to>
                                    </p:set>
                                    <p:animEffect transition="in" filter="wipe(down)">
                                      <p:cBhvr>
                                        <p:cTn id="91" dur="500"/>
                                        <p:tgtEl>
                                          <p:spTgt spid="127"/>
                                        </p:tgtEl>
                                      </p:cBhvr>
                                    </p:animEffect>
                                  </p:childTnLst>
                                </p:cTn>
                              </p:par>
                            </p:childTnLst>
                          </p:cTn>
                        </p:par>
                        <p:par>
                          <p:cTn id="92" fill="hold">
                            <p:stCondLst>
                              <p:cond delay="1000"/>
                            </p:stCondLst>
                            <p:childTnLst>
                              <p:par>
                                <p:cTn id="93" presetID="22" presetClass="entr" presetSubtype="4" fill="hold" nodeType="afterEffect">
                                  <p:stCondLst>
                                    <p:cond delay="0"/>
                                  </p:stCondLst>
                                  <p:childTnLst>
                                    <p:set>
                                      <p:cBhvr>
                                        <p:cTn id="94" dur="1" fill="hold">
                                          <p:stCondLst>
                                            <p:cond delay="0"/>
                                          </p:stCondLst>
                                        </p:cTn>
                                        <p:tgtEl>
                                          <p:spTgt spid="131"/>
                                        </p:tgtEl>
                                        <p:attrNameLst>
                                          <p:attrName>style.visibility</p:attrName>
                                        </p:attrNameLst>
                                      </p:cBhvr>
                                      <p:to>
                                        <p:strVal val="visible"/>
                                      </p:to>
                                    </p:set>
                                    <p:animEffect transition="in" filter="wipe(down)">
                                      <p:cBhvr>
                                        <p:cTn id="95" dur="500"/>
                                        <p:tgtEl>
                                          <p:spTgt spid="131"/>
                                        </p:tgtEl>
                                      </p:cBhvr>
                                    </p:animEffect>
                                  </p:childTnLst>
                                </p:cTn>
                              </p:par>
                            </p:childTnLst>
                          </p:cTn>
                        </p:par>
                        <p:par>
                          <p:cTn id="96" fill="hold">
                            <p:stCondLst>
                              <p:cond delay="1500"/>
                            </p:stCondLst>
                            <p:childTnLst>
                              <p:par>
                                <p:cTn id="97" presetID="22" presetClass="entr" presetSubtype="4" fill="hold" nodeType="afterEffect">
                                  <p:stCondLst>
                                    <p:cond delay="0"/>
                                  </p:stCondLst>
                                  <p:childTnLst>
                                    <p:set>
                                      <p:cBhvr>
                                        <p:cTn id="98" dur="1" fill="hold">
                                          <p:stCondLst>
                                            <p:cond delay="0"/>
                                          </p:stCondLst>
                                        </p:cTn>
                                        <p:tgtEl>
                                          <p:spTgt spid="135"/>
                                        </p:tgtEl>
                                        <p:attrNameLst>
                                          <p:attrName>style.visibility</p:attrName>
                                        </p:attrNameLst>
                                      </p:cBhvr>
                                      <p:to>
                                        <p:strVal val="visible"/>
                                      </p:to>
                                    </p:set>
                                    <p:animEffect transition="in" filter="wipe(down)">
                                      <p:cBhvr>
                                        <p:cTn id="99" dur="5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a:extLst>
            <a:ext uri="{FF2B5EF4-FFF2-40B4-BE49-F238E27FC236}">
              <a16:creationId xmlns:a16="http://schemas.microsoft.com/office/drawing/2014/main" id="{E863A00C-2B10-3655-4B83-17F1358A4E3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7177FD6-3EED-DE5C-A8A3-B3CFB413EEFE}"/>
              </a:ext>
            </a:extLst>
          </p:cNvPr>
          <p:cNvSpPr/>
          <p:nvPr/>
        </p:nvSpPr>
        <p:spPr>
          <a:xfrm>
            <a:off x="0" y="0"/>
            <a:ext cx="12191695" cy="128016"/>
          </a:xfrm>
          <a:prstGeom prst="rect">
            <a:avLst/>
          </a:prstGeom>
          <a:solidFill>
            <a:srgbClr val="0B6E99"/>
          </a:solidFill>
          <a:ln w="12700">
            <a:solidFill>
              <a:srgbClr val="0B6E99"/>
            </a:solidFill>
            <a:prstDash val="solid"/>
          </a:ln>
        </p:spPr>
      </p:sp>
      <p:sp>
        <p:nvSpPr>
          <p:cNvPr id="4" name="Text 2">
            <a:extLst>
              <a:ext uri="{FF2B5EF4-FFF2-40B4-BE49-F238E27FC236}">
                <a16:creationId xmlns:a16="http://schemas.microsoft.com/office/drawing/2014/main" id="{1B899397-E4F2-67DA-68A0-8214D089C1FB}"/>
              </a:ext>
            </a:extLst>
          </p:cNvPr>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err="1">
                <a:solidFill>
                  <a:srgbClr val="102A43"/>
                </a:solidFill>
                <a:latin typeface="Sharif 1.2" panose="020B0000040000000000" pitchFamily="34" charset="-78"/>
                <a:ea typeface="Sharif 1.2" panose="020B0000040000000000" pitchFamily="34" charset="-78"/>
                <a:cs typeface="Sharif 1.2" panose="020B0000040000000000" pitchFamily="34" charset="-78"/>
              </a:rPr>
              <a:t>دامنه</a:t>
            </a:r>
            <a:r>
              <a:rPr lang="en-US" sz="2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a:t>
            </a:r>
            <a:r>
              <a:rPr lang="en-US" sz="2700" b="1" dirty="0" err="1">
                <a:solidFill>
                  <a:srgbClr val="102A43"/>
                </a:solidFill>
                <a:latin typeface="Sharif 1.2" panose="020B0000040000000000" pitchFamily="34" charset="-78"/>
                <a:ea typeface="Sharif 1.2" panose="020B0000040000000000" pitchFamily="34" charset="-78"/>
                <a:cs typeface="Sharif 1.2" panose="020B0000040000000000" pitchFamily="34" charset="-78"/>
              </a:rPr>
              <a:t>پروژه</a:t>
            </a:r>
            <a:endParaRPr lang="en-US" sz="2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5" name="Shape 3">
            <a:extLst>
              <a:ext uri="{FF2B5EF4-FFF2-40B4-BE49-F238E27FC236}">
                <a16:creationId xmlns:a16="http://schemas.microsoft.com/office/drawing/2014/main" id="{2BEE1186-AA26-5043-7B20-97504EA6A799}"/>
              </a:ext>
            </a:extLst>
          </p:cNvPr>
          <p:cNvSpPr/>
          <p:nvPr/>
        </p:nvSpPr>
        <p:spPr>
          <a:xfrm>
            <a:off x="658368" y="1207008"/>
            <a:ext cx="10881360" cy="0"/>
          </a:xfrm>
          <a:prstGeom prst="line">
            <a:avLst/>
          </a:prstGeom>
          <a:noFill/>
          <a:ln w="15240">
            <a:solidFill>
              <a:srgbClr val="D9E2EC"/>
            </a:solidFill>
            <a:prstDash val="solid"/>
          </a:ln>
        </p:spPr>
      </p:sp>
      <p:grpSp>
        <p:nvGrpSpPr>
          <p:cNvPr id="3" name="Group 2">
            <a:extLst>
              <a:ext uri="{FF2B5EF4-FFF2-40B4-BE49-F238E27FC236}">
                <a16:creationId xmlns:a16="http://schemas.microsoft.com/office/drawing/2014/main" id="{1203726D-955F-7136-519C-396332ECEA5B}"/>
              </a:ext>
            </a:extLst>
          </p:cNvPr>
          <p:cNvGrpSpPr/>
          <p:nvPr/>
        </p:nvGrpSpPr>
        <p:grpSpPr>
          <a:xfrm>
            <a:off x="530352" y="2272284"/>
            <a:ext cx="2029968" cy="1965960"/>
            <a:chOff x="713232" y="2971800"/>
            <a:chExt cx="2029968" cy="1965960"/>
          </a:xfrm>
        </p:grpSpPr>
        <p:sp>
          <p:nvSpPr>
            <p:cNvPr id="8" name="Shape 6">
              <a:extLst>
                <a:ext uri="{FF2B5EF4-FFF2-40B4-BE49-F238E27FC236}">
                  <a16:creationId xmlns:a16="http://schemas.microsoft.com/office/drawing/2014/main" id="{D0C32ACF-7C51-9945-83A0-CC6CD2B9BDE6}"/>
                </a:ext>
              </a:extLst>
            </p:cNvPr>
            <p:cNvSpPr/>
            <p:nvPr/>
          </p:nvSpPr>
          <p:spPr>
            <a:xfrm>
              <a:off x="713232"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9" name="Shape 7">
              <a:extLst>
                <a:ext uri="{FF2B5EF4-FFF2-40B4-BE49-F238E27FC236}">
                  <a16:creationId xmlns:a16="http://schemas.microsoft.com/office/drawing/2014/main" id="{61DBC002-2546-509F-1C70-047F43F3D3F5}"/>
                </a:ext>
              </a:extLst>
            </p:cNvPr>
            <p:cNvSpPr/>
            <p:nvPr/>
          </p:nvSpPr>
          <p:spPr>
            <a:xfrm>
              <a:off x="1389888" y="3182112"/>
              <a:ext cx="658368" cy="658368"/>
            </a:xfrm>
            <a:prstGeom prst="ellipse">
              <a:avLst/>
            </a:prstGeom>
            <a:solidFill>
              <a:srgbClr val="0B6E99"/>
            </a:solidFill>
            <a:ln w="12700">
              <a:solidFill>
                <a:srgbClr val="0B6E99"/>
              </a:solidFill>
              <a:prstDash val="solid"/>
            </a:ln>
          </p:spPr>
          <p:txBody>
            <a:bodyPr/>
            <a:lstStyle/>
            <a:p>
              <a:endParaRPr lang="en-US" dirty="0"/>
            </a:p>
          </p:txBody>
        </p:sp>
        <p:sp>
          <p:nvSpPr>
            <p:cNvPr id="10" name="Text 8">
              <a:extLst>
                <a:ext uri="{FF2B5EF4-FFF2-40B4-BE49-F238E27FC236}">
                  <a16:creationId xmlns:a16="http://schemas.microsoft.com/office/drawing/2014/main" id="{F50D6BF6-55A9-C653-10E2-BAEFA1F327B1}"/>
                </a:ext>
              </a:extLst>
            </p:cNvPr>
            <p:cNvSpPr/>
            <p:nvPr/>
          </p:nvSpPr>
          <p:spPr>
            <a:xfrm>
              <a:off x="1389888"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1" name="Text 9">
              <a:extLst>
                <a:ext uri="{FF2B5EF4-FFF2-40B4-BE49-F238E27FC236}">
                  <a16:creationId xmlns:a16="http://schemas.microsoft.com/office/drawing/2014/main" id="{BDB67C8B-40A8-1FD6-99ED-80066D7E1ADE}"/>
                </a:ext>
              </a:extLst>
            </p:cNvPr>
            <p:cNvSpPr/>
            <p:nvPr/>
          </p:nvSpPr>
          <p:spPr>
            <a:xfrm>
              <a:off x="877824"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ایستادن</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12" name="Text 10">
              <a:extLst>
                <a:ext uri="{FF2B5EF4-FFF2-40B4-BE49-F238E27FC236}">
                  <a16:creationId xmlns:a16="http://schemas.microsoft.com/office/drawing/2014/main" id="{5F3A8A76-73B7-EAA2-00A6-18AB680015A3}"/>
                </a:ext>
              </a:extLst>
            </p:cNvPr>
            <p:cNvSpPr/>
            <p:nvPr/>
          </p:nvSpPr>
          <p:spPr>
            <a:xfrm>
              <a:off x="877824"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تعادل و نوسان کم‌دامنه</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6" name="Group 5">
            <a:extLst>
              <a:ext uri="{FF2B5EF4-FFF2-40B4-BE49-F238E27FC236}">
                <a16:creationId xmlns:a16="http://schemas.microsoft.com/office/drawing/2014/main" id="{0A9A3CE7-A736-839E-A82D-CE69E22DD03F}"/>
              </a:ext>
            </a:extLst>
          </p:cNvPr>
          <p:cNvGrpSpPr/>
          <p:nvPr/>
        </p:nvGrpSpPr>
        <p:grpSpPr>
          <a:xfrm>
            <a:off x="2798064" y="2272284"/>
            <a:ext cx="2029968" cy="1965960"/>
            <a:chOff x="2980944" y="2971800"/>
            <a:chExt cx="2029968" cy="1965960"/>
          </a:xfrm>
        </p:grpSpPr>
        <p:sp>
          <p:nvSpPr>
            <p:cNvPr id="13" name="Shape 11">
              <a:extLst>
                <a:ext uri="{FF2B5EF4-FFF2-40B4-BE49-F238E27FC236}">
                  <a16:creationId xmlns:a16="http://schemas.microsoft.com/office/drawing/2014/main" id="{AF72559F-1301-0BC0-32E2-8225C4B82D6F}"/>
                </a:ext>
              </a:extLst>
            </p:cNvPr>
            <p:cNvSpPr/>
            <p:nvPr/>
          </p:nvSpPr>
          <p:spPr>
            <a:xfrm>
              <a:off x="2980944"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4" name="Shape 12">
              <a:extLst>
                <a:ext uri="{FF2B5EF4-FFF2-40B4-BE49-F238E27FC236}">
                  <a16:creationId xmlns:a16="http://schemas.microsoft.com/office/drawing/2014/main" id="{9302C3BD-B4C3-40AD-49A2-A41887BF8D65}"/>
                </a:ext>
              </a:extLst>
            </p:cNvPr>
            <p:cNvSpPr/>
            <p:nvPr/>
          </p:nvSpPr>
          <p:spPr>
            <a:xfrm>
              <a:off x="3657600" y="3182112"/>
              <a:ext cx="658368" cy="658368"/>
            </a:xfrm>
            <a:prstGeom prst="ellipse">
              <a:avLst/>
            </a:prstGeom>
            <a:solidFill>
              <a:srgbClr val="0B7A75"/>
            </a:solidFill>
            <a:ln w="12700">
              <a:solidFill>
                <a:srgbClr val="0B7A75"/>
              </a:solidFill>
              <a:prstDash val="solid"/>
            </a:ln>
          </p:spPr>
          <p:txBody>
            <a:bodyPr/>
            <a:lstStyle/>
            <a:p>
              <a:endParaRPr lang="en-US" dirty="0"/>
            </a:p>
          </p:txBody>
        </p:sp>
        <p:sp>
          <p:nvSpPr>
            <p:cNvPr id="15" name="Text 13">
              <a:extLst>
                <a:ext uri="{FF2B5EF4-FFF2-40B4-BE49-F238E27FC236}">
                  <a16:creationId xmlns:a16="http://schemas.microsoft.com/office/drawing/2014/main" id="{722464E1-8AAB-1A24-873F-B092EAA9262D}"/>
                </a:ext>
              </a:extLst>
            </p:cNvPr>
            <p:cNvSpPr/>
            <p:nvPr/>
          </p:nvSpPr>
          <p:spPr>
            <a:xfrm>
              <a:off x="3657600"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۲</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6" name="Text 14">
              <a:extLst>
                <a:ext uri="{FF2B5EF4-FFF2-40B4-BE49-F238E27FC236}">
                  <a16:creationId xmlns:a16="http://schemas.microsoft.com/office/drawing/2014/main" id="{52F43B64-54CC-C8F9-2507-9F7A19E12F10}"/>
                </a:ext>
              </a:extLst>
            </p:cNvPr>
            <p:cNvSpPr/>
            <p:nvPr/>
          </p:nvSpPr>
          <p:spPr>
            <a:xfrm>
              <a:off x="3145536"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برخاستن از صندلی</a:t>
              </a:r>
              <a:endParaRPr lang="en-US" sz="17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17" name="Text 15">
              <a:extLst>
                <a:ext uri="{FF2B5EF4-FFF2-40B4-BE49-F238E27FC236}">
                  <a16:creationId xmlns:a16="http://schemas.microsoft.com/office/drawing/2014/main" id="{93ACFAE4-613D-1625-BF97-D6741AE3CB15}"/>
                </a:ext>
              </a:extLst>
            </p:cNvPr>
            <p:cNvSpPr/>
            <p:nvPr/>
          </p:nvSpPr>
          <p:spPr>
            <a:xfrm>
              <a:off x="3145536"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هماهنگی تنه، دست و پا</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52" name="Group 51">
            <a:extLst>
              <a:ext uri="{FF2B5EF4-FFF2-40B4-BE49-F238E27FC236}">
                <a16:creationId xmlns:a16="http://schemas.microsoft.com/office/drawing/2014/main" id="{0458C7F1-030E-69D4-1FF1-689AC69A71D3}"/>
              </a:ext>
            </a:extLst>
          </p:cNvPr>
          <p:cNvGrpSpPr/>
          <p:nvPr/>
        </p:nvGrpSpPr>
        <p:grpSpPr>
          <a:xfrm>
            <a:off x="5065776" y="2295144"/>
            <a:ext cx="2029968" cy="1965960"/>
            <a:chOff x="5248656" y="2971800"/>
            <a:chExt cx="2029968" cy="1965960"/>
          </a:xfrm>
        </p:grpSpPr>
        <p:sp>
          <p:nvSpPr>
            <p:cNvPr id="18" name="Shape 16">
              <a:extLst>
                <a:ext uri="{FF2B5EF4-FFF2-40B4-BE49-F238E27FC236}">
                  <a16:creationId xmlns:a16="http://schemas.microsoft.com/office/drawing/2014/main" id="{9F861175-6D6E-B871-9947-9D0A57C2B5B5}"/>
                </a:ext>
              </a:extLst>
            </p:cNvPr>
            <p:cNvSpPr/>
            <p:nvPr/>
          </p:nvSpPr>
          <p:spPr>
            <a:xfrm>
              <a:off x="5248656"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9" name="Shape 17">
              <a:extLst>
                <a:ext uri="{FF2B5EF4-FFF2-40B4-BE49-F238E27FC236}">
                  <a16:creationId xmlns:a16="http://schemas.microsoft.com/office/drawing/2014/main" id="{68497F85-B0E5-7347-6D1D-4630A7FBCFB1}"/>
                </a:ext>
              </a:extLst>
            </p:cNvPr>
            <p:cNvSpPr/>
            <p:nvPr/>
          </p:nvSpPr>
          <p:spPr>
            <a:xfrm>
              <a:off x="5925312" y="3182112"/>
              <a:ext cx="658368" cy="658368"/>
            </a:xfrm>
            <a:prstGeom prst="ellipse">
              <a:avLst/>
            </a:prstGeom>
            <a:solidFill>
              <a:srgbClr val="E69F00"/>
            </a:solidFill>
            <a:ln w="12700">
              <a:solidFill>
                <a:srgbClr val="E69F00"/>
              </a:solidFill>
              <a:prstDash val="solid"/>
            </a:ln>
          </p:spPr>
        </p:sp>
        <p:sp>
          <p:nvSpPr>
            <p:cNvPr id="20" name="Text 18">
              <a:extLst>
                <a:ext uri="{FF2B5EF4-FFF2-40B4-BE49-F238E27FC236}">
                  <a16:creationId xmlns:a16="http://schemas.microsoft.com/office/drawing/2014/main" id="{49834494-D6DC-0526-9B44-5440A9D8B7DF}"/>
                </a:ext>
              </a:extLst>
            </p:cNvPr>
            <p:cNvSpPr/>
            <p:nvPr/>
          </p:nvSpPr>
          <p:spPr>
            <a:xfrm>
              <a:off x="5925312"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۳</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1" name="Text 19">
              <a:extLst>
                <a:ext uri="{FF2B5EF4-FFF2-40B4-BE49-F238E27FC236}">
                  <a16:creationId xmlns:a16="http://schemas.microsoft.com/office/drawing/2014/main" id="{6A4D80BD-4A5C-8048-95D9-78B4508AAF82}"/>
                </a:ext>
              </a:extLst>
            </p:cNvPr>
            <p:cNvSpPr/>
            <p:nvPr/>
          </p:nvSpPr>
          <p:spPr>
            <a:xfrm>
              <a:off x="5413248"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پریدن</a:t>
              </a:r>
              <a:endParaRPr lang="en-US" sz="1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2" name="Text 20">
              <a:extLst>
                <a:ext uri="{FF2B5EF4-FFF2-40B4-BE49-F238E27FC236}">
                  <a16:creationId xmlns:a16="http://schemas.microsoft.com/office/drawing/2014/main" id="{BB9F6B3D-6AAE-C234-25A4-48E8C8D60B6F}"/>
                </a:ext>
              </a:extLst>
            </p:cNvPr>
            <p:cNvSpPr/>
            <p:nvPr/>
          </p:nvSpPr>
          <p:spPr>
            <a:xfrm>
              <a:off x="5413248"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حرکت سریع و انفجاری</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53" name="Group 52">
            <a:extLst>
              <a:ext uri="{FF2B5EF4-FFF2-40B4-BE49-F238E27FC236}">
                <a16:creationId xmlns:a16="http://schemas.microsoft.com/office/drawing/2014/main" id="{13DD4B10-8353-FF47-6D13-6BACD743BC00}"/>
              </a:ext>
            </a:extLst>
          </p:cNvPr>
          <p:cNvGrpSpPr/>
          <p:nvPr/>
        </p:nvGrpSpPr>
        <p:grpSpPr>
          <a:xfrm>
            <a:off x="7333488" y="2272284"/>
            <a:ext cx="2029968" cy="1965960"/>
            <a:chOff x="7516368" y="2971800"/>
            <a:chExt cx="2029968" cy="1965960"/>
          </a:xfrm>
        </p:grpSpPr>
        <p:sp>
          <p:nvSpPr>
            <p:cNvPr id="23" name="Shape 21">
              <a:extLst>
                <a:ext uri="{FF2B5EF4-FFF2-40B4-BE49-F238E27FC236}">
                  <a16:creationId xmlns:a16="http://schemas.microsoft.com/office/drawing/2014/main" id="{D02F2BD5-463F-375C-25E5-7ADEEFD64CB4}"/>
                </a:ext>
              </a:extLst>
            </p:cNvPr>
            <p:cNvSpPr/>
            <p:nvPr/>
          </p:nvSpPr>
          <p:spPr>
            <a:xfrm>
              <a:off x="7516368"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4" name="Shape 22">
              <a:extLst>
                <a:ext uri="{FF2B5EF4-FFF2-40B4-BE49-F238E27FC236}">
                  <a16:creationId xmlns:a16="http://schemas.microsoft.com/office/drawing/2014/main" id="{8941A68D-DAEB-29F8-ED51-3A3A65979474}"/>
                </a:ext>
              </a:extLst>
            </p:cNvPr>
            <p:cNvSpPr/>
            <p:nvPr/>
          </p:nvSpPr>
          <p:spPr>
            <a:xfrm>
              <a:off x="8193024" y="3182112"/>
              <a:ext cx="658368" cy="658368"/>
            </a:xfrm>
            <a:prstGeom prst="ellipse">
              <a:avLst/>
            </a:prstGeom>
            <a:solidFill>
              <a:srgbClr val="2F855A"/>
            </a:solidFill>
            <a:ln w="12700">
              <a:solidFill>
                <a:srgbClr val="2F855A"/>
              </a:solidFill>
              <a:prstDash val="solid"/>
            </a:ln>
          </p:spPr>
        </p:sp>
        <p:sp>
          <p:nvSpPr>
            <p:cNvPr id="25" name="Text 23">
              <a:extLst>
                <a:ext uri="{FF2B5EF4-FFF2-40B4-BE49-F238E27FC236}">
                  <a16:creationId xmlns:a16="http://schemas.microsoft.com/office/drawing/2014/main" id="{2A160E65-6E03-C0EF-93C7-CF760F56C954}"/>
                </a:ext>
              </a:extLst>
            </p:cNvPr>
            <p:cNvSpPr/>
            <p:nvPr/>
          </p:nvSpPr>
          <p:spPr>
            <a:xfrm>
              <a:off x="8193024"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۴</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6" name="Text 24">
              <a:extLst>
                <a:ext uri="{FF2B5EF4-FFF2-40B4-BE49-F238E27FC236}">
                  <a16:creationId xmlns:a16="http://schemas.microsoft.com/office/drawing/2014/main" id="{458E4FE9-6AA3-FCC1-B426-566B7B344B49}"/>
                </a:ext>
              </a:extLst>
            </p:cNvPr>
            <p:cNvSpPr/>
            <p:nvPr/>
          </p:nvSpPr>
          <p:spPr>
            <a:xfrm>
              <a:off x="7680960"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بالا آوردن سر</a:t>
              </a:r>
              <a:endParaRPr lang="en-US" sz="1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27" name="Text 25">
              <a:extLst>
                <a:ext uri="{FF2B5EF4-FFF2-40B4-BE49-F238E27FC236}">
                  <a16:creationId xmlns:a16="http://schemas.microsoft.com/office/drawing/2014/main" id="{BD3BBA72-7F2C-75F2-1F97-295DC525FC2D}"/>
                </a:ext>
              </a:extLst>
            </p:cNvPr>
            <p:cNvSpPr/>
            <p:nvPr/>
          </p:nvSpPr>
          <p:spPr>
            <a:xfrm>
              <a:off x="7680960"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حرکت ضدجاذبه گردن</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54" name="Group 53">
            <a:extLst>
              <a:ext uri="{FF2B5EF4-FFF2-40B4-BE49-F238E27FC236}">
                <a16:creationId xmlns:a16="http://schemas.microsoft.com/office/drawing/2014/main" id="{3F9C02E8-50CA-4686-556F-FAAE3E3F202B}"/>
              </a:ext>
            </a:extLst>
          </p:cNvPr>
          <p:cNvGrpSpPr/>
          <p:nvPr/>
        </p:nvGrpSpPr>
        <p:grpSpPr>
          <a:xfrm>
            <a:off x="9601200" y="2272284"/>
            <a:ext cx="2029968" cy="1965960"/>
            <a:chOff x="9784080" y="2971800"/>
            <a:chExt cx="2029968" cy="1965960"/>
          </a:xfrm>
        </p:grpSpPr>
        <p:sp>
          <p:nvSpPr>
            <p:cNvPr id="28" name="Shape 26">
              <a:extLst>
                <a:ext uri="{FF2B5EF4-FFF2-40B4-BE49-F238E27FC236}">
                  <a16:creationId xmlns:a16="http://schemas.microsoft.com/office/drawing/2014/main" id="{0C4B3B75-C625-035A-5BC8-0A510482A1A1}"/>
                </a:ext>
              </a:extLst>
            </p:cNvPr>
            <p:cNvSpPr/>
            <p:nvPr/>
          </p:nvSpPr>
          <p:spPr>
            <a:xfrm>
              <a:off x="9784080" y="2971800"/>
              <a:ext cx="2029968" cy="1965960"/>
            </a:xfrm>
            <a:prstGeom prst="roundRect">
              <a:avLst>
                <a:gd name="adj" fmla="val 3721"/>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9" name="Shape 27">
              <a:extLst>
                <a:ext uri="{FF2B5EF4-FFF2-40B4-BE49-F238E27FC236}">
                  <a16:creationId xmlns:a16="http://schemas.microsoft.com/office/drawing/2014/main" id="{740DBFEC-D4CF-E4AF-FE1B-D0E319B1D0AB}"/>
                </a:ext>
              </a:extLst>
            </p:cNvPr>
            <p:cNvSpPr/>
            <p:nvPr/>
          </p:nvSpPr>
          <p:spPr>
            <a:xfrm>
              <a:off x="10460736" y="3182112"/>
              <a:ext cx="658368" cy="658368"/>
            </a:xfrm>
            <a:prstGeom prst="ellipse">
              <a:avLst/>
            </a:prstGeom>
            <a:solidFill>
              <a:srgbClr val="C0392B"/>
            </a:solidFill>
            <a:ln w="12700">
              <a:solidFill>
                <a:srgbClr val="C0392B"/>
              </a:solidFill>
              <a:prstDash val="solid"/>
            </a:ln>
          </p:spPr>
        </p:sp>
        <p:sp>
          <p:nvSpPr>
            <p:cNvPr id="30" name="Text 28">
              <a:extLst>
                <a:ext uri="{FF2B5EF4-FFF2-40B4-BE49-F238E27FC236}">
                  <a16:creationId xmlns:a16="http://schemas.microsoft.com/office/drawing/2014/main" id="{039671FC-1357-A647-BAFC-9DB6CDD54F73}"/>
                </a:ext>
              </a:extLst>
            </p:cNvPr>
            <p:cNvSpPr/>
            <p:nvPr/>
          </p:nvSpPr>
          <p:spPr>
            <a:xfrm>
              <a:off x="10460736" y="3246120"/>
              <a:ext cx="658368" cy="457200"/>
            </a:xfrm>
            <a:prstGeom prst="rect">
              <a:avLst/>
            </a:prstGeom>
            <a:noFill/>
            <a:ln/>
          </p:spPr>
          <p:txBody>
            <a:bodyPr wrap="square" lIns="0" tIns="0" rIns="0" bIns="0" rtlCol="0" anchor="ctr">
              <a:normAutofit/>
            </a:bodyPr>
            <a:lstStyle/>
            <a:p>
              <a:pPr marL="0" indent="0" algn="ctr">
                <a:buNone/>
              </a:pPr>
              <a:r>
                <a:rPr lang="fa-IR" sz="20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۵</a:t>
              </a:r>
              <a:endParaRPr lang="en-US" sz="20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1" name="Text 29">
              <a:extLst>
                <a:ext uri="{FF2B5EF4-FFF2-40B4-BE49-F238E27FC236}">
                  <a16:creationId xmlns:a16="http://schemas.microsoft.com/office/drawing/2014/main" id="{4E007366-CA81-792C-D969-7247ABE16DD4}"/>
                </a:ext>
              </a:extLst>
            </p:cNvPr>
            <p:cNvSpPr/>
            <p:nvPr/>
          </p:nvSpPr>
          <p:spPr>
            <a:xfrm>
              <a:off x="9948672" y="3977640"/>
              <a:ext cx="1700784"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بالا رفتن از جعبه</a:t>
              </a:r>
              <a:endParaRPr lang="en-US" sz="1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32" name="Text 30">
              <a:extLst>
                <a:ext uri="{FF2B5EF4-FFF2-40B4-BE49-F238E27FC236}">
                  <a16:creationId xmlns:a16="http://schemas.microsoft.com/office/drawing/2014/main" id="{8BF6C227-5D85-2645-55F9-834C7EE4F51D}"/>
                </a:ext>
              </a:extLst>
            </p:cNvPr>
            <p:cNvSpPr/>
            <p:nvPr/>
          </p:nvSpPr>
          <p:spPr>
            <a:xfrm>
              <a:off x="9948672" y="4407408"/>
              <a:ext cx="1700784" cy="493776"/>
            </a:xfrm>
            <a:prstGeom prst="rect">
              <a:avLst/>
            </a:prstGeom>
            <a:noFill/>
            <a:ln/>
          </p:spPr>
          <p:txBody>
            <a:bodyPr wrap="square" lIns="0" tIns="0" rIns="0" bIns="0" rtlCol="0" anchor="t">
              <a:normAutofit/>
            </a:bodyPr>
            <a:lstStyle/>
            <a:p>
              <a:pPr marL="0" indent="0" algn="ctr" rtl="1">
                <a:buNone/>
              </a:pPr>
              <a:r>
                <a:rPr lang="en-US" sz="11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انتقال وزن و تعادل</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sp>
        <p:nvSpPr>
          <p:cNvPr id="33" name="Shape 31">
            <a:extLst>
              <a:ext uri="{FF2B5EF4-FFF2-40B4-BE49-F238E27FC236}">
                <a16:creationId xmlns:a16="http://schemas.microsoft.com/office/drawing/2014/main" id="{5A5B67F2-1F33-78C2-C998-688CB96D3816}"/>
              </a:ext>
            </a:extLst>
          </p:cNvPr>
          <p:cNvSpPr/>
          <p:nvPr/>
        </p:nvSpPr>
        <p:spPr>
          <a:xfrm>
            <a:off x="689006" y="4937760"/>
            <a:ext cx="10771632" cy="859536"/>
          </a:xfrm>
          <a:prstGeom prst="roundRect">
            <a:avLst>
              <a:gd name="adj" fmla="val 8511"/>
            </a:avLst>
          </a:prstGeom>
          <a:solidFill>
            <a:srgbClr val="102A43"/>
          </a:solidFill>
          <a:ln w="12700">
            <a:solidFill>
              <a:srgbClr val="102A43"/>
            </a:solidFill>
            <a:prstDash val="solid"/>
          </a:ln>
        </p:spPr>
      </p:sp>
      <p:sp>
        <p:nvSpPr>
          <p:cNvPr id="34" name="Shape 32">
            <a:extLst>
              <a:ext uri="{FF2B5EF4-FFF2-40B4-BE49-F238E27FC236}">
                <a16:creationId xmlns:a16="http://schemas.microsoft.com/office/drawing/2014/main" id="{CFE993A3-AB15-4874-DED0-4BC861AEDF8E}"/>
              </a:ext>
            </a:extLst>
          </p:cNvPr>
          <p:cNvSpPr/>
          <p:nvPr/>
        </p:nvSpPr>
        <p:spPr>
          <a:xfrm>
            <a:off x="3679094" y="5138928"/>
            <a:ext cx="438912" cy="438912"/>
          </a:xfrm>
          <a:prstGeom prst="ellipse">
            <a:avLst/>
          </a:prstGeom>
          <a:solidFill>
            <a:srgbClr val="1D8AB5"/>
          </a:solidFill>
          <a:ln w="12700">
            <a:solidFill>
              <a:srgbClr val="1D8AB5"/>
            </a:solidFill>
            <a:prstDash val="solid"/>
          </a:ln>
        </p:spPr>
      </p:sp>
      <p:sp>
        <p:nvSpPr>
          <p:cNvPr id="35" name="Text 33">
            <a:extLst>
              <a:ext uri="{FF2B5EF4-FFF2-40B4-BE49-F238E27FC236}">
                <a16:creationId xmlns:a16="http://schemas.microsoft.com/office/drawing/2014/main" id="{72E43B94-8742-98DF-ACA0-A3C057E5E2C5}"/>
              </a:ext>
            </a:extLst>
          </p:cNvPr>
          <p:cNvSpPr/>
          <p:nvPr/>
        </p:nvSpPr>
        <p:spPr>
          <a:xfrm>
            <a:off x="3679094" y="5148072"/>
            <a:ext cx="438912" cy="384048"/>
          </a:xfrm>
          <a:prstGeom prst="rect">
            <a:avLst/>
          </a:prstGeom>
          <a:noFill/>
          <a:ln/>
        </p:spPr>
        <p:txBody>
          <a:bodyPr wrap="square" lIns="0" tIns="0" rIns="0" bIns="0" rtlCol="0" anchor="ctr">
            <a:normAutofit/>
          </a:bodyPr>
          <a:lstStyle/>
          <a:p>
            <a:pPr marL="0" indent="0" algn="ctr">
              <a:buNone/>
            </a:pPr>
            <a:r>
              <a:rPr lang="fa-IR" sz="14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14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6" name="Text 34">
            <a:extLst>
              <a:ext uri="{FF2B5EF4-FFF2-40B4-BE49-F238E27FC236}">
                <a16:creationId xmlns:a16="http://schemas.microsoft.com/office/drawing/2014/main" id="{37C37FFF-4582-05AC-F3CB-414B89703622}"/>
              </a:ext>
            </a:extLst>
          </p:cNvPr>
          <p:cNvSpPr/>
          <p:nvPr/>
        </p:nvSpPr>
        <p:spPr>
          <a:xfrm>
            <a:off x="844454" y="5056632"/>
            <a:ext cx="2670048" cy="256032"/>
          </a:xfrm>
          <a:prstGeom prst="rect">
            <a:avLst/>
          </a:prstGeom>
          <a:noFill/>
          <a:ln/>
        </p:spPr>
        <p:txBody>
          <a:bodyPr wrap="square" lIns="0" tIns="0" rIns="0" bIns="0" rtlCol="0" anchor="ctr">
            <a:normAutofit/>
          </a:bodyPr>
          <a:lstStyle/>
          <a:p>
            <a:pPr marL="0" indent="0" algn="r" rtl="1">
              <a:buNone/>
            </a:pPr>
            <a:r>
              <a:rPr lang="en-US" sz="1350" b="1" dirty="0">
                <a:solidFill>
                  <a:srgbClr val="FFFFFF"/>
                </a:solidFill>
                <a:latin typeface="Sharif 1.2 Medium" panose="020B0000040000000000" pitchFamily="34" charset="-78"/>
                <a:ea typeface="Sharif 1.2 Medium" panose="020B0000040000000000" pitchFamily="34" charset="-78"/>
                <a:cs typeface="Sharif 1.2 Medium" panose="020B0000040000000000" pitchFamily="34" charset="-78"/>
              </a:rPr>
              <a:t>سامانه پوشیدنی پنج‌حسگری</a:t>
            </a:r>
            <a:endParaRPr lang="en-US" sz="135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37" name="Text 35">
            <a:extLst>
              <a:ext uri="{FF2B5EF4-FFF2-40B4-BE49-F238E27FC236}">
                <a16:creationId xmlns:a16="http://schemas.microsoft.com/office/drawing/2014/main" id="{A839C7C5-9C7B-BF48-3565-B285B7946BA3}"/>
              </a:ext>
            </a:extLst>
          </p:cNvPr>
          <p:cNvSpPr/>
          <p:nvPr/>
        </p:nvSpPr>
        <p:spPr>
          <a:xfrm>
            <a:off x="844454" y="5349240"/>
            <a:ext cx="2670048" cy="292608"/>
          </a:xfrm>
          <a:prstGeom prst="rect">
            <a:avLst/>
          </a:prstGeom>
          <a:noFill/>
          <a:ln/>
        </p:spPr>
        <p:txBody>
          <a:bodyPr wrap="square" lIns="0" tIns="0" rIns="0" bIns="0" rtlCol="0" anchor="ctr">
            <a:normAutofit/>
          </a:bodyPr>
          <a:lstStyle/>
          <a:p>
            <a:pPr marL="0" indent="0" algn="r" rtl="1">
              <a:buNone/>
            </a:pPr>
            <a:r>
              <a:rPr lang="en-US" sz="105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ثبت هم‌زمان حرکات سر، دست‌ها و پاها</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8" name="Shape 36">
            <a:extLst>
              <a:ext uri="{FF2B5EF4-FFF2-40B4-BE49-F238E27FC236}">
                <a16:creationId xmlns:a16="http://schemas.microsoft.com/office/drawing/2014/main" id="{10DAF75A-1305-4171-F0C9-1EDE8F9134AB}"/>
              </a:ext>
            </a:extLst>
          </p:cNvPr>
          <p:cNvSpPr/>
          <p:nvPr/>
        </p:nvSpPr>
        <p:spPr>
          <a:xfrm>
            <a:off x="7236110" y="5138928"/>
            <a:ext cx="438912" cy="438912"/>
          </a:xfrm>
          <a:prstGeom prst="ellipse">
            <a:avLst/>
          </a:prstGeom>
          <a:solidFill>
            <a:srgbClr val="1D8AB5"/>
          </a:solidFill>
          <a:ln w="12700">
            <a:solidFill>
              <a:srgbClr val="1D8AB5"/>
            </a:solidFill>
            <a:prstDash val="solid"/>
          </a:ln>
        </p:spPr>
      </p:sp>
      <p:sp>
        <p:nvSpPr>
          <p:cNvPr id="39" name="Text 37">
            <a:extLst>
              <a:ext uri="{FF2B5EF4-FFF2-40B4-BE49-F238E27FC236}">
                <a16:creationId xmlns:a16="http://schemas.microsoft.com/office/drawing/2014/main" id="{7FD2EE29-AB98-5F83-3000-36941C1723B5}"/>
              </a:ext>
            </a:extLst>
          </p:cNvPr>
          <p:cNvSpPr/>
          <p:nvPr/>
        </p:nvSpPr>
        <p:spPr>
          <a:xfrm>
            <a:off x="7236110" y="5148072"/>
            <a:ext cx="438912" cy="384048"/>
          </a:xfrm>
          <a:prstGeom prst="rect">
            <a:avLst/>
          </a:prstGeom>
          <a:noFill/>
          <a:ln/>
        </p:spPr>
        <p:txBody>
          <a:bodyPr wrap="square" lIns="0" tIns="0" rIns="0" bIns="0" rtlCol="0" anchor="ctr">
            <a:normAutofit/>
          </a:bodyPr>
          <a:lstStyle/>
          <a:p>
            <a:pPr marL="0" indent="0" algn="ctr">
              <a:buNone/>
            </a:pPr>
            <a:r>
              <a:rPr lang="fa-IR" sz="14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۲</a:t>
            </a:r>
            <a:endParaRPr lang="en-US" sz="14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0" name="Text 38">
            <a:extLst>
              <a:ext uri="{FF2B5EF4-FFF2-40B4-BE49-F238E27FC236}">
                <a16:creationId xmlns:a16="http://schemas.microsoft.com/office/drawing/2014/main" id="{0BB1BDFB-FEEA-4343-1DDB-59FF89E50AC2}"/>
              </a:ext>
            </a:extLst>
          </p:cNvPr>
          <p:cNvSpPr/>
          <p:nvPr/>
        </p:nvSpPr>
        <p:spPr>
          <a:xfrm>
            <a:off x="4401470" y="5056632"/>
            <a:ext cx="2670048" cy="256032"/>
          </a:xfrm>
          <a:prstGeom prst="rect">
            <a:avLst/>
          </a:prstGeom>
          <a:noFill/>
          <a:ln/>
        </p:spPr>
        <p:txBody>
          <a:bodyPr wrap="square" lIns="0" tIns="0" rIns="0" bIns="0" rtlCol="0" anchor="ctr">
            <a:normAutofit/>
          </a:bodyPr>
          <a:lstStyle/>
          <a:p>
            <a:pPr marL="0" indent="0" algn="r" rtl="1">
              <a:buNone/>
            </a:pPr>
            <a:r>
              <a:rPr lang="en-US" sz="1350" b="1" dirty="0">
                <a:solidFill>
                  <a:srgbClr val="FFFFFF"/>
                </a:solidFill>
                <a:latin typeface="Sharif 1.2 Medium" panose="020B0000040000000000" pitchFamily="34" charset="-78"/>
                <a:ea typeface="Sharif 1.2 Medium" panose="020B0000040000000000" pitchFamily="34" charset="-78"/>
                <a:cs typeface="Sharif 1.2 Medium" panose="020B0000040000000000" pitchFamily="34" charset="-78"/>
              </a:rPr>
              <a:t>زنجیره کامل پردازش</a:t>
            </a:r>
            <a:endParaRPr lang="en-US" sz="135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41" name="Text 39">
            <a:extLst>
              <a:ext uri="{FF2B5EF4-FFF2-40B4-BE49-F238E27FC236}">
                <a16:creationId xmlns:a16="http://schemas.microsoft.com/office/drawing/2014/main" id="{8DEC45AB-2703-C34C-B695-3D319074477C}"/>
              </a:ext>
            </a:extLst>
          </p:cNvPr>
          <p:cNvSpPr/>
          <p:nvPr/>
        </p:nvSpPr>
        <p:spPr>
          <a:xfrm>
            <a:off x="4401470" y="5349240"/>
            <a:ext cx="2670048" cy="292608"/>
          </a:xfrm>
          <a:prstGeom prst="rect">
            <a:avLst/>
          </a:prstGeom>
          <a:noFill/>
          <a:ln/>
        </p:spPr>
        <p:txBody>
          <a:bodyPr wrap="square" lIns="0" tIns="0" rIns="0" bIns="0" rtlCol="0" anchor="ctr">
            <a:normAutofit/>
          </a:bodyPr>
          <a:lstStyle/>
          <a:p>
            <a:pPr marL="0" indent="0" algn="r" rtl="1">
              <a:buNone/>
            </a:pPr>
            <a:r>
              <a:rPr lang="en-US" sz="105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از سیگنال خام </a:t>
            </a:r>
            <a:r>
              <a:rPr lang="en-US" sz="1050" dirty="0" err="1">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تا</a:t>
            </a:r>
            <a:r>
              <a:rPr lang="en-US" sz="105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 </a:t>
            </a:r>
            <a:r>
              <a:rPr lang="en-US" sz="1050" dirty="0" err="1">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مدل</a:t>
            </a:r>
            <a:r>
              <a:rPr lang="en-US" sz="105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 طبقه‌بند</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2" name="Shape 40">
            <a:extLst>
              <a:ext uri="{FF2B5EF4-FFF2-40B4-BE49-F238E27FC236}">
                <a16:creationId xmlns:a16="http://schemas.microsoft.com/office/drawing/2014/main" id="{A9814D06-9554-2749-403B-B70BF1FC83CB}"/>
              </a:ext>
            </a:extLst>
          </p:cNvPr>
          <p:cNvSpPr/>
          <p:nvPr/>
        </p:nvSpPr>
        <p:spPr>
          <a:xfrm>
            <a:off x="10793126" y="5138928"/>
            <a:ext cx="438912" cy="438912"/>
          </a:xfrm>
          <a:prstGeom prst="ellipse">
            <a:avLst/>
          </a:prstGeom>
          <a:solidFill>
            <a:srgbClr val="1D8AB5"/>
          </a:solidFill>
          <a:ln w="12700">
            <a:solidFill>
              <a:srgbClr val="1D8AB5"/>
            </a:solidFill>
            <a:prstDash val="solid"/>
          </a:ln>
        </p:spPr>
      </p:sp>
      <p:sp>
        <p:nvSpPr>
          <p:cNvPr id="43" name="Text 41">
            <a:extLst>
              <a:ext uri="{FF2B5EF4-FFF2-40B4-BE49-F238E27FC236}">
                <a16:creationId xmlns:a16="http://schemas.microsoft.com/office/drawing/2014/main" id="{BB3187EA-7823-D6F8-F9F4-2657998B7710}"/>
              </a:ext>
            </a:extLst>
          </p:cNvPr>
          <p:cNvSpPr/>
          <p:nvPr/>
        </p:nvSpPr>
        <p:spPr>
          <a:xfrm>
            <a:off x="10793126" y="5148072"/>
            <a:ext cx="438912" cy="384048"/>
          </a:xfrm>
          <a:prstGeom prst="rect">
            <a:avLst/>
          </a:prstGeom>
          <a:noFill/>
          <a:ln/>
        </p:spPr>
        <p:txBody>
          <a:bodyPr wrap="square" lIns="0" tIns="0" rIns="0" bIns="0" rtlCol="0" anchor="ctr">
            <a:normAutofit/>
          </a:bodyPr>
          <a:lstStyle/>
          <a:p>
            <a:pPr marL="0" indent="0" algn="ctr">
              <a:buNone/>
            </a:pPr>
            <a:r>
              <a:rPr lang="fa-IR" sz="1400"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۳</a:t>
            </a:r>
            <a:endParaRPr lang="en-US" sz="14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4" name="Text 42">
            <a:extLst>
              <a:ext uri="{FF2B5EF4-FFF2-40B4-BE49-F238E27FC236}">
                <a16:creationId xmlns:a16="http://schemas.microsoft.com/office/drawing/2014/main" id="{FE8310D8-2718-E936-259B-7001DC648251}"/>
              </a:ext>
            </a:extLst>
          </p:cNvPr>
          <p:cNvSpPr/>
          <p:nvPr/>
        </p:nvSpPr>
        <p:spPr>
          <a:xfrm>
            <a:off x="7958486" y="5056632"/>
            <a:ext cx="2670048" cy="256032"/>
          </a:xfrm>
          <a:prstGeom prst="rect">
            <a:avLst/>
          </a:prstGeom>
          <a:noFill/>
          <a:ln/>
        </p:spPr>
        <p:txBody>
          <a:bodyPr wrap="square" lIns="0" tIns="0" rIns="0" bIns="0" rtlCol="0" anchor="ctr">
            <a:normAutofit/>
          </a:bodyPr>
          <a:lstStyle/>
          <a:p>
            <a:pPr marL="0" indent="0" algn="r" rtl="1">
              <a:buNone/>
            </a:pPr>
            <a:r>
              <a:rPr lang="en-US" sz="1350" b="1" dirty="0">
                <a:solidFill>
                  <a:srgbClr val="FFFFFF"/>
                </a:solidFill>
                <a:latin typeface="Sharif 1.2 Medium" panose="020B0000040000000000" pitchFamily="34" charset="-78"/>
                <a:ea typeface="Sharif 1.2 Medium" panose="020B0000040000000000" pitchFamily="34" charset="-78"/>
                <a:cs typeface="Sharif 1.2 Medium" panose="020B0000040000000000" pitchFamily="34" charset="-78"/>
              </a:rPr>
              <a:t>مدل‌سازی مستقل هر فعالیت</a:t>
            </a:r>
            <a:endParaRPr lang="en-US" sz="135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45" name="Text 43">
            <a:extLst>
              <a:ext uri="{FF2B5EF4-FFF2-40B4-BE49-F238E27FC236}">
                <a16:creationId xmlns:a16="http://schemas.microsoft.com/office/drawing/2014/main" id="{DDEB26B5-54C2-8E61-696C-62A743A1C95D}"/>
              </a:ext>
            </a:extLst>
          </p:cNvPr>
          <p:cNvSpPr/>
          <p:nvPr/>
        </p:nvSpPr>
        <p:spPr>
          <a:xfrm>
            <a:off x="7958486" y="5349240"/>
            <a:ext cx="2670048" cy="292608"/>
          </a:xfrm>
          <a:prstGeom prst="rect">
            <a:avLst/>
          </a:prstGeom>
          <a:noFill/>
          <a:ln/>
        </p:spPr>
        <p:txBody>
          <a:bodyPr wrap="square" lIns="0" tIns="0" rIns="0" bIns="0" rtlCol="0" anchor="ctr">
            <a:normAutofit/>
          </a:bodyPr>
          <a:lstStyle/>
          <a:p>
            <a:pPr marL="0" indent="0" algn="r" rtl="1">
              <a:buNone/>
            </a:pPr>
            <a:r>
              <a:rPr lang="en-US" sz="105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انتخاب تعداد مؤلفه و مدل مناسب برای هر حرکت</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6" name="Shape 44">
            <a:extLst>
              <a:ext uri="{FF2B5EF4-FFF2-40B4-BE49-F238E27FC236}">
                <a16:creationId xmlns:a16="http://schemas.microsoft.com/office/drawing/2014/main" id="{F2E13F3F-BBE0-8B4F-3C61-5A65799A80B6}"/>
              </a:ext>
            </a:extLst>
          </p:cNvPr>
          <p:cNvSpPr/>
          <p:nvPr/>
        </p:nvSpPr>
        <p:spPr>
          <a:xfrm>
            <a:off x="658368" y="6473952"/>
            <a:ext cx="10881360" cy="0"/>
          </a:xfrm>
          <a:prstGeom prst="line">
            <a:avLst/>
          </a:prstGeom>
          <a:noFill/>
          <a:ln w="10160">
            <a:solidFill>
              <a:srgbClr val="E9EEF2"/>
            </a:solidFill>
            <a:prstDash val="solid"/>
          </a:ln>
        </p:spPr>
      </p:sp>
      <p:sp>
        <p:nvSpPr>
          <p:cNvPr id="47" name="Text 45">
            <a:extLst>
              <a:ext uri="{FF2B5EF4-FFF2-40B4-BE49-F238E27FC236}">
                <a16:creationId xmlns:a16="http://schemas.microsoft.com/office/drawing/2014/main" id="{39BD2334-9B1D-AB00-679A-EF533E92D7C1}"/>
              </a:ext>
            </a:extLst>
          </p:cNvPr>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8" name="Text 46">
            <a:extLst>
              <a:ext uri="{FF2B5EF4-FFF2-40B4-BE49-F238E27FC236}">
                <a16:creationId xmlns:a16="http://schemas.microsoft.com/office/drawing/2014/main" id="{062B5C43-C1EF-4023-1435-6A4C9C5D784F}"/>
              </a:ext>
            </a:extLst>
          </p:cNvPr>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مقدمه</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تعریف مسئله | ۱۱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9" name="Text 47">
            <a:extLst>
              <a:ext uri="{FF2B5EF4-FFF2-40B4-BE49-F238E27FC236}">
                <a16:creationId xmlns:a16="http://schemas.microsoft.com/office/drawing/2014/main" id="{97587A16-5870-FB68-CB61-FC5D4C83D5EA}"/>
              </a:ext>
            </a:extLst>
          </p:cNvPr>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۳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0" name="Shape 48">
            <a:extLst>
              <a:ext uri="{FF2B5EF4-FFF2-40B4-BE49-F238E27FC236}">
                <a16:creationId xmlns:a16="http://schemas.microsoft.com/office/drawing/2014/main" id="{46C61D46-ADAB-84FC-9E9D-98B6EA000DDB}"/>
              </a:ext>
            </a:extLst>
          </p:cNvPr>
          <p:cNvSpPr/>
          <p:nvPr/>
        </p:nvSpPr>
        <p:spPr>
          <a:xfrm>
            <a:off x="2560320" y="6766560"/>
            <a:ext cx="1410789" cy="41148"/>
          </a:xfrm>
          <a:prstGeom prst="rect">
            <a:avLst/>
          </a:prstGeom>
          <a:solidFill>
            <a:srgbClr val="0B6E99"/>
          </a:solidFill>
          <a:ln w="12700">
            <a:solidFill>
              <a:srgbClr val="0B6E99"/>
            </a:solidFill>
            <a:prstDash val="solid"/>
          </a:ln>
        </p:spPr>
      </p:sp>
      <p:sp>
        <p:nvSpPr>
          <p:cNvPr id="51" name="Shape 49">
            <a:extLst>
              <a:ext uri="{FF2B5EF4-FFF2-40B4-BE49-F238E27FC236}">
                <a16:creationId xmlns:a16="http://schemas.microsoft.com/office/drawing/2014/main" id="{C7449212-D393-A036-E5DD-8C8424B5BECD}"/>
              </a:ext>
            </a:extLst>
          </p:cNvPr>
          <p:cNvSpPr/>
          <p:nvPr/>
        </p:nvSpPr>
        <p:spPr>
          <a:xfrm>
            <a:off x="3971109" y="6766560"/>
            <a:ext cx="5172891" cy="41148"/>
          </a:xfrm>
          <a:prstGeom prst="rect">
            <a:avLst/>
          </a:prstGeom>
          <a:solidFill>
            <a:srgbClr val="E6EDF2"/>
          </a:solidFill>
          <a:ln w="12700">
            <a:solidFill>
              <a:srgbClr val="E6EDF2"/>
            </a:solidFill>
            <a:prstDash val="solid"/>
          </a:ln>
        </p:spPr>
      </p:sp>
      <p:sp>
        <p:nvSpPr>
          <p:cNvPr id="57" name="Text 5">
            <a:extLst>
              <a:ext uri="{FF2B5EF4-FFF2-40B4-BE49-F238E27FC236}">
                <a16:creationId xmlns:a16="http://schemas.microsoft.com/office/drawing/2014/main" id="{E08B284F-B6B1-9788-DDA8-76F75AAD2BC5}"/>
              </a:ext>
            </a:extLst>
          </p:cNvPr>
          <p:cNvSpPr/>
          <p:nvPr/>
        </p:nvSpPr>
        <p:spPr>
          <a:xfrm>
            <a:off x="3794760" y="1481328"/>
            <a:ext cx="7360920" cy="457200"/>
          </a:xfrm>
          <a:prstGeom prst="rect">
            <a:avLst/>
          </a:prstGeom>
          <a:noFill/>
          <a:ln/>
        </p:spPr>
        <p:txBody>
          <a:bodyPr wrap="square" lIns="0" tIns="0" rIns="0" bIns="0" rtlCol="0" anchor="ctr">
            <a:normAutofit/>
          </a:bodyPr>
          <a:lstStyle/>
          <a:p>
            <a:pPr marL="0" indent="0" algn="r" rtl="1">
              <a:buNone/>
            </a:pPr>
            <a:r>
              <a:rPr lang="en-US" sz="19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از ۱۷ </a:t>
            </a:r>
            <a:r>
              <a:rPr lang="en-US" sz="1900" b="1" dirty="0" err="1">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فعالیت</a:t>
            </a:r>
            <a:r>
              <a:rPr lang="fa-IR" sz="19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a:t>
            </a:r>
            <a:r>
              <a:rPr lang="en-US" sz="19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 NSAA</a:t>
            </a:r>
            <a:r>
              <a:rPr lang="fa-IR" sz="19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 </a:t>
            </a:r>
            <a:r>
              <a:rPr lang="en-US" sz="1900" b="1" dirty="0" err="1">
                <a:solidFill>
                  <a:srgbClr val="102A43"/>
                </a:solidFill>
                <a:latin typeface="Sharif 1.2" panose="020B0000040000000000" pitchFamily="34" charset="-78"/>
                <a:ea typeface="Sharif 1.2" panose="020B0000040000000000" pitchFamily="34" charset="-78"/>
                <a:cs typeface="Sharif 1.2" panose="020B0000040000000000" pitchFamily="34" charset="-78"/>
              </a:rPr>
              <a:t>پنج</a:t>
            </a:r>
            <a:r>
              <a:rPr lang="en-US" sz="19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 فعالیت با ماهیت حرکتی متفاوت </a:t>
            </a:r>
            <a:r>
              <a:rPr lang="en-US" sz="1900" b="1" dirty="0" err="1">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انتخاب</a:t>
            </a:r>
            <a:r>
              <a:rPr lang="en-US" sz="19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a:t>
            </a:r>
            <a:r>
              <a:rPr lang="en-US" sz="1900" b="1" dirty="0" err="1">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شد</a:t>
            </a:r>
            <a:r>
              <a:rPr lang="fa-IR" sz="19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a:t>
            </a:r>
            <a:endParaRPr lang="en-US" sz="1900" b="1" dirty="0">
              <a:latin typeface="Sharif 1.2" panose="020B0000040000000000" pitchFamily="34" charset="-78"/>
              <a:ea typeface="Sharif 1.2" panose="020B0000040000000000" pitchFamily="34" charset="-78"/>
              <a:cs typeface="Sharif 1.2" panose="020B0000040000000000" pitchFamily="34" charset="-78"/>
            </a:endParaRPr>
          </a:p>
        </p:txBody>
      </p:sp>
    </p:spTree>
    <p:extLst>
      <p:ext uri="{BB962C8B-B14F-4D97-AF65-F5344CB8AC3E}">
        <p14:creationId xmlns:p14="http://schemas.microsoft.com/office/powerpoint/2010/main" val="344188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سامانه داده‌برداری و محل نصب حسگرها</a:t>
            </a:r>
            <a:endParaRPr lang="en-US" sz="2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grpSp>
        <p:nvGrpSpPr>
          <p:cNvPr id="3" name="Group 2">
            <a:extLst>
              <a:ext uri="{FF2B5EF4-FFF2-40B4-BE49-F238E27FC236}">
                <a16:creationId xmlns:a16="http://schemas.microsoft.com/office/drawing/2014/main" id="{F1F3BFCB-7BDC-C3F1-3EFD-71BC94168448}"/>
              </a:ext>
            </a:extLst>
          </p:cNvPr>
          <p:cNvGrpSpPr/>
          <p:nvPr/>
        </p:nvGrpSpPr>
        <p:grpSpPr>
          <a:xfrm>
            <a:off x="658368" y="1463040"/>
            <a:ext cx="5166360" cy="4681728"/>
            <a:chOff x="658368" y="1463040"/>
            <a:chExt cx="5166360" cy="4681728"/>
          </a:xfrm>
        </p:grpSpPr>
        <p:sp>
          <p:nvSpPr>
            <p:cNvPr id="7" name="Shape 5"/>
            <p:cNvSpPr/>
            <p:nvPr/>
          </p:nvSpPr>
          <p:spPr>
            <a:xfrm>
              <a:off x="658368" y="1463040"/>
              <a:ext cx="5166360" cy="4681728"/>
            </a:xfrm>
            <a:prstGeom prst="roundRect">
              <a:avLst>
                <a:gd name="adj" fmla="val 1563"/>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pic>
          <p:nvPicPr>
            <p:cNvPr id="8" name="Image 0" descr="/mnt/data/dmd_assets/crops/sensor_photos.png"/>
            <p:cNvPicPr>
              <a:picLocks noChangeAspect="1"/>
            </p:cNvPicPr>
            <p:nvPr/>
          </p:nvPicPr>
          <p:blipFill>
            <a:blip r:embed="rId3"/>
            <a:srcRect t="12484" b="12484"/>
            <a:stretch/>
          </p:blipFill>
          <p:spPr>
            <a:xfrm>
              <a:off x="841248" y="1691640"/>
              <a:ext cx="4800600" cy="2240280"/>
            </a:xfrm>
            <a:prstGeom prst="rect">
              <a:avLst/>
            </a:prstGeom>
          </p:spPr>
        </p:pic>
        <p:sp>
          <p:nvSpPr>
            <p:cNvPr id="9" name="Text 6"/>
            <p:cNvSpPr/>
            <p:nvPr/>
          </p:nvSpPr>
          <p:spPr>
            <a:xfrm>
              <a:off x="932688" y="4023360"/>
              <a:ext cx="4617720" cy="329184"/>
            </a:xfrm>
            <a:prstGeom prst="rect">
              <a:avLst/>
            </a:prstGeom>
            <a:noFill/>
            <a:ln/>
          </p:spPr>
          <p:txBody>
            <a:bodyPr wrap="square" lIns="0" tIns="0" rIns="0" bIns="0" rtlCol="0" anchor="ctr">
              <a:normAutofit/>
            </a:bodyPr>
            <a:lstStyle/>
            <a:p>
              <a:pPr marL="0" indent="0" algn="ctr" rtl="1">
                <a:buNone/>
              </a:pPr>
              <a:r>
                <a:rPr lang="en-US" sz="1220" b="1" dirty="0">
                  <a:solidFill>
                    <a:srgbClr val="64748B"/>
                  </a:solidFill>
                  <a:latin typeface="Sharif 1.2 SemiBold" panose="020B0000040000000000" pitchFamily="34" charset="-78"/>
                  <a:ea typeface="Sharif 1.2 SemiBold" panose="020B0000040000000000" pitchFamily="34" charset="-78"/>
                  <a:cs typeface="Sharif 1.2 SemiBold" panose="020B0000040000000000" pitchFamily="34" charset="-78"/>
                </a:rPr>
                <a:t>نمونه نصب حسگر روی مچ دست و بالای قوزک خارجی</a:t>
              </a:r>
              <a:endParaRPr lang="en-US" sz="122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0" name="Shape 7"/>
            <p:cNvSpPr/>
            <p:nvPr/>
          </p:nvSpPr>
          <p:spPr>
            <a:xfrm>
              <a:off x="896112" y="4617720"/>
              <a:ext cx="1051560" cy="1005840"/>
            </a:xfrm>
            <a:prstGeom prst="roundRect">
              <a:avLst>
                <a:gd name="adj" fmla="val 7273"/>
              </a:avLst>
            </a:prstGeom>
            <a:solidFill>
              <a:srgbClr val="EEF4F8"/>
            </a:solidFill>
            <a:ln w="12700">
              <a:solidFill>
                <a:srgbClr val="D8E5EC"/>
              </a:solidFill>
              <a:prstDash val="solid"/>
            </a:ln>
          </p:spPr>
        </p:sp>
        <p:sp>
          <p:nvSpPr>
            <p:cNvPr id="11" name="Text 8"/>
            <p:cNvSpPr/>
            <p:nvPr/>
          </p:nvSpPr>
          <p:spPr>
            <a:xfrm>
              <a:off x="950976" y="4736592"/>
              <a:ext cx="941832" cy="292608"/>
            </a:xfrm>
            <a:prstGeom prst="rect">
              <a:avLst/>
            </a:prstGeom>
            <a:noFill/>
            <a:ln/>
          </p:spPr>
          <p:txBody>
            <a:bodyPr wrap="square" lIns="0" tIns="0" rIns="0" bIns="0" rtlCol="0" anchor="ctr">
              <a:normAutofit/>
            </a:bodyPr>
            <a:lstStyle/>
            <a:p>
              <a:pPr marL="0" indent="0" algn="ctr" rtl="1">
                <a:buNone/>
              </a:pPr>
              <a:r>
                <a:rPr lang="en-US"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۵</a:t>
              </a:r>
              <a:endParaRPr lang="en-US"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2" name="Text 9"/>
            <p:cNvSpPr/>
            <p:nvPr/>
          </p:nvSpPr>
          <p:spPr>
            <a:xfrm>
              <a:off x="95097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حسگر</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3" name="Shape 10"/>
            <p:cNvSpPr/>
            <p:nvPr/>
          </p:nvSpPr>
          <p:spPr>
            <a:xfrm>
              <a:off x="2084832" y="4617720"/>
              <a:ext cx="1051560" cy="1005840"/>
            </a:xfrm>
            <a:prstGeom prst="roundRect">
              <a:avLst>
                <a:gd name="adj" fmla="val 7273"/>
              </a:avLst>
            </a:prstGeom>
            <a:solidFill>
              <a:srgbClr val="EEF4F8"/>
            </a:solidFill>
            <a:ln w="12700">
              <a:solidFill>
                <a:srgbClr val="D8E5EC"/>
              </a:solidFill>
              <a:prstDash val="solid"/>
            </a:ln>
          </p:spPr>
        </p:sp>
        <p:sp>
          <p:nvSpPr>
            <p:cNvPr id="14" name="Text 11"/>
            <p:cNvSpPr/>
            <p:nvPr/>
          </p:nvSpPr>
          <p:spPr>
            <a:xfrm>
              <a:off x="2139696" y="4736592"/>
              <a:ext cx="941832" cy="292608"/>
            </a:xfrm>
            <a:prstGeom prst="rect">
              <a:avLst/>
            </a:prstGeom>
            <a:noFill/>
            <a:ln/>
          </p:spPr>
          <p:txBody>
            <a:bodyPr wrap="square" lIns="0" tIns="0" rIns="0" bIns="0" rtlCol="0" anchor="ctr">
              <a:noAutofit/>
            </a:bodyPr>
            <a:lstStyle/>
            <a:p>
              <a:pPr marL="0" indent="0" algn="ctr" rtl="1">
                <a:buNone/>
              </a:pPr>
              <a:r>
                <a:rPr lang="fa-IR" b="1" dirty="0">
                  <a:solidFill>
                    <a:srgbClr val="0B6E99"/>
                  </a:solidFill>
                  <a:latin typeface="Sharif 1.2" panose="020B0000040000000000" pitchFamily="34" charset="-78"/>
                  <a:ea typeface="Sharif 1.2" panose="020B0000040000000000" pitchFamily="34" charset="-78"/>
                  <a:cs typeface="Sharif 1.2" panose="020B0000040000000000" pitchFamily="34" charset="-78"/>
                </a:rPr>
                <a:t>۹۰</a:t>
              </a:r>
              <a:endParaRPr lang="en-US"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5" name="Text 12"/>
            <p:cNvSpPr/>
            <p:nvPr/>
          </p:nvSpPr>
          <p:spPr>
            <a:xfrm>
              <a:off x="213969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هرتز</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6" name="Shape 13"/>
            <p:cNvSpPr/>
            <p:nvPr/>
          </p:nvSpPr>
          <p:spPr>
            <a:xfrm>
              <a:off x="3273552" y="4617720"/>
              <a:ext cx="1051560" cy="1005840"/>
            </a:xfrm>
            <a:prstGeom prst="roundRect">
              <a:avLst>
                <a:gd name="adj" fmla="val 7273"/>
              </a:avLst>
            </a:prstGeom>
            <a:solidFill>
              <a:srgbClr val="EEF4F8"/>
            </a:solidFill>
            <a:ln w="12700">
              <a:solidFill>
                <a:srgbClr val="D8E5EC"/>
              </a:solidFill>
              <a:prstDash val="solid"/>
            </a:ln>
          </p:spPr>
        </p:sp>
        <p:sp>
          <p:nvSpPr>
            <p:cNvPr id="17" name="Text 14"/>
            <p:cNvSpPr/>
            <p:nvPr/>
          </p:nvSpPr>
          <p:spPr>
            <a:xfrm>
              <a:off x="3328416" y="4736592"/>
              <a:ext cx="941832" cy="292608"/>
            </a:xfrm>
            <a:prstGeom prst="rect">
              <a:avLst/>
            </a:prstGeom>
            <a:noFill/>
            <a:ln/>
          </p:spPr>
          <p:txBody>
            <a:bodyPr wrap="square" lIns="0" tIns="0" rIns="0" bIns="0" rtlCol="0" anchor="ctr">
              <a:normAutofit/>
            </a:bodyPr>
            <a:lstStyle/>
            <a:p>
              <a:pPr marL="0" indent="0" algn="ctr" rtl="1">
                <a:buNone/>
              </a:pPr>
              <a:r>
                <a:rPr lang="en-US"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۶</a:t>
              </a:r>
              <a:endParaRPr lang="en-US"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8" name="Text 15"/>
            <p:cNvSpPr/>
            <p:nvPr/>
          </p:nvSpPr>
          <p:spPr>
            <a:xfrm>
              <a:off x="332841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سیگنال/حسگر</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9" name="Shape 16"/>
            <p:cNvSpPr/>
            <p:nvPr/>
          </p:nvSpPr>
          <p:spPr>
            <a:xfrm>
              <a:off x="4462272" y="4617720"/>
              <a:ext cx="1051560" cy="1005840"/>
            </a:xfrm>
            <a:prstGeom prst="roundRect">
              <a:avLst>
                <a:gd name="adj" fmla="val 7273"/>
              </a:avLst>
            </a:prstGeom>
            <a:solidFill>
              <a:srgbClr val="E7F4F8"/>
            </a:solidFill>
            <a:ln w="12700">
              <a:solidFill>
                <a:srgbClr val="D8E5EC"/>
              </a:solidFill>
              <a:prstDash val="solid"/>
            </a:ln>
          </p:spPr>
        </p:sp>
        <p:sp>
          <p:nvSpPr>
            <p:cNvPr id="20" name="Text 17"/>
            <p:cNvSpPr/>
            <p:nvPr/>
          </p:nvSpPr>
          <p:spPr>
            <a:xfrm>
              <a:off x="4507992" y="4773168"/>
              <a:ext cx="960120" cy="256032"/>
            </a:xfrm>
            <a:prstGeom prst="rect">
              <a:avLst/>
            </a:prstGeom>
            <a:noFill/>
            <a:ln/>
          </p:spPr>
          <p:txBody>
            <a:bodyPr wrap="square" lIns="0" tIns="0" rIns="0" bIns="0" rtlCol="0" anchor="ctr">
              <a:noAutofit/>
            </a:bodyPr>
            <a:lstStyle/>
            <a:p>
              <a:pPr marL="0" indent="0" algn="ctr">
                <a:buNone/>
              </a:pPr>
              <a:r>
                <a:rPr lang="fa-IR" b="1" dirty="0" err="1">
                  <a:solidFill>
                    <a:srgbClr val="0B6E99"/>
                  </a:solidFill>
                  <a:latin typeface="Sharif 1.2" panose="020B0000040000000000" pitchFamily="34" charset="-78"/>
                  <a:ea typeface="Sharif 1.2" panose="020B0000040000000000" pitchFamily="34" charset="-78"/>
                  <a:cs typeface="Sharif 1.2" panose="020B0000040000000000" pitchFamily="34" charset="-78"/>
                </a:rPr>
                <a:t>بلوتوث</a:t>
              </a:r>
              <a:endParaRPr lang="en-US"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1" name="Text 18"/>
            <p:cNvSpPr/>
            <p:nvPr/>
          </p:nvSpPr>
          <p:spPr>
            <a:xfrm>
              <a:off x="4517136" y="5102352"/>
              <a:ext cx="941832" cy="256032"/>
            </a:xfrm>
            <a:prstGeom prst="rect">
              <a:avLst/>
            </a:prstGeom>
            <a:noFill/>
            <a:ln/>
          </p:spPr>
          <p:txBody>
            <a:bodyPr wrap="square" lIns="0" tIns="0" rIns="0" bIns="0" rtlCol="0" anchor="ctr">
              <a:normAutofit/>
            </a:bodyPr>
            <a:lstStyle/>
            <a:p>
              <a:pPr marL="0" indent="0" algn="ctr" rtl="1">
                <a:buNone/>
              </a:pPr>
              <a:r>
                <a:rPr lang="en-US" sz="10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ارتباط</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sp>
        <p:nvSpPr>
          <p:cNvPr id="22" name="Shape 19"/>
          <p:cNvSpPr/>
          <p:nvPr/>
        </p:nvSpPr>
        <p:spPr>
          <a:xfrm>
            <a:off x="6080760" y="1463040"/>
            <a:ext cx="5440680" cy="4681728"/>
          </a:xfrm>
          <a:prstGeom prst="roundRect">
            <a:avLst>
              <a:gd name="adj" fmla="val 1563"/>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grpSp>
        <p:nvGrpSpPr>
          <p:cNvPr id="41" name="Group 40">
            <a:extLst>
              <a:ext uri="{FF2B5EF4-FFF2-40B4-BE49-F238E27FC236}">
                <a16:creationId xmlns:a16="http://schemas.microsoft.com/office/drawing/2014/main" id="{E27B5261-C712-8002-9FFD-9D70E6ED28E0}"/>
              </a:ext>
            </a:extLst>
          </p:cNvPr>
          <p:cNvGrpSpPr/>
          <p:nvPr/>
        </p:nvGrpSpPr>
        <p:grpSpPr>
          <a:xfrm>
            <a:off x="8851392" y="1847088"/>
            <a:ext cx="2331720" cy="804672"/>
            <a:chOff x="8851392" y="1847088"/>
            <a:chExt cx="2331720" cy="804672"/>
          </a:xfrm>
        </p:grpSpPr>
        <p:sp>
          <p:nvSpPr>
            <p:cNvPr id="24" name="Shape 20"/>
            <p:cNvSpPr/>
            <p:nvPr/>
          </p:nvSpPr>
          <p:spPr>
            <a:xfrm>
              <a:off x="8851392" y="1847088"/>
              <a:ext cx="2331720" cy="804672"/>
            </a:xfrm>
            <a:prstGeom prst="roundRect">
              <a:avLst>
                <a:gd name="adj" fmla="val 9091"/>
              </a:avLst>
            </a:prstGeom>
            <a:solidFill>
              <a:srgbClr val="FFFFFF"/>
            </a:solidFill>
            <a:ln w="15875">
              <a:solidFill>
                <a:srgbClr val="0B6E99"/>
              </a:solidFill>
              <a:prstDash val="solid"/>
            </a:ln>
          </p:spPr>
        </p:sp>
        <p:sp>
          <p:nvSpPr>
            <p:cNvPr id="25" name="Text 21"/>
            <p:cNvSpPr/>
            <p:nvPr/>
          </p:nvSpPr>
          <p:spPr>
            <a:xfrm>
              <a:off x="9052560" y="1938528"/>
              <a:ext cx="1920240" cy="237744"/>
            </a:xfrm>
            <a:prstGeom prst="rect">
              <a:avLst/>
            </a:prstGeom>
            <a:noFill/>
            <a:ln/>
          </p:spPr>
          <p:txBody>
            <a:bodyPr wrap="square" lIns="0" tIns="0" rIns="0" bIns="0" rtlCol="0" anchor="ctr">
              <a:normAutofit/>
            </a:bodyPr>
            <a:lstStyle/>
            <a:p>
              <a:pPr marL="0" indent="0" algn="r" rtl="1">
                <a:buNone/>
              </a:pPr>
              <a:r>
                <a:rPr lang="en-US" sz="14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پیشانی</a:t>
              </a:r>
              <a:endParaRPr lang="en-US" sz="14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6" name="Text 22"/>
            <p:cNvSpPr/>
            <p:nvPr/>
          </p:nvSpPr>
          <p:spPr>
            <a:xfrm>
              <a:off x="9052560" y="2212848"/>
              <a:ext cx="1920240" cy="256032"/>
            </a:xfrm>
            <a:prstGeom prst="rect">
              <a:avLst/>
            </a:prstGeom>
            <a:noFill/>
            <a:ln/>
          </p:spPr>
          <p:txBody>
            <a:bodyPr wrap="square" lIns="0" tIns="0" rIns="0" bIns="0" rtlCol="0" anchor="t">
              <a:normAutofit/>
            </a:bodyPr>
            <a:lstStyle/>
            <a:p>
              <a:pPr marL="0" indent="0" algn="r" rtl="1">
                <a:buNone/>
              </a:pPr>
              <a:r>
                <a:rPr lang="en-US" sz="107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حرکت سر و کنترل تنه</a:t>
              </a:r>
              <a:endParaRPr lang="en-US" sz="107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6" name="Group 5">
            <a:extLst>
              <a:ext uri="{FF2B5EF4-FFF2-40B4-BE49-F238E27FC236}">
                <a16:creationId xmlns:a16="http://schemas.microsoft.com/office/drawing/2014/main" id="{7E0E271E-DB36-16E4-13C5-F8BDA115C321}"/>
              </a:ext>
            </a:extLst>
          </p:cNvPr>
          <p:cNvGrpSpPr/>
          <p:nvPr/>
        </p:nvGrpSpPr>
        <p:grpSpPr>
          <a:xfrm>
            <a:off x="8851392" y="2926080"/>
            <a:ext cx="2331720" cy="804672"/>
            <a:chOff x="8851392" y="2926080"/>
            <a:chExt cx="2331720" cy="804672"/>
          </a:xfrm>
        </p:grpSpPr>
        <p:sp>
          <p:nvSpPr>
            <p:cNvPr id="27" name="Shape 23"/>
            <p:cNvSpPr/>
            <p:nvPr/>
          </p:nvSpPr>
          <p:spPr>
            <a:xfrm>
              <a:off x="8851392" y="2926080"/>
              <a:ext cx="2331720" cy="804672"/>
            </a:xfrm>
            <a:prstGeom prst="roundRect">
              <a:avLst>
                <a:gd name="adj" fmla="val 9091"/>
              </a:avLst>
            </a:prstGeom>
            <a:solidFill>
              <a:srgbClr val="FFFFFF"/>
            </a:solidFill>
            <a:ln w="15875">
              <a:solidFill>
                <a:srgbClr val="0B7A75"/>
              </a:solidFill>
              <a:prstDash val="solid"/>
            </a:ln>
          </p:spPr>
        </p:sp>
        <p:sp>
          <p:nvSpPr>
            <p:cNvPr id="28" name="Text 24"/>
            <p:cNvSpPr/>
            <p:nvPr/>
          </p:nvSpPr>
          <p:spPr>
            <a:xfrm>
              <a:off x="9052560" y="3017520"/>
              <a:ext cx="1920240" cy="237744"/>
            </a:xfrm>
            <a:prstGeom prst="rect">
              <a:avLst/>
            </a:prstGeom>
            <a:noFill/>
            <a:ln/>
          </p:spPr>
          <p:txBody>
            <a:bodyPr wrap="square" lIns="0" tIns="0" rIns="0" bIns="0" rtlCol="0" anchor="ctr">
              <a:normAutofit/>
            </a:bodyPr>
            <a:lstStyle/>
            <a:p>
              <a:pPr marL="0" indent="0" algn="r" rtl="1">
                <a:buNone/>
              </a:pPr>
              <a:r>
                <a:rPr lang="en-US" sz="14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پشت مچ دو دست</a:t>
              </a:r>
              <a:endParaRPr lang="en-US" sz="14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9" name="Text 25"/>
            <p:cNvSpPr/>
            <p:nvPr/>
          </p:nvSpPr>
          <p:spPr>
            <a:xfrm>
              <a:off x="9052560" y="3291840"/>
              <a:ext cx="1920240" cy="256032"/>
            </a:xfrm>
            <a:prstGeom prst="rect">
              <a:avLst/>
            </a:prstGeom>
            <a:noFill/>
            <a:ln/>
          </p:spPr>
          <p:txBody>
            <a:bodyPr wrap="square" lIns="0" tIns="0" rIns="0" bIns="0" rtlCol="0" anchor="t">
              <a:normAutofit/>
            </a:bodyPr>
            <a:lstStyle/>
            <a:p>
              <a:pPr marL="0" indent="0" algn="r" rtl="1">
                <a:buNone/>
              </a:pPr>
              <a:r>
                <a:rPr lang="en-US" sz="107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الگوهای جبرانی اندام فوقانی</a:t>
              </a:r>
              <a:endParaRPr lang="en-US" sz="107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23" name="Group 22">
            <a:extLst>
              <a:ext uri="{FF2B5EF4-FFF2-40B4-BE49-F238E27FC236}">
                <a16:creationId xmlns:a16="http://schemas.microsoft.com/office/drawing/2014/main" id="{C06E1E1A-1A78-2163-8A78-782F85A18BB9}"/>
              </a:ext>
            </a:extLst>
          </p:cNvPr>
          <p:cNvGrpSpPr/>
          <p:nvPr/>
        </p:nvGrpSpPr>
        <p:grpSpPr>
          <a:xfrm>
            <a:off x="8851392" y="4005072"/>
            <a:ext cx="2331720" cy="804672"/>
            <a:chOff x="8851392" y="4005072"/>
            <a:chExt cx="2331720" cy="804672"/>
          </a:xfrm>
        </p:grpSpPr>
        <p:sp>
          <p:nvSpPr>
            <p:cNvPr id="30" name="Shape 26"/>
            <p:cNvSpPr/>
            <p:nvPr/>
          </p:nvSpPr>
          <p:spPr>
            <a:xfrm>
              <a:off x="8851392" y="4005072"/>
              <a:ext cx="2331720" cy="804672"/>
            </a:xfrm>
            <a:prstGeom prst="roundRect">
              <a:avLst>
                <a:gd name="adj" fmla="val 9091"/>
              </a:avLst>
            </a:prstGeom>
            <a:solidFill>
              <a:srgbClr val="FFFFFF"/>
            </a:solidFill>
            <a:ln w="15875">
              <a:solidFill>
                <a:srgbClr val="2F855A"/>
              </a:solidFill>
              <a:prstDash val="solid"/>
            </a:ln>
          </p:spPr>
        </p:sp>
        <p:sp>
          <p:nvSpPr>
            <p:cNvPr id="31" name="Text 27"/>
            <p:cNvSpPr/>
            <p:nvPr/>
          </p:nvSpPr>
          <p:spPr>
            <a:xfrm>
              <a:off x="9052560" y="4096512"/>
              <a:ext cx="1920240" cy="237744"/>
            </a:xfrm>
            <a:prstGeom prst="rect">
              <a:avLst/>
            </a:prstGeom>
            <a:noFill/>
            <a:ln/>
          </p:spPr>
          <p:txBody>
            <a:bodyPr wrap="square" lIns="0" tIns="0" rIns="0" bIns="0" rtlCol="0" anchor="ctr">
              <a:normAutofit/>
            </a:bodyPr>
            <a:lstStyle/>
            <a:p>
              <a:pPr marL="0" indent="0" algn="r" rtl="1">
                <a:buNone/>
              </a:pPr>
              <a:r>
                <a:rPr lang="en-US" sz="14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بالای قوزک خارجی دو پا</a:t>
              </a:r>
              <a:endParaRPr lang="en-US" sz="14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32" name="Text 28"/>
            <p:cNvSpPr/>
            <p:nvPr/>
          </p:nvSpPr>
          <p:spPr>
            <a:xfrm>
              <a:off x="9052560" y="4370832"/>
              <a:ext cx="1920240" cy="256032"/>
            </a:xfrm>
            <a:prstGeom prst="rect">
              <a:avLst/>
            </a:prstGeom>
            <a:noFill/>
            <a:ln/>
          </p:spPr>
          <p:txBody>
            <a:bodyPr wrap="square" lIns="0" tIns="0" rIns="0" bIns="0" rtlCol="0" anchor="t">
              <a:normAutofit/>
            </a:bodyPr>
            <a:lstStyle/>
            <a:p>
              <a:pPr marL="0" indent="0" algn="r" rtl="1">
                <a:buNone/>
              </a:pPr>
              <a:r>
                <a:rPr lang="en-US" sz="107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حرکت اندام تحتانی و تعادل</a:t>
              </a:r>
              <a:endParaRPr lang="en-US" sz="107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sp>
        <p:nvSpPr>
          <p:cNvPr id="33" name="Text 29"/>
          <p:cNvSpPr/>
          <p:nvPr/>
        </p:nvSpPr>
        <p:spPr>
          <a:xfrm>
            <a:off x="6492240" y="5239512"/>
            <a:ext cx="4572000" cy="384048"/>
          </a:xfrm>
          <a:prstGeom prst="rect">
            <a:avLst/>
          </a:prstGeom>
          <a:noFill/>
          <a:ln/>
        </p:spPr>
        <p:txBody>
          <a:bodyPr wrap="square" lIns="0" tIns="0" rIns="0" bIns="0" rtlCol="0" anchor="ctr">
            <a:normAutofit/>
          </a:bodyPr>
          <a:lstStyle/>
          <a:p>
            <a:pPr marL="0" indent="0" algn="ctr" rtl="1">
              <a:buNone/>
            </a:pPr>
            <a:r>
              <a:rPr lang="en-US" sz="12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LILYGO T-Wristband  | MPU9250  | ESP32-Pico-D4</a:t>
            </a:r>
            <a:endParaRPr lang="en-US" sz="12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4" name="Shape 30"/>
          <p:cNvSpPr/>
          <p:nvPr/>
        </p:nvSpPr>
        <p:spPr>
          <a:xfrm>
            <a:off x="658368" y="6473952"/>
            <a:ext cx="10881360" cy="0"/>
          </a:xfrm>
          <a:prstGeom prst="line">
            <a:avLst/>
          </a:prstGeom>
          <a:noFill/>
          <a:ln w="10160">
            <a:solidFill>
              <a:srgbClr val="E9EEF2"/>
            </a:solidFill>
            <a:prstDash val="solid"/>
          </a:ln>
        </p:spPr>
      </p:sp>
      <p:sp>
        <p:nvSpPr>
          <p:cNvPr id="35" name="Text 31"/>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6" name="Text 32"/>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روش</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پیاده‌سازی | </a:t>
            </a:r>
            <a:r>
              <a:rPr lang="fa-IR"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۱۰ </a:t>
            </a: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اسلاید</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7" name="Text 33"/>
          <p:cNvSpPr/>
          <p:nvPr/>
        </p:nvSpPr>
        <p:spPr>
          <a:xfrm>
            <a:off x="713232" y="6528816"/>
            <a:ext cx="960120" cy="219456"/>
          </a:xfrm>
          <a:prstGeom prst="rect">
            <a:avLst/>
          </a:prstGeom>
          <a:noFill/>
          <a:ln/>
        </p:spPr>
        <p:txBody>
          <a:bodyPr wrap="square" lIns="0" tIns="0" rIns="0" bIns="0" rtlCol="0" anchor="ctr">
            <a:normAutofit/>
          </a:bodyPr>
          <a:lstStyle/>
          <a:p>
            <a:pPr marL="0" indent="0">
              <a:buNone/>
            </a:pPr>
            <a:r>
              <a:rPr lang="fa-IR"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۴</a:t>
            </a: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8" name="Shape 34"/>
          <p:cNvSpPr/>
          <p:nvPr/>
        </p:nvSpPr>
        <p:spPr>
          <a:xfrm>
            <a:off x="2560320" y="6766560"/>
            <a:ext cx="2351314" cy="41148"/>
          </a:xfrm>
          <a:prstGeom prst="rect">
            <a:avLst/>
          </a:prstGeom>
          <a:solidFill>
            <a:srgbClr val="0B6E99"/>
          </a:solidFill>
          <a:ln w="12700">
            <a:solidFill>
              <a:srgbClr val="0B6E99"/>
            </a:solidFill>
            <a:prstDash val="solid"/>
          </a:ln>
        </p:spPr>
      </p:sp>
      <p:sp>
        <p:nvSpPr>
          <p:cNvPr id="39" name="Shape 35"/>
          <p:cNvSpPr/>
          <p:nvPr/>
        </p:nvSpPr>
        <p:spPr>
          <a:xfrm>
            <a:off x="4911634" y="6766560"/>
            <a:ext cx="4232366" cy="41148"/>
          </a:xfrm>
          <a:prstGeom prst="rect">
            <a:avLst/>
          </a:prstGeom>
          <a:solidFill>
            <a:srgbClr val="E6EDF2"/>
          </a:solidFill>
          <a:ln w="12700">
            <a:solidFill>
              <a:srgbClr val="E6EDF2"/>
            </a:solidFill>
            <a:prstDash val="solid"/>
          </a:ln>
        </p:spPr>
      </p:sp>
      <p:pic>
        <p:nvPicPr>
          <p:cNvPr id="40" name="Picture 39">
            <a:extLst>
              <a:ext uri="{FF2B5EF4-FFF2-40B4-BE49-F238E27FC236}">
                <a16:creationId xmlns:a16="http://schemas.microsoft.com/office/drawing/2014/main" id="{FAC0E45A-FA7E-267A-4212-0B01EE269C7E}"/>
              </a:ext>
            </a:extLst>
          </p:cNvPr>
          <p:cNvPicPr>
            <a:picLocks noChangeAspect="1"/>
          </p:cNvPicPr>
          <p:nvPr/>
        </p:nvPicPr>
        <p:blipFill>
          <a:blip r:embed="rId4"/>
          <a:stretch>
            <a:fillRect/>
          </a:stretch>
        </p:blipFill>
        <p:spPr>
          <a:xfrm>
            <a:off x="6261259" y="1801368"/>
            <a:ext cx="2331720" cy="310896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1+#ppt_w/2"/>
                                          </p:val>
                                        </p:tav>
                                        <p:tav tm="100000">
                                          <p:val>
                                            <p:strVal val="#ppt_x"/>
                                          </p:val>
                                        </p:tav>
                                      </p:tavLst>
                                    </p:anim>
                                    <p:anim calcmode="lin" valueType="num">
                                      <p:cBhvr additive="base">
                                        <p:cTn id="8" dur="500" fill="hold"/>
                                        <p:tgtEl>
                                          <p:spTgt spid="2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41"/>
                                        </p:tgtEl>
                                        <p:attrNameLst>
                                          <p:attrName>style.visibility</p:attrName>
                                        </p:attrNameLst>
                                      </p:cBhvr>
                                      <p:to>
                                        <p:strVal val="visible"/>
                                      </p:to>
                                    </p:set>
                                    <p:anim calcmode="lin" valueType="num">
                                      <p:cBhvr additive="base">
                                        <p:cTn id="12" dur="500" fill="hold"/>
                                        <p:tgtEl>
                                          <p:spTgt spid="41"/>
                                        </p:tgtEl>
                                        <p:attrNameLst>
                                          <p:attrName>ppt_x</p:attrName>
                                        </p:attrNameLst>
                                      </p:cBhvr>
                                      <p:tavLst>
                                        <p:tav tm="0">
                                          <p:val>
                                            <p:strVal val="1+#ppt_w/2"/>
                                          </p:val>
                                        </p:tav>
                                        <p:tav tm="100000">
                                          <p:val>
                                            <p:strVal val="#ppt_x"/>
                                          </p:val>
                                        </p:tav>
                                      </p:tavLst>
                                    </p:anim>
                                    <p:anim calcmode="lin" valueType="num">
                                      <p:cBhvr additive="base">
                                        <p:cTn id="13" dur="500" fill="hold"/>
                                        <p:tgtEl>
                                          <p:spTgt spid="41"/>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1+#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23"/>
                                        </p:tgtEl>
                                        <p:attrNameLst>
                                          <p:attrName>style.visibility</p:attrName>
                                        </p:attrNameLst>
                                      </p:cBhvr>
                                      <p:to>
                                        <p:strVal val="visible"/>
                                      </p:to>
                                    </p:set>
                                    <p:anim calcmode="lin" valueType="num">
                                      <p:cBhvr additive="base">
                                        <p:cTn id="22" dur="500" fill="hold"/>
                                        <p:tgtEl>
                                          <p:spTgt spid="23"/>
                                        </p:tgtEl>
                                        <p:attrNameLst>
                                          <p:attrName>ppt_x</p:attrName>
                                        </p:attrNameLst>
                                      </p:cBhvr>
                                      <p:tavLst>
                                        <p:tav tm="0">
                                          <p:val>
                                            <p:strVal val="1+#ppt_w/2"/>
                                          </p:val>
                                        </p:tav>
                                        <p:tav tm="100000">
                                          <p:val>
                                            <p:strVal val="#ppt_x"/>
                                          </p:val>
                                        </p:tav>
                                      </p:tavLst>
                                    </p:anim>
                                    <p:anim calcmode="lin" valueType="num">
                                      <p:cBhvr additive="base">
                                        <p:cTn id="23"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nodeType="click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wipe(right)">
                                      <p:cBhvr>
                                        <p:cTn id="28" dur="500"/>
                                        <p:tgtEl>
                                          <p:spTgt spid="40"/>
                                        </p:tgtEl>
                                      </p:cBhvr>
                                    </p:animEffect>
                                  </p:childTnLst>
                                </p:cTn>
                              </p:par>
                              <p:par>
                                <p:cTn id="29" presetID="2" presetClass="entr" presetSubtype="2"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additive="base">
                                        <p:cTn id="31" dur="500" fill="hold"/>
                                        <p:tgtEl>
                                          <p:spTgt spid="33"/>
                                        </p:tgtEl>
                                        <p:attrNameLst>
                                          <p:attrName>ppt_x</p:attrName>
                                        </p:attrNameLst>
                                      </p:cBhvr>
                                      <p:tavLst>
                                        <p:tav tm="0">
                                          <p:val>
                                            <p:strVal val="1+#ppt_w/2"/>
                                          </p:val>
                                        </p:tav>
                                        <p:tav tm="100000">
                                          <p:val>
                                            <p:strVal val="#ppt_x"/>
                                          </p:val>
                                        </p:tav>
                                      </p:tavLst>
                                    </p:anim>
                                    <p:anim calcmode="lin" valueType="num">
                                      <p:cBhvr additive="base">
                                        <p:cTn id="32"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arn(outVertical)">
                                      <p:cBhvr>
                                        <p:cTn id="3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مسیر کامل داده تا پیش‌بینی نمره</a:t>
            </a:r>
            <a:endParaRPr lang="en-US" sz="27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Text 5"/>
          <p:cNvSpPr/>
          <p:nvPr/>
        </p:nvSpPr>
        <p:spPr>
          <a:xfrm>
            <a:off x="4023360" y="1417320"/>
            <a:ext cx="6995160"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یک زنجیره یکپارچه از ثبت حرکت تا انتخاب مدل نهایی</a:t>
            </a:r>
            <a:endParaRPr lang="en-US" sz="1850" b="1" dirty="0">
              <a:latin typeface="Sharif 1.2" panose="020B0000040000000000" pitchFamily="34" charset="-78"/>
              <a:ea typeface="Sharif 1.2" panose="020B0000040000000000" pitchFamily="34" charset="-78"/>
              <a:cs typeface="Sharif 1.2" panose="020B0000040000000000" pitchFamily="34" charset="-78"/>
            </a:endParaRPr>
          </a:p>
        </p:txBody>
      </p:sp>
      <p:grpSp>
        <p:nvGrpSpPr>
          <p:cNvPr id="6" name="Group 5">
            <a:extLst>
              <a:ext uri="{FF2B5EF4-FFF2-40B4-BE49-F238E27FC236}">
                <a16:creationId xmlns:a16="http://schemas.microsoft.com/office/drawing/2014/main" id="{B9CF2601-E673-C3F0-60CF-0E2B9A0FE6D7}"/>
              </a:ext>
            </a:extLst>
          </p:cNvPr>
          <p:cNvGrpSpPr/>
          <p:nvPr/>
        </p:nvGrpSpPr>
        <p:grpSpPr>
          <a:xfrm>
            <a:off x="348996" y="2226564"/>
            <a:ext cx="1563624" cy="2148840"/>
            <a:chOff x="348996" y="2226564"/>
            <a:chExt cx="1563624" cy="2148840"/>
          </a:xfrm>
        </p:grpSpPr>
        <p:sp>
          <p:nvSpPr>
            <p:cNvPr id="8" name="Shape 6"/>
            <p:cNvSpPr/>
            <p:nvPr/>
          </p:nvSpPr>
          <p:spPr>
            <a:xfrm>
              <a:off x="348996" y="2226564"/>
              <a:ext cx="1563624" cy="2148840"/>
            </a:xfrm>
            <a:prstGeom prst="roundRect">
              <a:avLst>
                <a:gd name="adj" fmla="val 4678"/>
              </a:avLst>
            </a:prstGeom>
            <a:solidFill>
              <a:srgbClr val="FFFFFF"/>
            </a:solidFill>
            <a:ln w="17780">
              <a:solidFill>
                <a:srgbClr val="0B6E99"/>
              </a:solidFill>
              <a:prstDash val="solid"/>
            </a:ln>
          </p:spPr>
        </p:sp>
        <p:sp>
          <p:nvSpPr>
            <p:cNvPr id="9" name="Shape 7"/>
            <p:cNvSpPr/>
            <p:nvPr/>
          </p:nvSpPr>
          <p:spPr>
            <a:xfrm>
              <a:off x="842772" y="2482596"/>
              <a:ext cx="576072" cy="576072"/>
            </a:xfrm>
            <a:prstGeom prst="ellipse">
              <a:avLst/>
            </a:prstGeom>
            <a:solidFill>
              <a:srgbClr val="0B6E99"/>
            </a:solidFill>
            <a:ln w="12700">
              <a:solidFill>
                <a:srgbClr val="0B6E99"/>
              </a:solidFill>
              <a:prstDash val="solid"/>
            </a:ln>
          </p:spPr>
        </p:sp>
        <p:sp>
          <p:nvSpPr>
            <p:cNvPr id="10" name="Text 8"/>
            <p:cNvSpPr/>
            <p:nvPr/>
          </p:nvSpPr>
          <p:spPr>
            <a:xfrm>
              <a:off x="842772" y="2555748"/>
              <a:ext cx="576072" cy="365760"/>
            </a:xfrm>
            <a:prstGeom prst="rect">
              <a:avLst/>
            </a:prstGeom>
            <a:noFill/>
            <a:ln/>
          </p:spPr>
          <p:txBody>
            <a:bodyPr wrap="square" lIns="0" tIns="0" rIns="0" bIns="0" rtlCol="0" anchor="ctr">
              <a:normAutofit/>
            </a:bodyPr>
            <a:lstStyle/>
            <a:p>
              <a:pPr marL="0" indent="0" algn="ctr">
                <a:buNone/>
              </a:pPr>
              <a:r>
                <a:rPr lang="fa-IR" sz="17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17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1" name="Text 9"/>
            <p:cNvSpPr/>
            <p:nvPr/>
          </p:nvSpPr>
          <p:spPr>
            <a:xfrm>
              <a:off x="467868" y="3204972"/>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اجرای فعالیت</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12" name="Text 10"/>
            <p:cNvSpPr/>
            <p:nvPr/>
          </p:nvSpPr>
          <p:spPr>
            <a:xfrm>
              <a:off x="467868" y="3653028"/>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سطح ۰، ۱ یا ۲</a:t>
              </a: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64" name="Group 63">
            <a:extLst>
              <a:ext uri="{FF2B5EF4-FFF2-40B4-BE49-F238E27FC236}">
                <a16:creationId xmlns:a16="http://schemas.microsoft.com/office/drawing/2014/main" id="{430244C8-2ADD-E123-A873-F8FEE410FC4E}"/>
              </a:ext>
            </a:extLst>
          </p:cNvPr>
          <p:cNvGrpSpPr/>
          <p:nvPr/>
        </p:nvGrpSpPr>
        <p:grpSpPr>
          <a:xfrm>
            <a:off x="1921764" y="2226564"/>
            <a:ext cx="1645920" cy="2148840"/>
            <a:chOff x="1921764" y="2226564"/>
            <a:chExt cx="1645920" cy="2148840"/>
          </a:xfrm>
        </p:grpSpPr>
        <p:sp>
          <p:nvSpPr>
            <p:cNvPr id="13" name="Shape 11"/>
            <p:cNvSpPr/>
            <p:nvPr/>
          </p:nvSpPr>
          <p:spPr>
            <a:xfrm>
              <a:off x="1921764" y="3296412"/>
              <a:ext cx="73152" cy="0"/>
            </a:xfrm>
            <a:prstGeom prst="line">
              <a:avLst/>
            </a:prstGeom>
            <a:noFill/>
            <a:ln w="17780">
              <a:solidFill>
                <a:srgbClr val="94A3B8"/>
              </a:solidFill>
              <a:prstDash val="solid"/>
              <a:headEnd type="none"/>
              <a:tailEnd type="triangle"/>
            </a:ln>
          </p:spPr>
        </p:sp>
        <p:sp>
          <p:nvSpPr>
            <p:cNvPr id="14" name="Shape 12"/>
            <p:cNvSpPr/>
            <p:nvPr/>
          </p:nvSpPr>
          <p:spPr>
            <a:xfrm>
              <a:off x="2004060" y="2226564"/>
              <a:ext cx="1563624" cy="2148840"/>
            </a:xfrm>
            <a:prstGeom prst="roundRect">
              <a:avLst>
                <a:gd name="adj" fmla="val 4678"/>
              </a:avLst>
            </a:prstGeom>
            <a:solidFill>
              <a:srgbClr val="FFFFFF"/>
            </a:solidFill>
            <a:ln w="17780">
              <a:solidFill>
                <a:srgbClr val="1D8AB5"/>
              </a:solidFill>
              <a:prstDash val="solid"/>
            </a:ln>
          </p:spPr>
        </p:sp>
        <p:sp>
          <p:nvSpPr>
            <p:cNvPr id="15" name="Shape 13"/>
            <p:cNvSpPr/>
            <p:nvPr/>
          </p:nvSpPr>
          <p:spPr>
            <a:xfrm>
              <a:off x="2497836" y="2482596"/>
              <a:ext cx="576072" cy="576072"/>
            </a:xfrm>
            <a:prstGeom prst="ellipse">
              <a:avLst/>
            </a:prstGeom>
            <a:solidFill>
              <a:srgbClr val="1D8AB5"/>
            </a:solidFill>
            <a:ln w="12700">
              <a:solidFill>
                <a:srgbClr val="1D8AB5"/>
              </a:solidFill>
              <a:prstDash val="solid"/>
            </a:ln>
          </p:spPr>
        </p:sp>
        <p:sp>
          <p:nvSpPr>
            <p:cNvPr id="16" name="Text 14"/>
            <p:cNvSpPr/>
            <p:nvPr/>
          </p:nvSpPr>
          <p:spPr>
            <a:xfrm>
              <a:off x="2497836" y="2555748"/>
              <a:ext cx="576072" cy="365760"/>
            </a:xfrm>
            <a:prstGeom prst="rect">
              <a:avLst/>
            </a:prstGeom>
            <a:noFill/>
            <a:ln/>
          </p:spPr>
          <p:txBody>
            <a:bodyPr wrap="square" lIns="0" tIns="0" rIns="0" bIns="0" rtlCol="0" anchor="ctr">
              <a:normAutofit/>
            </a:bodyPr>
            <a:lstStyle/>
            <a:p>
              <a:pPr marL="0" indent="0" algn="ctr">
                <a:buNone/>
              </a:pPr>
              <a:r>
                <a:rPr lang="fa-IR" sz="17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۲</a:t>
              </a:r>
              <a:endParaRPr lang="en-US" sz="17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7" name="Text 15"/>
            <p:cNvSpPr/>
            <p:nvPr/>
          </p:nvSpPr>
          <p:spPr>
            <a:xfrm>
              <a:off x="2122932" y="3204972"/>
              <a:ext cx="1325880" cy="365760"/>
            </a:xfrm>
            <a:prstGeom prst="rect">
              <a:avLst/>
            </a:prstGeom>
            <a:noFill/>
            <a:ln/>
          </p:spPr>
          <p:txBody>
            <a:bodyPr wrap="square" lIns="0" tIns="0" rIns="0" bIns="0" rtlCol="0" anchor="ctr">
              <a:normAutofit/>
            </a:bodyPr>
            <a:lstStyle/>
            <a:p>
              <a:pPr marL="0" indent="0" algn="ctr" rtl="1">
                <a:buNone/>
              </a:pPr>
              <a:r>
                <a:rPr lang="en-US" sz="1420" b="1" dirty="0" err="1">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ثبت</a:t>
              </a:r>
              <a:r>
                <a:rPr lang="en-US" sz="142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 </a:t>
              </a:r>
              <a:r>
                <a:rPr lang="fa-IR" sz="142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توسط</a:t>
              </a:r>
              <a:r>
                <a:rPr lang="fa-IR" sz="142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a:t>
              </a:r>
              <a:r>
                <a:rPr lang="en-US" sz="1420" b="1" dirty="0" err="1">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حسگر</a:t>
              </a:r>
              <a:r>
                <a:rPr lang="fa-IR" sz="142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ها</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18" name="Text 16"/>
            <p:cNvSpPr/>
            <p:nvPr/>
          </p:nvSpPr>
          <p:spPr>
            <a:xfrm>
              <a:off x="2122932" y="3653028"/>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شتاب و ژیروسکوپ</a:t>
              </a: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65" name="Group 64">
            <a:extLst>
              <a:ext uri="{FF2B5EF4-FFF2-40B4-BE49-F238E27FC236}">
                <a16:creationId xmlns:a16="http://schemas.microsoft.com/office/drawing/2014/main" id="{E4B69487-DBEF-EAAD-50C7-A0F33E7800A6}"/>
              </a:ext>
            </a:extLst>
          </p:cNvPr>
          <p:cNvGrpSpPr/>
          <p:nvPr/>
        </p:nvGrpSpPr>
        <p:grpSpPr>
          <a:xfrm>
            <a:off x="3576828" y="2226564"/>
            <a:ext cx="1645920" cy="2148840"/>
            <a:chOff x="3576828" y="2226564"/>
            <a:chExt cx="1645920" cy="2148840"/>
          </a:xfrm>
        </p:grpSpPr>
        <p:sp>
          <p:nvSpPr>
            <p:cNvPr id="19" name="Shape 17"/>
            <p:cNvSpPr/>
            <p:nvPr/>
          </p:nvSpPr>
          <p:spPr>
            <a:xfrm>
              <a:off x="3576828" y="3296412"/>
              <a:ext cx="73152" cy="0"/>
            </a:xfrm>
            <a:prstGeom prst="line">
              <a:avLst/>
            </a:prstGeom>
            <a:noFill/>
            <a:ln w="17780">
              <a:solidFill>
                <a:srgbClr val="94A3B8"/>
              </a:solidFill>
              <a:prstDash val="solid"/>
              <a:headEnd type="none"/>
              <a:tailEnd type="triangle"/>
            </a:ln>
          </p:spPr>
        </p:sp>
        <p:sp>
          <p:nvSpPr>
            <p:cNvPr id="20" name="Shape 18"/>
            <p:cNvSpPr/>
            <p:nvPr/>
          </p:nvSpPr>
          <p:spPr>
            <a:xfrm>
              <a:off x="3659124" y="2226564"/>
              <a:ext cx="1563624" cy="2148840"/>
            </a:xfrm>
            <a:prstGeom prst="roundRect">
              <a:avLst>
                <a:gd name="adj" fmla="val 4678"/>
              </a:avLst>
            </a:prstGeom>
            <a:solidFill>
              <a:srgbClr val="FFFFFF"/>
            </a:solidFill>
            <a:ln w="17780">
              <a:solidFill>
                <a:srgbClr val="0B7A75"/>
              </a:solidFill>
              <a:prstDash val="solid"/>
            </a:ln>
          </p:spPr>
          <p:txBody>
            <a:bodyPr/>
            <a:lstStyle/>
            <a:p>
              <a:pPr marL="0" algn="r" defTabSz="914400" rtl="1" eaLnBrk="1" latinLnBrk="0" hangingPunct="1"/>
              <a:endParaRPr lang="en-US" dirty="0"/>
            </a:p>
          </p:txBody>
        </p:sp>
        <p:sp>
          <p:nvSpPr>
            <p:cNvPr id="21" name="Shape 19"/>
            <p:cNvSpPr/>
            <p:nvPr/>
          </p:nvSpPr>
          <p:spPr>
            <a:xfrm>
              <a:off x="4152900" y="2482596"/>
              <a:ext cx="576072" cy="576072"/>
            </a:xfrm>
            <a:prstGeom prst="ellipse">
              <a:avLst/>
            </a:prstGeom>
            <a:solidFill>
              <a:srgbClr val="0B7A75"/>
            </a:solidFill>
            <a:ln w="12700">
              <a:solidFill>
                <a:srgbClr val="0B7A75"/>
              </a:solidFill>
              <a:prstDash val="solid"/>
            </a:ln>
          </p:spPr>
        </p:sp>
        <p:sp>
          <p:nvSpPr>
            <p:cNvPr id="22" name="Text 20"/>
            <p:cNvSpPr/>
            <p:nvPr/>
          </p:nvSpPr>
          <p:spPr>
            <a:xfrm>
              <a:off x="4152900" y="2555748"/>
              <a:ext cx="576072" cy="365760"/>
            </a:xfrm>
            <a:prstGeom prst="rect">
              <a:avLst/>
            </a:prstGeom>
            <a:noFill/>
            <a:ln/>
          </p:spPr>
          <p:txBody>
            <a:bodyPr wrap="square" lIns="0" tIns="0" rIns="0" bIns="0" rtlCol="0" anchor="ctr">
              <a:normAutofit/>
            </a:bodyPr>
            <a:lstStyle/>
            <a:p>
              <a:pPr marL="0" indent="0" algn="ctr">
                <a:buNone/>
              </a:pPr>
              <a:r>
                <a:rPr lang="fa-IR" sz="17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۳</a:t>
              </a:r>
              <a:endParaRPr lang="en-US" sz="17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3" name="Text 21"/>
            <p:cNvSpPr/>
            <p:nvPr/>
          </p:nvSpPr>
          <p:spPr>
            <a:xfrm>
              <a:off x="3777996" y="3204972"/>
              <a:ext cx="1325880" cy="365760"/>
            </a:xfrm>
            <a:prstGeom prst="rect">
              <a:avLst/>
            </a:prstGeom>
            <a:noFill/>
            <a:ln/>
          </p:spPr>
          <p:txBody>
            <a:bodyPr wrap="square" lIns="0" tIns="0" rIns="0" bIns="0" rtlCol="0" anchor="ctr">
              <a:normAutofit/>
            </a:bodyPr>
            <a:lstStyle/>
            <a:p>
              <a:pPr marL="0" indent="0" algn="ctr" rtl="1">
                <a:buNone/>
              </a:pPr>
              <a:r>
                <a:rPr lang="en-US" sz="1420" b="1" dirty="0" err="1">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دریافت</a:t>
              </a:r>
              <a:r>
                <a:rPr lang="en-US" sz="142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 </a:t>
              </a:r>
              <a:r>
                <a:rPr lang="en-US" sz="1420" b="1" dirty="0" err="1">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در</a:t>
              </a:r>
              <a:r>
                <a:rPr lang="en-US" sz="142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 </a:t>
              </a:r>
              <a:r>
                <a:rPr lang="fa-IR" sz="142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 </a:t>
              </a:r>
              <a:r>
                <a:rPr lang="fa-IR" sz="1420" b="1" dirty="0" err="1">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رابط‌کاربری</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24" name="Text 22"/>
            <p:cNvSpPr/>
            <p:nvPr/>
          </p:nvSpPr>
          <p:spPr>
            <a:xfrm>
              <a:off x="3777996" y="3653028"/>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MATLAB</a:t>
              </a: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66" name="Group 65">
            <a:extLst>
              <a:ext uri="{FF2B5EF4-FFF2-40B4-BE49-F238E27FC236}">
                <a16:creationId xmlns:a16="http://schemas.microsoft.com/office/drawing/2014/main" id="{AFC21427-5A64-2091-9643-9465395741BB}"/>
              </a:ext>
            </a:extLst>
          </p:cNvPr>
          <p:cNvGrpSpPr/>
          <p:nvPr/>
        </p:nvGrpSpPr>
        <p:grpSpPr>
          <a:xfrm>
            <a:off x="5231892" y="2226564"/>
            <a:ext cx="1645920" cy="2148840"/>
            <a:chOff x="5231892" y="2226564"/>
            <a:chExt cx="1645920" cy="2148840"/>
          </a:xfrm>
        </p:grpSpPr>
        <p:sp>
          <p:nvSpPr>
            <p:cNvPr id="25" name="Shape 23"/>
            <p:cNvSpPr/>
            <p:nvPr/>
          </p:nvSpPr>
          <p:spPr>
            <a:xfrm>
              <a:off x="5231892" y="3296412"/>
              <a:ext cx="73152" cy="0"/>
            </a:xfrm>
            <a:prstGeom prst="line">
              <a:avLst/>
            </a:prstGeom>
            <a:noFill/>
            <a:ln w="17780">
              <a:solidFill>
                <a:srgbClr val="94A3B8"/>
              </a:solidFill>
              <a:prstDash val="solid"/>
              <a:headEnd type="none"/>
              <a:tailEnd type="triangle"/>
            </a:ln>
          </p:spPr>
        </p:sp>
        <p:sp>
          <p:nvSpPr>
            <p:cNvPr id="26" name="Shape 24"/>
            <p:cNvSpPr/>
            <p:nvPr/>
          </p:nvSpPr>
          <p:spPr>
            <a:xfrm>
              <a:off x="5314188" y="2226564"/>
              <a:ext cx="1563624" cy="2148840"/>
            </a:xfrm>
            <a:prstGeom prst="roundRect">
              <a:avLst>
                <a:gd name="adj" fmla="val 4678"/>
              </a:avLst>
            </a:prstGeom>
            <a:solidFill>
              <a:srgbClr val="FFFFFF"/>
            </a:solidFill>
            <a:ln w="17780">
              <a:solidFill>
                <a:srgbClr val="E69F00"/>
              </a:solidFill>
              <a:prstDash val="solid"/>
            </a:ln>
          </p:spPr>
        </p:sp>
        <p:sp>
          <p:nvSpPr>
            <p:cNvPr id="27" name="Shape 25"/>
            <p:cNvSpPr/>
            <p:nvPr/>
          </p:nvSpPr>
          <p:spPr>
            <a:xfrm>
              <a:off x="5807964" y="2482596"/>
              <a:ext cx="576072" cy="576072"/>
            </a:xfrm>
            <a:prstGeom prst="ellipse">
              <a:avLst/>
            </a:prstGeom>
            <a:solidFill>
              <a:srgbClr val="E69F00"/>
            </a:solidFill>
            <a:ln w="12700">
              <a:solidFill>
                <a:srgbClr val="E69F00"/>
              </a:solidFill>
              <a:prstDash val="solid"/>
            </a:ln>
          </p:spPr>
        </p:sp>
        <p:sp>
          <p:nvSpPr>
            <p:cNvPr id="28" name="Text 26"/>
            <p:cNvSpPr/>
            <p:nvPr/>
          </p:nvSpPr>
          <p:spPr>
            <a:xfrm>
              <a:off x="5807964" y="2555748"/>
              <a:ext cx="576072" cy="365760"/>
            </a:xfrm>
            <a:prstGeom prst="rect">
              <a:avLst/>
            </a:prstGeom>
            <a:noFill/>
            <a:ln/>
          </p:spPr>
          <p:txBody>
            <a:bodyPr wrap="square" lIns="0" tIns="0" rIns="0" bIns="0" rtlCol="0" anchor="ctr">
              <a:normAutofit/>
            </a:bodyPr>
            <a:lstStyle/>
            <a:p>
              <a:pPr marL="0" indent="0" algn="ctr">
                <a:buNone/>
              </a:pPr>
              <a:r>
                <a:rPr lang="fa-IR" sz="17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۴</a:t>
              </a:r>
              <a:endParaRPr lang="en-US" sz="17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9" name="Text 27"/>
            <p:cNvSpPr/>
            <p:nvPr/>
          </p:nvSpPr>
          <p:spPr>
            <a:xfrm>
              <a:off x="5433060" y="3204972"/>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پیش‌پردازش</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30" name="Text 28"/>
            <p:cNvSpPr/>
            <p:nvPr/>
          </p:nvSpPr>
          <p:spPr>
            <a:xfrm>
              <a:off x="5433060" y="3653028"/>
              <a:ext cx="1325880" cy="438912"/>
            </a:xfrm>
            <a:prstGeom prst="rect">
              <a:avLst/>
            </a:prstGeom>
            <a:noFill/>
            <a:ln/>
          </p:spPr>
          <p:txBody>
            <a:bodyPr wrap="square" lIns="0" tIns="0" rIns="0" bIns="0" rtlCol="0" anchor="t">
              <a:normAutofit/>
            </a:bodyPr>
            <a:lstStyle/>
            <a:p>
              <a:pPr marL="0" indent="0" algn="ctr" rtl="1">
                <a:buNone/>
              </a:pPr>
              <a:r>
                <a:rPr lang="fa-IR" sz="1080" dirty="0" err="1">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باترورث</a:t>
              </a:r>
              <a:r>
                <a:rPr lang="fa-IR" sz="108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 و جداسازی</a:t>
              </a: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67" name="Group 66">
            <a:extLst>
              <a:ext uri="{FF2B5EF4-FFF2-40B4-BE49-F238E27FC236}">
                <a16:creationId xmlns:a16="http://schemas.microsoft.com/office/drawing/2014/main" id="{D9C7982D-0622-4FC2-C801-49026F9FD2A7}"/>
              </a:ext>
            </a:extLst>
          </p:cNvPr>
          <p:cNvGrpSpPr/>
          <p:nvPr/>
        </p:nvGrpSpPr>
        <p:grpSpPr>
          <a:xfrm>
            <a:off x="6886956" y="2226564"/>
            <a:ext cx="1645920" cy="2148840"/>
            <a:chOff x="6886956" y="2226564"/>
            <a:chExt cx="1645920" cy="2148840"/>
          </a:xfrm>
        </p:grpSpPr>
        <p:sp>
          <p:nvSpPr>
            <p:cNvPr id="31" name="Shape 29"/>
            <p:cNvSpPr/>
            <p:nvPr/>
          </p:nvSpPr>
          <p:spPr>
            <a:xfrm>
              <a:off x="6886956" y="3296412"/>
              <a:ext cx="73152" cy="0"/>
            </a:xfrm>
            <a:prstGeom prst="line">
              <a:avLst/>
            </a:prstGeom>
            <a:noFill/>
            <a:ln w="17780">
              <a:solidFill>
                <a:srgbClr val="94A3B8"/>
              </a:solidFill>
              <a:prstDash val="solid"/>
              <a:headEnd type="none"/>
              <a:tailEnd type="triangle"/>
            </a:ln>
          </p:spPr>
        </p:sp>
        <p:sp>
          <p:nvSpPr>
            <p:cNvPr id="32" name="Shape 30"/>
            <p:cNvSpPr/>
            <p:nvPr/>
          </p:nvSpPr>
          <p:spPr>
            <a:xfrm>
              <a:off x="6969252" y="2226564"/>
              <a:ext cx="1563624" cy="2148840"/>
            </a:xfrm>
            <a:prstGeom prst="roundRect">
              <a:avLst>
                <a:gd name="adj" fmla="val 4678"/>
              </a:avLst>
            </a:prstGeom>
            <a:solidFill>
              <a:srgbClr val="FFFFFF"/>
            </a:solidFill>
            <a:ln w="17780">
              <a:solidFill>
                <a:srgbClr val="2F855A"/>
              </a:solidFill>
              <a:prstDash val="solid"/>
            </a:ln>
          </p:spPr>
        </p:sp>
        <p:sp>
          <p:nvSpPr>
            <p:cNvPr id="33" name="Shape 31"/>
            <p:cNvSpPr/>
            <p:nvPr/>
          </p:nvSpPr>
          <p:spPr>
            <a:xfrm>
              <a:off x="7463028" y="2482596"/>
              <a:ext cx="576072" cy="576072"/>
            </a:xfrm>
            <a:prstGeom prst="ellipse">
              <a:avLst/>
            </a:prstGeom>
            <a:solidFill>
              <a:srgbClr val="2F855A"/>
            </a:solidFill>
            <a:ln w="12700">
              <a:solidFill>
                <a:srgbClr val="2F855A"/>
              </a:solidFill>
              <a:prstDash val="solid"/>
            </a:ln>
          </p:spPr>
        </p:sp>
        <p:sp>
          <p:nvSpPr>
            <p:cNvPr id="34" name="Text 32"/>
            <p:cNvSpPr/>
            <p:nvPr/>
          </p:nvSpPr>
          <p:spPr>
            <a:xfrm>
              <a:off x="7463028" y="2555748"/>
              <a:ext cx="576072" cy="365760"/>
            </a:xfrm>
            <a:prstGeom prst="rect">
              <a:avLst/>
            </a:prstGeom>
            <a:noFill/>
            <a:ln/>
          </p:spPr>
          <p:txBody>
            <a:bodyPr wrap="square" lIns="0" tIns="0" rIns="0" bIns="0" rtlCol="0" anchor="ctr">
              <a:normAutofit/>
            </a:bodyPr>
            <a:lstStyle/>
            <a:p>
              <a:pPr marL="0" indent="0" algn="ctr">
                <a:buNone/>
              </a:pPr>
              <a:r>
                <a:rPr lang="fa-IR" sz="17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۵</a:t>
              </a:r>
              <a:endParaRPr lang="en-US" sz="17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5" name="Text 33"/>
            <p:cNvSpPr/>
            <p:nvPr/>
          </p:nvSpPr>
          <p:spPr>
            <a:xfrm>
              <a:off x="7088124" y="3204972"/>
              <a:ext cx="1325880" cy="365760"/>
            </a:xfrm>
            <a:prstGeom prst="rect">
              <a:avLst/>
            </a:prstGeom>
            <a:noFill/>
            <a:ln/>
          </p:spPr>
          <p:txBody>
            <a:bodyPr wrap="square" lIns="0" tIns="0" rIns="0" bIns="0" rtlCol="0" anchor="ctr">
              <a:normAutofit/>
            </a:bodyPr>
            <a:lstStyle/>
            <a:p>
              <a:pPr marL="0" indent="0" algn="ctr" rtl="1">
                <a:buNone/>
              </a:pPr>
              <a:r>
                <a:rPr lang="en-US" sz="142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استخراج ویژگی</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36" name="Text 34"/>
            <p:cNvSpPr/>
            <p:nvPr/>
          </p:nvSpPr>
          <p:spPr>
            <a:xfrm>
              <a:off x="7088124" y="3653028"/>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۶۹۰ ویژگی برای هر نمونه</a:t>
              </a: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68" name="Group 67">
            <a:extLst>
              <a:ext uri="{FF2B5EF4-FFF2-40B4-BE49-F238E27FC236}">
                <a16:creationId xmlns:a16="http://schemas.microsoft.com/office/drawing/2014/main" id="{1562A424-0161-7B5F-C839-9423E580A657}"/>
              </a:ext>
            </a:extLst>
          </p:cNvPr>
          <p:cNvGrpSpPr/>
          <p:nvPr/>
        </p:nvGrpSpPr>
        <p:grpSpPr>
          <a:xfrm>
            <a:off x="8542020" y="2226564"/>
            <a:ext cx="1645920" cy="2148840"/>
            <a:chOff x="8542020" y="2226564"/>
            <a:chExt cx="1645920" cy="2148840"/>
          </a:xfrm>
        </p:grpSpPr>
        <p:sp>
          <p:nvSpPr>
            <p:cNvPr id="37" name="Shape 35"/>
            <p:cNvSpPr/>
            <p:nvPr/>
          </p:nvSpPr>
          <p:spPr>
            <a:xfrm>
              <a:off x="8542020" y="3296412"/>
              <a:ext cx="73152" cy="0"/>
            </a:xfrm>
            <a:prstGeom prst="line">
              <a:avLst/>
            </a:prstGeom>
            <a:noFill/>
            <a:ln w="17780">
              <a:solidFill>
                <a:srgbClr val="94A3B8"/>
              </a:solidFill>
              <a:prstDash val="solid"/>
              <a:headEnd type="none"/>
              <a:tailEnd type="triangle"/>
            </a:ln>
          </p:spPr>
        </p:sp>
        <p:sp>
          <p:nvSpPr>
            <p:cNvPr id="38" name="Shape 36"/>
            <p:cNvSpPr/>
            <p:nvPr/>
          </p:nvSpPr>
          <p:spPr>
            <a:xfrm>
              <a:off x="8624316" y="2226564"/>
              <a:ext cx="1563624" cy="2148840"/>
            </a:xfrm>
            <a:prstGeom prst="roundRect">
              <a:avLst>
                <a:gd name="adj" fmla="val 4678"/>
              </a:avLst>
            </a:prstGeom>
            <a:solidFill>
              <a:srgbClr val="FFFFFF"/>
            </a:solidFill>
            <a:ln w="17780">
              <a:solidFill>
                <a:srgbClr val="6B5BA6"/>
              </a:solidFill>
              <a:prstDash val="solid"/>
            </a:ln>
          </p:spPr>
          <p:txBody>
            <a:bodyPr/>
            <a:lstStyle/>
            <a:p>
              <a:endParaRPr lang="en-US" dirty="0"/>
            </a:p>
          </p:txBody>
        </p:sp>
        <p:sp>
          <p:nvSpPr>
            <p:cNvPr id="39" name="Shape 37"/>
            <p:cNvSpPr/>
            <p:nvPr/>
          </p:nvSpPr>
          <p:spPr>
            <a:xfrm>
              <a:off x="9118092" y="2482596"/>
              <a:ext cx="576072" cy="576072"/>
            </a:xfrm>
            <a:prstGeom prst="ellipse">
              <a:avLst/>
            </a:prstGeom>
            <a:solidFill>
              <a:srgbClr val="6B5BA6"/>
            </a:solidFill>
            <a:ln w="12700">
              <a:solidFill>
                <a:srgbClr val="6B5BA6"/>
              </a:solidFill>
              <a:prstDash val="solid"/>
            </a:ln>
          </p:spPr>
        </p:sp>
        <p:sp>
          <p:nvSpPr>
            <p:cNvPr id="40" name="Text 38"/>
            <p:cNvSpPr/>
            <p:nvPr/>
          </p:nvSpPr>
          <p:spPr>
            <a:xfrm>
              <a:off x="9118092" y="2555748"/>
              <a:ext cx="576072" cy="365760"/>
            </a:xfrm>
            <a:prstGeom prst="rect">
              <a:avLst/>
            </a:prstGeom>
            <a:noFill/>
            <a:ln/>
          </p:spPr>
          <p:txBody>
            <a:bodyPr wrap="square" lIns="0" tIns="0" rIns="0" bIns="0" rtlCol="0" anchor="ctr">
              <a:normAutofit/>
            </a:bodyPr>
            <a:lstStyle/>
            <a:p>
              <a:pPr marL="0" indent="0" algn="ctr">
                <a:buNone/>
              </a:pPr>
              <a:r>
                <a:rPr lang="fa-IR" sz="17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۶</a:t>
              </a:r>
              <a:endParaRPr lang="en-US" sz="17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1" name="Text 39"/>
            <p:cNvSpPr/>
            <p:nvPr/>
          </p:nvSpPr>
          <p:spPr>
            <a:xfrm>
              <a:off x="8743188" y="3204972"/>
              <a:ext cx="1325880" cy="365760"/>
            </a:xfrm>
            <a:prstGeom prst="rect">
              <a:avLst/>
            </a:prstGeom>
            <a:noFill/>
            <a:ln/>
          </p:spPr>
          <p:txBody>
            <a:bodyPr wrap="square" lIns="0" tIns="0" rIns="0" bIns="0" rtlCol="0" anchor="ctr">
              <a:normAutofit/>
            </a:bodyPr>
            <a:lstStyle/>
            <a:p>
              <a:pPr marL="0" indent="0" algn="ctr" rtl="1">
                <a:buNone/>
              </a:pPr>
              <a:r>
                <a:rPr lang="fa-IR" sz="142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کاهش ابعاد</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42" name="Text 40"/>
            <p:cNvSpPr/>
            <p:nvPr/>
          </p:nvSpPr>
          <p:spPr>
            <a:xfrm>
              <a:off x="8743188" y="3653028"/>
              <a:ext cx="1325880" cy="438912"/>
            </a:xfrm>
            <a:prstGeom prst="rect">
              <a:avLst/>
            </a:prstGeom>
            <a:noFill/>
            <a:ln/>
          </p:spPr>
          <p:txBody>
            <a:bodyPr wrap="square" lIns="0" tIns="0" rIns="0" bIns="0" rtlCol="0" anchor="t">
              <a:normAutofit/>
            </a:bodyPr>
            <a:lstStyle/>
            <a:p>
              <a:pPr marL="0" indent="0" algn="ctr" rtl="1">
                <a:buNone/>
              </a:pPr>
              <a:r>
                <a:rPr lang="en-US" sz="108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PCA</a:t>
              </a: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69" name="Group 68">
            <a:extLst>
              <a:ext uri="{FF2B5EF4-FFF2-40B4-BE49-F238E27FC236}">
                <a16:creationId xmlns:a16="http://schemas.microsoft.com/office/drawing/2014/main" id="{CD793CEE-A504-1491-A574-7F0B90661235}"/>
              </a:ext>
            </a:extLst>
          </p:cNvPr>
          <p:cNvGrpSpPr/>
          <p:nvPr/>
        </p:nvGrpSpPr>
        <p:grpSpPr>
          <a:xfrm>
            <a:off x="10197084" y="2226564"/>
            <a:ext cx="1645920" cy="2148840"/>
            <a:chOff x="10197084" y="2226564"/>
            <a:chExt cx="1645920" cy="2148840"/>
          </a:xfrm>
        </p:grpSpPr>
        <p:sp>
          <p:nvSpPr>
            <p:cNvPr id="43" name="Shape 41"/>
            <p:cNvSpPr/>
            <p:nvPr/>
          </p:nvSpPr>
          <p:spPr>
            <a:xfrm>
              <a:off x="10197084" y="3296412"/>
              <a:ext cx="73152" cy="0"/>
            </a:xfrm>
            <a:prstGeom prst="line">
              <a:avLst/>
            </a:prstGeom>
            <a:noFill/>
            <a:ln w="17780">
              <a:solidFill>
                <a:srgbClr val="94A3B8"/>
              </a:solidFill>
              <a:prstDash val="solid"/>
              <a:headEnd type="none"/>
              <a:tailEnd type="triangle"/>
            </a:ln>
          </p:spPr>
        </p:sp>
        <p:sp>
          <p:nvSpPr>
            <p:cNvPr id="44" name="Shape 42"/>
            <p:cNvSpPr/>
            <p:nvPr/>
          </p:nvSpPr>
          <p:spPr>
            <a:xfrm>
              <a:off x="10279380" y="2226564"/>
              <a:ext cx="1563624" cy="2148840"/>
            </a:xfrm>
            <a:prstGeom prst="roundRect">
              <a:avLst>
                <a:gd name="adj" fmla="val 4678"/>
              </a:avLst>
            </a:prstGeom>
            <a:solidFill>
              <a:srgbClr val="FFFFFF"/>
            </a:solidFill>
            <a:ln w="17780">
              <a:solidFill>
                <a:srgbClr val="C0392B"/>
              </a:solidFill>
              <a:prstDash val="solid"/>
            </a:ln>
          </p:spPr>
          <p:txBody>
            <a:bodyPr/>
            <a:lstStyle/>
            <a:p>
              <a:pPr marL="0" algn="r" defTabSz="914400" rtl="1" eaLnBrk="1" latinLnBrk="0" hangingPunct="1"/>
              <a:endParaRPr lang="en-US" dirty="0"/>
            </a:p>
          </p:txBody>
        </p:sp>
        <p:sp>
          <p:nvSpPr>
            <p:cNvPr id="45" name="Shape 43"/>
            <p:cNvSpPr/>
            <p:nvPr/>
          </p:nvSpPr>
          <p:spPr>
            <a:xfrm>
              <a:off x="10773156" y="2482596"/>
              <a:ext cx="576072" cy="576072"/>
            </a:xfrm>
            <a:prstGeom prst="ellipse">
              <a:avLst/>
            </a:prstGeom>
            <a:solidFill>
              <a:srgbClr val="C0392B"/>
            </a:solidFill>
            <a:ln w="12700">
              <a:solidFill>
                <a:srgbClr val="C0392B"/>
              </a:solidFill>
              <a:prstDash val="solid"/>
            </a:ln>
          </p:spPr>
        </p:sp>
        <p:sp>
          <p:nvSpPr>
            <p:cNvPr id="46" name="Text 44"/>
            <p:cNvSpPr/>
            <p:nvPr/>
          </p:nvSpPr>
          <p:spPr>
            <a:xfrm>
              <a:off x="10773156" y="2555748"/>
              <a:ext cx="576072" cy="365760"/>
            </a:xfrm>
            <a:prstGeom prst="rect">
              <a:avLst/>
            </a:prstGeom>
            <a:noFill/>
            <a:ln/>
          </p:spPr>
          <p:txBody>
            <a:bodyPr wrap="square" lIns="0" tIns="0" rIns="0" bIns="0" rtlCol="0" anchor="ctr">
              <a:normAutofit/>
            </a:bodyPr>
            <a:lstStyle/>
            <a:p>
              <a:pPr marL="0" indent="0" algn="ctr">
                <a:buNone/>
              </a:pPr>
              <a:r>
                <a:rPr lang="fa-IR" sz="17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۷</a:t>
              </a:r>
              <a:endParaRPr lang="en-US" sz="17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7" name="Text 45"/>
            <p:cNvSpPr/>
            <p:nvPr/>
          </p:nvSpPr>
          <p:spPr>
            <a:xfrm>
              <a:off x="10398252" y="3204972"/>
              <a:ext cx="1325880" cy="365760"/>
            </a:xfrm>
            <a:prstGeom prst="rect">
              <a:avLst/>
            </a:prstGeom>
            <a:noFill/>
            <a:ln/>
          </p:spPr>
          <p:txBody>
            <a:bodyPr wrap="square" lIns="0" tIns="0" rIns="0" bIns="0" rtlCol="0" anchor="ctr">
              <a:normAutofit/>
            </a:bodyPr>
            <a:lstStyle/>
            <a:p>
              <a:pPr marL="0" indent="0" algn="ctr" rtl="1">
                <a:buNone/>
              </a:pPr>
              <a:r>
                <a:rPr lang="fa-IR" sz="1420" b="1" dirty="0" err="1">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طبقه‌بندی</a:t>
              </a:r>
              <a:endParaRPr lang="en-US" sz="142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48" name="Text 46"/>
            <p:cNvSpPr/>
            <p:nvPr/>
          </p:nvSpPr>
          <p:spPr>
            <a:xfrm>
              <a:off x="10398252" y="3653028"/>
              <a:ext cx="1325880" cy="438912"/>
            </a:xfrm>
            <a:prstGeom prst="rect">
              <a:avLst/>
            </a:prstGeom>
            <a:noFill/>
            <a:ln/>
          </p:spPr>
          <p:txBody>
            <a:bodyPr wrap="square" lIns="0" tIns="0" rIns="0" bIns="0" rtlCol="0" anchor="t">
              <a:normAutofit/>
            </a:bodyPr>
            <a:lstStyle/>
            <a:p>
              <a:pPr algn="ctr" rtl="1"/>
              <a:r>
                <a:rPr lang="en-US" sz="108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SVM / KNN / RF</a:t>
              </a: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a:p>
              <a:pPr marL="0" indent="0" algn="ctr" rtl="1">
                <a:buNone/>
              </a:pPr>
              <a:endParaRPr lang="en-US" sz="108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70" name="Group 69">
            <a:extLst>
              <a:ext uri="{FF2B5EF4-FFF2-40B4-BE49-F238E27FC236}">
                <a16:creationId xmlns:a16="http://schemas.microsoft.com/office/drawing/2014/main" id="{B398777D-3729-1950-D628-92EA953241BC}"/>
              </a:ext>
            </a:extLst>
          </p:cNvPr>
          <p:cNvGrpSpPr/>
          <p:nvPr/>
        </p:nvGrpSpPr>
        <p:grpSpPr>
          <a:xfrm>
            <a:off x="941832" y="4983480"/>
            <a:ext cx="10241280" cy="841248"/>
            <a:chOff x="941832" y="4983480"/>
            <a:chExt cx="10241280" cy="841248"/>
          </a:xfrm>
        </p:grpSpPr>
        <p:sp>
          <p:nvSpPr>
            <p:cNvPr id="49" name="Shape 47"/>
            <p:cNvSpPr/>
            <p:nvPr/>
          </p:nvSpPr>
          <p:spPr>
            <a:xfrm>
              <a:off x="941832" y="4983480"/>
              <a:ext cx="10241280" cy="841248"/>
            </a:xfrm>
            <a:prstGeom prst="roundRect">
              <a:avLst>
                <a:gd name="adj" fmla="val 8696"/>
              </a:avLst>
            </a:prstGeom>
            <a:solidFill>
              <a:srgbClr val="102A43"/>
            </a:solidFill>
            <a:ln w="12700">
              <a:solidFill>
                <a:srgbClr val="102A43"/>
              </a:solidFill>
              <a:prstDash val="solid"/>
            </a:ln>
          </p:spPr>
        </p:sp>
        <p:sp>
          <p:nvSpPr>
            <p:cNvPr id="50" name="Text 48"/>
            <p:cNvSpPr/>
            <p:nvPr/>
          </p:nvSpPr>
          <p:spPr>
            <a:xfrm>
              <a:off x="1207008" y="5193792"/>
              <a:ext cx="1298448"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Sharif 1.2" panose="020B0000040000000000" pitchFamily="34" charset="-78"/>
                  <a:ea typeface="Sharif 1.2" panose="020B0000040000000000" pitchFamily="34" charset="-78"/>
                  <a:cs typeface="Sharif 1.2" panose="020B0000040000000000" pitchFamily="34" charset="-78"/>
                </a:rPr>
                <a:t>Arduino</a:t>
              </a:r>
              <a:endParaRPr lang="en-US" sz="15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51" name="Text 49"/>
            <p:cNvSpPr/>
            <p:nvPr/>
          </p:nvSpPr>
          <p:spPr>
            <a:xfrm>
              <a:off x="3794760" y="5193792"/>
              <a:ext cx="1298448"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Sharif 1.2" panose="020B0000040000000000" pitchFamily="34" charset="-78"/>
                  <a:ea typeface="Sharif 1.2" panose="020B0000040000000000" pitchFamily="34" charset="-78"/>
                  <a:cs typeface="Sharif 1.2" panose="020B0000040000000000" pitchFamily="34" charset="-78"/>
                </a:rPr>
                <a:t>MATLAB</a:t>
              </a:r>
              <a:endParaRPr lang="en-US" sz="15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52" name="Text 50"/>
            <p:cNvSpPr/>
            <p:nvPr/>
          </p:nvSpPr>
          <p:spPr>
            <a:xfrm>
              <a:off x="6419088" y="5193792"/>
              <a:ext cx="1298448"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Sharif 1.2" panose="020B0000040000000000" pitchFamily="34" charset="-78"/>
                  <a:ea typeface="Sharif 1.2" panose="020B0000040000000000" pitchFamily="34" charset="-78"/>
                  <a:cs typeface="Sharif 1.2" panose="020B0000040000000000" pitchFamily="34" charset="-78"/>
                </a:rPr>
                <a:t>Python</a:t>
              </a:r>
              <a:endParaRPr lang="en-US" sz="15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53" name="Text 51"/>
            <p:cNvSpPr/>
            <p:nvPr/>
          </p:nvSpPr>
          <p:spPr>
            <a:xfrm>
              <a:off x="8906256" y="5193792"/>
              <a:ext cx="1508760" cy="292608"/>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Sharif 1.2" panose="020B0000040000000000" pitchFamily="34" charset="-78"/>
                  <a:ea typeface="Sharif 1.2" panose="020B0000040000000000" pitchFamily="34" charset="-78"/>
                  <a:cs typeface="Sharif 1.2" panose="020B0000040000000000" pitchFamily="34" charset="-78"/>
                </a:rPr>
                <a:t>Scikit-learn</a:t>
              </a:r>
              <a:endParaRPr lang="en-US" sz="15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54" name="Text 52"/>
            <p:cNvSpPr/>
            <p:nvPr/>
          </p:nvSpPr>
          <p:spPr>
            <a:xfrm>
              <a:off x="1207008" y="5513832"/>
              <a:ext cx="1298448"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نمونه‌برداری</a:t>
              </a:r>
              <a:endParaRPr lang="en-US" sz="9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5" name="Text 53"/>
            <p:cNvSpPr/>
            <p:nvPr/>
          </p:nvSpPr>
          <p:spPr>
            <a:xfrm>
              <a:off x="3794760" y="5513832"/>
              <a:ext cx="1298448"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دریافت و ذخیره</a:t>
              </a:r>
              <a:endParaRPr lang="en-US" sz="9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6" name="Text 54"/>
            <p:cNvSpPr/>
            <p:nvPr/>
          </p:nvSpPr>
          <p:spPr>
            <a:xfrm>
              <a:off x="6419088" y="5513832"/>
              <a:ext cx="1298448" cy="201168"/>
            </a:xfrm>
            <a:prstGeom prst="rect">
              <a:avLst/>
            </a:prstGeom>
            <a:noFill/>
            <a:ln/>
          </p:spPr>
          <p:txBody>
            <a:bodyPr wrap="square" lIns="0" tIns="0" rIns="0" bIns="0" rtlCol="0" anchor="ctr">
              <a:normAutofit/>
            </a:bodyPr>
            <a:lstStyle/>
            <a:p>
              <a:pPr marL="0" indent="0" algn="ctr" rtl="1">
                <a:buNone/>
              </a:pPr>
              <a:r>
                <a:rPr lang="fa-IR" sz="97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استخراج </a:t>
              </a:r>
              <a:r>
                <a:rPr lang="en-US" sz="970" dirty="0" err="1">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ویژگی</a:t>
              </a:r>
              <a:r>
                <a:rPr lang="en-US" sz="97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 و تحلیل</a:t>
              </a:r>
              <a:endParaRPr lang="en-US" sz="9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7" name="Text 55"/>
            <p:cNvSpPr/>
            <p:nvPr/>
          </p:nvSpPr>
          <p:spPr>
            <a:xfrm>
              <a:off x="8906256" y="5513832"/>
              <a:ext cx="1508760" cy="201168"/>
            </a:xfrm>
            <a:prstGeom prst="rect">
              <a:avLst/>
            </a:prstGeom>
            <a:noFill/>
            <a:ln/>
          </p:spPr>
          <p:txBody>
            <a:bodyPr wrap="square" lIns="0" tIns="0" rIns="0" bIns="0" rtlCol="0" anchor="ctr">
              <a:normAutofit/>
            </a:bodyPr>
            <a:lstStyle/>
            <a:p>
              <a:pPr marL="0" indent="0" algn="ctr" rtl="1">
                <a:buNone/>
              </a:pPr>
              <a:r>
                <a:rPr lang="en-US" sz="97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مدل‌سازی</a:t>
              </a:r>
              <a:endParaRPr lang="en-US" sz="97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sp>
        <p:nvSpPr>
          <p:cNvPr id="58" name="Shape 56"/>
          <p:cNvSpPr/>
          <p:nvPr/>
        </p:nvSpPr>
        <p:spPr>
          <a:xfrm>
            <a:off x="658368" y="6473952"/>
            <a:ext cx="10881360" cy="0"/>
          </a:xfrm>
          <a:prstGeom prst="line">
            <a:avLst/>
          </a:prstGeom>
          <a:noFill/>
          <a:ln w="10160">
            <a:solidFill>
              <a:srgbClr val="E9EEF2"/>
            </a:solidFill>
            <a:prstDash val="solid"/>
          </a:ln>
        </p:spPr>
      </p:sp>
      <p:sp>
        <p:nvSpPr>
          <p:cNvPr id="59" name="Text 57"/>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60" name="Text 58"/>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روش</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a:t>
            </a: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و</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پیاده‌سازی | </a:t>
            </a:r>
            <a:r>
              <a:rPr lang="fa-IR"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۹</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61" name="Text 59"/>
          <p:cNvSpPr/>
          <p:nvPr/>
        </p:nvSpPr>
        <p:spPr>
          <a:xfrm>
            <a:off x="713232" y="6528816"/>
            <a:ext cx="960120" cy="219456"/>
          </a:xfrm>
          <a:prstGeom prst="rect">
            <a:avLst/>
          </a:prstGeom>
          <a:noFill/>
          <a:ln/>
        </p:spPr>
        <p:txBody>
          <a:bodyPr wrap="square" lIns="0" tIns="0" rIns="0" bIns="0" rtlCol="0" anchor="ctr">
            <a:normAutofit/>
          </a:bodyPr>
          <a:lstStyle/>
          <a:p>
            <a:pPr marL="0" indent="0">
              <a:buNone/>
            </a:pPr>
            <a:r>
              <a:rPr lang="fa-IR"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۵</a:t>
            </a: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62" name="Shape 60"/>
          <p:cNvSpPr/>
          <p:nvPr/>
        </p:nvSpPr>
        <p:spPr>
          <a:xfrm>
            <a:off x="2560320" y="6766560"/>
            <a:ext cx="2821577" cy="41148"/>
          </a:xfrm>
          <a:prstGeom prst="rect">
            <a:avLst/>
          </a:prstGeom>
          <a:solidFill>
            <a:srgbClr val="0B6E99"/>
          </a:solidFill>
          <a:ln w="12700">
            <a:solidFill>
              <a:srgbClr val="0B6E99"/>
            </a:solidFill>
            <a:prstDash val="solid"/>
          </a:ln>
        </p:spPr>
      </p:sp>
      <p:sp>
        <p:nvSpPr>
          <p:cNvPr id="63" name="Shape 61"/>
          <p:cNvSpPr/>
          <p:nvPr/>
        </p:nvSpPr>
        <p:spPr>
          <a:xfrm>
            <a:off x="5381897" y="6766560"/>
            <a:ext cx="3762103" cy="41148"/>
          </a:xfrm>
          <a:prstGeom prst="rect">
            <a:avLst/>
          </a:prstGeom>
          <a:solidFill>
            <a:srgbClr val="E6EDF2"/>
          </a:solidFill>
          <a:ln w="12700">
            <a:solidFill>
              <a:srgbClr val="E6EDF2"/>
            </a:solidFill>
            <a:prstDash val="solid"/>
          </a:ln>
        </p:spPr>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4"/>
                                        </p:tgtEl>
                                        <p:attrNameLst>
                                          <p:attrName>style.visibility</p:attrName>
                                        </p:attrNameLst>
                                      </p:cBhvr>
                                      <p:to>
                                        <p:strVal val="visible"/>
                                      </p:to>
                                    </p:set>
                                    <p:anim calcmode="lin" valueType="num">
                                      <p:cBhvr additive="base">
                                        <p:cTn id="13" dur="500" fill="hold"/>
                                        <p:tgtEl>
                                          <p:spTgt spid="64"/>
                                        </p:tgtEl>
                                        <p:attrNameLst>
                                          <p:attrName>ppt_x</p:attrName>
                                        </p:attrNameLst>
                                      </p:cBhvr>
                                      <p:tavLst>
                                        <p:tav tm="0">
                                          <p:val>
                                            <p:strVal val="0-#ppt_w/2"/>
                                          </p:val>
                                        </p:tav>
                                        <p:tav tm="100000">
                                          <p:val>
                                            <p:strVal val="#ppt_x"/>
                                          </p:val>
                                        </p:tav>
                                      </p:tavLst>
                                    </p:anim>
                                    <p:anim calcmode="lin" valueType="num">
                                      <p:cBhvr additive="base">
                                        <p:cTn id="14" dur="500" fill="hold"/>
                                        <p:tgtEl>
                                          <p:spTgt spid="6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5"/>
                                        </p:tgtEl>
                                        <p:attrNameLst>
                                          <p:attrName>style.visibility</p:attrName>
                                        </p:attrNameLst>
                                      </p:cBhvr>
                                      <p:to>
                                        <p:strVal val="visible"/>
                                      </p:to>
                                    </p:set>
                                    <p:anim calcmode="lin" valueType="num">
                                      <p:cBhvr additive="base">
                                        <p:cTn id="19" dur="500" fill="hold"/>
                                        <p:tgtEl>
                                          <p:spTgt spid="65"/>
                                        </p:tgtEl>
                                        <p:attrNameLst>
                                          <p:attrName>ppt_x</p:attrName>
                                        </p:attrNameLst>
                                      </p:cBhvr>
                                      <p:tavLst>
                                        <p:tav tm="0">
                                          <p:val>
                                            <p:strVal val="0-#ppt_w/2"/>
                                          </p:val>
                                        </p:tav>
                                        <p:tav tm="100000">
                                          <p:val>
                                            <p:strVal val="#ppt_x"/>
                                          </p:val>
                                        </p:tav>
                                      </p:tavLst>
                                    </p:anim>
                                    <p:anim calcmode="lin" valueType="num">
                                      <p:cBhvr additive="base">
                                        <p:cTn id="20"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66"/>
                                        </p:tgtEl>
                                        <p:attrNameLst>
                                          <p:attrName>style.visibility</p:attrName>
                                        </p:attrNameLst>
                                      </p:cBhvr>
                                      <p:to>
                                        <p:strVal val="visible"/>
                                      </p:to>
                                    </p:set>
                                    <p:anim calcmode="lin" valueType="num">
                                      <p:cBhvr additive="base">
                                        <p:cTn id="25" dur="500" fill="hold"/>
                                        <p:tgtEl>
                                          <p:spTgt spid="66"/>
                                        </p:tgtEl>
                                        <p:attrNameLst>
                                          <p:attrName>ppt_x</p:attrName>
                                        </p:attrNameLst>
                                      </p:cBhvr>
                                      <p:tavLst>
                                        <p:tav tm="0">
                                          <p:val>
                                            <p:strVal val="0-#ppt_w/2"/>
                                          </p:val>
                                        </p:tav>
                                        <p:tav tm="100000">
                                          <p:val>
                                            <p:strVal val="#ppt_x"/>
                                          </p:val>
                                        </p:tav>
                                      </p:tavLst>
                                    </p:anim>
                                    <p:anim calcmode="lin" valueType="num">
                                      <p:cBhvr additive="base">
                                        <p:cTn id="26" dur="500" fill="hold"/>
                                        <p:tgtEl>
                                          <p:spTgt spid="6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67"/>
                                        </p:tgtEl>
                                        <p:attrNameLst>
                                          <p:attrName>style.visibility</p:attrName>
                                        </p:attrNameLst>
                                      </p:cBhvr>
                                      <p:to>
                                        <p:strVal val="visible"/>
                                      </p:to>
                                    </p:set>
                                    <p:anim calcmode="lin" valueType="num">
                                      <p:cBhvr additive="base">
                                        <p:cTn id="31" dur="500" fill="hold"/>
                                        <p:tgtEl>
                                          <p:spTgt spid="67"/>
                                        </p:tgtEl>
                                        <p:attrNameLst>
                                          <p:attrName>ppt_x</p:attrName>
                                        </p:attrNameLst>
                                      </p:cBhvr>
                                      <p:tavLst>
                                        <p:tav tm="0">
                                          <p:val>
                                            <p:strVal val="0-#ppt_w/2"/>
                                          </p:val>
                                        </p:tav>
                                        <p:tav tm="100000">
                                          <p:val>
                                            <p:strVal val="#ppt_x"/>
                                          </p:val>
                                        </p:tav>
                                      </p:tavLst>
                                    </p:anim>
                                    <p:anim calcmode="lin" valueType="num">
                                      <p:cBhvr additive="base">
                                        <p:cTn id="32" dur="500" fill="hold"/>
                                        <p:tgtEl>
                                          <p:spTgt spid="6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8"/>
                                        </p:tgtEl>
                                        <p:attrNameLst>
                                          <p:attrName>style.visibility</p:attrName>
                                        </p:attrNameLst>
                                      </p:cBhvr>
                                      <p:to>
                                        <p:strVal val="visible"/>
                                      </p:to>
                                    </p:set>
                                    <p:anim calcmode="lin" valueType="num">
                                      <p:cBhvr additive="base">
                                        <p:cTn id="37" dur="500" fill="hold"/>
                                        <p:tgtEl>
                                          <p:spTgt spid="68"/>
                                        </p:tgtEl>
                                        <p:attrNameLst>
                                          <p:attrName>ppt_x</p:attrName>
                                        </p:attrNameLst>
                                      </p:cBhvr>
                                      <p:tavLst>
                                        <p:tav tm="0">
                                          <p:val>
                                            <p:strVal val="0-#ppt_w/2"/>
                                          </p:val>
                                        </p:tav>
                                        <p:tav tm="100000">
                                          <p:val>
                                            <p:strVal val="#ppt_x"/>
                                          </p:val>
                                        </p:tav>
                                      </p:tavLst>
                                    </p:anim>
                                    <p:anim calcmode="lin" valueType="num">
                                      <p:cBhvr additive="base">
                                        <p:cTn id="38" dur="500" fill="hold"/>
                                        <p:tgtEl>
                                          <p:spTgt spid="6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69"/>
                                        </p:tgtEl>
                                        <p:attrNameLst>
                                          <p:attrName>style.visibility</p:attrName>
                                        </p:attrNameLst>
                                      </p:cBhvr>
                                      <p:to>
                                        <p:strVal val="visible"/>
                                      </p:to>
                                    </p:set>
                                    <p:anim calcmode="lin" valueType="num">
                                      <p:cBhvr additive="base">
                                        <p:cTn id="43" dur="500" fill="hold"/>
                                        <p:tgtEl>
                                          <p:spTgt spid="69"/>
                                        </p:tgtEl>
                                        <p:attrNameLst>
                                          <p:attrName>ppt_x</p:attrName>
                                        </p:attrNameLst>
                                      </p:cBhvr>
                                      <p:tavLst>
                                        <p:tav tm="0">
                                          <p:val>
                                            <p:strVal val="0-#ppt_w/2"/>
                                          </p:val>
                                        </p:tav>
                                        <p:tav tm="100000">
                                          <p:val>
                                            <p:strVal val="#ppt_x"/>
                                          </p:val>
                                        </p:tav>
                                      </p:tavLst>
                                    </p:anim>
                                    <p:anim calcmode="lin" valueType="num">
                                      <p:cBhvr additive="base">
                                        <p:cTn id="44" dur="500" fill="hold"/>
                                        <p:tgtEl>
                                          <p:spTgt spid="69"/>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0"/>
                                        </p:tgtEl>
                                        <p:attrNameLst>
                                          <p:attrName>style.visibility</p:attrName>
                                        </p:attrNameLst>
                                      </p:cBhvr>
                                      <p:to>
                                        <p:strVal val="visible"/>
                                      </p:to>
                                    </p:set>
                                    <p:anim calcmode="lin" valueType="num">
                                      <p:cBhvr additive="base">
                                        <p:cTn id="49" dur="500" fill="hold"/>
                                        <p:tgtEl>
                                          <p:spTgt spid="70"/>
                                        </p:tgtEl>
                                        <p:attrNameLst>
                                          <p:attrName>ppt_x</p:attrName>
                                        </p:attrNameLst>
                                      </p:cBhvr>
                                      <p:tavLst>
                                        <p:tav tm="0">
                                          <p:val>
                                            <p:strVal val="#ppt_x"/>
                                          </p:val>
                                        </p:tav>
                                        <p:tav tm="100000">
                                          <p:val>
                                            <p:strVal val="#ppt_x"/>
                                          </p:val>
                                        </p:tav>
                                      </p:tavLst>
                                    </p:anim>
                                    <p:anim calcmode="lin" valueType="num">
                                      <p:cBhvr additive="base">
                                        <p:cTn id="50"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fa-IR" sz="2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رابط کاربری در </a:t>
            </a:r>
            <a:r>
              <a:rPr lang="fa-IR" sz="2700" b="1" dirty="0" err="1">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نرم‌افزار</a:t>
            </a:r>
            <a:r>
              <a:rPr lang="fa-IR" sz="2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a:t>
            </a:r>
            <a:r>
              <a:rPr lang="fa-IR" sz="2700" b="1" dirty="0" err="1">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متلب</a:t>
            </a:r>
            <a:endParaRPr lang="en-US" sz="2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38" name="Shape 36"/>
          <p:cNvSpPr/>
          <p:nvPr/>
        </p:nvSpPr>
        <p:spPr>
          <a:xfrm>
            <a:off x="658368" y="6473952"/>
            <a:ext cx="10881360" cy="0"/>
          </a:xfrm>
          <a:prstGeom prst="line">
            <a:avLst/>
          </a:prstGeom>
          <a:noFill/>
          <a:ln w="10160">
            <a:solidFill>
              <a:srgbClr val="E9EEF2"/>
            </a:solidFill>
            <a:prstDash val="solid"/>
          </a:ln>
        </p:spPr>
      </p:sp>
      <p:sp>
        <p:nvSpPr>
          <p:cNvPr id="39" name="Text 37"/>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0" name="Text 38"/>
          <p:cNvSpPr/>
          <p:nvPr/>
        </p:nvSpPr>
        <p:spPr>
          <a:xfrm>
            <a:off x="3444087" y="6523572"/>
            <a:ext cx="5303520" cy="219456"/>
          </a:xfrm>
          <a:prstGeom prst="rect">
            <a:avLst/>
          </a:prstGeom>
          <a:noFill/>
          <a:ln/>
        </p:spPr>
        <p:txBody>
          <a:bodyPr wrap="square" lIns="0" tIns="0" rIns="0" bIns="0" rtlCol="0" anchor="ctr">
            <a:normAutofit/>
          </a:bodyPr>
          <a:lstStyle/>
          <a:p>
            <a:pPr algn="ctr" rtl="1"/>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روش</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a:t>
            </a: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و</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a:t>
            </a: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پیاده‌سازی</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 </a:t>
            </a:r>
            <a:r>
              <a:rPr lang="fa-IR"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۸</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a:t>
            </a: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اسلاید</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a:t>
            </a: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تا</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a:t>
            </a: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1" name="Text 39"/>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۴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2" name="Shape 40"/>
          <p:cNvSpPr/>
          <p:nvPr/>
        </p:nvSpPr>
        <p:spPr>
          <a:xfrm>
            <a:off x="2560320" y="6766560"/>
            <a:ext cx="1881051" cy="41148"/>
          </a:xfrm>
          <a:prstGeom prst="rect">
            <a:avLst/>
          </a:prstGeom>
          <a:solidFill>
            <a:srgbClr val="0B6E99"/>
          </a:solidFill>
          <a:ln w="12700">
            <a:solidFill>
              <a:srgbClr val="0B6E99"/>
            </a:solidFill>
            <a:prstDash val="solid"/>
          </a:ln>
        </p:spPr>
      </p:sp>
      <p:sp>
        <p:nvSpPr>
          <p:cNvPr id="43" name="Shape 41"/>
          <p:cNvSpPr/>
          <p:nvPr/>
        </p:nvSpPr>
        <p:spPr>
          <a:xfrm>
            <a:off x="4441371" y="6766560"/>
            <a:ext cx="4702629" cy="41148"/>
          </a:xfrm>
          <a:prstGeom prst="rect">
            <a:avLst/>
          </a:prstGeom>
          <a:solidFill>
            <a:srgbClr val="E6EDF2"/>
          </a:solidFill>
          <a:ln w="12700">
            <a:solidFill>
              <a:srgbClr val="E6EDF2"/>
            </a:solidFill>
            <a:prstDash val="solid"/>
          </a:ln>
        </p:spPr>
      </p:sp>
      <p:pic>
        <p:nvPicPr>
          <p:cNvPr id="44" name="Picture 43">
            <a:extLst>
              <a:ext uri="{FF2B5EF4-FFF2-40B4-BE49-F238E27FC236}">
                <a16:creationId xmlns:a16="http://schemas.microsoft.com/office/drawing/2014/main" id="{F83E2AC0-A6F0-E4FB-ECD4-62EF15668AF8}"/>
              </a:ext>
            </a:extLst>
          </p:cNvPr>
          <p:cNvPicPr>
            <a:picLocks noChangeAspect="1"/>
          </p:cNvPicPr>
          <p:nvPr/>
        </p:nvPicPr>
        <p:blipFill>
          <a:blip r:embed="rId3"/>
          <a:stretch>
            <a:fillRect/>
          </a:stretch>
        </p:blipFill>
        <p:spPr>
          <a:xfrm>
            <a:off x="658368" y="1645922"/>
            <a:ext cx="6003777" cy="4005070"/>
          </a:xfrm>
          <a:prstGeom prst="rect">
            <a:avLst/>
          </a:prstGeom>
        </p:spPr>
      </p:pic>
      <p:pic>
        <p:nvPicPr>
          <p:cNvPr id="46" name="Picture 45">
            <a:extLst>
              <a:ext uri="{FF2B5EF4-FFF2-40B4-BE49-F238E27FC236}">
                <a16:creationId xmlns:a16="http://schemas.microsoft.com/office/drawing/2014/main" id="{0FB21EC2-6D24-C4DD-952D-205A93C76C36}"/>
              </a:ext>
            </a:extLst>
          </p:cNvPr>
          <p:cNvPicPr>
            <a:picLocks noChangeAspect="1"/>
          </p:cNvPicPr>
          <p:nvPr/>
        </p:nvPicPr>
        <p:blipFill>
          <a:blip r:embed="rId4"/>
          <a:stretch>
            <a:fillRect/>
          </a:stretch>
        </p:blipFill>
        <p:spPr>
          <a:xfrm>
            <a:off x="6792685" y="1770997"/>
            <a:ext cx="4591595" cy="1833354"/>
          </a:xfrm>
          <a:prstGeom prst="rect">
            <a:avLst/>
          </a:prstGeom>
        </p:spPr>
      </p:pic>
      <p:pic>
        <p:nvPicPr>
          <p:cNvPr id="48" name="Picture 47">
            <a:extLst>
              <a:ext uri="{FF2B5EF4-FFF2-40B4-BE49-F238E27FC236}">
                <a16:creationId xmlns:a16="http://schemas.microsoft.com/office/drawing/2014/main" id="{8DC56B61-3416-FE05-80A7-E8EF71483FC9}"/>
              </a:ext>
            </a:extLst>
          </p:cNvPr>
          <p:cNvPicPr>
            <a:picLocks noChangeAspect="1"/>
          </p:cNvPicPr>
          <p:nvPr/>
        </p:nvPicPr>
        <p:blipFill>
          <a:blip r:embed="rId5"/>
          <a:stretch>
            <a:fillRect/>
          </a:stretch>
        </p:blipFill>
        <p:spPr>
          <a:xfrm>
            <a:off x="6792684" y="3712155"/>
            <a:ext cx="4591596" cy="1833354"/>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از سیگنال خام </a:t>
            </a:r>
            <a:r>
              <a:rPr lang="en-US" sz="2700" b="1" dirty="0" err="1">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تا</a:t>
            </a:r>
            <a:r>
              <a:rPr lang="en-US" sz="2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 </a:t>
            </a:r>
            <a:r>
              <a:rPr lang="en-US" sz="2700" b="1" dirty="0" err="1">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بردار</a:t>
            </a:r>
            <a:r>
              <a:rPr lang="en-US" sz="2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 </a:t>
            </a:r>
            <a:r>
              <a:rPr lang="en-US" sz="2700" b="1" dirty="0" err="1">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ویژگی</a:t>
            </a:r>
            <a:r>
              <a:rPr lang="fa-IR" sz="27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‌ها</a:t>
            </a:r>
            <a:endParaRPr lang="en-US" sz="27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21" name="Shape 18"/>
          <p:cNvSpPr/>
          <p:nvPr/>
        </p:nvSpPr>
        <p:spPr>
          <a:xfrm>
            <a:off x="652272" y="1472184"/>
            <a:ext cx="5102352" cy="4526280"/>
          </a:xfrm>
          <a:prstGeom prst="roundRect">
            <a:avLst>
              <a:gd name="adj" fmla="val 1616"/>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sp>
        <p:nvSpPr>
          <p:cNvPr id="22" name="Shape 19"/>
          <p:cNvSpPr/>
          <p:nvPr/>
        </p:nvSpPr>
        <p:spPr>
          <a:xfrm>
            <a:off x="3834384" y="1728216"/>
            <a:ext cx="1572768" cy="347472"/>
          </a:xfrm>
          <a:prstGeom prst="roundRect">
            <a:avLst>
              <a:gd name="adj" fmla="val 47368"/>
            </a:avLst>
          </a:prstGeom>
          <a:solidFill>
            <a:srgbClr val="E8F5EE"/>
          </a:solidFill>
          <a:ln w="12700">
            <a:solidFill>
              <a:srgbClr val="E8F5EE"/>
            </a:solidFill>
            <a:prstDash val="solid"/>
          </a:ln>
        </p:spPr>
      </p:sp>
      <p:sp>
        <p:nvSpPr>
          <p:cNvPr id="23" name="Text 20"/>
          <p:cNvSpPr/>
          <p:nvPr/>
        </p:nvSpPr>
        <p:spPr>
          <a:xfrm>
            <a:off x="3944112" y="1746504"/>
            <a:ext cx="1353312" cy="310896"/>
          </a:xfrm>
          <a:prstGeom prst="rect">
            <a:avLst/>
          </a:prstGeom>
          <a:noFill/>
          <a:ln/>
        </p:spPr>
        <p:txBody>
          <a:bodyPr wrap="square" lIns="0" tIns="0" rIns="0" bIns="0" rtlCol="0" anchor="ctr">
            <a:normAutofit/>
          </a:bodyPr>
          <a:lstStyle/>
          <a:p>
            <a:pPr marL="0" indent="0" algn="ctr" rtl="1">
              <a:buNone/>
            </a:pPr>
            <a:r>
              <a:rPr lang="en-US" sz="1350" b="1" dirty="0">
                <a:solidFill>
                  <a:srgbClr val="2F855A"/>
                </a:solidFill>
                <a:latin typeface="Sharif 1.2 SemiBold" panose="020B0000040000000000" pitchFamily="34" charset="-78"/>
                <a:ea typeface="Sharif 1.2 SemiBold" panose="020B0000040000000000" pitchFamily="34" charset="-78"/>
                <a:cs typeface="Sharif 1.2 SemiBold" panose="020B0000040000000000" pitchFamily="34" charset="-78"/>
              </a:rPr>
              <a:t>استخراج ویژگی</a:t>
            </a:r>
            <a:endParaRPr lang="en-US" sz="13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4" name="Text 21"/>
          <p:cNvSpPr/>
          <p:nvPr/>
        </p:nvSpPr>
        <p:spPr>
          <a:xfrm>
            <a:off x="4135501" y="2226565"/>
            <a:ext cx="800100" cy="466343"/>
          </a:xfrm>
          <a:prstGeom prst="rect">
            <a:avLst/>
          </a:prstGeom>
          <a:noFill/>
          <a:ln/>
        </p:spPr>
        <p:txBody>
          <a:bodyPr wrap="square" lIns="0" tIns="0" rIns="0" bIns="0" rtlCol="0" anchor="ctr">
            <a:normAutofit/>
          </a:bodyPr>
          <a:lstStyle/>
          <a:p>
            <a:pPr marL="0" indent="0" algn="ctr" rtl="1">
              <a:buNone/>
            </a:pPr>
            <a:r>
              <a:rPr lang="en-US" sz="2400" b="1" dirty="0">
                <a:solidFill>
                  <a:srgbClr val="0B6E99"/>
                </a:solidFill>
                <a:latin typeface="Sharif 1.2 Medium" panose="020B0000040000000000" pitchFamily="34" charset="-78"/>
                <a:ea typeface="Sharif 1.2 Medium" panose="020B0000040000000000" pitchFamily="34" charset="-78"/>
                <a:cs typeface="Sharif 1.2 Medium" panose="020B0000040000000000" pitchFamily="34" charset="-78"/>
              </a:rPr>
              <a:t>۵ حسگر</a:t>
            </a:r>
            <a:endParaRPr lang="en-US" sz="24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25" name="Text 22"/>
          <p:cNvSpPr/>
          <p:nvPr/>
        </p:nvSpPr>
        <p:spPr>
          <a:xfrm>
            <a:off x="3842372" y="2231062"/>
            <a:ext cx="281993" cy="393801"/>
          </a:xfrm>
          <a:prstGeom prst="rect">
            <a:avLst/>
          </a:prstGeom>
          <a:noFill/>
          <a:ln/>
        </p:spPr>
        <p:txBody>
          <a:bodyPr wrap="square" lIns="0" tIns="0" rIns="0" bIns="0" rtlCol="0" anchor="ctr">
            <a:noAutofit/>
          </a:bodyPr>
          <a:lstStyle/>
          <a:p>
            <a:pPr marL="0" indent="0" algn="ctr">
              <a:buNone/>
            </a:pPr>
            <a:r>
              <a:rPr lang="en-US" sz="2800" b="1" dirty="0">
                <a:solidFill>
                  <a:srgbClr val="64748B"/>
                </a:solidFill>
                <a:latin typeface="Sharif 1.2" panose="020B0000040000000000" pitchFamily="34" charset="-78"/>
                <a:ea typeface="Sharif 1.2" panose="020B0000040000000000" pitchFamily="34" charset="-78"/>
                <a:cs typeface="Sharif 1.2" panose="020B0000040000000000" pitchFamily="34" charset="-78"/>
              </a:rPr>
              <a:t>×</a:t>
            </a:r>
            <a:endParaRPr lang="en-US" sz="28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26" name="Text 23"/>
          <p:cNvSpPr/>
          <p:nvPr/>
        </p:nvSpPr>
        <p:spPr>
          <a:xfrm>
            <a:off x="2923132" y="2226565"/>
            <a:ext cx="908104" cy="466343"/>
          </a:xfrm>
          <a:prstGeom prst="rect">
            <a:avLst/>
          </a:prstGeom>
          <a:noFill/>
          <a:ln/>
        </p:spPr>
        <p:txBody>
          <a:bodyPr wrap="square" lIns="0" tIns="0" rIns="0" bIns="0" rtlCol="0" anchor="ctr">
            <a:noAutofit/>
          </a:bodyPr>
          <a:lstStyle/>
          <a:p>
            <a:pPr marL="0" indent="0" algn="ctr" rtl="1">
              <a:buNone/>
            </a:pPr>
            <a:r>
              <a:rPr lang="en-US" sz="2400" b="1" dirty="0">
                <a:solidFill>
                  <a:srgbClr val="0B7A75"/>
                </a:solidFill>
                <a:latin typeface="Sharif 1.2" panose="020B0000040000000000" pitchFamily="34" charset="-78"/>
                <a:ea typeface="Sharif 1.2" panose="020B0000040000000000" pitchFamily="34" charset="-78"/>
                <a:cs typeface="Sharif 1.2" panose="020B0000040000000000" pitchFamily="34" charset="-78"/>
              </a:rPr>
              <a:t>۶</a:t>
            </a:r>
            <a:r>
              <a:rPr lang="fa-IR" sz="2400" b="1" dirty="0">
                <a:solidFill>
                  <a:srgbClr val="0B7A75"/>
                </a:solidFill>
                <a:latin typeface="Sharif 1.2 Medium" panose="020B0000040000000000" pitchFamily="34" charset="-78"/>
                <a:ea typeface="Sharif 1.2 Medium" panose="020B0000040000000000" pitchFamily="34" charset="-78"/>
                <a:cs typeface="Sharif 1.2 Medium" panose="020B0000040000000000" pitchFamily="34" charset="-78"/>
              </a:rPr>
              <a:t> </a:t>
            </a:r>
            <a:r>
              <a:rPr lang="en-US" sz="2400" b="1" dirty="0" err="1">
                <a:solidFill>
                  <a:srgbClr val="0B7A75"/>
                </a:solidFill>
                <a:latin typeface="Sharif 1.2" panose="020B0000040000000000" pitchFamily="34" charset="-78"/>
                <a:ea typeface="Sharif 1.2" panose="020B0000040000000000" pitchFamily="34" charset="-78"/>
                <a:cs typeface="Sharif 1.2" panose="020B0000040000000000" pitchFamily="34" charset="-78"/>
              </a:rPr>
              <a:t>سیگنال</a:t>
            </a:r>
            <a:endParaRPr lang="en-US" sz="24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27" name="Text 24"/>
          <p:cNvSpPr/>
          <p:nvPr/>
        </p:nvSpPr>
        <p:spPr>
          <a:xfrm>
            <a:off x="2608312" y="2230375"/>
            <a:ext cx="303684" cy="393801"/>
          </a:xfrm>
          <a:prstGeom prst="rect">
            <a:avLst/>
          </a:prstGeom>
          <a:noFill/>
          <a:ln/>
        </p:spPr>
        <p:txBody>
          <a:bodyPr wrap="square" lIns="0" tIns="0" rIns="0" bIns="0" rtlCol="0" anchor="ctr">
            <a:noAutofit/>
          </a:bodyPr>
          <a:lstStyle/>
          <a:p>
            <a:pPr marL="0" indent="0" algn="ctr">
              <a:buNone/>
            </a:pPr>
            <a:r>
              <a:rPr lang="en-US" sz="2800" b="1" dirty="0">
                <a:solidFill>
                  <a:srgbClr val="64748B"/>
                </a:solidFill>
                <a:latin typeface="Sharif 1.2" panose="020B0000040000000000" pitchFamily="34" charset="-78"/>
                <a:ea typeface="Sharif 1.2" panose="020B0000040000000000" pitchFamily="34" charset="-78"/>
                <a:cs typeface="Sharif 1.2" panose="020B0000040000000000" pitchFamily="34" charset="-78"/>
              </a:rPr>
              <a:t>×</a:t>
            </a:r>
            <a:endParaRPr lang="en-US" sz="28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28" name="Text 25"/>
          <p:cNvSpPr/>
          <p:nvPr/>
        </p:nvSpPr>
        <p:spPr>
          <a:xfrm>
            <a:off x="1689072" y="2226565"/>
            <a:ext cx="908104" cy="466343"/>
          </a:xfrm>
          <a:prstGeom prst="rect">
            <a:avLst/>
          </a:prstGeom>
          <a:noFill/>
          <a:ln/>
        </p:spPr>
        <p:txBody>
          <a:bodyPr wrap="square" lIns="0" tIns="0" rIns="0" bIns="0" rtlCol="0" anchor="ctr">
            <a:noAutofit/>
          </a:bodyPr>
          <a:lstStyle/>
          <a:p>
            <a:pPr marL="0" indent="0" algn="ctr" rtl="1">
              <a:buNone/>
            </a:pPr>
            <a:r>
              <a:rPr lang="en-US" sz="2400" b="1" dirty="0">
                <a:solidFill>
                  <a:srgbClr val="2F855A"/>
                </a:solidFill>
                <a:latin typeface="Sharif 1.2 Medium" panose="020B0000040000000000" pitchFamily="34" charset="-78"/>
                <a:ea typeface="Sharif 1.2 Medium" panose="020B0000040000000000" pitchFamily="34" charset="-78"/>
                <a:cs typeface="Sharif 1.2 Medium" panose="020B0000040000000000" pitchFamily="34" charset="-78"/>
              </a:rPr>
              <a:t>۲۳</a:t>
            </a:r>
            <a:r>
              <a:rPr lang="fa-IR" sz="2400" b="1" dirty="0">
                <a:solidFill>
                  <a:srgbClr val="2F855A"/>
                </a:solidFill>
                <a:latin typeface="Sharif 1.2 Medium" panose="020B0000040000000000" pitchFamily="34" charset="-78"/>
                <a:ea typeface="Sharif 1.2 Medium" panose="020B0000040000000000" pitchFamily="34" charset="-78"/>
                <a:cs typeface="Sharif 1.2 Medium" panose="020B0000040000000000" pitchFamily="34" charset="-78"/>
              </a:rPr>
              <a:t> </a:t>
            </a:r>
            <a:r>
              <a:rPr lang="en-US" sz="2400" b="1" dirty="0">
                <a:solidFill>
                  <a:srgbClr val="2F855A"/>
                </a:solidFill>
                <a:latin typeface="Sharif 1.2 Medium" panose="020B0000040000000000" pitchFamily="34" charset="-78"/>
                <a:ea typeface="Sharif 1.2 Medium" panose="020B0000040000000000" pitchFamily="34" charset="-78"/>
                <a:cs typeface="Sharif 1.2 Medium" panose="020B0000040000000000" pitchFamily="34" charset="-78"/>
              </a:rPr>
              <a:t> </a:t>
            </a:r>
            <a:r>
              <a:rPr lang="en-US" sz="2400" b="1" dirty="0">
                <a:solidFill>
                  <a:srgbClr val="2F855A"/>
                </a:solidFill>
                <a:latin typeface="Sharif 1.2 SemiBold" panose="020B0000040000000000" pitchFamily="34" charset="-78"/>
                <a:ea typeface="Sharif 1.2 SemiBold" panose="020B0000040000000000" pitchFamily="34" charset="-78"/>
                <a:cs typeface="Sharif 1.2 SemiBold" panose="020B0000040000000000" pitchFamily="34" charset="-78"/>
              </a:rPr>
              <a:t>ویژگی</a:t>
            </a:r>
            <a:endParaRPr lang="en-US" sz="2400" b="1" dirty="0">
              <a:latin typeface="Sharif 1.2 Medium" panose="020B0000040000000000" pitchFamily="34" charset="-78"/>
              <a:ea typeface="Sharif 1.2 Medium" panose="020B0000040000000000" pitchFamily="34" charset="-78"/>
              <a:cs typeface="Sharif 1.2 Medium" panose="020B0000040000000000" pitchFamily="34" charset="-78"/>
            </a:endParaRPr>
          </a:p>
        </p:txBody>
      </p:sp>
      <p:sp>
        <p:nvSpPr>
          <p:cNvPr id="30" name="Text 27"/>
          <p:cNvSpPr/>
          <p:nvPr/>
        </p:nvSpPr>
        <p:spPr>
          <a:xfrm>
            <a:off x="2208972" y="2820924"/>
            <a:ext cx="2377440" cy="502920"/>
          </a:xfrm>
          <a:prstGeom prst="rect">
            <a:avLst/>
          </a:prstGeom>
          <a:noFill/>
          <a:ln/>
        </p:spPr>
        <p:txBody>
          <a:bodyPr wrap="square" lIns="0" tIns="0" rIns="0" bIns="0" rtlCol="0" anchor="ctr">
            <a:normAutofit/>
          </a:bodyPr>
          <a:lstStyle/>
          <a:p>
            <a:pPr marL="0" indent="0" algn="ctr" rtl="1">
              <a:buNone/>
            </a:pPr>
            <a:r>
              <a:rPr lang="en-US" sz="2000" b="1" dirty="0">
                <a:solidFill>
                  <a:srgbClr val="102A43"/>
                </a:solidFill>
                <a:latin typeface="Sharif 1.2 Medium" panose="020B0000040000000000" pitchFamily="34" charset="-78"/>
                <a:ea typeface="Sharif 1.2 Medium" panose="020B0000040000000000" pitchFamily="34" charset="-78"/>
                <a:cs typeface="Sharif 1.2 Medium" panose="020B0000040000000000" pitchFamily="34" charset="-78"/>
              </a:rPr>
              <a:t>۶۹۰</a:t>
            </a:r>
            <a:r>
              <a:rPr lang="fa-IR" sz="20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 </a:t>
            </a:r>
            <a:r>
              <a:rPr lang="en-US" sz="20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 ویژگی برای هر نمونه</a:t>
            </a:r>
            <a:endParaRPr lang="en-US" sz="20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31" name="Text 28"/>
          <p:cNvSpPr/>
          <p:nvPr/>
        </p:nvSpPr>
        <p:spPr>
          <a:xfrm>
            <a:off x="3560064" y="3694176"/>
            <a:ext cx="1572768" cy="228600"/>
          </a:xfrm>
          <a:prstGeom prst="rect">
            <a:avLst/>
          </a:prstGeom>
          <a:noFill/>
          <a:ln/>
        </p:spPr>
        <p:txBody>
          <a:bodyPr wrap="square" lIns="0" tIns="0" rIns="0" bIns="0" rtlCol="0" anchor="ctr">
            <a:normAutofit/>
          </a:bodyPr>
          <a:lstStyle/>
          <a:p>
            <a:pPr marL="0" indent="0" algn="r" rtl="1">
              <a:buNone/>
            </a:pPr>
            <a:r>
              <a:rPr lang="en-US" sz="1170"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مرکزی</a:t>
            </a:r>
            <a:endParaRPr lang="en-US" sz="11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2" name="Text 29"/>
          <p:cNvSpPr/>
          <p:nvPr/>
        </p:nvSpPr>
        <p:spPr>
          <a:xfrm>
            <a:off x="1045464" y="3694176"/>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میانگین، میانه</a:t>
            </a:r>
            <a:endParaRPr lang="en-US" sz="10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3" name="Text 30"/>
          <p:cNvSpPr/>
          <p:nvPr/>
        </p:nvSpPr>
        <p:spPr>
          <a:xfrm>
            <a:off x="3560064" y="4078224"/>
            <a:ext cx="1572768" cy="228600"/>
          </a:xfrm>
          <a:prstGeom prst="rect">
            <a:avLst/>
          </a:prstGeom>
          <a:noFill/>
          <a:ln/>
        </p:spPr>
        <p:txBody>
          <a:bodyPr wrap="square" lIns="0" tIns="0" rIns="0" bIns="0" rtlCol="0" anchor="ctr">
            <a:normAutofit/>
          </a:bodyPr>
          <a:lstStyle/>
          <a:p>
            <a:pPr marL="0" indent="0" algn="r" rtl="1">
              <a:buNone/>
            </a:pPr>
            <a:r>
              <a:rPr lang="en-US" sz="1170"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پراکندگی</a:t>
            </a:r>
            <a:endParaRPr lang="en-US" sz="11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4" name="Text 31"/>
          <p:cNvSpPr/>
          <p:nvPr/>
        </p:nvSpPr>
        <p:spPr>
          <a:xfrm>
            <a:off x="1045464" y="4078224"/>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انحراف معیار، IQR، دامنه</a:t>
            </a:r>
            <a:endParaRPr lang="en-US" sz="10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5" name="Text 32"/>
          <p:cNvSpPr/>
          <p:nvPr/>
        </p:nvSpPr>
        <p:spPr>
          <a:xfrm>
            <a:off x="3560064" y="4462272"/>
            <a:ext cx="1572768" cy="228600"/>
          </a:xfrm>
          <a:prstGeom prst="rect">
            <a:avLst/>
          </a:prstGeom>
          <a:noFill/>
          <a:ln/>
        </p:spPr>
        <p:txBody>
          <a:bodyPr wrap="square" lIns="0" tIns="0" rIns="0" bIns="0" rtlCol="0" anchor="ctr">
            <a:normAutofit/>
          </a:bodyPr>
          <a:lstStyle/>
          <a:p>
            <a:pPr marL="0" indent="0" algn="r" rtl="1">
              <a:buNone/>
            </a:pPr>
            <a:r>
              <a:rPr lang="en-US" sz="1170"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شدت</a:t>
            </a:r>
            <a:endParaRPr lang="en-US" sz="11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6" name="Text 33"/>
          <p:cNvSpPr/>
          <p:nvPr/>
        </p:nvSpPr>
        <p:spPr>
          <a:xfrm>
            <a:off x="1045464" y="4462272"/>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RMS، انرژی، قدر مطلق</a:t>
            </a:r>
            <a:endParaRPr lang="en-US" sz="10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7" name="Text 34"/>
          <p:cNvSpPr/>
          <p:nvPr/>
        </p:nvSpPr>
        <p:spPr>
          <a:xfrm>
            <a:off x="3560064" y="4846320"/>
            <a:ext cx="1572768" cy="228600"/>
          </a:xfrm>
          <a:prstGeom prst="rect">
            <a:avLst/>
          </a:prstGeom>
          <a:noFill/>
          <a:ln/>
        </p:spPr>
        <p:txBody>
          <a:bodyPr wrap="square" lIns="0" tIns="0" rIns="0" bIns="0" rtlCol="0" anchor="ctr">
            <a:normAutofit/>
          </a:bodyPr>
          <a:lstStyle/>
          <a:p>
            <a:pPr marL="0" indent="0" algn="r" rtl="1">
              <a:buNone/>
            </a:pPr>
            <a:r>
              <a:rPr lang="en-US" sz="1170"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شکل توزیع</a:t>
            </a:r>
            <a:endParaRPr lang="en-US" sz="11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8" name="Text 35"/>
          <p:cNvSpPr/>
          <p:nvPr/>
        </p:nvSpPr>
        <p:spPr>
          <a:xfrm>
            <a:off x="1045464" y="4846320"/>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چولگی، کشیدگی، آنتروپی</a:t>
            </a:r>
            <a:endParaRPr lang="en-US" sz="10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9" name="Text 36"/>
          <p:cNvSpPr/>
          <p:nvPr/>
        </p:nvSpPr>
        <p:spPr>
          <a:xfrm>
            <a:off x="3560064" y="5230368"/>
            <a:ext cx="1572768" cy="228600"/>
          </a:xfrm>
          <a:prstGeom prst="rect">
            <a:avLst/>
          </a:prstGeom>
          <a:noFill/>
          <a:ln/>
        </p:spPr>
        <p:txBody>
          <a:bodyPr wrap="square" lIns="0" tIns="0" rIns="0" bIns="0" rtlCol="0" anchor="ctr">
            <a:normAutofit/>
          </a:bodyPr>
          <a:lstStyle/>
          <a:p>
            <a:pPr marL="0" indent="0" algn="r" rtl="1">
              <a:buNone/>
            </a:pPr>
            <a:r>
              <a:rPr lang="en-US" sz="1170"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تغییرات زمانی</a:t>
            </a:r>
            <a:endParaRPr lang="en-US" sz="11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0" name="Text 37"/>
          <p:cNvSpPr/>
          <p:nvPr/>
        </p:nvSpPr>
        <p:spPr>
          <a:xfrm>
            <a:off x="1045464" y="5230368"/>
            <a:ext cx="2331720" cy="228600"/>
          </a:xfrm>
          <a:prstGeom prst="rect">
            <a:avLst/>
          </a:prstGeom>
          <a:noFill/>
          <a:ln/>
        </p:spPr>
        <p:txBody>
          <a:bodyPr wrap="square" lIns="0" tIns="0" rIns="0" bIns="0" rtlCol="0" anchor="ctr">
            <a:normAutofit/>
          </a:bodyPr>
          <a:lstStyle/>
          <a:p>
            <a:pPr marL="0" indent="0" algn="r" rtl="1">
              <a:buNone/>
            </a:pPr>
            <a:r>
              <a:rPr lang="en-US" sz="107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تفاضل‌ها، عبور از صفر، خودهمبستگی</a:t>
            </a:r>
            <a:endParaRPr lang="en-US" sz="10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1" name="Shape 38"/>
          <p:cNvSpPr/>
          <p:nvPr/>
        </p:nvSpPr>
        <p:spPr>
          <a:xfrm>
            <a:off x="658368" y="6473952"/>
            <a:ext cx="10881360" cy="0"/>
          </a:xfrm>
          <a:prstGeom prst="line">
            <a:avLst/>
          </a:prstGeom>
          <a:noFill/>
          <a:ln w="10160">
            <a:solidFill>
              <a:srgbClr val="E9EEF2"/>
            </a:solidFill>
            <a:prstDash val="solid"/>
          </a:ln>
        </p:spPr>
      </p:sp>
      <p:sp>
        <p:nvSpPr>
          <p:cNvPr id="42" name="Text 39"/>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3" name="Text 40"/>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روش</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پیاده‌سازی | ۷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4" name="Text 41"/>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۷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5" name="Shape 42"/>
          <p:cNvSpPr/>
          <p:nvPr/>
        </p:nvSpPr>
        <p:spPr>
          <a:xfrm>
            <a:off x="2560320" y="6766560"/>
            <a:ext cx="3291840" cy="41148"/>
          </a:xfrm>
          <a:prstGeom prst="rect">
            <a:avLst/>
          </a:prstGeom>
          <a:solidFill>
            <a:srgbClr val="0B6E99"/>
          </a:solidFill>
          <a:ln w="12700">
            <a:solidFill>
              <a:srgbClr val="0B6E99"/>
            </a:solidFill>
            <a:prstDash val="solid"/>
          </a:ln>
        </p:spPr>
      </p:sp>
      <p:sp>
        <p:nvSpPr>
          <p:cNvPr id="46" name="Shape 43"/>
          <p:cNvSpPr/>
          <p:nvPr/>
        </p:nvSpPr>
        <p:spPr>
          <a:xfrm>
            <a:off x="5852160" y="6766560"/>
            <a:ext cx="3291840" cy="41148"/>
          </a:xfrm>
          <a:prstGeom prst="rect">
            <a:avLst/>
          </a:prstGeom>
          <a:solidFill>
            <a:srgbClr val="E6EDF2"/>
          </a:solidFill>
          <a:ln w="12700">
            <a:solidFill>
              <a:srgbClr val="E6EDF2"/>
            </a:solidFill>
            <a:prstDash val="solid"/>
          </a:ln>
        </p:spPr>
      </p:sp>
      <p:sp>
        <p:nvSpPr>
          <p:cNvPr id="3" name="Shape 5">
            <a:extLst>
              <a:ext uri="{FF2B5EF4-FFF2-40B4-BE49-F238E27FC236}">
                <a16:creationId xmlns:a16="http://schemas.microsoft.com/office/drawing/2014/main" id="{514D5812-ED31-D51C-10E6-FC892C17F28D}"/>
              </a:ext>
            </a:extLst>
          </p:cNvPr>
          <p:cNvSpPr/>
          <p:nvPr/>
        </p:nvSpPr>
        <p:spPr>
          <a:xfrm>
            <a:off x="6007608" y="1472184"/>
            <a:ext cx="5532120" cy="4526280"/>
          </a:xfrm>
          <a:prstGeom prst="roundRect">
            <a:avLst>
              <a:gd name="adj" fmla="val 1616"/>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6" name="Shape 6">
            <a:extLst>
              <a:ext uri="{FF2B5EF4-FFF2-40B4-BE49-F238E27FC236}">
                <a16:creationId xmlns:a16="http://schemas.microsoft.com/office/drawing/2014/main" id="{1CC3E437-F442-329B-6D02-8CD80C4AB192}"/>
              </a:ext>
            </a:extLst>
          </p:cNvPr>
          <p:cNvSpPr/>
          <p:nvPr/>
        </p:nvSpPr>
        <p:spPr>
          <a:xfrm>
            <a:off x="9720072" y="1728216"/>
            <a:ext cx="1463040" cy="347472"/>
          </a:xfrm>
          <a:prstGeom prst="roundRect">
            <a:avLst>
              <a:gd name="adj" fmla="val 47368"/>
            </a:avLst>
          </a:prstGeom>
          <a:solidFill>
            <a:srgbClr val="E7F4F8"/>
          </a:solidFill>
          <a:ln w="12700">
            <a:solidFill>
              <a:srgbClr val="E7F4F8"/>
            </a:solidFill>
            <a:prstDash val="solid"/>
          </a:ln>
        </p:spPr>
      </p:sp>
      <p:sp>
        <p:nvSpPr>
          <p:cNvPr id="29" name="Text 7">
            <a:extLst>
              <a:ext uri="{FF2B5EF4-FFF2-40B4-BE49-F238E27FC236}">
                <a16:creationId xmlns:a16="http://schemas.microsoft.com/office/drawing/2014/main" id="{FD9DEA14-90F6-38AC-219D-4D2A92AAF882}"/>
              </a:ext>
            </a:extLst>
          </p:cNvPr>
          <p:cNvSpPr/>
          <p:nvPr/>
        </p:nvSpPr>
        <p:spPr>
          <a:xfrm>
            <a:off x="9829800" y="1746504"/>
            <a:ext cx="1243584" cy="310896"/>
          </a:xfrm>
          <a:prstGeom prst="rect">
            <a:avLst/>
          </a:prstGeom>
          <a:noFill/>
          <a:ln/>
        </p:spPr>
        <p:txBody>
          <a:bodyPr wrap="square" lIns="0" tIns="0" rIns="0" bIns="0" rtlCol="0" anchor="ctr">
            <a:normAutofit/>
          </a:bodyPr>
          <a:lstStyle/>
          <a:p>
            <a:pPr marL="0" indent="0" algn="ctr" rtl="1">
              <a:buNone/>
            </a:pPr>
            <a:r>
              <a:rPr lang="en-US" sz="1350"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پیش‌پردازش</a:t>
            </a:r>
            <a:endParaRPr lang="en-US" sz="13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pic>
        <p:nvPicPr>
          <p:cNvPr id="47" name="Image 0" descr="/mnt/data/dmd_assets/crops/signal_schematic.png">
            <a:extLst>
              <a:ext uri="{FF2B5EF4-FFF2-40B4-BE49-F238E27FC236}">
                <a16:creationId xmlns:a16="http://schemas.microsoft.com/office/drawing/2014/main" id="{36283F15-4747-A50F-69D6-7773EC5DB72D}"/>
              </a:ext>
            </a:extLst>
          </p:cNvPr>
          <p:cNvPicPr>
            <a:picLocks noChangeAspect="1"/>
          </p:cNvPicPr>
          <p:nvPr/>
        </p:nvPicPr>
        <p:blipFill>
          <a:blip r:embed="rId3"/>
          <a:stretch>
            <a:fillRect/>
          </a:stretch>
        </p:blipFill>
        <p:spPr>
          <a:xfrm>
            <a:off x="6421026" y="2121408"/>
            <a:ext cx="4513260" cy="1591056"/>
          </a:xfrm>
          <a:prstGeom prst="rect">
            <a:avLst/>
          </a:prstGeom>
        </p:spPr>
      </p:pic>
      <p:sp>
        <p:nvSpPr>
          <p:cNvPr id="48" name="Text 8">
            <a:extLst>
              <a:ext uri="{FF2B5EF4-FFF2-40B4-BE49-F238E27FC236}">
                <a16:creationId xmlns:a16="http://schemas.microsoft.com/office/drawing/2014/main" id="{A6C84733-257A-41D9-A88E-604B8F018DC5}"/>
              </a:ext>
            </a:extLst>
          </p:cNvPr>
          <p:cNvSpPr/>
          <p:nvPr/>
        </p:nvSpPr>
        <p:spPr>
          <a:xfrm>
            <a:off x="6391656" y="3867912"/>
            <a:ext cx="594360" cy="237744"/>
          </a:xfrm>
          <a:prstGeom prst="rect">
            <a:avLst/>
          </a:prstGeom>
          <a:noFill/>
          <a:ln/>
        </p:spPr>
        <p:txBody>
          <a:bodyPr wrap="square" lIns="0" tIns="0" rIns="0" bIns="0" rtlCol="0" anchor="ctr">
            <a:normAutofit/>
          </a:bodyPr>
          <a:lstStyle/>
          <a:p>
            <a:pPr marL="0" indent="0" algn="l" rtl="1">
              <a:buNone/>
            </a:pPr>
            <a:r>
              <a:rPr lang="en-US" sz="115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خام</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9" name="Shape 9">
            <a:extLst>
              <a:ext uri="{FF2B5EF4-FFF2-40B4-BE49-F238E27FC236}">
                <a16:creationId xmlns:a16="http://schemas.microsoft.com/office/drawing/2014/main" id="{6ED1FAAE-A947-0D8F-30F4-6563DF16DA8C}"/>
              </a:ext>
            </a:extLst>
          </p:cNvPr>
          <p:cNvSpPr/>
          <p:nvPr/>
        </p:nvSpPr>
        <p:spPr>
          <a:xfrm>
            <a:off x="6647926" y="3986784"/>
            <a:ext cx="475488" cy="0"/>
          </a:xfrm>
          <a:prstGeom prst="line">
            <a:avLst/>
          </a:prstGeom>
          <a:noFill/>
          <a:ln w="25400">
            <a:solidFill>
              <a:srgbClr val="94A3B8"/>
            </a:solidFill>
            <a:prstDash val="solid"/>
          </a:ln>
        </p:spPr>
      </p:sp>
      <p:sp>
        <p:nvSpPr>
          <p:cNvPr id="50" name="Text 10">
            <a:extLst>
              <a:ext uri="{FF2B5EF4-FFF2-40B4-BE49-F238E27FC236}">
                <a16:creationId xmlns:a16="http://schemas.microsoft.com/office/drawing/2014/main" id="{C7615866-4369-28D5-1EDE-701BFC0EFC12}"/>
              </a:ext>
            </a:extLst>
          </p:cNvPr>
          <p:cNvSpPr/>
          <p:nvPr/>
        </p:nvSpPr>
        <p:spPr>
          <a:xfrm>
            <a:off x="6184392" y="4166219"/>
            <a:ext cx="914400" cy="237744"/>
          </a:xfrm>
          <a:prstGeom prst="rect">
            <a:avLst/>
          </a:prstGeom>
          <a:noFill/>
          <a:ln/>
        </p:spPr>
        <p:txBody>
          <a:bodyPr wrap="square" lIns="0" tIns="0" rIns="0" bIns="0" rtlCol="0" anchor="ctr">
            <a:normAutofit/>
          </a:bodyPr>
          <a:lstStyle/>
          <a:p>
            <a:pPr marL="0" indent="0" algn="l" rtl="1">
              <a:buNone/>
            </a:pPr>
            <a:r>
              <a:rPr lang="en-US" sz="115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فیلترشده</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1" name="Shape 11">
            <a:extLst>
              <a:ext uri="{FF2B5EF4-FFF2-40B4-BE49-F238E27FC236}">
                <a16:creationId xmlns:a16="http://schemas.microsoft.com/office/drawing/2014/main" id="{376774CC-0F38-D98F-044F-CE538B94E9B3}"/>
              </a:ext>
            </a:extLst>
          </p:cNvPr>
          <p:cNvSpPr/>
          <p:nvPr/>
        </p:nvSpPr>
        <p:spPr>
          <a:xfrm>
            <a:off x="6647926" y="4285091"/>
            <a:ext cx="475488" cy="0"/>
          </a:xfrm>
          <a:prstGeom prst="line">
            <a:avLst/>
          </a:prstGeom>
          <a:noFill/>
          <a:ln w="25400">
            <a:solidFill>
              <a:srgbClr val="0B6E99"/>
            </a:solidFill>
            <a:prstDash val="solid"/>
          </a:ln>
        </p:spPr>
      </p:sp>
      <p:sp>
        <p:nvSpPr>
          <p:cNvPr id="52" name="Shape 12">
            <a:extLst>
              <a:ext uri="{FF2B5EF4-FFF2-40B4-BE49-F238E27FC236}">
                <a16:creationId xmlns:a16="http://schemas.microsoft.com/office/drawing/2014/main" id="{3A4FAD58-5DF9-EA7D-CE8C-8AA30A704073}"/>
              </a:ext>
            </a:extLst>
          </p:cNvPr>
          <p:cNvSpPr/>
          <p:nvPr/>
        </p:nvSpPr>
        <p:spPr>
          <a:xfrm>
            <a:off x="10954512" y="4507992"/>
            <a:ext cx="91440" cy="91440"/>
          </a:xfrm>
          <a:prstGeom prst="ellipse">
            <a:avLst/>
          </a:prstGeom>
          <a:solidFill>
            <a:srgbClr val="0B6E99"/>
          </a:solidFill>
          <a:ln w="12700">
            <a:solidFill>
              <a:srgbClr val="0B6E99"/>
            </a:solidFill>
            <a:prstDash val="solid"/>
          </a:ln>
        </p:spPr>
      </p:sp>
      <p:sp>
        <p:nvSpPr>
          <p:cNvPr id="53" name="Text 13">
            <a:extLst>
              <a:ext uri="{FF2B5EF4-FFF2-40B4-BE49-F238E27FC236}">
                <a16:creationId xmlns:a16="http://schemas.microsoft.com/office/drawing/2014/main" id="{D808DAE9-EA91-E81D-1426-87F99BF938F6}"/>
              </a:ext>
            </a:extLst>
          </p:cNvPr>
          <p:cNvSpPr/>
          <p:nvPr/>
        </p:nvSpPr>
        <p:spPr>
          <a:xfrm>
            <a:off x="6400800" y="4361688"/>
            <a:ext cx="4407408" cy="256032"/>
          </a:xfrm>
          <a:prstGeom prst="rect">
            <a:avLst/>
          </a:prstGeom>
          <a:noFill/>
          <a:ln/>
        </p:spPr>
        <p:txBody>
          <a:bodyPr wrap="square" lIns="0" tIns="0" rIns="0" bIns="0" rtlCol="0" anchor="ctr">
            <a:normAutofit/>
          </a:bodyPr>
          <a:lstStyle/>
          <a:p>
            <a:pPr marL="0" indent="0" algn="r" rtl="1">
              <a:buNone/>
            </a:pPr>
            <a:r>
              <a:rPr lang="en-US" sz="125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حذف خطای پیش‌مقدار ژیروسکوپ</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4" name="Shape 14">
            <a:extLst>
              <a:ext uri="{FF2B5EF4-FFF2-40B4-BE49-F238E27FC236}">
                <a16:creationId xmlns:a16="http://schemas.microsoft.com/office/drawing/2014/main" id="{0E28301A-544B-19B6-10D7-29AB14D512B1}"/>
              </a:ext>
            </a:extLst>
          </p:cNvPr>
          <p:cNvSpPr/>
          <p:nvPr/>
        </p:nvSpPr>
        <p:spPr>
          <a:xfrm>
            <a:off x="10954512" y="4892040"/>
            <a:ext cx="91440" cy="91440"/>
          </a:xfrm>
          <a:prstGeom prst="ellipse">
            <a:avLst/>
          </a:prstGeom>
          <a:solidFill>
            <a:srgbClr val="0B6E99"/>
          </a:solidFill>
          <a:ln w="12700">
            <a:solidFill>
              <a:srgbClr val="0B6E99"/>
            </a:solidFill>
            <a:prstDash val="solid"/>
          </a:ln>
        </p:spPr>
      </p:sp>
      <p:sp>
        <p:nvSpPr>
          <p:cNvPr id="55" name="Text 15">
            <a:extLst>
              <a:ext uri="{FF2B5EF4-FFF2-40B4-BE49-F238E27FC236}">
                <a16:creationId xmlns:a16="http://schemas.microsoft.com/office/drawing/2014/main" id="{0F2F7F48-BED8-6904-91CE-49D08BD5C07F}"/>
              </a:ext>
            </a:extLst>
          </p:cNvPr>
          <p:cNvSpPr/>
          <p:nvPr/>
        </p:nvSpPr>
        <p:spPr>
          <a:xfrm>
            <a:off x="6400800" y="4745736"/>
            <a:ext cx="4407408" cy="256032"/>
          </a:xfrm>
          <a:prstGeom prst="rect">
            <a:avLst/>
          </a:prstGeom>
          <a:noFill/>
          <a:ln/>
        </p:spPr>
        <p:txBody>
          <a:bodyPr wrap="square" lIns="0" tIns="0" rIns="0" bIns="0" rtlCol="0" anchor="ctr">
            <a:normAutofit/>
          </a:bodyPr>
          <a:lstStyle/>
          <a:p>
            <a:pPr marL="0" indent="0" algn="r" rtl="1">
              <a:buNone/>
            </a:pPr>
            <a:r>
              <a:rPr lang="en-US" sz="125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فیلتر پایین‌گذر باترورث مرتبه ۴، قطع ۴ هرتز</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6" name="Shape 16">
            <a:extLst>
              <a:ext uri="{FF2B5EF4-FFF2-40B4-BE49-F238E27FC236}">
                <a16:creationId xmlns:a16="http://schemas.microsoft.com/office/drawing/2014/main" id="{86850066-34B7-AA07-57D4-81AF4CE5CE90}"/>
              </a:ext>
            </a:extLst>
          </p:cNvPr>
          <p:cNvSpPr/>
          <p:nvPr/>
        </p:nvSpPr>
        <p:spPr>
          <a:xfrm>
            <a:off x="10954512" y="5276088"/>
            <a:ext cx="91440" cy="91440"/>
          </a:xfrm>
          <a:prstGeom prst="ellipse">
            <a:avLst/>
          </a:prstGeom>
          <a:solidFill>
            <a:srgbClr val="0B6E99"/>
          </a:solidFill>
          <a:ln w="12700">
            <a:solidFill>
              <a:srgbClr val="0B6E99"/>
            </a:solidFill>
            <a:prstDash val="solid"/>
          </a:ln>
        </p:spPr>
      </p:sp>
      <p:sp>
        <p:nvSpPr>
          <p:cNvPr id="57" name="Text 17">
            <a:extLst>
              <a:ext uri="{FF2B5EF4-FFF2-40B4-BE49-F238E27FC236}">
                <a16:creationId xmlns:a16="http://schemas.microsoft.com/office/drawing/2014/main" id="{998D7614-D37B-65C2-CE4E-EBD7F2B3BE3F}"/>
              </a:ext>
            </a:extLst>
          </p:cNvPr>
          <p:cNvSpPr/>
          <p:nvPr/>
        </p:nvSpPr>
        <p:spPr>
          <a:xfrm>
            <a:off x="6400800" y="5129784"/>
            <a:ext cx="4407408" cy="256032"/>
          </a:xfrm>
          <a:prstGeom prst="rect">
            <a:avLst/>
          </a:prstGeom>
          <a:noFill/>
          <a:ln/>
        </p:spPr>
        <p:txBody>
          <a:bodyPr wrap="square" lIns="0" tIns="0" rIns="0" bIns="0" rtlCol="0" anchor="ctr">
            <a:normAutofit/>
          </a:bodyPr>
          <a:lstStyle/>
          <a:p>
            <a:pPr marL="0" indent="0" algn="r" rtl="1">
              <a:buNone/>
            </a:pPr>
            <a:r>
              <a:rPr lang="en-US" sz="125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اعمال دوطرفه برای جلوگیری از تأخیر فازی</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مدل‌سازی بدون نشت اطلاعات</a:t>
            </a:r>
            <a:endParaRPr lang="en-US" sz="2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Shape 5"/>
          <p:cNvSpPr/>
          <p:nvPr/>
        </p:nvSpPr>
        <p:spPr>
          <a:xfrm>
            <a:off x="4407408" y="1577340"/>
            <a:ext cx="7132320" cy="4526280"/>
          </a:xfrm>
          <a:prstGeom prst="roundRect">
            <a:avLst>
              <a:gd name="adj" fmla="val 1616"/>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txBody>
          <a:bodyPr/>
          <a:lstStyle/>
          <a:p>
            <a:pPr marL="0" algn="r" defTabSz="914400" rtl="1" eaLnBrk="1" latinLnBrk="0" hangingPunct="1"/>
            <a:endParaRPr lang="en-US" dirty="0"/>
          </a:p>
        </p:txBody>
      </p:sp>
      <p:sp>
        <p:nvSpPr>
          <p:cNvPr id="8" name="Shape 6"/>
          <p:cNvSpPr/>
          <p:nvPr/>
        </p:nvSpPr>
        <p:spPr>
          <a:xfrm>
            <a:off x="9528048" y="1842516"/>
            <a:ext cx="1645920" cy="347472"/>
          </a:xfrm>
          <a:prstGeom prst="roundRect">
            <a:avLst>
              <a:gd name="adj" fmla="val 47368"/>
            </a:avLst>
          </a:prstGeom>
          <a:solidFill>
            <a:srgbClr val="E7F4F8"/>
          </a:solidFill>
          <a:ln w="12700">
            <a:solidFill>
              <a:srgbClr val="E7F4F8"/>
            </a:solidFill>
            <a:prstDash val="solid"/>
          </a:ln>
        </p:spPr>
      </p:sp>
      <p:sp>
        <p:nvSpPr>
          <p:cNvPr id="9" name="Text 7"/>
          <p:cNvSpPr/>
          <p:nvPr/>
        </p:nvSpPr>
        <p:spPr>
          <a:xfrm>
            <a:off x="9637776" y="1860804"/>
            <a:ext cx="1426464" cy="310896"/>
          </a:xfrm>
          <a:prstGeom prst="rect">
            <a:avLst/>
          </a:prstGeom>
          <a:noFill/>
          <a:ln/>
        </p:spPr>
        <p:txBody>
          <a:bodyPr wrap="square" lIns="0" tIns="0" rIns="0" bIns="0" rtlCol="0" anchor="ctr">
            <a:normAutofit/>
          </a:bodyPr>
          <a:lstStyle/>
          <a:p>
            <a:pPr marL="0" indent="0" algn="ctr" rtl="1">
              <a:buNone/>
            </a:pPr>
            <a:r>
              <a:rPr lang="en-US" sz="1320"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Pipeline پردازش</a:t>
            </a:r>
            <a:endParaRPr lang="en-US" sz="132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0" name="Shape 8"/>
          <p:cNvSpPr/>
          <p:nvPr/>
        </p:nvSpPr>
        <p:spPr>
          <a:xfrm>
            <a:off x="9802368" y="2500884"/>
            <a:ext cx="1389888" cy="1353312"/>
          </a:xfrm>
          <a:prstGeom prst="roundRect">
            <a:avLst>
              <a:gd name="adj" fmla="val 5405"/>
            </a:avLst>
          </a:prstGeom>
          <a:solidFill>
            <a:srgbClr val="F8FBFD"/>
          </a:solidFill>
          <a:ln w="17780">
            <a:solidFill>
              <a:srgbClr val="0B6E99"/>
            </a:solidFill>
            <a:prstDash val="solid"/>
          </a:ln>
        </p:spPr>
      </p:sp>
      <p:sp>
        <p:nvSpPr>
          <p:cNvPr id="11" name="Text 9"/>
          <p:cNvSpPr/>
          <p:nvPr/>
        </p:nvSpPr>
        <p:spPr>
          <a:xfrm>
            <a:off x="9875520" y="2692908"/>
            <a:ext cx="1243584" cy="310896"/>
          </a:xfrm>
          <a:prstGeom prst="rect">
            <a:avLst/>
          </a:prstGeom>
          <a:noFill/>
          <a:ln/>
        </p:spPr>
        <p:txBody>
          <a:bodyPr wrap="square" lIns="0" tIns="0" rIns="0" bIns="0" rtlCol="0" anchor="ctr">
            <a:normAutofit/>
          </a:bodyPr>
          <a:lstStyle/>
          <a:p>
            <a:pPr marL="0" indent="0" algn="ctr" rtl="1">
              <a:buNone/>
            </a:pPr>
            <a:r>
              <a:rPr lang="en-US" sz="1420"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تقسیم داده</a:t>
            </a:r>
            <a:endParaRPr lang="en-US" sz="142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2" name="Text 10"/>
          <p:cNvSpPr/>
          <p:nvPr/>
        </p:nvSpPr>
        <p:spPr>
          <a:xfrm>
            <a:off x="9893808" y="3159252"/>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آموزش / آزمون</a:t>
            </a:r>
            <a:endParaRPr lang="en-US" sz="10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4" name="Shape 12"/>
          <p:cNvSpPr/>
          <p:nvPr/>
        </p:nvSpPr>
        <p:spPr>
          <a:xfrm>
            <a:off x="8119872" y="2500884"/>
            <a:ext cx="1389888" cy="1353312"/>
          </a:xfrm>
          <a:prstGeom prst="roundRect">
            <a:avLst>
              <a:gd name="adj" fmla="val 5405"/>
            </a:avLst>
          </a:prstGeom>
          <a:solidFill>
            <a:srgbClr val="F8FBFD"/>
          </a:solidFill>
          <a:ln w="17780">
            <a:solidFill>
              <a:srgbClr val="0B7A75"/>
            </a:solidFill>
            <a:prstDash val="solid"/>
          </a:ln>
        </p:spPr>
      </p:sp>
      <p:sp>
        <p:nvSpPr>
          <p:cNvPr id="15" name="Text 13"/>
          <p:cNvSpPr/>
          <p:nvPr/>
        </p:nvSpPr>
        <p:spPr>
          <a:xfrm>
            <a:off x="8193024" y="2711196"/>
            <a:ext cx="1243584" cy="274320"/>
          </a:xfrm>
          <a:prstGeom prst="rect">
            <a:avLst/>
          </a:prstGeom>
          <a:noFill/>
          <a:ln/>
        </p:spPr>
        <p:txBody>
          <a:bodyPr wrap="square" lIns="0" tIns="0" rIns="0" bIns="0" rtlCol="0" anchor="ctr">
            <a:normAutofit/>
          </a:bodyPr>
          <a:lstStyle/>
          <a:p>
            <a:pPr marL="0" indent="0" algn="ctr">
              <a:buNone/>
            </a:pPr>
            <a:r>
              <a:rPr lang="en-US" sz="1450" b="1" dirty="0">
                <a:solidFill>
                  <a:srgbClr val="0B7A75"/>
                </a:solidFill>
                <a:latin typeface="Sharif 1.2 SemiBold" panose="020B0000040000000000" pitchFamily="34" charset="-78"/>
                <a:ea typeface="Sharif 1.2 SemiBold" panose="020B0000040000000000" pitchFamily="34" charset="-78"/>
                <a:cs typeface="Sharif 1.2 SemiBold" panose="020B0000040000000000" pitchFamily="34" charset="-78"/>
              </a:rPr>
              <a:t>StandardScaler</a:t>
            </a:r>
            <a:endParaRPr lang="en-US" sz="14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16" name="Text 14"/>
          <p:cNvSpPr/>
          <p:nvPr/>
        </p:nvSpPr>
        <p:spPr>
          <a:xfrm>
            <a:off x="8211312" y="3159252"/>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برازش فقط روی آموزش</a:t>
            </a:r>
            <a:endParaRPr lang="en-US" sz="10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8" name="Shape 16"/>
          <p:cNvSpPr/>
          <p:nvPr/>
        </p:nvSpPr>
        <p:spPr>
          <a:xfrm>
            <a:off x="6437376" y="2500884"/>
            <a:ext cx="1389888" cy="1353312"/>
          </a:xfrm>
          <a:prstGeom prst="roundRect">
            <a:avLst>
              <a:gd name="adj" fmla="val 5405"/>
            </a:avLst>
          </a:prstGeom>
          <a:solidFill>
            <a:srgbClr val="F8FBFD"/>
          </a:solidFill>
          <a:ln w="17780">
            <a:solidFill>
              <a:srgbClr val="6B5BA6"/>
            </a:solidFill>
            <a:prstDash val="solid"/>
          </a:ln>
        </p:spPr>
      </p:sp>
      <p:sp>
        <p:nvSpPr>
          <p:cNvPr id="19" name="Text 17"/>
          <p:cNvSpPr/>
          <p:nvPr/>
        </p:nvSpPr>
        <p:spPr>
          <a:xfrm>
            <a:off x="6510528" y="2711196"/>
            <a:ext cx="1243584" cy="274320"/>
          </a:xfrm>
          <a:prstGeom prst="rect">
            <a:avLst/>
          </a:prstGeom>
          <a:noFill/>
          <a:ln/>
        </p:spPr>
        <p:txBody>
          <a:bodyPr wrap="square" lIns="0" tIns="0" rIns="0" bIns="0" rtlCol="0" anchor="ctr">
            <a:normAutofit/>
          </a:bodyPr>
          <a:lstStyle/>
          <a:p>
            <a:pPr marL="0" indent="0" algn="ctr">
              <a:buNone/>
            </a:pPr>
            <a:r>
              <a:rPr lang="en-US" sz="1450" b="1" dirty="0">
                <a:solidFill>
                  <a:srgbClr val="6B5BA6"/>
                </a:solidFill>
                <a:latin typeface="Sharif 1.2 SemiBold" panose="020B0000040000000000" pitchFamily="34" charset="-78"/>
                <a:ea typeface="Sharif 1.2 SemiBold" panose="020B0000040000000000" pitchFamily="34" charset="-78"/>
                <a:cs typeface="Sharif 1.2 SemiBold" panose="020B0000040000000000" pitchFamily="34" charset="-78"/>
              </a:rPr>
              <a:t>PCA</a:t>
            </a:r>
            <a:endParaRPr lang="en-US" sz="14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0" name="Text 18"/>
          <p:cNvSpPr/>
          <p:nvPr/>
        </p:nvSpPr>
        <p:spPr>
          <a:xfrm>
            <a:off x="6528816" y="3159252"/>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کاهش ابعاد</a:t>
            </a:r>
            <a:endParaRPr lang="en-US" sz="10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2" name="Shape 20"/>
          <p:cNvSpPr/>
          <p:nvPr/>
        </p:nvSpPr>
        <p:spPr>
          <a:xfrm>
            <a:off x="4754880" y="2500884"/>
            <a:ext cx="1389888" cy="1353312"/>
          </a:xfrm>
          <a:prstGeom prst="roundRect">
            <a:avLst>
              <a:gd name="adj" fmla="val 5405"/>
            </a:avLst>
          </a:prstGeom>
          <a:solidFill>
            <a:srgbClr val="F8FBFD"/>
          </a:solidFill>
          <a:ln w="17780">
            <a:solidFill>
              <a:srgbClr val="2F855A"/>
            </a:solidFill>
            <a:prstDash val="solid"/>
          </a:ln>
        </p:spPr>
      </p:sp>
      <p:sp>
        <p:nvSpPr>
          <p:cNvPr id="23" name="Text 21"/>
          <p:cNvSpPr/>
          <p:nvPr/>
        </p:nvSpPr>
        <p:spPr>
          <a:xfrm>
            <a:off x="4828032" y="2692908"/>
            <a:ext cx="1243584" cy="310896"/>
          </a:xfrm>
          <a:prstGeom prst="rect">
            <a:avLst/>
          </a:prstGeom>
          <a:noFill/>
          <a:ln/>
        </p:spPr>
        <p:txBody>
          <a:bodyPr wrap="square" lIns="0" tIns="0" rIns="0" bIns="0" rtlCol="0" anchor="ctr">
            <a:normAutofit/>
          </a:bodyPr>
          <a:lstStyle/>
          <a:p>
            <a:pPr marL="0" indent="0" algn="ctr" rtl="1">
              <a:buNone/>
            </a:pPr>
            <a:r>
              <a:rPr lang="en-US" sz="1420" b="1" dirty="0">
                <a:solidFill>
                  <a:srgbClr val="2F855A"/>
                </a:solidFill>
                <a:latin typeface="Sharif 1.2 SemiBold" panose="020B0000040000000000" pitchFamily="34" charset="-78"/>
                <a:ea typeface="Sharif 1.2 SemiBold" panose="020B0000040000000000" pitchFamily="34" charset="-78"/>
                <a:cs typeface="Sharif 1.2 SemiBold" panose="020B0000040000000000" pitchFamily="34" charset="-78"/>
              </a:rPr>
              <a:t>طبقه‌بند</a:t>
            </a:r>
            <a:endParaRPr lang="en-US" sz="142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4" name="Text 22"/>
          <p:cNvSpPr/>
          <p:nvPr/>
        </p:nvSpPr>
        <p:spPr>
          <a:xfrm>
            <a:off x="4846320" y="3159252"/>
            <a:ext cx="1207008" cy="384048"/>
          </a:xfrm>
          <a:prstGeom prst="rect">
            <a:avLst/>
          </a:prstGeom>
          <a:noFill/>
          <a:ln/>
        </p:spPr>
        <p:txBody>
          <a:bodyPr wrap="square" lIns="0" tIns="0" rIns="0" bIns="0" rtlCol="0" anchor="t">
            <a:normAutofit/>
          </a:bodyPr>
          <a:lstStyle/>
          <a:p>
            <a:pPr marL="0" indent="0" algn="ctr" rtl="1">
              <a:buNone/>
            </a:pPr>
            <a:r>
              <a:rPr lang="en-US" sz="10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پیش‌بینی سطح عملکرد</a:t>
            </a:r>
            <a:endParaRPr lang="en-US" sz="10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5" name="Shape 23"/>
          <p:cNvSpPr/>
          <p:nvPr/>
        </p:nvSpPr>
        <p:spPr>
          <a:xfrm>
            <a:off x="4773168" y="4320540"/>
            <a:ext cx="6355080" cy="1124712"/>
          </a:xfrm>
          <a:prstGeom prst="roundRect">
            <a:avLst>
              <a:gd name="adj" fmla="val 8130"/>
            </a:avLst>
          </a:prstGeom>
          <a:solidFill>
            <a:srgbClr val="EEF4F8"/>
          </a:solidFill>
          <a:ln w="12700">
            <a:solidFill>
              <a:srgbClr val="D9E2EC"/>
            </a:solidFill>
            <a:prstDash val="solid"/>
          </a:ln>
        </p:spPr>
      </p:sp>
      <p:sp>
        <p:nvSpPr>
          <p:cNvPr id="26" name="Text 24"/>
          <p:cNvSpPr/>
          <p:nvPr/>
        </p:nvSpPr>
        <p:spPr>
          <a:xfrm>
            <a:off x="9592056" y="4503420"/>
            <a:ext cx="1234440" cy="237744"/>
          </a:xfrm>
          <a:prstGeom prst="rect">
            <a:avLst/>
          </a:prstGeom>
          <a:noFill/>
          <a:ln/>
        </p:spPr>
        <p:txBody>
          <a:bodyPr wrap="square" lIns="0" tIns="0" rIns="0" bIns="0" rtlCol="0" anchor="ctr">
            <a:normAutofit/>
          </a:bodyPr>
          <a:lstStyle/>
          <a:p>
            <a:pPr marL="0" indent="0" algn="r" rtl="1">
              <a:buNone/>
            </a:pPr>
            <a:r>
              <a:rPr lang="en-US" sz="1250"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اصل روش‌شناختی</a:t>
            </a:r>
            <a:endParaRPr lang="en-US" sz="12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27" name="Text 25"/>
          <p:cNvSpPr/>
          <p:nvPr/>
        </p:nvSpPr>
        <p:spPr>
          <a:xfrm>
            <a:off x="5047488" y="4777740"/>
            <a:ext cx="5623560" cy="429768"/>
          </a:xfrm>
          <a:prstGeom prst="rect">
            <a:avLst/>
          </a:prstGeom>
          <a:noFill/>
          <a:ln/>
        </p:spPr>
        <p:txBody>
          <a:bodyPr wrap="square" lIns="0" tIns="0" rIns="0" bIns="0" rtlCol="0" anchor="ctr">
            <a:normAutofit/>
          </a:bodyPr>
          <a:lstStyle/>
          <a:p>
            <a:pPr marL="0" indent="0" algn="ctr" rtl="1">
              <a:buNone/>
            </a:pPr>
            <a:r>
              <a:rPr lang="en-US" sz="1320"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استانداردسازی و PCA در هر تکرار فقط روی داده‌های آموزش برازش شدند؛ سپس همان تبدیل‌ها روی داده آزمون اعمال شد.</a:t>
            </a:r>
            <a:endParaRPr lang="en-US" sz="13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3" name="Shape 41"/>
          <p:cNvSpPr/>
          <p:nvPr/>
        </p:nvSpPr>
        <p:spPr>
          <a:xfrm>
            <a:off x="658368" y="6473952"/>
            <a:ext cx="10881360" cy="0"/>
          </a:xfrm>
          <a:prstGeom prst="line">
            <a:avLst/>
          </a:prstGeom>
          <a:noFill/>
          <a:ln w="10160">
            <a:solidFill>
              <a:srgbClr val="E9EEF2"/>
            </a:solidFill>
            <a:prstDash val="solid"/>
          </a:ln>
        </p:spPr>
      </p:sp>
      <p:sp>
        <p:nvSpPr>
          <p:cNvPr id="44" name="Text 42"/>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5" name="Text 43"/>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روش</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پیاده‌سازی | ۶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6" name="Text 44"/>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۸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7" name="Shape 45"/>
          <p:cNvSpPr/>
          <p:nvPr/>
        </p:nvSpPr>
        <p:spPr>
          <a:xfrm>
            <a:off x="2560320" y="6766560"/>
            <a:ext cx="3762103" cy="41148"/>
          </a:xfrm>
          <a:prstGeom prst="rect">
            <a:avLst/>
          </a:prstGeom>
          <a:solidFill>
            <a:srgbClr val="0B6E99"/>
          </a:solidFill>
          <a:ln w="12700">
            <a:solidFill>
              <a:srgbClr val="0B6E99"/>
            </a:solidFill>
            <a:prstDash val="solid"/>
          </a:ln>
        </p:spPr>
      </p:sp>
      <p:sp>
        <p:nvSpPr>
          <p:cNvPr id="48" name="Shape 46"/>
          <p:cNvSpPr/>
          <p:nvPr/>
        </p:nvSpPr>
        <p:spPr>
          <a:xfrm>
            <a:off x="6322423" y="6766560"/>
            <a:ext cx="2821577" cy="41148"/>
          </a:xfrm>
          <a:prstGeom prst="rect">
            <a:avLst/>
          </a:prstGeom>
          <a:solidFill>
            <a:srgbClr val="E6EDF2"/>
          </a:solidFill>
          <a:ln w="12700">
            <a:solidFill>
              <a:srgbClr val="E6EDF2"/>
            </a:solidFill>
            <a:prstDash val="solid"/>
          </a:ln>
        </p:spPr>
      </p:sp>
      <p:sp>
        <p:nvSpPr>
          <p:cNvPr id="3" name="Shape 26">
            <a:extLst>
              <a:ext uri="{FF2B5EF4-FFF2-40B4-BE49-F238E27FC236}">
                <a16:creationId xmlns:a16="http://schemas.microsoft.com/office/drawing/2014/main" id="{5EE71294-08B8-D0C9-896D-B3D7AA002080}"/>
              </a:ext>
            </a:extLst>
          </p:cNvPr>
          <p:cNvSpPr/>
          <p:nvPr/>
        </p:nvSpPr>
        <p:spPr>
          <a:xfrm>
            <a:off x="708660" y="1577340"/>
            <a:ext cx="3456432" cy="4526280"/>
          </a:xfrm>
          <a:prstGeom prst="roundRect">
            <a:avLst>
              <a:gd name="adj" fmla="val 2116"/>
            </a:avLst>
          </a:prstGeom>
          <a:solidFill>
            <a:srgbClr val="F4F8FB"/>
          </a:solidFill>
          <a:ln w="12700">
            <a:solidFill>
              <a:srgbClr val="D9E2EC"/>
            </a:solidFill>
            <a:prstDash val="solid"/>
          </a:ln>
          <a:effectLst>
            <a:outerShdw blurRad="12700" dist="50800" dir="2700000" algn="bl" rotWithShape="0">
              <a:srgbClr val="B0BEC5">
                <a:alpha val="12000"/>
              </a:srgbClr>
            </a:outerShdw>
          </a:effectLst>
        </p:spPr>
      </p:sp>
      <p:sp>
        <p:nvSpPr>
          <p:cNvPr id="6" name="Shape 27">
            <a:extLst>
              <a:ext uri="{FF2B5EF4-FFF2-40B4-BE49-F238E27FC236}">
                <a16:creationId xmlns:a16="http://schemas.microsoft.com/office/drawing/2014/main" id="{B34EFCB8-EE1C-7F92-96FE-90AFF393E61D}"/>
              </a:ext>
            </a:extLst>
          </p:cNvPr>
          <p:cNvSpPr/>
          <p:nvPr/>
        </p:nvSpPr>
        <p:spPr>
          <a:xfrm>
            <a:off x="2318004" y="1842516"/>
            <a:ext cx="1481328" cy="347472"/>
          </a:xfrm>
          <a:prstGeom prst="roundRect">
            <a:avLst>
              <a:gd name="adj" fmla="val 47368"/>
            </a:avLst>
          </a:prstGeom>
          <a:solidFill>
            <a:srgbClr val="E8F5EE"/>
          </a:solidFill>
          <a:ln w="12700">
            <a:solidFill>
              <a:srgbClr val="E8F5EE"/>
            </a:solidFill>
            <a:prstDash val="solid"/>
          </a:ln>
        </p:spPr>
      </p:sp>
      <p:sp>
        <p:nvSpPr>
          <p:cNvPr id="49" name="Text 28">
            <a:extLst>
              <a:ext uri="{FF2B5EF4-FFF2-40B4-BE49-F238E27FC236}">
                <a16:creationId xmlns:a16="http://schemas.microsoft.com/office/drawing/2014/main" id="{2E753A1B-EBBB-017A-DC9A-4D954ADCD505}"/>
              </a:ext>
            </a:extLst>
          </p:cNvPr>
          <p:cNvSpPr/>
          <p:nvPr/>
        </p:nvSpPr>
        <p:spPr>
          <a:xfrm>
            <a:off x="2427732" y="1860804"/>
            <a:ext cx="1261872" cy="310896"/>
          </a:xfrm>
          <a:prstGeom prst="rect">
            <a:avLst/>
          </a:prstGeom>
          <a:noFill/>
          <a:ln/>
        </p:spPr>
        <p:txBody>
          <a:bodyPr wrap="square" lIns="0" tIns="0" rIns="0" bIns="0" rtlCol="0" anchor="ctr">
            <a:normAutofit/>
          </a:bodyPr>
          <a:lstStyle/>
          <a:p>
            <a:pPr marL="0" indent="0" algn="ctr" rtl="1">
              <a:buNone/>
            </a:pPr>
            <a:r>
              <a:rPr lang="en-US" sz="1300" b="1" dirty="0">
                <a:solidFill>
                  <a:srgbClr val="2F855A"/>
                </a:solidFill>
                <a:latin typeface="Sharif 1.2 SemiBold" panose="020B0000040000000000" pitchFamily="34" charset="-78"/>
                <a:ea typeface="Sharif 1.2 SemiBold" panose="020B0000040000000000" pitchFamily="34" charset="-78"/>
                <a:cs typeface="Sharif 1.2 SemiBold" panose="020B0000040000000000" pitchFamily="34" charset="-78"/>
              </a:rPr>
              <a:t>مدل‌ها و ارزیابی</a:t>
            </a:r>
            <a:endParaRPr lang="en-US" sz="13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50" name="Shape 29">
            <a:extLst>
              <a:ext uri="{FF2B5EF4-FFF2-40B4-BE49-F238E27FC236}">
                <a16:creationId xmlns:a16="http://schemas.microsoft.com/office/drawing/2014/main" id="{57109633-371B-185E-F27D-96CB3303BC74}"/>
              </a:ext>
            </a:extLst>
          </p:cNvPr>
          <p:cNvSpPr/>
          <p:nvPr/>
        </p:nvSpPr>
        <p:spPr>
          <a:xfrm>
            <a:off x="1010412" y="2500884"/>
            <a:ext cx="2834640" cy="548640"/>
          </a:xfrm>
          <a:prstGeom prst="roundRect">
            <a:avLst>
              <a:gd name="adj" fmla="val 13333"/>
            </a:avLst>
          </a:prstGeom>
          <a:solidFill>
            <a:srgbClr val="FFFFFF"/>
          </a:solidFill>
          <a:ln w="19050">
            <a:solidFill>
              <a:srgbClr val="0B6E99"/>
            </a:solidFill>
            <a:prstDash val="solid"/>
          </a:ln>
        </p:spPr>
      </p:sp>
      <p:sp>
        <p:nvSpPr>
          <p:cNvPr id="51" name="Text 30">
            <a:extLst>
              <a:ext uri="{FF2B5EF4-FFF2-40B4-BE49-F238E27FC236}">
                <a16:creationId xmlns:a16="http://schemas.microsoft.com/office/drawing/2014/main" id="{075F439D-6ECC-6D32-FC06-451C0B32E496}"/>
              </a:ext>
            </a:extLst>
          </p:cNvPr>
          <p:cNvSpPr/>
          <p:nvPr/>
        </p:nvSpPr>
        <p:spPr>
          <a:xfrm>
            <a:off x="1092708" y="2592324"/>
            <a:ext cx="1078992" cy="237744"/>
          </a:xfrm>
          <a:prstGeom prst="rect">
            <a:avLst/>
          </a:prstGeom>
          <a:noFill/>
          <a:ln/>
        </p:spPr>
        <p:txBody>
          <a:bodyPr wrap="square" lIns="0" tIns="0" rIns="0" bIns="0" rtlCol="0" anchor="ctr">
            <a:normAutofit/>
          </a:bodyPr>
          <a:lstStyle/>
          <a:p>
            <a:pPr marL="0" indent="0" algn="l">
              <a:buNone/>
            </a:pPr>
            <a:r>
              <a:rPr lang="en-US" sz="1350" b="1" dirty="0">
                <a:solidFill>
                  <a:srgbClr val="0B6E99"/>
                </a:solidFill>
                <a:latin typeface="Sharif 1.2 SemiBold" panose="020B0000040000000000" pitchFamily="34" charset="-78"/>
                <a:ea typeface="Sharif 1.2 SemiBold" panose="020B0000040000000000" pitchFamily="34" charset="-78"/>
                <a:cs typeface="Sharif 1.2 SemiBold" panose="020B0000040000000000" pitchFamily="34" charset="-78"/>
              </a:rPr>
              <a:t>SVM</a:t>
            </a:r>
            <a:endParaRPr lang="en-US" sz="13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52" name="Text 31">
            <a:extLst>
              <a:ext uri="{FF2B5EF4-FFF2-40B4-BE49-F238E27FC236}">
                <a16:creationId xmlns:a16="http://schemas.microsoft.com/office/drawing/2014/main" id="{11CC47CA-7ECC-54EA-9093-42FE6A9181D4}"/>
              </a:ext>
            </a:extLst>
          </p:cNvPr>
          <p:cNvSpPr/>
          <p:nvPr/>
        </p:nvSpPr>
        <p:spPr>
          <a:xfrm>
            <a:off x="2354580" y="2592324"/>
            <a:ext cx="1188720" cy="256032"/>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هسته RBF</a:t>
            </a:r>
            <a:endParaRPr lang="en-US" sz="11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3" name="Shape 32">
            <a:extLst>
              <a:ext uri="{FF2B5EF4-FFF2-40B4-BE49-F238E27FC236}">
                <a16:creationId xmlns:a16="http://schemas.microsoft.com/office/drawing/2014/main" id="{9CFB8F9D-4F8B-E79F-0345-3A3C0ECA8EC7}"/>
              </a:ext>
            </a:extLst>
          </p:cNvPr>
          <p:cNvSpPr/>
          <p:nvPr/>
        </p:nvSpPr>
        <p:spPr>
          <a:xfrm>
            <a:off x="1010412" y="3214116"/>
            <a:ext cx="2834640" cy="548640"/>
          </a:xfrm>
          <a:prstGeom prst="roundRect">
            <a:avLst>
              <a:gd name="adj" fmla="val 13333"/>
            </a:avLst>
          </a:prstGeom>
          <a:solidFill>
            <a:srgbClr val="FFFFFF"/>
          </a:solidFill>
          <a:ln w="12700">
            <a:solidFill>
              <a:srgbClr val="D9E2EC"/>
            </a:solidFill>
            <a:prstDash val="solid"/>
          </a:ln>
        </p:spPr>
      </p:sp>
      <p:sp>
        <p:nvSpPr>
          <p:cNvPr id="54" name="Text 33">
            <a:extLst>
              <a:ext uri="{FF2B5EF4-FFF2-40B4-BE49-F238E27FC236}">
                <a16:creationId xmlns:a16="http://schemas.microsoft.com/office/drawing/2014/main" id="{59227414-75AF-ABE9-EB5C-D8B014427696}"/>
              </a:ext>
            </a:extLst>
          </p:cNvPr>
          <p:cNvSpPr/>
          <p:nvPr/>
        </p:nvSpPr>
        <p:spPr>
          <a:xfrm>
            <a:off x="1092708" y="3305556"/>
            <a:ext cx="1078992" cy="237744"/>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KNN</a:t>
            </a:r>
            <a:endParaRPr lang="en-US" sz="13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55" name="Text 34">
            <a:extLst>
              <a:ext uri="{FF2B5EF4-FFF2-40B4-BE49-F238E27FC236}">
                <a16:creationId xmlns:a16="http://schemas.microsoft.com/office/drawing/2014/main" id="{6CE9AA53-9DA1-275E-68AA-F5C016F8EB40}"/>
              </a:ext>
            </a:extLst>
          </p:cNvPr>
          <p:cNvSpPr/>
          <p:nvPr/>
        </p:nvSpPr>
        <p:spPr>
          <a:xfrm>
            <a:off x="2354580" y="3305556"/>
            <a:ext cx="1188720" cy="256032"/>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پنج همسایه</a:t>
            </a:r>
            <a:endParaRPr lang="en-US" sz="11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6" name="Shape 35">
            <a:extLst>
              <a:ext uri="{FF2B5EF4-FFF2-40B4-BE49-F238E27FC236}">
                <a16:creationId xmlns:a16="http://schemas.microsoft.com/office/drawing/2014/main" id="{325E214A-CB5D-B130-5FEF-B037A6C733A0}"/>
              </a:ext>
            </a:extLst>
          </p:cNvPr>
          <p:cNvSpPr/>
          <p:nvPr/>
        </p:nvSpPr>
        <p:spPr>
          <a:xfrm>
            <a:off x="1010412" y="3927348"/>
            <a:ext cx="2834640" cy="548640"/>
          </a:xfrm>
          <a:prstGeom prst="roundRect">
            <a:avLst>
              <a:gd name="adj" fmla="val 13333"/>
            </a:avLst>
          </a:prstGeom>
          <a:solidFill>
            <a:srgbClr val="FFFFFF"/>
          </a:solidFill>
          <a:ln w="12700">
            <a:solidFill>
              <a:srgbClr val="D9E2EC"/>
            </a:solidFill>
            <a:prstDash val="solid"/>
          </a:ln>
        </p:spPr>
      </p:sp>
      <p:sp>
        <p:nvSpPr>
          <p:cNvPr id="57" name="Text 36">
            <a:extLst>
              <a:ext uri="{FF2B5EF4-FFF2-40B4-BE49-F238E27FC236}">
                <a16:creationId xmlns:a16="http://schemas.microsoft.com/office/drawing/2014/main" id="{9ABB8436-24C7-FEFB-9D3D-D9B59DBBC4ED}"/>
              </a:ext>
            </a:extLst>
          </p:cNvPr>
          <p:cNvSpPr/>
          <p:nvPr/>
        </p:nvSpPr>
        <p:spPr>
          <a:xfrm>
            <a:off x="1092708" y="4018788"/>
            <a:ext cx="1078992" cy="237744"/>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Random Forest</a:t>
            </a:r>
            <a:endParaRPr lang="en-US" sz="135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58" name="Text 37">
            <a:extLst>
              <a:ext uri="{FF2B5EF4-FFF2-40B4-BE49-F238E27FC236}">
                <a16:creationId xmlns:a16="http://schemas.microsoft.com/office/drawing/2014/main" id="{4A7CB9D1-9730-7CB3-60B5-A02EE00D0368}"/>
              </a:ext>
            </a:extLst>
          </p:cNvPr>
          <p:cNvSpPr/>
          <p:nvPr/>
        </p:nvSpPr>
        <p:spPr>
          <a:xfrm>
            <a:off x="2354580" y="4018788"/>
            <a:ext cx="1188720" cy="256032"/>
          </a:xfrm>
          <a:prstGeom prst="rect">
            <a:avLst/>
          </a:prstGeom>
          <a:noFill/>
          <a:ln/>
        </p:spPr>
        <p:txBody>
          <a:bodyPr wrap="square" lIns="0" tIns="0" rIns="0" bIns="0" rtlCol="0" anchor="ctr">
            <a:normAutofit/>
          </a:bodyPr>
          <a:lstStyle/>
          <a:p>
            <a:pPr marL="0" indent="0" algn="r" rtl="1">
              <a:buNone/>
            </a:pPr>
            <a:r>
              <a:rPr lang="en-US" sz="112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۵۰۰ درخت</a:t>
            </a:r>
            <a:endParaRPr lang="en-US" sz="11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9" name="Text 38">
            <a:extLst>
              <a:ext uri="{FF2B5EF4-FFF2-40B4-BE49-F238E27FC236}">
                <a16:creationId xmlns:a16="http://schemas.microsoft.com/office/drawing/2014/main" id="{1696C684-64DB-8F8C-EACF-4AE2BD969E3C}"/>
              </a:ext>
            </a:extLst>
          </p:cNvPr>
          <p:cNvSpPr/>
          <p:nvPr/>
        </p:nvSpPr>
        <p:spPr>
          <a:xfrm>
            <a:off x="1001268" y="4722876"/>
            <a:ext cx="2816352" cy="274320"/>
          </a:xfrm>
          <a:prstGeom prst="rect">
            <a:avLst/>
          </a:prstGeom>
          <a:noFill/>
          <a:ln/>
        </p:spPr>
        <p:txBody>
          <a:bodyPr wrap="square" lIns="0" tIns="0" rIns="0" bIns="0" rtlCol="0" anchor="ctr">
            <a:normAutofit/>
          </a:bodyPr>
          <a:lstStyle/>
          <a:p>
            <a:pPr marL="0" indent="0" algn="ctr" rtl="1">
              <a:buNone/>
            </a:pPr>
            <a:r>
              <a:rPr lang="en-US" sz="13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اعتبارسنجی متقاطع طبقه‌بندی‌شده</a:t>
            </a:r>
            <a:endParaRPr lang="en-US" sz="13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60" name="Text 39">
            <a:extLst>
              <a:ext uri="{FF2B5EF4-FFF2-40B4-BE49-F238E27FC236}">
                <a16:creationId xmlns:a16="http://schemas.microsoft.com/office/drawing/2014/main" id="{BE9E4873-6D47-667B-A08A-5DD77AA2019D}"/>
              </a:ext>
            </a:extLst>
          </p:cNvPr>
          <p:cNvSpPr/>
          <p:nvPr/>
        </p:nvSpPr>
        <p:spPr>
          <a:xfrm>
            <a:off x="1001268" y="5024628"/>
            <a:ext cx="2816352" cy="256032"/>
          </a:xfrm>
          <a:prstGeom prst="rect">
            <a:avLst/>
          </a:prstGeom>
          <a:noFill/>
          <a:ln/>
        </p:spPr>
        <p:txBody>
          <a:bodyPr wrap="square" lIns="0" tIns="0" rIns="0" bIns="0" rtlCol="0" anchor="ctr">
            <a:normAutofit/>
          </a:bodyPr>
          <a:lstStyle/>
          <a:p>
            <a:pPr marL="0" indent="0" algn="ctr" rtl="1">
              <a:buNone/>
            </a:pPr>
            <a:r>
              <a:rPr lang="en-US" sz="152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۵ بخش × ۵ تکرار</a:t>
            </a:r>
            <a:endParaRPr lang="en-US" sz="15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61" name="Text 40">
            <a:extLst>
              <a:ext uri="{FF2B5EF4-FFF2-40B4-BE49-F238E27FC236}">
                <a16:creationId xmlns:a16="http://schemas.microsoft.com/office/drawing/2014/main" id="{54BD06BB-761B-16B0-B492-97E8A1FE1F71}"/>
              </a:ext>
            </a:extLst>
          </p:cNvPr>
          <p:cNvSpPr/>
          <p:nvPr/>
        </p:nvSpPr>
        <p:spPr>
          <a:xfrm>
            <a:off x="946404" y="5436108"/>
            <a:ext cx="2926080" cy="274320"/>
          </a:xfrm>
          <a:prstGeom prst="rect">
            <a:avLst/>
          </a:prstGeom>
          <a:noFill/>
          <a:ln/>
        </p:spPr>
        <p:txBody>
          <a:bodyPr wrap="square" lIns="0" tIns="0" rIns="0" bIns="0" rtlCol="0" anchor="ctr">
            <a:normAutofit/>
          </a:bodyPr>
          <a:lstStyle/>
          <a:p>
            <a:pPr marL="0" indent="0" algn="ctr">
              <a:buNone/>
            </a:pPr>
            <a:r>
              <a:rPr lang="en-US" sz="105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Accuracy • Precision • Recall • Specificity • F1</a:t>
            </a:r>
            <a:endParaRPr lang="en-US" sz="1050" dirty="0">
              <a:latin typeface="Sharif 1.2 Thin" panose="020B0000040000000000" pitchFamily="34" charset="-78"/>
              <a:ea typeface="Sharif 1.2 Thin" panose="020B0000040000000000" pitchFamily="34" charset="-78"/>
              <a:cs typeface="Sharif 1.2 Thin" panose="020B0000040000000000" pitchFamily="34" charset="-78"/>
            </a:endParaRP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SemiBold" panose="020B0000040000000000" pitchFamily="34" charset="-78"/>
                <a:ea typeface="Sharif 1.2 SemiBold" panose="020B0000040000000000" pitchFamily="34" charset="-78"/>
                <a:cs typeface="Sharif 1.2 SemiBold" panose="020B0000040000000000" pitchFamily="34" charset="-78"/>
              </a:rPr>
              <a:t>مطالعه موردی: نتیجه فعالیت ایستادن</a:t>
            </a:r>
            <a:endParaRPr lang="en-US" sz="2700" b="1" dirty="0">
              <a:latin typeface="Sharif 1.2 SemiBold" panose="020B0000040000000000" pitchFamily="34" charset="-78"/>
              <a:ea typeface="Sharif 1.2 SemiBold" panose="020B0000040000000000" pitchFamily="34" charset="-78"/>
              <a:cs typeface="Sharif 1.2 SemiBold"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grpSp>
        <p:nvGrpSpPr>
          <p:cNvPr id="6" name="Group 5">
            <a:extLst>
              <a:ext uri="{FF2B5EF4-FFF2-40B4-BE49-F238E27FC236}">
                <a16:creationId xmlns:a16="http://schemas.microsoft.com/office/drawing/2014/main" id="{2FDFF026-79CC-2099-0C93-6CFF56CA4D35}"/>
              </a:ext>
            </a:extLst>
          </p:cNvPr>
          <p:cNvGrpSpPr/>
          <p:nvPr/>
        </p:nvGrpSpPr>
        <p:grpSpPr>
          <a:xfrm>
            <a:off x="658368" y="1481328"/>
            <a:ext cx="3794760" cy="4526280"/>
            <a:chOff x="658368" y="1481328"/>
            <a:chExt cx="3794760" cy="4526280"/>
          </a:xfrm>
        </p:grpSpPr>
        <p:sp>
          <p:nvSpPr>
            <p:cNvPr id="7" name="Shape 5"/>
            <p:cNvSpPr/>
            <p:nvPr/>
          </p:nvSpPr>
          <p:spPr>
            <a:xfrm>
              <a:off x="658368" y="1481328"/>
              <a:ext cx="3794760" cy="4526280"/>
            </a:xfrm>
            <a:prstGeom prst="roundRect">
              <a:avLst>
                <a:gd name="adj" fmla="val 1928"/>
              </a:avLst>
            </a:prstGeom>
            <a:solidFill>
              <a:srgbClr val="102A43"/>
            </a:solidFill>
            <a:ln w="12700">
              <a:solidFill>
                <a:srgbClr val="102A43"/>
              </a:solidFill>
              <a:prstDash val="solid"/>
            </a:ln>
            <a:effectLst>
              <a:outerShdw blurRad="12700" dist="50800" dir="2700000" algn="bl" rotWithShape="0">
                <a:srgbClr val="B0BEC5">
                  <a:alpha val="12000"/>
                </a:srgbClr>
              </a:outerShdw>
            </a:effectLst>
          </p:spPr>
        </p:sp>
        <p:sp>
          <p:nvSpPr>
            <p:cNvPr id="8" name="Text 6"/>
            <p:cNvSpPr/>
            <p:nvPr/>
          </p:nvSpPr>
          <p:spPr>
            <a:xfrm>
              <a:off x="1051560" y="1792224"/>
              <a:ext cx="3017520" cy="310896"/>
            </a:xfrm>
            <a:prstGeom prst="rect">
              <a:avLst/>
            </a:prstGeom>
            <a:noFill/>
            <a:ln/>
          </p:spPr>
          <p:txBody>
            <a:bodyPr wrap="square" lIns="0" tIns="0" rIns="0" bIns="0" rtlCol="0" anchor="ctr">
              <a:normAutofit/>
            </a:bodyPr>
            <a:lstStyle/>
            <a:p>
              <a:pPr marL="0" indent="0" algn="ctr" rtl="1">
                <a:buNone/>
              </a:pPr>
              <a:r>
                <a:rPr lang="en-US" sz="1350" dirty="0">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مدل منتخب</a:t>
              </a:r>
              <a:endParaRPr lang="en-US" sz="13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9" name="Text 7"/>
            <p:cNvSpPr/>
            <p:nvPr/>
          </p:nvSpPr>
          <p:spPr>
            <a:xfrm>
              <a:off x="960120" y="2148840"/>
              <a:ext cx="3200400" cy="502920"/>
            </a:xfrm>
            <a:prstGeom prst="rect">
              <a:avLst/>
            </a:prstGeom>
            <a:noFill/>
            <a:ln/>
          </p:spPr>
          <p:txBody>
            <a:bodyPr wrap="square" lIns="0" tIns="0" rIns="0" bIns="0" rtlCol="0" anchor="ctr">
              <a:normAutofit/>
            </a:bodyPr>
            <a:lstStyle/>
            <a:p>
              <a:pPr marL="0" indent="0" algn="ctr">
                <a:buNone/>
              </a:pPr>
              <a:r>
                <a:rPr lang="en-US" sz="29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SVM + PCA</a:t>
              </a:r>
              <a:endParaRPr lang="en-US" sz="29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0" name="Text 8"/>
            <p:cNvSpPr/>
            <p:nvPr/>
          </p:nvSpPr>
          <p:spPr>
            <a:xfrm>
              <a:off x="1051560" y="2880360"/>
              <a:ext cx="3017520" cy="274320"/>
            </a:xfrm>
            <a:prstGeom prst="rect">
              <a:avLst/>
            </a:prstGeom>
            <a:noFill/>
            <a:ln/>
          </p:spPr>
          <p:txBody>
            <a:bodyPr wrap="square" lIns="0" tIns="0" rIns="0" bIns="0" rtlCol="0" anchor="ctr">
              <a:normAutofit/>
            </a:bodyPr>
            <a:lstStyle/>
            <a:p>
              <a:pPr marL="0" indent="0" algn="ctr" rtl="1">
                <a:buNone/>
              </a:pPr>
              <a:r>
                <a:rPr lang="en-US" sz="1350" dirty="0">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دقت</a:t>
              </a:r>
              <a:endParaRPr lang="en-US" sz="13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1" name="Text 9"/>
            <p:cNvSpPr/>
            <p:nvPr/>
          </p:nvSpPr>
          <p:spPr>
            <a:xfrm>
              <a:off x="1097280" y="3163824"/>
              <a:ext cx="2926080" cy="786384"/>
            </a:xfrm>
            <a:prstGeom prst="rect">
              <a:avLst/>
            </a:prstGeom>
            <a:noFill/>
            <a:ln/>
          </p:spPr>
          <p:txBody>
            <a:bodyPr wrap="square" lIns="0" tIns="0" rIns="0" bIns="0" rtlCol="0" anchor="ctr">
              <a:normAutofit/>
            </a:bodyPr>
            <a:lstStyle/>
            <a:p>
              <a:pPr marL="0" indent="0" algn="ctr" rtl="1">
                <a:buNone/>
              </a:pPr>
              <a:r>
                <a:rPr lang="en-US" sz="4800" b="1" dirty="0">
                  <a:solidFill>
                    <a:srgbClr val="57D6C6"/>
                  </a:solidFill>
                  <a:latin typeface="Sharif 1.2 Thin" panose="020B0000040000000000" pitchFamily="34" charset="-78"/>
                  <a:ea typeface="Sharif 1.2 Thin" panose="020B0000040000000000" pitchFamily="34" charset="-78"/>
                  <a:cs typeface="Sharif 1.2 Thin" panose="020B0000040000000000" pitchFamily="34" charset="-78"/>
                </a:rPr>
                <a:t>۹۶٪</a:t>
              </a:r>
              <a:endParaRPr lang="en-US" sz="48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2" name="Shape 10"/>
            <p:cNvSpPr/>
            <p:nvPr/>
          </p:nvSpPr>
          <p:spPr>
            <a:xfrm>
              <a:off x="1207008" y="4169664"/>
              <a:ext cx="2606040" cy="0"/>
            </a:xfrm>
            <a:prstGeom prst="line">
              <a:avLst/>
            </a:prstGeom>
            <a:noFill/>
            <a:ln w="12700">
              <a:solidFill>
                <a:srgbClr val="335A75"/>
              </a:solidFill>
              <a:prstDash val="solid"/>
            </a:ln>
          </p:spPr>
        </p:sp>
        <p:sp>
          <p:nvSpPr>
            <p:cNvPr id="13" name="Text 11"/>
            <p:cNvSpPr/>
            <p:nvPr/>
          </p:nvSpPr>
          <p:spPr>
            <a:xfrm>
              <a:off x="1143000" y="4370832"/>
              <a:ext cx="2788920" cy="347472"/>
            </a:xfrm>
            <a:prstGeom prst="rect">
              <a:avLst/>
            </a:prstGeom>
            <a:noFill/>
            <a:ln/>
          </p:spPr>
          <p:txBody>
            <a:bodyPr wrap="square" lIns="0" tIns="0" rIns="0" bIns="0" rtlCol="0" anchor="ctr">
              <a:normAutofit/>
            </a:bodyPr>
            <a:lstStyle/>
            <a:p>
              <a:pPr marL="0" indent="0" algn="ctr" rtl="1">
                <a:buNone/>
              </a:pPr>
              <a:r>
                <a:rPr lang="en-US" sz="19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۱۳ مؤلفه اصلی</a:t>
              </a:r>
              <a:endParaRPr lang="en-US" sz="19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4" name="Text 12"/>
            <p:cNvSpPr/>
            <p:nvPr/>
          </p:nvSpPr>
          <p:spPr>
            <a:xfrm>
              <a:off x="1143000" y="4782312"/>
              <a:ext cx="2788920" cy="274320"/>
            </a:xfrm>
            <a:prstGeom prst="rect">
              <a:avLst/>
            </a:prstGeom>
            <a:noFill/>
            <a:ln/>
          </p:spPr>
          <p:txBody>
            <a:bodyPr wrap="square" lIns="0" tIns="0" rIns="0" bIns="0" rtlCol="0" anchor="ctr">
              <a:normAutofit/>
            </a:bodyPr>
            <a:lstStyle/>
            <a:p>
              <a:pPr marL="0" indent="0" algn="ctr" rtl="1">
                <a:buNone/>
              </a:pPr>
              <a:r>
                <a:rPr lang="en-US" sz="1250" dirty="0">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حدود ۷۰٪ واریانس داده</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5" name="Text 13"/>
            <p:cNvSpPr/>
            <p:nvPr/>
          </p:nvSpPr>
          <p:spPr>
            <a:xfrm>
              <a:off x="1143000" y="5230368"/>
              <a:ext cx="2788920" cy="292608"/>
            </a:xfrm>
            <a:prstGeom prst="rect">
              <a:avLst/>
            </a:prstGeom>
            <a:noFill/>
            <a:ln/>
          </p:spPr>
          <p:txBody>
            <a:bodyPr wrap="square" lIns="0" tIns="0" rIns="0" bIns="0" rtlCol="0" anchor="ctr">
              <a:normAutofit/>
            </a:bodyPr>
            <a:lstStyle/>
            <a:p>
              <a:pPr marL="0" indent="0" algn="ctr" rtl="1">
                <a:buNone/>
              </a:pPr>
              <a:r>
                <a:rPr lang="en-US" sz="1250" dirty="0">
                  <a:solidFill>
                    <a:srgbClr val="D8EAF2"/>
                  </a:solidFill>
                  <a:latin typeface="Sharif 1.2 Thin" panose="020B0000040000000000" pitchFamily="34" charset="-78"/>
                  <a:ea typeface="Sharif 1.2 Thin" panose="020B0000040000000000" pitchFamily="34" charset="-78"/>
                  <a:cs typeface="Sharif 1.2 Thin" panose="020B0000040000000000" pitchFamily="34" charset="-78"/>
                </a:rPr>
                <a:t>تفکیک سه سطح شبیه‌سازی‌شده</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45" name="Group 44">
            <a:extLst>
              <a:ext uri="{FF2B5EF4-FFF2-40B4-BE49-F238E27FC236}">
                <a16:creationId xmlns:a16="http://schemas.microsoft.com/office/drawing/2014/main" id="{BF808498-B93D-165B-28C8-2FEBC1AA030B}"/>
              </a:ext>
            </a:extLst>
          </p:cNvPr>
          <p:cNvGrpSpPr/>
          <p:nvPr/>
        </p:nvGrpSpPr>
        <p:grpSpPr>
          <a:xfrm>
            <a:off x="4709160" y="1481328"/>
            <a:ext cx="6812280" cy="4526280"/>
            <a:chOff x="4709160" y="1481328"/>
            <a:chExt cx="6812280" cy="4526280"/>
          </a:xfrm>
        </p:grpSpPr>
        <p:sp>
          <p:nvSpPr>
            <p:cNvPr id="16" name="Shape 14"/>
            <p:cNvSpPr/>
            <p:nvPr/>
          </p:nvSpPr>
          <p:spPr>
            <a:xfrm>
              <a:off x="4709160" y="1481328"/>
              <a:ext cx="6812280" cy="4526280"/>
            </a:xfrm>
            <a:prstGeom prst="roundRect">
              <a:avLst>
                <a:gd name="adj" fmla="val 1616"/>
              </a:avLst>
            </a:prstGeom>
            <a:solidFill>
              <a:srgbClr val="FFFFFF"/>
            </a:solidFill>
            <a:ln w="12700">
              <a:solidFill>
                <a:srgbClr val="D9E2EC"/>
              </a:solidFill>
              <a:prstDash val="solid"/>
            </a:ln>
            <a:effectLst>
              <a:outerShdw blurRad="12700" dist="50800" dir="2700000" algn="bl" rotWithShape="0">
                <a:srgbClr val="B0BEC5">
                  <a:alpha val="12000"/>
                </a:srgbClr>
              </a:outerShdw>
            </a:effectLst>
          </p:spPr>
        </p:sp>
        <p:sp>
          <p:nvSpPr>
            <p:cNvPr id="17" name="Shape 15"/>
            <p:cNvSpPr/>
            <p:nvPr/>
          </p:nvSpPr>
          <p:spPr>
            <a:xfrm>
              <a:off x="9738360" y="1746504"/>
              <a:ext cx="1444752" cy="347472"/>
            </a:xfrm>
            <a:prstGeom prst="roundRect">
              <a:avLst>
                <a:gd name="adj" fmla="val 47368"/>
              </a:avLst>
            </a:prstGeom>
            <a:solidFill>
              <a:srgbClr val="E7F4F8"/>
            </a:solidFill>
            <a:ln w="12700">
              <a:solidFill>
                <a:srgbClr val="E7F4F8"/>
              </a:solidFill>
              <a:prstDash val="solid"/>
            </a:ln>
          </p:spPr>
        </p:sp>
        <p:sp>
          <p:nvSpPr>
            <p:cNvPr id="18" name="Text 16"/>
            <p:cNvSpPr/>
            <p:nvPr/>
          </p:nvSpPr>
          <p:spPr>
            <a:xfrm>
              <a:off x="9848088" y="1764792"/>
              <a:ext cx="1225296" cy="310896"/>
            </a:xfrm>
            <a:prstGeom prst="rect">
              <a:avLst/>
            </a:prstGeom>
            <a:noFill/>
            <a:ln/>
          </p:spPr>
          <p:txBody>
            <a:bodyPr wrap="square" lIns="0" tIns="0" rIns="0" bIns="0" rtlCol="0" anchor="ctr">
              <a:normAutofit/>
            </a:bodyPr>
            <a:lstStyle/>
            <a:p>
              <a:pPr marL="0" indent="0" algn="ctr" rtl="1">
                <a:buNone/>
              </a:pPr>
              <a:r>
                <a:rPr lang="en-US" sz="1300" b="1"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مقایسه مدل‌ها</a:t>
              </a:r>
              <a:endParaRPr lang="en-US" sz="130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46" name="Group 45">
            <a:extLst>
              <a:ext uri="{FF2B5EF4-FFF2-40B4-BE49-F238E27FC236}">
                <a16:creationId xmlns:a16="http://schemas.microsoft.com/office/drawing/2014/main" id="{4A77955F-480A-A6EF-3A40-0FB94E03DB9A}"/>
              </a:ext>
            </a:extLst>
          </p:cNvPr>
          <p:cNvGrpSpPr/>
          <p:nvPr/>
        </p:nvGrpSpPr>
        <p:grpSpPr>
          <a:xfrm>
            <a:off x="5079545" y="2878074"/>
            <a:ext cx="5687568" cy="475488"/>
            <a:chOff x="5102352" y="2423160"/>
            <a:chExt cx="5687568" cy="475488"/>
          </a:xfrm>
        </p:grpSpPr>
        <p:sp>
          <p:nvSpPr>
            <p:cNvPr id="19" name="Text 17"/>
            <p:cNvSpPr/>
            <p:nvPr/>
          </p:nvSpPr>
          <p:spPr>
            <a:xfrm>
              <a:off x="5102352" y="2532888"/>
              <a:ext cx="1508760" cy="228600"/>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SVM</a:t>
              </a:r>
              <a:endParaRPr lang="en-US" sz="13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0" name="Shape 18"/>
            <p:cNvSpPr/>
            <p:nvPr/>
          </p:nvSpPr>
          <p:spPr>
            <a:xfrm>
              <a:off x="6720840" y="2423160"/>
              <a:ext cx="4069080" cy="475488"/>
            </a:xfrm>
            <a:prstGeom prst="roundRect">
              <a:avLst>
                <a:gd name="adj" fmla="val 17308"/>
              </a:avLst>
            </a:prstGeom>
            <a:solidFill>
              <a:srgbClr val="EEF4F8"/>
            </a:solidFill>
            <a:ln w="12700">
              <a:solidFill>
                <a:srgbClr val="EEF4F8"/>
              </a:solidFill>
              <a:prstDash val="solid"/>
            </a:ln>
          </p:spPr>
        </p:sp>
      </p:grpSp>
      <p:sp>
        <p:nvSpPr>
          <p:cNvPr id="21" name="Shape 19"/>
          <p:cNvSpPr/>
          <p:nvPr/>
        </p:nvSpPr>
        <p:spPr>
          <a:xfrm>
            <a:off x="6698033" y="2878074"/>
            <a:ext cx="3906317" cy="475488"/>
          </a:xfrm>
          <a:prstGeom prst="roundRect">
            <a:avLst>
              <a:gd name="adj" fmla="val 17308"/>
            </a:avLst>
          </a:prstGeom>
          <a:solidFill>
            <a:srgbClr val="0B6E99"/>
          </a:solidFill>
          <a:ln w="12700">
            <a:solidFill>
              <a:srgbClr val="0B6E99"/>
            </a:solidFill>
            <a:prstDash val="solid"/>
          </a:ln>
        </p:spPr>
      </p:sp>
      <p:sp>
        <p:nvSpPr>
          <p:cNvPr id="22" name="Text 20"/>
          <p:cNvSpPr/>
          <p:nvPr/>
        </p:nvSpPr>
        <p:spPr>
          <a:xfrm>
            <a:off x="10867697" y="2932938"/>
            <a:ext cx="438912" cy="292608"/>
          </a:xfrm>
          <a:prstGeom prst="rect">
            <a:avLst/>
          </a:prstGeom>
          <a:noFill/>
          <a:ln/>
        </p:spPr>
        <p:txBody>
          <a:bodyPr wrap="square" lIns="0" tIns="0" rIns="0" bIns="0" rtlCol="0" anchor="ctr">
            <a:normAutofit/>
          </a:bodyPr>
          <a:lstStyle/>
          <a:p>
            <a:pPr marL="0" indent="0" algn="ctr" rtl="1">
              <a:buNone/>
            </a:pPr>
            <a:r>
              <a:rPr lang="en-US" sz="1300" b="1"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۹۶٪</a:t>
            </a:r>
            <a:endParaRPr lang="en-US" sz="130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nvGrpSpPr>
          <p:cNvPr id="47" name="Group 46">
            <a:extLst>
              <a:ext uri="{FF2B5EF4-FFF2-40B4-BE49-F238E27FC236}">
                <a16:creationId xmlns:a16="http://schemas.microsoft.com/office/drawing/2014/main" id="{EA776C68-50B8-88C0-DE13-28B2C4D773DB}"/>
              </a:ext>
            </a:extLst>
          </p:cNvPr>
          <p:cNvGrpSpPr/>
          <p:nvPr/>
        </p:nvGrpSpPr>
        <p:grpSpPr>
          <a:xfrm>
            <a:off x="5079545" y="3655314"/>
            <a:ext cx="5687568" cy="475488"/>
            <a:chOff x="5102352" y="3200400"/>
            <a:chExt cx="5687568" cy="475488"/>
          </a:xfrm>
        </p:grpSpPr>
        <p:sp>
          <p:nvSpPr>
            <p:cNvPr id="23" name="Text 21"/>
            <p:cNvSpPr/>
            <p:nvPr/>
          </p:nvSpPr>
          <p:spPr>
            <a:xfrm>
              <a:off x="5102352" y="3310128"/>
              <a:ext cx="1508760" cy="228600"/>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KNN</a:t>
              </a:r>
              <a:endParaRPr lang="en-US" sz="13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4" name="Shape 22"/>
            <p:cNvSpPr/>
            <p:nvPr/>
          </p:nvSpPr>
          <p:spPr>
            <a:xfrm>
              <a:off x="6720840" y="3200400"/>
              <a:ext cx="4069080" cy="475488"/>
            </a:xfrm>
            <a:prstGeom prst="roundRect">
              <a:avLst>
                <a:gd name="adj" fmla="val 17308"/>
              </a:avLst>
            </a:prstGeom>
            <a:solidFill>
              <a:srgbClr val="EEF4F8"/>
            </a:solidFill>
            <a:ln w="12700">
              <a:solidFill>
                <a:srgbClr val="EEF4F8"/>
              </a:solidFill>
              <a:prstDash val="solid"/>
            </a:ln>
          </p:spPr>
        </p:sp>
      </p:grpSp>
      <p:sp>
        <p:nvSpPr>
          <p:cNvPr id="25" name="Shape 23"/>
          <p:cNvSpPr/>
          <p:nvPr/>
        </p:nvSpPr>
        <p:spPr>
          <a:xfrm>
            <a:off x="6698033" y="3655314"/>
            <a:ext cx="3784244" cy="475488"/>
          </a:xfrm>
          <a:prstGeom prst="roundRect">
            <a:avLst>
              <a:gd name="adj" fmla="val 17308"/>
            </a:avLst>
          </a:prstGeom>
          <a:solidFill>
            <a:srgbClr val="0B7A75"/>
          </a:solidFill>
          <a:ln w="12700">
            <a:solidFill>
              <a:srgbClr val="0B7A75"/>
            </a:solidFill>
            <a:prstDash val="solid"/>
          </a:ln>
        </p:spPr>
      </p:sp>
      <p:sp>
        <p:nvSpPr>
          <p:cNvPr id="26" name="Text 24"/>
          <p:cNvSpPr/>
          <p:nvPr/>
        </p:nvSpPr>
        <p:spPr>
          <a:xfrm>
            <a:off x="10867697" y="3710178"/>
            <a:ext cx="438912" cy="292608"/>
          </a:xfrm>
          <a:prstGeom prst="rect">
            <a:avLst/>
          </a:prstGeom>
          <a:noFill/>
          <a:ln/>
        </p:spPr>
        <p:txBody>
          <a:bodyPr wrap="square" lIns="0" tIns="0" rIns="0" bIns="0" rtlCol="0" anchor="ctr">
            <a:normAutofit/>
          </a:bodyPr>
          <a:lstStyle/>
          <a:p>
            <a:pPr marL="0" indent="0" algn="ctr" rtl="1">
              <a:buNone/>
            </a:pPr>
            <a:r>
              <a:rPr lang="en-US" sz="1300" b="1" dirty="0">
                <a:solidFill>
                  <a:srgbClr val="0B7A75"/>
                </a:solidFill>
                <a:latin typeface="Sharif 1.2 Thin" panose="020B0000040000000000" pitchFamily="34" charset="-78"/>
                <a:ea typeface="Sharif 1.2 Thin" panose="020B0000040000000000" pitchFamily="34" charset="-78"/>
                <a:cs typeface="Sharif 1.2 Thin" panose="020B0000040000000000" pitchFamily="34" charset="-78"/>
              </a:rPr>
              <a:t>۹۳٪</a:t>
            </a:r>
            <a:endParaRPr lang="en-US" sz="130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nvGrpSpPr>
          <p:cNvPr id="48" name="Group 47">
            <a:extLst>
              <a:ext uri="{FF2B5EF4-FFF2-40B4-BE49-F238E27FC236}">
                <a16:creationId xmlns:a16="http://schemas.microsoft.com/office/drawing/2014/main" id="{D105B9CC-1BAC-E227-1978-E42403BDDFB5}"/>
              </a:ext>
            </a:extLst>
          </p:cNvPr>
          <p:cNvGrpSpPr/>
          <p:nvPr/>
        </p:nvGrpSpPr>
        <p:grpSpPr>
          <a:xfrm>
            <a:off x="5079545" y="4432554"/>
            <a:ext cx="5687568" cy="475488"/>
            <a:chOff x="5102352" y="3977640"/>
            <a:chExt cx="5687568" cy="475488"/>
          </a:xfrm>
        </p:grpSpPr>
        <p:sp>
          <p:nvSpPr>
            <p:cNvPr id="27" name="Text 25"/>
            <p:cNvSpPr/>
            <p:nvPr/>
          </p:nvSpPr>
          <p:spPr>
            <a:xfrm>
              <a:off x="5102352" y="4087368"/>
              <a:ext cx="1508760" cy="228600"/>
            </a:xfrm>
            <a:prstGeom prst="rect">
              <a:avLst/>
            </a:prstGeom>
            <a:noFill/>
            <a:ln/>
          </p:spPr>
          <p:txBody>
            <a:bodyPr wrap="square" lIns="0" tIns="0" rIns="0" bIns="0" rtlCol="0" anchor="ctr">
              <a:normAutofit/>
            </a:bodyPr>
            <a:lstStyle/>
            <a:p>
              <a:pPr marL="0" indent="0" algn="l">
                <a:buNone/>
              </a:pPr>
              <a:r>
                <a:rPr lang="en-US" sz="135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Random Forest</a:t>
              </a:r>
              <a:endParaRPr lang="en-US" sz="13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8" name="Shape 26"/>
            <p:cNvSpPr/>
            <p:nvPr/>
          </p:nvSpPr>
          <p:spPr>
            <a:xfrm>
              <a:off x="6720840" y="3977640"/>
              <a:ext cx="4069080" cy="475488"/>
            </a:xfrm>
            <a:prstGeom prst="roundRect">
              <a:avLst>
                <a:gd name="adj" fmla="val 17308"/>
              </a:avLst>
            </a:prstGeom>
            <a:solidFill>
              <a:srgbClr val="EEF4F8"/>
            </a:solidFill>
            <a:ln w="12700">
              <a:solidFill>
                <a:srgbClr val="EEF4F8"/>
              </a:solidFill>
              <a:prstDash val="solid"/>
            </a:ln>
          </p:spPr>
        </p:sp>
      </p:grpSp>
      <p:sp>
        <p:nvSpPr>
          <p:cNvPr id="29" name="Shape 27"/>
          <p:cNvSpPr/>
          <p:nvPr/>
        </p:nvSpPr>
        <p:spPr>
          <a:xfrm>
            <a:off x="6698033" y="4432554"/>
            <a:ext cx="3743554" cy="475488"/>
          </a:xfrm>
          <a:prstGeom prst="roundRect">
            <a:avLst>
              <a:gd name="adj" fmla="val 17308"/>
            </a:avLst>
          </a:prstGeom>
          <a:solidFill>
            <a:srgbClr val="94A3B8"/>
          </a:solidFill>
          <a:ln w="12700">
            <a:solidFill>
              <a:srgbClr val="94A3B8"/>
            </a:solidFill>
            <a:prstDash val="solid"/>
          </a:ln>
        </p:spPr>
      </p:sp>
      <p:sp>
        <p:nvSpPr>
          <p:cNvPr id="30" name="Text 28"/>
          <p:cNvSpPr/>
          <p:nvPr/>
        </p:nvSpPr>
        <p:spPr>
          <a:xfrm>
            <a:off x="10867697" y="4487418"/>
            <a:ext cx="438912" cy="292608"/>
          </a:xfrm>
          <a:prstGeom prst="rect">
            <a:avLst/>
          </a:prstGeom>
          <a:noFill/>
          <a:ln/>
        </p:spPr>
        <p:txBody>
          <a:bodyPr wrap="square" lIns="0" tIns="0" rIns="0" bIns="0" rtlCol="0" anchor="ctr">
            <a:normAutofit/>
          </a:bodyPr>
          <a:lstStyle/>
          <a:p>
            <a:pPr marL="0" indent="0" algn="ctr" rtl="1">
              <a:buNone/>
            </a:pPr>
            <a:r>
              <a:rPr lang="en-US" sz="1300" b="1"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۹۲٪</a:t>
            </a:r>
            <a:endParaRPr lang="en-US" sz="13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8" name="Text 36"/>
          <p:cNvSpPr/>
          <p:nvPr/>
        </p:nvSpPr>
        <p:spPr>
          <a:xfrm>
            <a:off x="5303520" y="5692140"/>
            <a:ext cx="5349240" cy="228600"/>
          </a:xfrm>
          <a:prstGeom prst="rect">
            <a:avLst/>
          </a:prstGeom>
          <a:noFill/>
          <a:ln/>
        </p:spPr>
        <p:txBody>
          <a:bodyPr wrap="square" lIns="0" tIns="0" rIns="0" bIns="0" rtlCol="0" anchor="ctr">
            <a:normAutofit/>
          </a:bodyPr>
          <a:lstStyle/>
          <a:p>
            <a:pPr marL="0" indent="0" algn="ctr" rtl="1">
              <a:buNone/>
            </a:pPr>
            <a:r>
              <a:rPr lang="en-US" sz="1130" dirty="0">
                <a:solidFill>
                  <a:srgbClr val="C0392B"/>
                </a:solidFill>
                <a:latin typeface="Sharif 1.2 Thin" panose="020B0000040000000000" pitchFamily="34" charset="-78"/>
                <a:ea typeface="Sharif 1.2 Thin" panose="020B0000040000000000" pitchFamily="34" charset="-78"/>
                <a:cs typeface="Sharif 1.2 Thin" panose="020B0000040000000000" pitchFamily="34" charset="-78"/>
              </a:rPr>
              <a:t>نمره ۱ بیشترین هم‌پوشانی را با دو سطح دیگر داشت.</a:t>
            </a:r>
            <a:endParaRPr lang="en-US" sz="113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9" name="Shape 37"/>
          <p:cNvSpPr/>
          <p:nvPr/>
        </p:nvSpPr>
        <p:spPr>
          <a:xfrm>
            <a:off x="658368" y="6473952"/>
            <a:ext cx="10881360" cy="0"/>
          </a:xfrm>
          <a:prstGeom prst="line">
            <a:avLst/>
          </a:prstGeom>
          <a:noFill/>
          <a:ln w="10160">
            <a:solidFill>
              <a:srgbClr val="E9EEF2"/>
            </a:solidFill>
            <a:prstDash val="solid"/>
          </a:ln>
        </p:spPr>
      </p:sp>
      <p:sp>
        <p:nvSpPr>
          <p:cNvPr id="40" name="Text 38"/>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1" name="Text 39"/>
          <p:cNvSpPr/>
          <p:nvPr/>
        </p:nvSpPr>
        <p:spPr>
          <a:xfrm>
            <a:off x="3451860"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نتایج</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بحث | ۵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2" name="Text 40"/>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۹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3" name="Shape 41"/>
          <p:cNvSpPr/>
          <p:nvPr/>
        </p:nvSpPr>
        <p:spPr>
          <a:xfrm>
            <a:off x="2560320" y="6766560"/>
            <a:ext cx="4232366" cy="41148"/>
          </a:xfrm>
          <a:prstGeom prst="rect">
            <a:avLst/>
          </a:prstGeom>
          <a:solidFill>
            <a:srgbClr val="0B6E99"/>
          </a:solidFill>
          <a:ln w="12700">
            <a:solidFill>
              <a:srgbClr val="0B6E99"/>
            </a:solidFill>
            <a:prstDash val="solid"/>
          </a:ln>
        </p:spPr>
      </p:sp>
      <p:sp>
        <p:nvSpPr>
          <p:cNvPr id="44" name="Shape 42"/>
          <p:cNvSpPr/>
          <p:nvPr/>
        </p:nvSpPr>
        <p:spPr>
          <a:xfrm>
            <a:off x="6792686" y="6766560"/>
            <a:ext cx="2351314" cy="41148"/>
          </a:xfrm>
          <a:prstGeom prst="rect">
            <a:avLst/>
          </a:prstGeom>
          <a:solidFill>
            <a:srgbClr val="E6EDF2"/>
          </a:solidFill>
          <a:ln w="12700">
            <a:solidFill>
              <a:srgbClr val="E6EDF2"/>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additive="base">
                                        <p:cTn id="12" dur="500" fill="hold"/>
                                        <p:tgtEl>
                                          <p:spTgt spid="46"/>
                                        </p:tgtEl>
                                        <p:attrNameLst>
                                          <p:attrName>ppt_x</p:attrName>
                                        </p:attrNameLst>
                                      </p:cBhvr>
                                      <p:tavLst>
                                        <p:tav tm="0">
                                          <p:val>
                                            <p:strVal val="#ppt_x"/>
                                          </p:val>
                                        </p:tav>
                                        <p:tav tm="100000">
                                          <p:val>
                                            <p:strVal val="#ppt_x"/>
                                          </p:val>
                                        </p:tav>
                                      </p:tavLst>
                                    </p:anim>
                                    <p:anim calcmode="lin" valueType="num">
                                      <p:cBhvr additive="base">
                                        <p:cTn id="13"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left)">
                                      <p:cBhvr>
                                        <p:cTn id="18" dur="500"/>
                                        <p:tgtEl>
                                          <p:spTgt spid="21"/>
                                        </p:tgtEl>
                                      </p:cBhvr>
                                    </p:animEffec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0"/>
                                          </p:stCondLst>
                                        </p:cTn>
                                        <p:tgtEl>
                                          <p:spTgt spid="2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47"/>
                                        </p:tgtEl>
                                        <p:attrNameLst>
                                          <p:attrName>style.visibility</p:attrName>
                                        </p:attrNameLst>
                                      </p:cBhvr>
                                      <p:to>
                                        <p:strVal val="visible"/>
                                      </p:to>
                                    </p:set>
                                    <p:anim calcmode="lin" valueType="num">
                                      <p:cBhvr additive="base">
                                        <p:cTn id="26" dur="500" fill="hold"/>
                                        <p:tgtEl>
                                          <p:spTgt spid="47"/>
                                        </p:tgtEl>
                                        <p:attrNameLst>
                                          <p:attrName>ppt_x</p:attrName>
                                        </p:attrNameLst>
                                      </p:cBhvr>
                                      <p:tavLst>
                                        <p:tav tm="0">
                                          <p:val>
                                            <p:strVal val="#ppt_x"/>
                                          </p:val>
                                        </p:tav>
                                        <p:tav tm="100000">
                                          <p:val>
                                            <p:strVal val="#ppt_x"/>
                                          </p:val>
                                        </p:tav>
                                      </p:tavLst>
                                    </p:anim>
                                    <p:anim calcmode="lin" valueType="num">
                                      <p:cBhvr additive="base">
                                        <p:cTn id="27"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48"/>
                                        </p:tgtEl>
                                        <p:attrNameLst>
                                          <p:attrName>style.visibility</p:attrName>
                                        </p:attrNameLst>
                                      </p:cBhvr>
                                      <p:to>
                                        <p:strVal val="visible"/>
                                      </p:to>
                                    </p:set>
                                    <p:anim calcmode="lin" valueType="num">
                                      <p:cBhvr additive="base">
                                        <p:cTn id="40" dur="500" fill="hold"/>
                                        <p:tgtEl>
                                          <p:spTgt spid="48"/>
                                        </p:tgtEl>
                                        <p:attrNameLst>
                                          <p:attrName>ppt_x</p:attrName>
                                        </p:attrNameLst>
                                      </p:cBhvr>
                                      <p:tavLst>
                                        <p:tav tm="0">
                                          <p:val>
                                            <p:strVal val="#ppt_x"/>
                                          </p:val>
                                        </p:tav>
                                        <p:tav tm="100000">
                                          <p:val>
                                            <p:strVal val="#ppt_x"/>
                                          </p:val>
                                        </p:tav>
                                      </p:tavLst>
                                    </p:anim>
                                    <p:anim calcmode="lin" valueType="num">
                                      <p:cBhvr additive="base">
                                        <p:cTn id="41"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wipe(left)">
                                      <p:cBhvr>
                                        <p:cTn id="46" dur="500"/>
                                        <p:tgtEl>
                                          <p:spTgt spid="29"/>
                                        </p:tgtEl>
                                      </p:cBhvr>
                                    </p:animEffect>
                                  </p:childTnLst>
                                </p:cTn>
                              </p:par>
                            </p:childTnLst>
                          </p:cTn>
                        </p:par>
                        <p:par>
                          <p:cTn id="47" fill="hold">
                            <p:stCondLst>
                              <p:cond delay="500"/>
                            </p:stCondLst>
                            <p:childTnLst>
                              <p:par>
                                <p:cTn id="48" presetID="1" presetClass="entr" presetSubtype="0" fill="hold" grpId="0" nodeType="afterEffect">
                                  <p:stCondLst>
                                    <p:cond delay="0"/>
                                  </p:stCondLst>
                                  <p:childTnLst>
                                    <p:set>
                                      <p:cBhvr>
                                        <p:cTn id="49" dur="1" fill="hold">
                                          <p:stCondLst>
                                            <p:cond delay="0"/>
                                          </p:stCondLst>
                                        </p:cTn>
                                        <p:tgtEl>
                                          <p:spTgt spid="3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8"/>
                                        </p:tgtEl>
                                        <p:attrNameLst>
                                          <p:attrName>style.visibility</p:attrName>
                                        </p:attrNameLst>
                                      </p:cBhvr>
                                      <p:to>
                                        <p:strVal val="visible"/>
                                      </p:to>
                                    </p:set>
                                    <p:anim calcmode="lin" valueType="num">
                                      <p:cBhvr additive="base">
                                        <p:cTn id="54" dur="500" fill="hold"/>
                                        <p:tgtEl>
                                          <p:spTgt spid="38"/>
                                        </p:tgtEl>
                                        <p:attrNameLst>
                                          <p:attrName>ppt_x</p:attrName>
                                        </p:attrNameLst>
                                      </p:cBhvr>
                                      <p:tavLst>
                                        <p:tav tm="0">
                                          <p:val>
                                            <p:strVal val="#ppt_x"/>
                                          </p:val>
                                        </p:tav>
                                        <p:tav tm="100000">
                                          <p:val>
                                            <p:strVal val="#ppt_x"/>
                                          </p:val>
                                        </p:tav>
                                      </p:tavLst>
                                    </p:anim>
                                    <p:anim calcmode="lin" valueType="num">
                                      <p:cBhvr additive="base">
                                        <p:cTn id="55"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6"/>
                                        </p:tgtEl>
                                        <p:attrNameLst>
                                          <p:attrName>style.visibility</p:attrName>
                                        </p:attrNameLst>
                                      </p:cBhvr>
                                      <p:to>
                                        <p:strVal val="visible"/>
                                      </p:to>
                                    </p:set>
                                    <p:anim calcmode="lin" valueType="num">
                                      <p:cBhvr additive="base">
                                        <p:cTn id="60" dur="500" fill="hold"/>
                                        <p:tgtEl>
                                          <p:spTgt spid="6"/>
                                        </p:tgtEl>
                                        <p:attrNameLst>
                                          <p:attrName>ppt_x</p:attrName>
                                        </p:attrNameLst>
                                      </p:cBhvr>
                                      <p:tavLst>
                                        <p:tav tm="0">
                                          <p:val>
                                            <p:strVal val="#ppt_x"/>
                                          </p:val>
                                        </p:tav>
                                        <p:tav tm="100000">
                                          <p:val>
                                            <p:strVal val="#ppt_x"/>
                                          </p:val>
                                        </p:tav>
                                      </p:tavLst>
                                    </p:anim>
                                    <p:anim calcmode="lin" valueType="num">
                                      <p:cBhvr additive="base">
                                        <p:cTn id="6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6" grpId="0" animBg="1"/>
      <p:bldP spid="30" grpId="0" animBg="1"/>
      <p:bldP spid="3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panose="020B0000040000000000" pitchFamily="34" charset="-78"/>
                <a:ea typeface="Sharif 1.2" panose="020B0000040000000000" pitchFamily="34" charset="-78"/>
                <a:cs typeface="Sharif 1.2" panose="020B0000040000000000" pitchFamily="34" charset="-78"/>
              </a:rPr>
              <a:t>خلاصه نتایج پنج فعالیت</a:t>
            </a:r>
            <a:endParaRPr lang="en-US" sz="27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Text 5"/>
          <p:cNvSpPr/>
          <p:nvPr/>
        </p:nvSpPr>
        <p:spPr>
          <a:xfrm>
            <a:off x="4041648" y="1444752"/>
            <a:ext cx="7040880"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در تمام فعالیت‌ها، ترکیب منتخب شامل SVM و PCA </a:t>
            </a:r>
            <a:r>
              <a:rPr lang="en-US" sz="1850" b="1" dirty="0" err="1">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بود</a:t>
            </a:r>
            <a:r>
              <a:rPr lang="fa-IR" sz="185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a:t>
            </a:r>
            <a:endParaRPr lang="en-US" sz="18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8" name="Shape 6"/>
          <p:cNvSpPr/>
          <p:nvPr/>
        </p:nvSpPr>
        <p:spPr>
          <a:xfrm>
            <a:off x="804672" y="1938528"/>
            <a:ext cx="10588752" cy="502920"/>
          </a:xfrm>
          <a:prstGeom prst="roundRect">
            <a:avLst>
              <a:gd name="adj" fmla="val 14545"/>
            </a:avLst>
          </a:prstGeom>
          <a:solidFill>
            <a:srgbClr val="102A43"/>
          </a:solidFill>
          <a:ln w="12700">
            <a:solidFill>
              <a:srgbClr val="102A43"/>
            </a:solidFill>
            <a:prstDash val="solid"/>
          </a:ln>
        </p:spPr>
      </p:sp>
      <p:sp>
        <p:nvSpPr>
          <p:cNvPr id="9" name="Text 7"/>
          <p:cNvSpPr/>
          <p:nvPr/>
        </p:nvSpPr>
        <p:spPr>
          <a:xfrm>
            <a:off x="8823960" y="2029968"/>
            <a:ext cx="205740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فعالیت</a:t>
            </a:r>
            <a:endParaRPr lang="en-US" sz="13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0" name="Text 8"/>
          <p:cNvSpPr/>
          <p:nvPr/>
        </p:nvSpPr>
        <p:spPr>
          <a:xfrm>
            <a:off x="5989320" y="2029968"/>
            <a:ext cx="205740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تعداد مؤلفه اصلی</a:t>
            </a:r>
            <a:endParaRPr lang="en-US" sz="13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1" name="Text 9"/>
          <p:cNvSpPr/>
          <p:nvPr/>
        </p:nvSpPr>
        <p:spPr>
          <a:xfrm>
            <a:off x="3721608" y="2029968"/>
            <a:ext cx="1737360" cy="237744"/>
          </a:xfrm>
          <a:prstGeom prst="rect">
            <a:avLst/>
          </a:prstGeom>
          <a:noFill/>
          <a:ln/>
        </p:spPr>
        <p:txBody>
          <a:bodyPr wrap="square" lIns="0" tIns="0" rIns="0" bIns="0" rtlCol="0" anchor="ctr">
            <a:normAutofit/>
          </a:bodyPr>
          <a:lstStyle/>
          <a:p>
            <a:pPr marL="0" indent="0" algn="ctr" rtl="1">
              <a:buNone/>
            </a:pPr>
            <a:r>
              <a:rPr lang="en-US" sz="13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حد نصاب داخلی</a:t>
            </a:r>
            <a:endParaRPr lang="en-US" sz="13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2" name="Text 10"/>
          <p:cNvSpPr/>
          <p:nvPr/>
        </p:nvSpPr>
        <p:spPr>
          <a:xfrm>
            <a:off x="960120" y="2029968"/>
            <a:ext cx="2468880" cy="237744"/>
          </a:xfrm>
          <a:prstGeom prst="rect">
            <a:avLst/>
          </a:prstGeom>
          <a:noFill/>
          <a:ln/>
        </p:spPr>
        <p:txBody>
          <a:bodyPr wrap="square" lIns="0" tIns="0" rIns="0" bIns="0" rtlCol="0" anchor="ctr">
            <a:normAutofit/>
          </a:bodyPr>
          <a:lstStyle/>
          <a:p>
            <a:pPr marL="0" indent="0" algn="ctr" rtl="1">
              <a:buNone/>
            </a:pPr>
            <a:r>
              <a:rPr lang="fa-IR" sz="1300" b="1" dirty="0" err="1">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پیش‌پردازش</a:t>
            </a:r>
            <a:endParaRPr lang="en-US" sz="130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nvGrpSpPr>
          <p:cNvPr id="3" name="Group 2">
            <a:extLst>
              <a:ext uri="{FF2B5EF4-FFF2-40B4-BE49-F238E27FC236}">
                <a16:creationId xmlns:a16="http://schemas.microsoft.com/office/drawing/2014/main" id="{8D3E58E1-ACFD-A3D6-997A-527C84146918}"/>
              </a:ext>
            </a:extLst>
          </p:cNvPr>
          <p:cNvGrpSpPr/>
          <p:nvPr/>
        </p:nvGrpSpPr>
        <p:grpSpPr>
          <a:xfrm>
            <a:off x="804672" y="2560320"/>
            <a:ext cx="10588752" cy="521208"/>
            <a:chOff x="804672" y="2560320"/>
            <a:chExt cx="10588752" cy="521208"/>
          </a:xfrm>
        </p:grpSpPr>
        <p:sp>
          <p:nvSpPr>
            <p:cNvPr id="13" name="Shape 11"/>
            <p:cNvSpPr/>
            <p:nvPr/>
          </p:nvSpPr>
          <p:spPr>
            <a:xfrm>
              <a:off x="804672" y="2560320"/>
              <a:ext cx="10588752" cy="521208"/>
            </a:xfrm>
            <a:prstGeom prst="roundRect">
              <a:avLst>
                <a:gd name="adj" fmla="val 7018"/>
              </a:avLst>
            </a:prstGeom>
            <a:solidFill>
              <a:srgbClr val="FFFFFF"/>
            </a:solidFill>
            <a:ln w="12700">
              <a:solidFill>
                <a:srgbClr val="E0E8EE"/>
              </a:solidFill>
              <a:prstDash val="solid"/>
            </a:ln>
          </p:spPr>
          <p:txBody>
            <a:bodyPr/>
            <a:lstStyle/>
            <a:p>
              <a:pPr marL="0" algn="r" defTabSz="914400" rtl="1" eaLnBrk="1" latinLnBrk="0" hangingPunct="1"/>
              <a:endParaRPr lang="en-US" dirty="0"/>
            </a:p>
          </p:txBody>
        </p:sp>
        <p:sp>
          <p:nvSpPr>
            <p:cNvPr id="14" name="Shape 12"/>
            <p:cNvSpPr/>
            <p:nvPr/>
          </p:nvSpPr>
          <p:spPr>
            <a:xfrm>
              <a:off x="11219688" y="2560320"/>
              <a:ext cx="173736" cy="521208"/>
            </a:xfrm>
            <a:prstGeom prst="rect">
              <a:avLst/>
            </a:prstGeom>
            <a:solidFill>
              <a:srgbClr val="0B6E99"/>
            </a:solidFill>
            <a:ln w="12700">
              <a:solidFill>
                <a:srgbClr val="0B6E99"/>
              </a:solidFill>
              <a:prstDash val="solid"/>
            </a:ln>
          </p:spPr>
        </p:sp>
        <p:sp>
          <p:nvSpPr>
            <p:cNvPr id="15" name="Text 13"/>
            <p:cNvSpPr/>
            <p:nvPr/>
          </p:nvSpPr>
          <p:spPr>
            <a:xfrm>
              <a:off x="8668512" y="2651760"/>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ایستادن</a:t>
              </a:r>
              <a:endParaRPr lang="en-US" sz="13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6" name="Shape 14"/>
            <p:cNvSpPr/>
            <p:nvPr/>
          </p:nvSpPr>
          <p:spPr>
            <a:xfrm>
              <a:off x="6053328" y="2798064"/>
              <a:ext cx="2103120" cy="0"/>
            </a:xfrm>
            <a:prstGeom prst="line">
              <a:avLst/>
            </a:prstGeom>
            <a:noFill/>
            <a:ln w="101600">
              <a:solidFill>
                <a:srgbClr val="EEF4F8"/>
              </a:solidFill>
              <a:prstDash val="solid"/>
              <a:headEnd type="none"/>
              <a:tailEnd type="none"/>
            </a:ln>
          </p:spPr>
        </p:sp>
        <p:sp>
          <p:nvSpPr>
            <p:cNvPr id="17" name="Shape 15"/>
            <p:cNvSpPr/>
            <p:nvPr/>
          </p:nvSpPr>
          <p:spPr>
            <a:xfrm>
              <a:off x="6053328" y="2706624"/>
              <a:ext cx="1822704" cy="182880"/>
            </a:xfrm>
            <a:prstGeom prst="roundRect">
              <a:avLst>
                <a:gd name="adj" fmla="val 30000"/>
              </a:avLst>
            </a:prstGeom>
            <a:solidFill>
              <a:srgbClr val="0B6E99"/>
            </a:solidFill>
            <a:ln w="12700">
              <a:solidFill>
                <a:srgbClr val="0B6E99"/>
              </a:solidFill>
              <a:prstDash val="solid"/>
            </a:ln>
          </p:spPr>
        </p:sp>
        <p:sp>
          <p:nvSpPr>
            <p:cNvPr id="18" name="Text 16"/>
            <p:cNvSpPr/>
            <p:nvPr/>
          </p:nvSpPr>
          <p:spPr>
            <a:xfrm>
              <a:off x="8211312" y="2624328"/>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۱۳</a:t>
              </a:r>
              <a:endParaRPr lang="en-US" sz="13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9" name="Shape 17"/>
            <p:cNvSpPr/>
            <p:nvPr/>
          </p:nvSpPr>
          <p:spPr>
            <a:xfrm>
              <a:off x="4005072" y="2633472"/>
              <a:ext cx="1097280" cy="356616"/>
            </a:xfrm>
            <a:prstGeom prst="roundRect">
              <a:avLst>
                <a:gd name="adj" fmla="val 46154"/>
              </a:avLst>
            </a:prstGeom>
            <a:solidFill>
              <a:srgbClr val="E8F5EE"/>
            </a:solidFill>
            <a:ln w="12700">
              <a:solidFill>
                <a:srgbClr val="E8F5EE"/>
              </a:solidFill>
              <a:prstDash val="solid"/>
            </a:ln>
          </p:spPr>
        </p:sp>
        <p:sp>
          <p:nvSpPr>
            <p:cNvPr id="20" name="Text 18"/>
            <p:cNvSpPr/>
            <p:nvPr/>
          </p:nvSpPr>
          <p:spPr>
            <a:xfrm>
              <a:off x="4114800" y="2651760"/>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2F855A"/>
                  </a:solidFill>
                  <a:latin typeface="Sharif 1.2 Thin" panose="020B0000040000000000" pitchFamily="34" charset="-78"/>
                  <a:ea typeface="Sharif 1.2 Thin" panose="020B0000040000000000" pitchFamily="34" charset="-78"/>
                  <a:cs typeface="Sharif 1.2 Thin" panose="020B0000040000000000" pitchFamily="34" charset="-78"/>
                </a:rPr>
                <a:t>۹۰٪</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1" name="Text 19"/>
            <p:cNvSpPr/>
            <p:nvPr/>
          </p:nvSpPr>
          <p:spPr>
            <a:xfrm>
              <a:off x="1005840" y="2651760"/>
              <a:ext cx="2468880" cy="256032"/>
            </a:xfrm>
            <a:prstGeom prst="rect">
              <a:avLst/>
            </a:prstGeom>
            <a:noFill/>
            <a:ln/>
          </p:spPr>
          <p:txBody>
            <a:bodyPr wrap="square" lIns="0" tIns="0" rIns="0" bIns="0" rtlCol="0" anchor="ctr">
              <a:normAutofit/>
            </a:bodyPr>
            <a:lstStyle/>
            <a:p>
              <a:pPr marL="0" indent="0" algn="ctr" rtl="1">
                <a:buNone/>
              </a:pPr>
              <a:r>
                <a:rPr lang="fa-IR" sz="1140" dirty="0" err="1">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باترورث</a:t>
              </a:r>
              <a:r>
                <a:rPr lang="fa-IR" sz="114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 مرتبه ۴</a:t>
              </a:r>
              <a:endParaRPr lang="en-US" sz="114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6" name="Group 5">
            <a:extLst>
              <a:ext uri="{FF2B5EF4-FFF2-40B4-BE49-F238E27FC236}">
                <a16:creationId xmlns:a16="http://schemas.microsoft.com/office/drawing/2014/main" id="{1CD80B8A-521D-677C-1540-A29CA93B5D9B}"/>
              </a:ext>
            </a:extLst>
          </p:cNvPr>
          <p:cNvGrpSpPr/>
          <p:nvPr/>
        </p:nvGrpSpPr>
        <p:grpSpPr>
          <a:xfrm>
            <a:off x="804672" y="3191256"/>
            <a:ext cx="10588752" cy="521208"/>
            <a:chOff x="804672" y="3191256"/>
            <a:chExt cx="10588752" cy="521208"/>
          </a:xfrm>
        </p:grpSpPr>
        <p:sp>
          <p:nvSpPr>
            <p:cNvPr id="22" name="Shape 20"/>
            <p:cNvSpPr/>
            <p:nvPr/>
          </p:nvSpPr>
          <p:spPr>
            <a:xfrm>
              <a:off x="804672" y="3191256"/>
              <a:ext cx="10588752" cy="521208"/>
            </a:xfrm>
            <a:prstGeom prst="roundRect">
              <a:avLst>
                <a:gd name="adj" fmla="val 7018"/>
              </a:avLst>
            </a:prstGeom>
            <a:solidFill>
              <a:srgbClr val="F3F7FA"/>
            </a:solidFill>
            <a:ln w="12700">
              <a:solidFill>
                <a:srgbClr val="E0E8EE"/>
              </a:solidFill>
              <a:prstDash val="solid"/>
            </a:ln>
          </p:spPr>
        </p:sp>
        <p:sp>
          <p:nvSpPr>
            <p:cNvPr id="23" name="Shape 21"/>
            <p:cNvSpPr/>
            <p:nvPr/>
          </p:nvSpPr>
          <p:spPr>
            <a:xfrm>
              <a:off x="11219688" y="3191256"/>
              <a:ext cx="173736" cy="521208"/>
            </a:xfrm>
            <a:prstGeom prst="rect">
              <a:avLst/>
            </a:prstGeom>
            <a:solidFill>
              <a:srgbClr val="0B7A75"/>
            </a:solidFill>
            <a:ln w="12700">
              <a:solidFill>
                <a:srgbClr val="0B7A75"/>
              </a:solidFill>
              <a:prstDash val="solid"/>
            </a:ln>
          </p:spPr>
        </p:sp>
        <p:sp>
          <p:nvSpPr>
            <p:cNvPr id="24" name="Text 22"/>
            <p:cNvSpPr/>
            <p:nvPr/>
          </p:nvSpPr>
          <p:spPr>
            <a:xfrm>
              <a:off x="8668512" y="3282696"/>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برخاستن از صندلی</a:t>
              </a:r>
              <a:endParaRPr lang="en-US" sz="13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5" name="Shape 23"/>
            <p:cNvSpPr/>
            <p:nvPr/>
          </p:nvSpPr>
          <p:spPr>
            <a:xfrm>
              <a:off x="6053328" y="3429000"/>
              <a:ext cx="2103120" cy="0"/>
            </a:xfrm>
            <a:prstGeom prst="line">
              <a:avLst/>
            </a:prstGeom>
            <a:noFill/>
            <a:ln w="101600">
              <a:solidFill>
                <a:srgbClr val="EEF4F8"/>
              </a:solidFill>
              <a:prstDash val="solid"/>
              <a:headEnd type="none"/>
              <a:tailEnd type="none"/>
            </a:ln>
          </p:spPr>
        </p:sp>
        <p:sp>
          <p:nvSpPr>
            <p:cNvPr id="26" name="Shape 24"/>
            <p:cNvSpPr/>
            <p:nvPr/>
          </p:nvSpPr>
          <p:spPr>
            <a:xfrm>
              <a:off x="6053328" y="3337560"/>
              <a:ext cx="1962912" cy="182880"/>
            </a:xfrm>
            <a:prstGeom prst="roundRect">
              <a:avLst>
                <a:gd name="adj" fmla="val 30000"/>
              </a:avLst>
            </a:prstGeom>
            <a:solidFill>
              <a:srgbClr val="0B7A75"/>
            </a:solidFill>
            <a:ln w="12700">
              <a:solidFill>
                <a:srgbClr val="0B7A75"/>
              </a:solidFill>
              <a:prstDash val="solid"/>
            </a:ln>
          </p:spPr>
        </p:sp>
        <p:sp>
          <p:nvSpPr>
            <p:cNvPr id="27" name="Text 25"/>
            <p:cNvSpPr/>
            <p:nvPr/>
          </p:nvSpPr>
          <p:spPr>
            <a:xfrm>
              <a:off x="8211312" y="3255264"/>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0B7A75"/>
                  </a:solidFill>
                  <a:latin typeface="Sharif 1.2 Thin" panose="020B0000040000000000" pitchFamily="34" charset="-78"/>
                  <a:ea typeface="Sharif 1.2 Thin" panose="020B0000040000000000" pitchFamily="34" charset="-78"/>
                  <a:cs typeface="Sharif 1.2 Thin" panose="020B0000040000000000" pitchFamily="34" charset="-78"/>
                </a:rPr>
                <a:t>۱۴</a:t>
              </a:r>
              <a:endParaRPr lang="en-US" sz="13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8" name="Shape 26"/>
            <p:cNvSpPr/>
            <p:nvPr/>
          </p:nvSpPr>
          <p:spPr>
            <a:xfrm>
              <a:off x="4005072" y="3264408"/>
              <a:ext cx="1097280" cy="356616"/>
            </a:xfrm>
            <a:prstGeom prst="roundRect">
              <a:avLst>
                <a:gd name="adj" fmla="val 46154"/>
              </a:avLst>
            </a:prstGeom>
            <a:solidFill>
              <a:srgbClr val="FFF5D8"/>
            </a:solidFill>
            <a:ln w="12700">
              <a:solidFill>
                <a:srgbClr val="FFF5D8"/>
              </a:solidFill>
              <a:prstDash val="solid"/>
            </a:ln>
          </p:spPr>
        </p:sp>
        <p:sp>
          <p:nvSpPr>
            <p:cNvPr id="29" name="Text 27"/>
            <p:cNvSpPr/>
            <p:nvPr/>
          </p:nvSpPr>
          <p:spPr>
            <a:xfrm>
              <a:off x="4114800" y="3282696"/>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8A5A00"/>
                  </a:solidFill>
                  <a:latin typeface="Sharif 1.2 Thin" panose="020B0000040000000000" pitchFamily="34" charset="-78"/>
                  <a:ea typeface="Sharif 1.2 Thin" panose="020B0000040000000000" pitchFamily="34" charset="-78"/>
                  <a:cs typeface="Sharif 1.2 Thin" panose="020B0000040000000000" pitchFamily="34" charset="-78"/>
                </a:rPr>
                <a:t>۸۰٪</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0" name="Text 28"/>
            <p:cNvSpPr/>
            <p:nvPr/>
          </p:nvSpPr>
          <p:spPr>
            <a:xfrm>
              <a:off x="1005840" y="3282696"/>
              <a:ext cx="2468880" cy="256032"/>
            </a:xfrm>
            <a:prstGeom prst="rect">
              <a:avLst/>
            </a:prstGeom>
            <a:noFill/>
            <a:ln/>
          </p:spPr>
          <p:txBody>
            <a:bodyPr wrap="square" lIns="0" tIns="0" rIns="0" bIns="0" rtlCol="0" anchor="ctr">
              <a:normAutofit/>
            </a:bodyPr>
            <a:lstStyle/>
            <a:p>
              <a:pPr algn="ctr" rtl="1"/>
              <a:r>
                <a:rPr lang="fa-IR" sz="1140" dirty="0" err="1">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باترورث</a:t>
              </a:r>
              <a:r>
                <a:rPr lang="fa-IR" sz="114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 مرتبه ۴</a:t>
              </a:r>
              <a:endParaRPr lang="en-US" sz="114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66" name="Group 65">
            <a:extLst>
              <a:ext uri="{FF2B5EF4-FFF2-40B4-BE49-F238E27FC236}">
                <a16:creationId xmlns:a16="http://schemas.microsoft.com/office/drawing/2014/main" id="{FC8117BE-7232-E7AB-F84D-0D10BD494BA7}"/>
              </a:ext>
            </a:extLst>
          </p:cNvPr>
          <p:cNvGrpSpPr/>
          <p:nvPr/>
        </p:nvGrpSpPr>
        <p:grpSpPr>
          <a:xfrm>
            <a:off x="804672" y="3822192"/>
            <a:ext cx="10588752" cy="521208"/>
            <a:chOff x="804672" y="3822192"/>
            <a:chExt cx="10588752" cy="521208"/>
          </a:xfrm>
        </p:grpSpPr>
        <p:sp>
          <p:nvSpPr>
            <p:cNvPr id="31" name="Shape 29"/>
            <p:cNvSpPr/>
            <p:nvPr/>
          </p:nvSpPr>
          <p:spPr>
            <a:xfrm>
              <a:off x="804672" y="3822192"/>
              <a:ext cx="10588752" cy="521208"/>
            </a:xfrm>
            <a:prstGeom prst="roundRect">
              <a:avLst>
                <a:gd name="adj" fmla="val 7018"/>
              </a:avLst>
            </a:prstGeom>
            <a:solidFill>
              <a:srgbClr val="FFFFFF"/>
            </a:solidFill>
            <a:ln w="12700">
              <a:solidFill>
                <a:srgbClr val="E0E8EE"/>
              </a:solidFill>
              <a:prstDash val="solid"/>
            </a:ln>
          </p:spPr>
        </p:sp>
        <p:sp>
          <p:nvSpPr>
            <p:cNvPr id="32" name="Shape 30"/>
            <p:cNvSpPr/>
            <p:nvPr/>
          </p:nvSpPr>
          <p:spPr>
            <a:xfrm>
              <a:off x="11219688" y="3822192"/>
              <a:ext cx="173736" cy="521208"/>
            </a:xfrm>
            <a:prstGeom prst="rect">
              <a:avLst/>
            </a:prstGeom>
            <a:solidFill>
              <a:srgbClr val="E69F00"/>
            </a:solidFill>
            <a:ln w="12700">
              <a:solidFill>
                <a:srgbClr val="E69F00"/>
              </a:solidFill>
              <a:prstDash val="solid"/>
            </a:ln>
          </p:spPr>
        </p:sp>
        <p:sp>
          <p:nvSpPr>
            <p:cNvPr id="33" name="Text 31"/>
            <p:cNvSpPr/>
            <p:nvPr/>
          </p:nvSpPr>
          <p:spPr>
            <a:xfrm>
              <a:off x="8668512" y="3913632"/>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پریدن</a:t>
              </a:r>
              <a:endParaRPr lang="en-US" sz="13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4" name="Shape 32"/>
            <p:cNvSpPr/>
            <p:nvPr/>
          </p:nvSpPr>
          <p:spPr>
            <a:xfrm>
              <a:off x="6053328" y="4059936"/>
              <a:ext cx="2103120" cy="0"/>
            </a:xfrm>
            <a:prstGeom prst="line">
              <a:avLst/>
            </a:prstGeom>
            <a:noFill/>
            <a:ln w="101600">
              <a:solidFill>
                <a:srgbClr val="EEF4F8"/>
              </a:solidFill>
              <a:prstDash val="solid"/>
              <a:headEnd type="none"/>
              <a:tailEnd type="none"/>
            </a:ln>
          </p:spPr>
        </p:sp>
        <p:sp>
          <p:nvSpPr>
            <p:cNvPr id="35" name="Shape 33"/>
            <p:cNvSpPr/>
            <p:nvPr/>
          </p:nvSpPr>
          <p:spPr>
            <a:xfrm>
              <a:off x="6053328" y="3968496"/>
              <a:ext cx="2103120" cy="182880"/>
            </a:xfrm>
            <a:prstGeom prst="roundRect">
              <a:avLst>
                <a:gd name="adj" fmla="val 30000"/>
              </a:avLst>
            </a:prstGeom>
            <a:solidFill>
              <a:srgbClr val="E69F00"/>
            </a:solidFill>
            <a:ln w="12700">
              <a:solidFill>
                <a:srgbClr val="E69F00"/>
              </a:solidFill>
              <a:prstDash val="solid"/>
            </a:ln>
          </p:spPr>
        </p:sp>
        <p:sp>
          <p:nvSpPr>
            <p:cNvPr id="36" name="Text 34"/>
            <p:cNvSpPr/>
            <p:nvPr/>
          </p:nvSpPr>
          <p:spPr>
            <a:xfrm>
              <a:off x="8211312" y="3886200"/>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E69F00"/>
                  </a:solidFill>
                  <a:latin typeface="Sharif 1.2 Thin" panose="020B0000040000000000" pitchFamily="34" charset="-78"/>
                  <a:ea typeface="Sharif 1.2 Thin" panose="020B0000040000000000" pitchFamily="34" charset="-78"/>
                  <a:cs typeface="Sharif 1.2 Thin" panose="020B0000040000000000" pitchFamily="34" charset="-78"/>
                </a:rPr>
                <a:t>۱۵</a:t>
              </a:r>
              <a:endParaRPr lang="en-US" sz="13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7" name="Shape 35"/>
            <p:cNvSpPr/>
            <p:nvPr/>
          </p:nvSpPr>
          <p:spPr>
            <a:xfrm>
              <a:off x="4005072" y="3895344"/>
              <a:ext cx="1097280" cy="356616"/>
            </a:xfrm>
            <a:prstGeom prst="roundRect">
              <a:avLst>
                <a:gd name="adj" fmla="val 46154"/>
              </a:avLst>
            </a:prstGeom>
            <a:solidFill>
              <a:srgbClr val="E8F5EE"/>
            </a:solidFill>
            <a:ln w="12700">
              <a:solidFill>
                <a:srgbClr val="E8F5EE"/>
              </a:solidFill>
              <a:prstDash val="solid"/>
            </a:ln>
          </p:spPr>
        </p:sp>
        <p:sp>
          <p:nvSpPr>
            <p:cNvPr id="38" name="Text 36"/>
            <p:cNvSpPr/>
            <p:nvPr/>
          </p:nvSpPr>
          <p:spPr>
            <a:xfrm>
              <a:off x="4114800" y="3913632"/>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2F855A"/>
                  </a:solidFill>
                  <a:latin typeface="Sharif 1.2 Thin" panose="020B0000040000000000" pitchFamily="34" charset="-78"/>
                  <a:ea typeface="Sharif 1.2 Thin" panose="020B0000040000000000" pitchFamily="34" charset="-78"/>
                  <a:cs typeface="Sharif 1.2 Thin" panose="020B0000040000000000" pitchFamily="34" charset="-78"/>
                </a:rPr>
                <a:t>۹۰٪</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9" name="Text 37"/>
            <p:cNvSpPr/>
            <p:nvPr/>
          </p:nvSpPr>
          <p:spPr>
            <a:xfrm>
              <a:off x="1005840" y="3913632"/>
              <a:ext cx="2468880" cy="256032"/>
            </a:xfrm>
            <a:prstGeom prst="rect">
              <a:avLst/>
            </a:prstGeom>
            <a:noFill/>
            <a:ln/>
          </p:spPr>
          <p:txBody>
            <a:bodyPr wrap="square" lIns="0" tIns="0" rIns="0" bIns="0" rtlCol="0" anchor="ctr">
              <a:normAutofit/>
            </a:bodyPr>
            <a:lstStyle/>
            <a:p>
              <a:pPr algn="ctr" rtl="1"/>
              <a:r>
                <a:rPr lang="fa-IR" sz="1140" dirty="0" err="1">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باترورث</a:t>
              </a:r>
              <a:r>
                <a:rPr lang="fa-IR" sz="114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 مرتبه ۴</a:t>
              </a:r>
              <a:endParaRPr lang="en-US" sz="114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68" name="Group 67">
            <a:extLst>
              <a:ext uri="{FF2B5EF4-FFF2-40B4-BE49-F238E27FC236}">
                <a16:creationId xmlns:a16="http://schemas.microsoft.com/office/drawing/2014/main" id="{45EECC52-8D56-C56A-916F-A6E1AA9D2015}"/>
              </a:ext>
            </a:extLst>
          </p:cNvPr>
          <p:cNvGrpSpPr/>
          <p:nvPr/>
        </p:nvGrpSpPr>
        <p:grpSpPr>
          <a:xfrm>
            <a:off x="804672" y="4453128"/>
            <a:ext cx="10588752" cy="521208"/>
            <a:chOff x="804672" y="4453128"/>
            <a:chExt cx="10588752" cy="521208"/>
          </a:xfrm>
        </p:grpSpPr>
        <p:sp>
          <p:nvSpPr>
            <p:cNvPr id="40" name="Shape 38"/>
            <p:cNvSpPr/>
            <p:nvPr/>
          </p:nvSpPr>
          <p:spPr>
            <a:xfrm>
              <a:off x="804672" y="4453128"/>
              <a:ext cx="10588752" cy="521208"/>
            </a:xfrm>
            <a:prstGeom prst="roundRect">
              <a:avLst>
                <a:gd name="adj" fmla="val 7018"/>
              </a:avLst>
            </a:prstGeom>
            <a:solidFill>
              <a:srgbClr val="F3F7FA"/>
            </a:solidFill>
            <a:ln w="12700">
              <a:solidFill>
                <a:srgbClr val="E0E8EE"/>
              </a:solidFill>
              <a:prstDash val="solid"/>
            </a:ln>
          </p:spPr>
        </p:sp>
        <p:sp>
          <p:nvSpPr>
            <p:cNvPr id="41" name="Shape 39"/>
            <p:cNvSpPr/>
            <p:nvPr/>
          </p:nvSpPr>
          <p:spPr>
            <a:xfrm>
              <a:off x="11219688" y="4453128"/>
              <a:ext cx="173736" cy="521208"/>
            </a:xfrm>
            <a:prstGeom prst="rect">
              <a:avLst/>
            </a:prstGeom>
            <a:solidFill>
              <a:srgbClr val="2F855A"/>
            </a:solidFill>
            <a:ln w="12700">
              <a:solidFill>
                <a:srgbClr val="2F855A"/>
              </a:solidFill>
              <a:prstDash val="solid"/>
            </a:ln>
          </p:spPr>
        </p:sp>
        <p:sp>
          <p:nvSpPr>
            <p:cNvPr id="42" name="Text 40"/>
            <p:cNvSpPr/>
            <p:nvPr/>
          </p:nvSpPr>
          <p:spPr>
            <a:xfrm>
              <a:off x="8668512" y="4544568"/>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بالا آوردن سر</a:t>
              </a:r>
              <a:endParaRPr lang="en-US" sz="13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3" name="Shape 41"/>
            <p:cNvSpPr/>
            <p:nvPr/>
          </p:nvSpPr>
          <p:spPr>
            <a:xfrm>
              <a:off x="6053328" y="4690872"/>
              <a:ext cx="2103120" cy="0"/>
            </a:xfrm>
            <a:prstGeom prst="line">
              <a:avLst/>
            </a:prstGeom>
            <a:noFill/>
            <a:ln w="101600">
              <a:solidFill>
                <a:srgbClr val="EEF4F8"/>
              </a:solidFill>
              <a:prstDash val="solid"/>
              <a:headEnd type="none"/>
              <a:tailEnd type="none"/>
            </a:ln>
          </p:spPr>
        </p:sp>
        <p:sp>
          <p:nvSpPr>
            <p:cNvPr id="44" name="Shape 42"/>
            <p:cNvSpPr/>
            <p:nvPr/>
          </p:nvSpPr>
          <p:spPr>
            <a:xfrm>
              <a:off x="6053328" y="4599432"/>
              <a:ext cx="1962912" cy="182880"/>
            </a:xfrm>
            <a:prstGeom prst="roundRect">
              <a:avLst>
                <a:gd name="adj" fmla="val 30000"/>
              </a:avLst>
            </a:prstGeom>
            <a:solidFill>
              <a:srgbClr val="2F855A"/>
            </a:solidFill>
            <a:ln w="12700">
              <a:solidFill>
                <a:srgbClr val="2F855A"/>
              </a:solidFill>
              <a:prstDash val="solid"/>
            </a:ln>
          </p:spPr>
        </p:sp>
        <p:sp>
          <p:nvSpPr>
            <p:cNvPr id="45" name="Text 43"/>
            <p:cNvSpPr/>
            <p:nvPr/>
          </p:nvSpPr>
          <p:spPr>
            <a:xfrm>
              <a:off x="8211312" y="4517136"/>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2F855A"/>
                  </a:solidFill>
                  <a:latin typeface="Sharif 1.2 Thin" panose="020B0000040000000000" pitchFamily="34" charset="-78"/>
                  <a:ea typeface="Sharif 1.2 Thin" panose="020B0000040000000000" pitchFamily="34" charset="-78"/>
                  <a:cs typeface="Sharif 1.2 Thin" panose="020B0000040000000000" pitchFamily="34" charset="-78"/>
                </a:rPr>
                <a:t>۱۴</a:t>
              </a:r>
              <a:endParaRPr lang="en-US" sz="13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6" name="Shape 44"/>
            <p:cNvSpPr/>
            <p:nvPr/>
          </p:nvSpPr>
          <p:spPr>
            <a:xfrm>
              <a:off x="4005072" y="4526280"/>
              <a:ext cx="1097280" cy="356616"/>
            </a:xfrm>
            <a:prstGeom prst="roundRect">
              <a:avLst>
                <a:gd name="adj" fmla="val 46154"/>
              </a:avLst>
            </a:prstGeom>
            <a:solidFill>
              <a:srgbClr val="E8F5EE"/>
            </a:solidFill>
            <a:ln w="12700">
              <a:solidFill>
                <a:srgbClr val="E8F5EE"/>
              </a:solidFill>
              <a:prstDash val="solid"/>
            </a:ln>
          </p:spPr>
        </p:sp>
        <p:sp>
          <p:nvSpPr>
            <p:cNvPr id="47" name="Text 45"/>
            <p:cNvSpPr/>
            <p:nvPr/>
          </p:nvSpPr>
          <p:spPr>
            <a:xfrm>
              <a:off x="4114800" y="4544568"/>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2F855A"/>
                  </a:solidFill>
                  <a:latin typeface="Sharif 1.2 Thin" panose="020B0000040000000000" pitchFamily="34" charset="-78"/>
                  <a:ea typeface="Sharif 1.2 Thin" panose="020B0000040000000000" pitchFamily="34" charset="-78"/>
                  <a:cs typeface="Sharif 1.2 Thin" panose="020B0000040000000000" pitchFamily="34" charset="-78"/>
                </a:rPr>
                <a:t>۹۰٪</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8" name="Text 46"/>
            <p:cNvSpPr/>
            <p:nvPr/>
          </p:nvSpPr>
          <p:spPr>
            <a:xfrm>
              <a:off x="1005840" y="4544568"/>
              <a:ext cx="2468880" cy="256032"/>
            </a:xfrm>
            <a:prstGeom prst="rect">
              <a:avLst/>
            </a:prstGeom>
            <a:noFill/>
            <a:ln/>
          </p:spPr>
          <p:txBody>
            <a:bodyPr wrap="square" lIns="0" tIns="0" rIns="0" bIns="0" rtlCol="0" anchor="ctr">
              <a:normAutofit/>
            </a:bodyPr>
            <a:lstStyle/>
            <a:p>
              <a:pPr algn="ctr" rtl="1"/>
              <a:r>
                <a:rPr lang="fa-IR" sz="1140" dirty="0" err="1">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باترورث</a:t>
              </a:r>
              <a:r>
                <a:rPr lang="fa-IR" sz="114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 مرتبه ۴</a:t>
              </a:r>
              <a:endParaRPr lang="en-US" sz="114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grpSp>
        <p:nvGrpSpPr>
          <p:cNvPr id="69" name="Group 68">
            <a:extLst>
              <a:ext uri="{FF2B5EF4-FFF2-40B4-BE49-F238E27FC236}">
                <a16:creationId xmlns:a16="http://schemas.microsoft.com/office/drawing/2014/main" id="{B46C2F47-1EA2-275C-435D-D0EB7A3D0C12}"/>
              </a:ext>
            </a:extLst>
          </p:cNvPr>
          <p:cNvGrpSpPr/>
          <p:nvPr/>
        </p:nvGrpSpPr>
        <p:grpSpPr>
          <a:xfrm>
            <a:off x="804672" y="5084064"/>
            <a:ext cx="10588752" cy="521208"/>
            <a:chOff x="804672" y="5084064"/>
            <a:chExt cx="10588752" cy="521208"/>
          </a:xfrm>
        </p:grpSpPr>
        <p:sp>
          <p:nvSpPr>
            <p:cNvPr id="49" name="Shape 47"/>
            <p:cNvSpPr/>
            <p:nvPr/>
          </p:nvSpPr>
          <p:spPr>
            <a:xfrm>
              <a:off x="804672" y="5084064"/>
              <a:ext cx="10588752" cy="521208"/>
            </a:xfrm>
            <a:prstGeom prst="roundRect">
              <a:avLst>
                <a:gd name="adj" fmla="val 7018"/>
              </a:avLst>
            </a:prstGeom>
            <a:solidFill>
              <a:srgbClr val="FFFFFF"/>
            </a:solidFill>
            <a:ln w="12700">
              <a:solidFill>
                <a:srgbClr val="E0E8EE"/>
              </a:solidFill>
              <a:prstDash val="solid"/>
            </a:ln>
          </p:spPr>
        </p:sp>
        <p:sp>
          <p:nvSpPr>
            <p:cNvPr id="50" name="Shape 48"/>
            <p:cNvSpPr/>
            <p:nvPr/>
          </p:nvSpPr>
          <p:spPr>
            <a:xfrm>
              <a:off x="11219688" y="5084064"/>
              <a:ext cx="173736" cy="521208"/>
            </a:xfrm>
            <a:prstGeom prst="rect">
              <a:avLst/>
            </a:prstGeom>
            <a:solidFill>
              <a:srgbClr val="C0392B"/>
            </a:solidFill>
            <a:ln w="12700">
              <a:solidFill>
                <a:srgbClr val="C0392B"/>
              </a:solidFill>
              <a:prstDash val="solid"/>
            </a:ln>
          </p:spPr>
        </p:sp>
        <p:sp>
          <p:nvSpPr>
            <p:cNvPr id="51" name="Text 49"/>
            <p:cNvSpPr/>
            <p:nvPr/>
          </p:nvSpPr>
          <p:spPr>
            <a:xfrm>
              <a:off x="8668512" y="5175504"/>
              <a:ext cx="2212848" cy="256032"/>
            </a:xfrm>
            <a:prstGeom prst="rect">
              <a:avLst/>
            </a:prstGeom>
            <a:noFill/>
            <a:ln/>
          </p:spPr>
          <p:txBody>
            <a:bodyPr wrap="square" lIns="0" tIns="0" rIns="0" bIns="0" rtlCol="0" anchor="ctr">
              <a:normAutofit/>
            </a:bodyPr>
            <a:lstStyle/>
            <a:p>
              <a:pPr marL="0" indent="0" algn="ctr" rtl="1">
                <a:buNone/>
              </a:pPr>
              <a:r>
                <a:rPr lang="en-US" sz="137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بالا رفتن از جعبه</a:t>
              </a:r>
              <a:endParaRPr lang="en-US" sz="13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2" name="Shape 50"/>
            <p:cNvSpPr/>
            <p:nvPr/>
          </p:nvSpPr>
          <p:spPr>
            <a:xfrm>
              <a:off x="6053328" y="5321808"/>
              <a:ext cx="2103120" cy="0"/>
            </a:xfrm>
            <a:prstGeom prst="line">
              <a:avLst/>
            </a:prstGeom>
            <a:noFill/>
            <a:ln w="101600">
              <a:solidFill>
                <a:srgbClr val="EEF4F8"/>
              </a:solidFill>
              <a:prstDash val="solid"/>
              <a:headEnd type="none"/>
              <a:tailEnd type="none"/>
            </a:ln>
          </p:spPr>
        </p:sp>
        <p:sp>
          <p:nvSpPr>
            <p:cNvPr id="53" name="Shape 51"/>
            <p:cNvSpPr/>
            <p:nvPr/>
          </p:nvSpPr>
          <p:spPr>
            <a:xfrm>
              <a:off x="6053328" y="5230368"/>
              <a:ext cx="1402080" cy="182880"/>
            </a:xfrm>
            <a:prstGeom prst="roundRect">
              <a:avLst>
                <a:gd name="adj" fmla="val 30000"/>
              </a:avLst>
            </a:prstGeom>
            <a:solidFill>
              <a:srgbClr val="C0392B"/>
            </a:solidFill>
            <a:ln w="12700">
              <a:solidFill>
                <a:srgbClr val="C0392B"/>
              </a:solidFill>
              <a:prstDash val="solid"/>
            </a:ln>
          </p:spPr>
        </p:sp>
        <p:sp>
          <p:nvSpPr>
            <p:cNvPr id="54" name="Text 52"/>
            <p:cNvSpPr/>
            <p:nvPr/>
          </p:nvSpPr>
          <p:spPr>
            <a:xfrm>
              <a:off x="8211312" y="5148072"/>
              <a:ext cx="411480" cy="310896"/>
            </a:xfrm>
            <a:prstGeom prst="rect">
              <a:avLst/>
            </a:prstGeom>
            <a:noFill/>
            <a:ln/>
          </p:spPr>
          <p:txBody>
            <a:bodyPr wrap="square" lIns="0" tIns="0" rIns="0" bIns="0" rtlCol="0" anchor="ctr">
              <a:normAutofit/>
            </a:bodyPr>
            <a:lstStyle/>
            <a:p>
              <a:pPr marL="0" indent="0" algn="ctr" rtl="1">
                <a:buNone/>
              </a:pPr>
              <a:r>
                <a:rPr lang="en-US" sz="1370" b="1" dirty="0">
                  <a:solidFill>
                    <a:srgbClr val="C0392B"/>
                  </a:solidFill>
                  <a:latin typeface="Sharif 1.2 Thin" panose="020B0000040000000000" pitchFamily="34" charset="-78"/>
                  <a:ea typeface="Sharif 1.2 Thin" panose="020B0000040000000000" pitchFamily="34" charset="-78"/>
                  <a:cs typeface="Sharif 1.2 Thin" panose="020B0000040000000000" pitchFamily="34" charset="-78"/>
                </a:rPr>
                <a:t>۱۰</a:t>
              </a:r>
              <a:endParaRPr lang="en-US" sz="13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5" name="Shape 53"/>
            <p:cNvSpPr/>
            <p:nvPr/>
          </p:nvSpPr>
          <p:spPr>
            <a:xfrm>
              <a:off x="4005072" y="5157216"/>
              <a:ext cx="1097280" cy="356616"/>
            </a:xfrm>
            <a:prstGeom prst="roundRect">
              <a:avLst>
                <a:gd name="adj" fmla="val 46154"/>
              </a:avLst>
            </a:prstGeom>
            <a:solidFill>
              <a:srgbClr val="FFF5D8"/>
            </a:solidFill>
            <a:ln w="12700">
              <a:solidFill>
                <a:srgbClr val="FFF5D8"/>
              </a:solidFill>
              <a:prstDash val="solid"/>
            </a:ln>
          </p:spPr>
        </p:sp>
        <p:sp>
          <p:nvSpPr>
            <p:cNvPr id="56" name="Text 54"/>
            <p:cNvSpPr/>
            <p:nvPr/>
          </p:nvSpPr>
          <p:spPr>
            <a:xfrm>
              <a:off x="4114800" y="5175504"/>
              <a:ext cx="877824" cy="320040"/>
            </a:xfrm>
            <a:prstGeom prst="rect">
              <a:avLst/>
            </a:prstGeom>
            <a:noFill/>
            <a:ln/>
          </p:spPr>
          <p:txBody>
            <a:bodyPr wrap="square" lIns="0" tIns="0" rIns="0" bIns="0" rtlCol="0" anchor="ctr">
              <a:normAutofit/>
            </a:bodyPr>
            <a:lstStyle/>
            <a:p>
              <a:pPr marL="0" indent="0" algn="ctr" rtl="1">
                <a:buNone/>
              </a:pPr>
              <a:r>
                <a:rPr lang="en-US" sz="1250" b="1" dirty="0">
                  <a:solidFill>
                    <a:srgbClr val="8A5A00"/>
                  </a:solidFill>
                  <a:latin typeface="Sharif 1.2 Thin" panose="020B0000040000000000" pitchFamily="34" charset="-78"/>
                  <a:ea typeface="Sharif 1.2 Thin" panose="020B0000040000000000" pitchFamily="34" charset="-78"/>
                  <a:cs typeface="Sharif 1.2 Thin" panose="020B0000040000000000" pitchFamily="34" charset="-78"/>
                </a:rPr>
                <a:t>۸۰٪</a:t>
              </a:r>
              <a:endParaRPr lang="en-US" sz="12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7" name="Text 55"/>
            <p:cNvSpPr/>
            <p:nvPr/>
          </p:nvSpPr>
          <p:spPr>
            <a:xfrm>
              <a:off x="1005840" y="5175504"/>
              <a:ext cx="2468880" cy="256032"/>
            </a:xfrm>
            <a:prstGeom prst="rect">
              <a:avLst/>
            </a:prstGeom>
            <a:noFill/>
            <a:ln/>
          </p:spPr>
          <p:txBody>
            <a:bodyPr wrap="square" lIns="0" tIns="0" rIns="0" bIns="0" rtlCol="0" anchor="ctr">
              <a:normAutofit/>
            </a:bodyPr>
            <a:lstStyle/>
            <a:p>
              <a:pPr algn="ctr" rtl="1"/>
              <a:r>
                <a:rPr lang="fa-IR" sz="1140" dirty="0" err="1">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باترورث</a:t>
              </a:r>
              <a:r>
                <a:rPr lang="fa-IR" sz="114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 مرتبه ۴</a:t>
              </a:r>
              <a:endParaRPr lang="en-US" sz="1140" dirty="0">
                <a:latin typeface="Sharif 1.2 Thin" panose="020B0000040000000000" pitchFamily="34" charset="-78"/>
                <a:ea typeface="Sharif 1.2 Thin" panose="020B0000040000000000" pitchFamily="34" charset="-78"/>
                <a:cs typeface="Sharif 1.2 Thin" panose="020B0000040000000000" pitchFamily="34" charset="-78"/>
              </a:endParaRPr>
            </a:p>
          </p:txBody>
        </p:sp>
      </p:grpSp>
      <p:sp>
        <p:nvSpPr>
          <p:cNvPr id="60" name="Shape 58"/>
          <p:cNvSpPr/>
          <p:nvPr/>
        </p:nvSpPr>
        <p:spPr>
          <a:xfrm>
            <a:off x="658368" y="6473952"/>
            <a:ext cx="10881360" cy="0"/>
          </a:xfrm>
          <a:prstGeom prst="line">
            <a:avLst/>
          </a:prstGeom>
          <a:noFill/>
          <a:ln w="10160">
            <a:solidFill>
              <a:srgbClr val="E9EEF2"/>
            </a:solidFill>
            <a:prstDash val="solid"/>
          </a:ln>
        </p:spPr>
      </p:sp>
      <p:sp>
        <p:nvSpPr>
          <p:cNvPr id="61" name="Text 59"/>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62" name="Text 60"/>
          <p:cNvSpPr/>
          <p:nvPr/>
        </p:nvSpPr>
        <p:spPr>
          <a:xfrm>
            <a:off x="3442716" y="6526609"/>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نتایج</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بحث | ۴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63" name="Text 61"/>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۱۰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64" name="Shape 62"/>
          <p:cNvSpPr/>
          <p:nvPr/>
        </p:nvSpPr>
        <p:spPr>
          <a:xfrm>
            <a:off x="2560320" y="6766560"/>
            <a:ext cx="4702629" cy="41148"/>
          </a:xfrm>
          <a:prstGeom prst="rect">
            <a:avLst/>
          </a:prstGeom>
          <a:solidFill>
            <a:srgbClr val="0B6E99"/>
          </a:solidFill>
          <a:ln w="12700">
            <a:solidFill>
              <a:srgbClr val="0B6E99"/>
            </a:solidFill>
            <a:prstDash val="solid"/>
          </a:ln>
        </p:spPr>
      </p:sp>
      <p:sp>
        <p:nvSpPr>
          <p:cNvPr id="65" name="Shape 63"/>
          <p:cNvSpPr/>
          <p:nvPr/>
        </p:nvSpPr>
        <p:spPr>
          <a:xfrm>
            <a:off x="7262949" y="6766560"/>
            <a:ext cx="1881051" cy="41148"/>
          </a:xfrm>
          <a:prstGeom prst="rect">
            <a:avLst/>
          </a:prstGeom>
          <a:solidFill>
            <a:srgbClr val="E6EDF2"/>
          </a:solidFill>
          <a:ln w="12700">
            <a:solidFill>
              <a:srgbClr val="E6EDF2"/>
            </a:solidFill>
            <a:prstDash val="solid"/>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6"/>
                                        </p:tgtEl>
                                        <p:attrNameLst>
                                          <p:attrName>style.visibility</p:attrName>
                                        </p:attrNameLst>
                                      </p:cBhvr>
                                      <p:to>
                                        <p:strVal val="visible"/>
                                      </p:to>
                                    </p:set>
                                    <p:anim calcmode="lin" valueType="num">
                                      <p:cBhvr additive="base">
                                        <p:cTn id="19" dur="500" fill="hold"/>
                                        <p:tgtEl>
                                          <p:spTgt spid="66"/>
                                        </p:tgtEl>
                                        <p:attrNameLst>
                                          <p:attrName>ppt_x</p:attrName>
                                        </p:attrNameLst>
                                      </p:cBhvr>
                                      <p:tavLst>
                                        <p:tav tm="0">
                                          <p:val>
                                            <p:strVal val="#ppt_x"/>
                                          </p:val>
                                        </p:tav>
                                        <p:tav tm="100000">
                                          <p:val>
                                            <p:strVal val="#ppt_x"/>
                                          </p:val>
                                        </p:tav>
                                      </p:tavLst>
                                    </p:anim>
                                    <p:anim calcmode="lin" valueType="num">
                                      <p:cBhvr additive="base">
                                        <p:cTn id="20"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8"/>
                                        </p:tgtEl>
                                        <p:attrNameLst>
                                          <p:attrName>style.visibility</p:attrName>
                                        </p:attrNameLst>
                                      </p:cBhvr>
                                      <p:to>
                                        <p:strVal val="visible"/>
                                      </p:to>
                                    </p:set>
                                    <p:anim calcmode="lin" valueType="num">
                                      <p:cBhvr additive="base">
                                        <p:cTn id="25" dur="500" fill="hold"/>
                                        <p:tgtEl>
                                          <p:spTgt spid="68"/>
                                        </p:tgtEl>
                                        <p:attrNameLst>
                                          <p:attrName>ppt_x</p:attrName>
                                        </p:attrNameLst>
                                      </p:cBhvr>
                                      <p:tavLst>
                                        <p:tav tm="0">
                                          <p:val>
                                            <p:strVal val="#ppt_x"/>
                                          </p:val>
                                        </p:tav>
                                        <p:tav tm="100000">
                                          <p:val>
                                            <p:strVal val="#ppt_x"/>
                                          </p:val>
                                        </p:tav>
                                      </p:tavLst>
                                    </p:anim>
                                    <p:anim calcmode="lin" valueType="num">
                                      <p:cBhvr additive="base">
                                        <p:cTn id="26" dur="500" fill="hold"/>
                                        <p:tgtEl>
                                          <p:spTgt spid="6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9"/>
                                        </p:tgtEl>
                                        <p:attrNameLst>
                                          <p:attrName>style.visibility</p:attrName>
                                        </p:attrNameLst>
                                      </p:cBhvr>
                                      <p:to>
                                        <p:strVal val="visible"/>
                                      </p:to>
                                    </p:set>
                                    <p:anim calcmode="lin" valueType="num">
                                      <p:cBhvr additive="base">
                                        <p:cTn id="31" dur="500" fill="hold"/>
                                        <p:tgtEl>
                                          <p:spTgt spid="69"/>
                                        </p:tgtEl>
                                        <p:attrNameLst>
                                          <p:attrName>ppt_x</p:attrName>
                                        </p:attrNameLst>
                                      </p:cBhvr>
                                      <p:tavLst>
                                        <p:tav tm="0">
                                          <p:val>
                                            <p:strVal val="#ppt_x"/>
                                          </p:val>
                                        </p:tav>
                                        <p:tav tm="100000">
                                          <p:val>
                                            <p:strVal val="#ppt_x"/>
                                          </p:val>
                                        </p:tav>
                                      </p:tavLst>
                                    </p:anim>
                                    <p:anim calcmode="lin" valueType="num">
                                      <p:cBhvr additive="base">
                                        <p:cTn id="32"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تفسیر فعالیت‌محور نتایج</a:t>
            </a:r>
            <a:endParaRPr lang="en-US" sz="27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Text 5"/>
          <p:cNvSpPr/>
          <p:nvPr/>
        </p:nvSpPr>
        <p:spPr>
          <a:xfrm>
            <a:off x="5010912" y="1444752"/>
            <a:ext cx="6108192"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اطلاعات تفکیک‌کننده برای هر حرکت یکسان نیست</a:t>
            </a:r>
            <a:endParaRPr lang="en-US" sz="18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8" name="Shape 6"/>
          <p:cNvSpPr/>
          <p:nvPr/>
        </p:nvSpPr>
        <p:spPr>
          <a:xfrm>
            <a:off x="768096" y="199339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9" name="Shape 7"/>
          <p:cNvSpPr/>
          <p:nvPr/>
        </p:nvSpPr>
        <p:spPr>
          <a:xfrm>
            <a:off x="5751576" y="1993392"/>
            <a:ext cx="173736" cy="1170432"/>
          </a:xfrm>
          <a:prstGeom prst="rect">
            <a:avLst/>
          </a:prstGeom>
          <a:solidFill>
            <a:srgbClr val="0B6E99"/>
          </a:solidFill>
          <a:ln w="12700">
            <a:solidFill>
              <a:srgbClr val="0B6E99"/>
            </a:solidFill>
            <a:prstDash val="solid"/>
          </a:ln>
        </p:spPr>
      </p:sp>
      <p:sp>
        <p:nvSpPr>
          <p:cNvPr id="10" name="Text 8"/>
          <p:cNvSpPr/>
          <p:nvPr/>
        </p:nvSpPr>
        <p:spPr>
          <a:xfrm>
            <a:off x="3621024" y="215798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ایستادن</a:t>
            </a:r>
            <a:endParaRPr lang="en-US" sz="16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1" name="Shape 9"/>
          <p:cNvSpPr/>
          <p:nvPr/>
        </p:nvSpPr>
        <p:spPr>
          <a:xfrm>
            <a:off x="1042416" y="2157984"/>
            <a:ext cx="1417320" cy="310896"/>
          </a:xfrm>
          <a:prstGeom prst="roundRect">
            <a:avLst>
              <a:gd name="adj" fmla="val 52941"/>
            </a:avLst>
          </a:prstGeom>
          <a:solidFill>
            <a:srgbClr val="EEF4F8"/>
          </a:solidFill>
          <a:ln w="12700">
            <a:solidFill>
              <a:srgbClr val="EEF4F8"/>
            </a:solidFill>
            <a:prstDash val="solid"/>
          </a:ln>
        </p:spPr>
      </p:sp>
      <p:sp>
        <p:nvSpPr>
          <p:cNvPr id="12" name="Text 10"/>
          <p:cNvSpPr/>
          <p:nvPr/>
        </p:nvSpPr>
        <p:spPr>
          <a:xfrm>
            <a:off x="1152144" y="217627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تعادل</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3" name="Text 11"/>
          <p:cNvSpPr/>
          <p:nvPr/>
        </p:nvSpPr>
        <p:spPr>
          <a:xfrm>
            <a:off x="1060704" y="255117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نوسان‌های کم‌دامنه و حرکت جبرانی دست‌ها و سر اهمیت بیشتری داشت.</a:t>
            </a:r>
            <a:endParaRPr lang="en-US" sz="121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4" name="Shape 12"/>
          <p:cNvSpPr/>
          <p:nvPr/>
        </p:nvSpPr>
        <p:spPr>
          <a:xfrm>
            <a:off x="768096" y="331927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15" name="Shape 13"/>
          <p:cNvSpPr/>
          <p:nvPr/>
        </p:nvSpPr>
        <p:spPr>
          <a:xfrm>
            <a:off x="5751576" y="3319272"/>
            <a:ext cx="173736" cy="1170432"/>
          </a:xfrm>
          <a:prstGeom prst="rect">
            <a:avLst/>
          </a:prstGeom>
          <a:solidFill>
            <a:srgbClr val="0B7A75"/>
          </a:solidFill>
          <a:ln w="12700">
            <a:solidFill>
              <a:srgbClr val="0B7A75"/>
            </a:solidFill>
            <a:prstDash val="solid"/>
          </a:ln>
        </p:spPr>
      </p:sp>
      <p:sp>
        <p:nvSpPr>
          <p:cNvPr id="16" name="Text 14"/>
          <p:cNvSpPr/>
          <p:nvPr/>
        </p:nvSpPr>
        <p:spPr>
          <a:xfrm>
            <a:off x="3621024" y="348386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برخاستن</a:t>
            </a:r>
            <a:endParaRPr lang="en-US" sz="16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7" name="Shape 15"/>
          <p:cNvSpPr/>
          <p:nvPr/>
        </p:nvSpPr>
        <p:spPr>
          <a:xfrm>
            <a:off x="1042416" y="3483864"/>
            <a:ext cx="1417320" cy="310896"/>
          </a:xfrm>
          <a:prstGeom prst="roundRect">
            <a:avLst>
              <a:gd name="adj" fmla="val 52941"/>
            </a:avLst>
          </a:prstGeom>
          <a:solidFill>
            <a:srgbClr val="EEF4F8"/>
          </a:solidFill>
          <a:ln w="12700">
            <a:solidFill>
              <a:srgbClr val="EEF4F8"/>
            </a:solidFill>
            <a:prstDash val="solid"/>
          </a:ln>
        </p:spPr>
      </p:sp>
      <p:sp>
        <p:nvSpPr>
          <p:cNvPr id="18" name="Text 16"/>
          <p:cNvSpPr/>
          <p:nvPr/>
        </p:nvSpPr>
        <p:spPr>
          <a:xfrm>
            <a:off x="1152144" y="350215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0B7A75"/>
                </a:solidFill>
                <a:latin typeface="Sharif 1.2 Thin" panose="020B0000040000000000" pitchFamily="34" charset="-78"/>
                <a:ea typeface="Sharif 1.2 Thin" panose="020B0000040000000000" pitchFamily="34" charset="-78"/>
                <a:cs typeface="Sharif 1.2 Thin" panose="020B0000040000000000" pitchFamily="34" charset="-78"/>
              </a:rPr>
              <a:t>هماهنگی</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9" name="Text 17"/>
          <p:cNvSpPr/>
          <p:nvPr/>
        </p:nvSpPr>
        <p:spPr>
          <a:xfrm>
            <a:off x="1060704" y="387705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ترتیب حرکت تنه، بازشدن مفاصل و استفاده از دست‌ها تعیین‌کننده بود.</a:t>
            </a:r>
            <a:endParaRPr lang="en-US" sz="121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0" name="Shape 18"/>
          <p:cNvSpPr/>
          <p:nvPr/>
        </p:nvSpPr>
        <p:spPr>
          <a:xfrm>
            <a:off x="768096" y="464515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1" name="Shape 19"/>
          <p:cNvSpPr/>
          <p:nvPr/>
        </p:nvSpPr>
        <p:spPr>
          <a:xfrm>
            <a:off x="5751576" y="4645152"/>
            <a:ext cx="173736" cy="1170432"/>
          </a:xfrm>
          <a:prstGeom prst="rect">
            <a:avLst/>
          </a:prstGeom>
          <a:solidFill>
            <a:srgbClr val="E69F00"/>
          </a:solidFill>
          <a:ln w="12700">
            <a:solidFill>
              <a:srgbClr val="E69F00"/>
            </a:solidFill>
            <a:prstDash val="solid"/>
          </a:ln>
        </p:spPr>
      </p:sp>
      <p:sp>
        <p:nvSpPr>
          <p:cNvPr id="22" name="Text 20"/>
          <p:cNvSpPr/>
          <p:nvPr/>
        </p:nvSpPr>
        <p:spPr>
          <a:xfrm>
            <a:off x="3621024" y="480974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پریدن</a:t>
            </a:r>
            <a:endParaRPr lang="en-US" sz="16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3" name="Shape 21"/>
          <p:cNvSpPr/>
          <p:nvPr/>
        </p:nvSpPr>
        <p:spPr>
          <a:xfrm>
            <a:off x="1042416" y="4809744"/>
            <a:ext cx="1417320" cy="310896"/>
          </a:xfrm>
          <a:prstGeom prst="roundRect">
            <a:avLst>
              <a:gd name="adj" fmla="val 52941"/>
            </a:avLst>
          </a:prstGeom>
          <a:solidFill>
            <a:srgbClr val="FFF5D8"/>
          </a:solidFill>
          <a:ln w="12700">
            <a:solidFill>
              <a:srgbClr val="FFF5D8"/>
            </a:solidFill>
            <a:prstDash val="solid"/>
          </a:ln>
        </p:spPr>
      </p:sp>
      <p:sp>
        <p:nvSpPr>
          <p:cNvPr id="24" name="Text 22"/>
          <p:cNvSpPr/>
          <p:nvPr/>
        </p:nvSpPr>
        <p:spPr>
          <a:xfrm>
            <a:off x="1152144" y="482803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E69F00"/>
                </a:solidFill>
                <a:latin typeface="Sharif 1.2 Thin" panose="020B0000040000000000" pitchFamily="34" charset="-78"/>
                <a:ea typeface="Sharif 1.2 Thin" panose="020B0000040000000000" pitchFamily="34" charset="-78"/>
                <a:cs typeface="Sharif 1.2 Thin" panose="020B0000040000000000" pitchFamily="34" charset="-78"/>
              </a:rPr>
              <a:t>انرژی و فرود</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5" name="Text 23"/>
          <p:cNvSpPr/>
          <p:nvPr/>
        </p:nvSpPr>
        <p:spPr>
          <a:xfrm>
            <a:off x="1060704" y="520293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دامنه شتاب، انرژی سیگنال و پایداری پس از فرود شاخص‌تر بودند.</a:t>
            </a:r>
            <a:endParaRPr lang="en-US" sz="121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6" name="Shape 24"/>
          <p:cNvSpPr/>
          <p:nvPr/>
        </p:nvSpPr>
        <p:spPr>
          <a:xfrm>
            <a:off x="6245352" y="199339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27" name="Shape 25"/>
          <p:cNvSpPr/>
          <p:nvPr/>
        </p:nvSpPr>
        <p:spPr>
          <a:xfrm>
            <a:off x="11228832" y="1993392"/>
            <a:ext cx="173736" cy="1170432"/>
          </a:xfrm>
          <a:prstGeom prst="rect">
            <a:avLst/>
          </a:prstGeom>
          <a:solidFill>
            <a:srgbClr val="2F855A"/>
          </a:solidFill>
          <a:ln w="12700">
            <a:solidFill>
              <a:srgbClr val="2F855A"/>
            </a:solidFill>
            <a:prstDash val="solid"/>
          </a:ln>
        </p:spPr>
      </p:sp>
      <p:sp>
        <p:nvSpPr>
          <p:cNvPr id="28" name="Text 26"/>
          <p:cNvSpPr/>
          <p:nvPr/>
        </p:nvSpPr>
        <p:spPr>
          <a:xfrm>
            <a:off x="9098280" y="215798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بالا آوردن سر</a:t>
            </a:r>
            <a:endParaRPr lang="en-US" sz="16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9" name="Shape 27"/>
          <p:cNvSpPr/>
          <p:nvPr/>
        </p:nvSpPr>
        <p:spPr>
          <a:xfrm>
            <a:off x="6519672" y="2157984"/>
            <a:ext cx="1417320" cy="310896"/>
          </a:xfrm>
          <a:prstGeom prst="roundRect">
            <a:avLst>
              <a:gd name="adj" fmla="val 52941"/>
            </a:avLst>
          </a:prstGeom>
          <a:solidFill>
            <a:srgbClr val="EEF4F8"/>
          </a:solidFill>
          <a:ln w="12700">
            <a:solidFill>
              <a:srgbClr val="EEF4F8"/>
            </a:solidFill>
            <a:prstDash val="solid"/>
          </a:ln>
        </p:spPr>
      </p:sp>
      <p:sp>
        <p:nvSpPr>
          <p:cNvPr id="30" name="Text 28"/>
          <p:cNvSpPr/>
          <p:nvPr/>
        </p:nvSpPr>
        <p:spPr>
          <a:xfrm>
            <a:off x="6629400" y="217627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2F855A"/>
                </a:solidFill>
                <a:latin typeface="Sharif 1.2 Thin" panose="020B0000040000000000" pitchFamily="34" charset="-78"/>
                <a:ea typeface="Sharif 1.2 Thin" panose="020B0000040000000000" pitchFamily="34" charset="-78"/>
                <a:cs typeface="Sharif 1.2 Thin" panose="020B0000040000000000" pitchFamily="34" charset="-78"/>
              </a:rPr>
              <a:t>حسگر پیشانی</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1" name="Text 29"/>
          <p:cNvSpPr/>
          <p:nvPr/>
        </p:nvSpPr>
        <p:spPr>
          <a:xfrm>
            <a:off x="6537960" y="255117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دامنه و سرعت حرکت سر، همراه با حرکات جبرانی اندام‌ها، اهمیت داشت.</a:t>
            </a:r>
            <a:endParaRPr lang="en-US" sz="121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2" name="Shape 30"/>
          <p:cNvSpPr/>
          <p:nvPr/>
        </p:nvSpPr>
        <p:spPr>
          <a:xfrm>
            <a:off x="6245352" y="3319272"/>
            <a:ext cx="5157216" cy="1170432"/>
          </a:xfrm>
          <a:prstGeom prst="roundRect">
            <a:avLst>
              <a:gd name="adj" fmla="val 6250"/>
            </a:avLst>
          </a:prstGeom>
          <a:solidFill>
            <a:srgbClr val="FFFFFF"/>
          </a:solidFill>
          <a:ln w="12700">
            <a:solidFill>
              <a:srgbClr val="DDE7ED"/>
            </a:solidFill>
            <a:prstDash val="solid"/>
          </a:ln>
          <a:effectLst>
            <a:outerShdw blurRad="12700" dist="50800" dir="2700000" algn="bl" rotWithShape="0">
              <a:srgbClr val="B0BEC5">
                <a:alpha val="12000"/>
              </a:srgbClr>
            </a:outerShdw>
          </a:effectLst>
        </p:spPr>
      </p:sp>
      <p:sp>
        <p:nvSpPr>
          <p:cNvPr id="33" name="Shape 31"/>
          <p:cNvSpPr/>
          <p:nvPr/>
        </p:nvSpPr>
        <p:spPr>
          <a:xfrm>
            <a:off x="11228832" y="3319272"/>
            <a:ext cx="173736" cy="1170432"/>
          </a:xfrm>
          <a:prstGeom prst="rect">
            <a:avLst/>
          </a:prstGeom>
          <a:solidFill>
            <a:srgbClr val="C0392B"/>
          </a:solidFill>
          <a:ln w="12700">
            <a:solidFill>
              <a:srgbClr val="C0392B"/>
            </a:solidFill>
            <a:prstDash val="solid"/>
          </a:ln>
        </p:spPr>
      </p:sp>
      <p:sp>
        <p:nvSpPr>
          <p:cNvPr id="34" name="Text 32"/>
          <p:cNvSpPr/>
          <p:nvPr/>
        </p:nvSpPr>
        <p:spPr>
          <a:xfrm>
            <a:off x="9098280" y="3483864"/>
            <a:ext cx="1874520" cy="274320"/>
          </a:xfrm>
          <a:prstGeom prst="rect">
            <a:avLst/>
          </a:prstGeom>
          <a:noFill/>
          <a:ln/>
        </p:spPr>
        <p:txBody>
          <a:bodyPr wrap="square" lIns="0" tIns="0" rIns="0" bIns="0" rtlCol="0" anchor="ctr">
            <a:normAutofit/>
          </a:bodyPr>
          <a:lstStyle/>
          <a:p>
            <a:pPr marL="0" indent="0" algn="r" rtl="1">
              <a:buNone/>
            </a:pPr>
            <a:r>
              <a:rPr lang="en-US" sz="16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بالا رفتن از جعبه</a:t>
            </a:r>
            <a:endParaRPr lang="en-US" sz="16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5" name="Shape 33"/>
          <p:cNvSpPr/>
          <p:nvPr/>
        </p:nvSpPr>
        <p:spPr>
          <a:xfrm>
            <a:off x="6519672" y="3483864"/>
            <a:ext cx="1417320" cy="310896"/>
          </a:xfrm>
          <a:prstGeom prst="roundRect">
            <a:avLst>
              <a:gd name="adj" fmla="val 52941"/>
            </a:avLst>
          </a:prstGeom>
          <a:solidFill>
            <a:srgbClr val="FDECEA"/>
          </a:solidFill>
          <a:ln w="12700">
            <a:solidFill>
              <a:srgbClr val="FDECEA"/>
            </a:solidFill>
            <a:prstDash val="solid"/>
          </a:ln>
        </p:spPr>
      </p:sp>
      <p:sp>
        <p:nvSpPr>
          <p:cNvPr id="36" name="Text 34"/>
          <p:cNvSpPr/>
          <p:nvPr/>
        </p:nvSpPr>
        <p:spPr>
          <a:xfrm>
            <a:off x="6629400" y="3502152"/>
            <a:ext cx="1197864" cy="274320"/>
          </a:xfrm>
          <a:prstGeom prst="rect">
            <a:avLst/>
          </a:prstGeom>
          <a:noFill/>
          <a:ln/>
        </p:spPr>
        <p:txBody>
          <a:bodyPr wrap="square" lIns="0" tIns="0" rIns="0" bIns="0" rtlCol="0" anchor="ctr">
            <a:normAutofit/>
          </a:bodyPr>
          <a:lstStyle/>
          <a:p>
            <a:pPr marL="0" indent="0" algn="ctr" rtl="1">
              <a:buNone/>
            </a:pPr>
            <a:r>
              <a:rPr lang="en-US" sz="1150" b="1" dirty="0">
                <a:solidFill>
                  <a:srgbClr val="C0392B"/>
                </a:solidFill>
                <a:latin typeface="Sharif 1.2 Thin" panose="020B0000040000000000" pitchFamily="34" charset="-78"/>
                <a:ea typeface="Sharif 1.2 Thin" panose="020B0000040000000000" pitchFamily="34" charset="-78"/>
                <a:cs typeface="Sharif 1.2 Thin" panose="020B0000040000000000" pitchFamily="34" charset="-78"/>
              </a:rPr>
              <a:t>انتقال وزن</a:t>
            </a:r>
            <a:endParaRPr lang="en-US" sz="11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7" name="Text 35"/>
          <p:cNvSpPr/>
          <p:nvPr/>
        </p:nvSpPr>
        <p:spPr>
          <a:xfrm>
            <a:off x="6537960" y="3877056"/>
            <a:ext cx="4389120" cy="420624"/>
          </a:xfrm>
          <a:prstGeom prst="rect">
            <a:avLst/>
          </a:prstGeom>
          <a:noFill/>
          <a:ln/>
        </p:spPr>
        <p:txBody>
          <a:bodyPr wrap="square" lIns="0" tIns="0" rIns="0" bIns="0" rtlCol="0" anchor="t">
            <a:normAutofit/>
          </a:bodyPr>
          <a:lstStyle/>
          <a:p>
            <a:pPr marL="0" indent="0" algn="r" rtl="1">
              <a:buNone/>
            </a:pPr>
            <a:r>
              <a:rPr lang="en-US" sz="121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حسگرهای پا و نحوه کشیدن بدن به بالا بیشترین اطلاعات را فراهم کردند.</a:t>
            </a:r>
            <a:endParaRPr lang="en-US" sz="121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8" name="Shape 36"/>
          <p:cNvSpPr/>
          <p:nvPr/>
        </p:nvSpPr>
        <p:spPr>
          <a:xfrm>
            <a:off x="6245352" y="4645152"/>
            <a:ext cx="5157216" cy="1316736"/>
          </a:xfrm>
          <a:prstGeom prst="roundRect">
            <a:avLst>
              <a:gd name="adj" fmla="val 5556"/>
            </a:avLst>
          </a:prstGeom>
          <a:solidFill>
            <a:srgbClr val="102A43"/>
          </a:solidFill>
          <a:ln w="12700">
            <a:solidFill>
              <a:srgbClr val="102A43"/>
            </a:solidFill>
            <a:prstDash val="solid"/>
          </a:ln>
        </p:spPr>
      </p:sp>
      <p:sp>
        <p:nvSpPr>
          <p:cNvPr id="39" name="Text 37"/>
          <p:cNvSpPr/>
          <p:nvPr/>
        </p:nvSpPr>
        <p:spPr>
          <a:xfrm>
            <a:off x="9509760" y="4846320"/>
            <a:ext cx="1508760" cy="274320"/>
          </a:xfrm>
          <a:prstGeom prst="rect">
            <a:avLst/>
          </a:prstGeom>
          <a:noFill/>
          <a:ln/>
        </p:spPr>
        <p:txBody>
          <a:bodyPr wrap="square" lIns="0" tIns="0" rIns="0" bIns="0" rtlCol="0" anchor="ctr">
            <a:normAutofit/>
          </a:bodyPr>
          <a:lstStyle/>
          <a:p>
            <a:pPr marL="0" indent="0" algn="r" rtl="1">
              <a:buNone/>
            </a:pPr>
            <a:r>
              <a:rPr lang="en-US" sz="1300" b="1" dirty="0">
                <a:solidFill>
                  <a:srgbClr val="A9D7E8"/>
                </a:solidFill>
                <a:latin typeface="Sharif 1.2 Thin" panose="020B0000040000000000" pitchFamily="34" charset="-78"/>
                <a:ea typeface="Sharif 1.2 Thin" panose="020B0000040000000000" pitchFamily="34" charset="-78"/>
                <a:cs typeface="Sharif 1.2 Thin" panose="020B0000040000000000" pitchFamily="34" charset="-78"/>
              </a:rPr>
              <a:t>نتیجه روش‌شناختی</a:t>
            </a:r>
            <a:endParaRPr lang="en-US" sz="13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0" name="Text 38"/>
          <p:cNvSpPr/>
          <p:nvPr/>
        </p:nvSpPr>
        <p:spPr>
          <a:xfrm>
            <a:off x="6565392" y="5239512"/>
            <a:ext cx="4434840" cy="457200"/>
          </a:xfrm>
          <a:prstGeom prst="rect">
            <a:avLst/>
          </a:prstGeom>
          <a:noFill/>
          <a:ln/>
        </p:spPr>
        <p:txBody>
          <a:bodyPr wrap="square" lIns="0" tIns="0" rIns="0" bIns="0" rtlCol="0" anchor="ctr">
            <a:normAutofit lnSpcReduction="10000"/>
          </a:bodyPr>
          <a:lstStyle/>
          <a:p>
            <a:pPr marL="0" indent="0" algn="ctr" rtl="1">
              <a:buNone/>
            </a:pPr>
            <a:r>
              <a:rPr lang="en-US" sz="162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بهتر است هر فعالیت به‌صورت مستقل تحلیل و مدل مناسب همان حرکت انتخاب شود.</a:t>
            </a:r>
            <a:endParaRPr lang="en-US" sz="16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1" name="Shape 39"/>
          <p:cNvSpPr/>
          <p:nvPr/>
        </p:nvSpPr>
        <p:spPr>
          <a:xfrm>
            <a:off x="658368" y="6473952"/>
            <a:ext cx="10881360" cy="0"/>
          </a:xfrm>
          <a:prstGeom prst="line">
            <a:avLst/>
          </a:prstGeom>
          <a:noFill/>
          <a:ln w="10160">
            <a:solidFill>
              <a:srgbClr val="E9EEF2"/>
            </a:solidFill>
            <a:prstDash val="solid"/>
          </a:ln>
        </p:spPr>
      </p:sp>
      <p:sp>
        <p:nvSpPr>
          <p:cNvPr id="42" name="Text 40"/>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3" name="Text 41"/>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نتایج</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بحث | ۳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4" name="Text 42"/>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۱۱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45" name="Shape 43"/>
          <p:cNvSpPr/>
          <p:nvPr/>
        </p:nvSpPr>
        <p:spPr>
          <a:xfrm>
            <a:off x="2560320" y="6766560"/>
            <a:ext cx="5172891" cy="41148"/>
          </a:xfrm>
          <a:prstGeom prst="rect">
            <a:avLst/>
          </a:prstGeom>
          <a:solidFill>
            <a:srgbClr val="0B6E99"/>
          </a:solidFill>
          <a:ln w="12700">
            <a:solidFill>
              <a:srgbClr val="0B6E99"/>
            </a:solidFill>
            <a:prstDash val="solid"/>
          </a:ln>
        </p:spPr>
      </p:sp>
      <p:sp>
        <p:nvSpPr>
          <p:cNvPr id="46" name="Shape 44"/>
          <p:cNvSpPr/>
          <p:nvPr/>
        </p:nvSpPr>
        <p:spPr>
          <a:xfrm>
            <a:off x="7733211" y="6766560"/>
            <a:ext cx="1410789" cy="41148"/>
          </a:xfrm>
          <a:prstGeom prst="rect">
            <a:avLst/>
          </a:prstGeom>
          <a:solidFill>
            <a:srgbClr val="E6EDF2"/>
          </a:solidFill>
          <a:ln w="12700">
            <a:solidFill>
              <a:srgbClr val="E6EDF2"/>
            </a:solidFill>
            <a:prstDash val="solid"/>
          </a:ln>
        </p:spPr>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محدودیت‌های پژوهش</a:t>
            </a:r>
            <a:endParaRPr lang="en-US" sz="27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Shape 5"/>
          <p:cNvSpPr/>
          <p:nvPr/>
        </p:nvSpPr>
        <p:spPr>
          <a:xfrm>
            <a:off x="749808" y="1755648"/>
            <a:ext cx="3456432" cy="3401568"/>
          </a:xfrm>
          <a:prstGeom prst="roundRect">
            <a:avLst>
              <a:gd name="adj" fmla="val 2151"/>
            </a:avLst>
          </a:prstGeom>
          <a:solidFill>
            <a:srgbClr val="FFFFFF"/>
          </a:solidFill>
          <a:ln w="17145">
            <a:solidFill>
              <a:srgbClr val="C0392B"/>
            </a:solidFill>
            <a:prstDash val="solid"/>
          </a:ln>
          <a:effectLst>
            <a:outerShdw blurRad="12700" dist="50800" dir="2700000" algn="bl" rotWithShape="0">
              <a:srgbClr val="B0BEC5">
                <a:alpha val="12000"/>
              </a:srgbClr>
            </a:outerShdw>
          </a:effectLst>
        </p:spPr>
      </p:sp>
      <p:sp>
        <p:nvSpPr>
          <p:cNvPr id="8" name="Shape 6"/>
          <p:cNvSpPr/>
          <p:nvPr/>
        </p:nvSpPr>
        <p:spPr>
          <a:xfrm>
            <a:off x="2057400" y="2057400"/>
            <a:ext cx="841248" cy="841248"/>
          </a:xfrm>
          <a:prstGeom prst="ellipse">
            <a:avLst/>
          </a:prstGeom>
          <a:solidFill>
            <a:srgbClr val="C0392B"/>
          </a:solidFill>
          <a:ln w="12700">
            <a:solidFill>
              <a:srgbClr val="C0392B"/>
            </a:solidFill>
            <a:prstDash val="solid"/>
          </a:ln>
        </p:spPr>
      </p:sp>
      <p:sp>
        <p:nvSpPr>
          <p:cNvPr id="9" name="Text 7"/>
          <p:cNvSpPr/>
          <p:nvPr/>
        </p:nvSpPr>
        <p:spPr>
          <a:xfrm>
            <a:off x="2057400" y="2112264"/>
            <a:ext cx="841248" cy="566928"/>
          </a:xfrm>
          <a:prstGeom prst="rect">
            <a:avLst/>
          </a:prstGeom>
          <a:noFill/>
          <a:ln/>
        </p:spPr>
        <p:txBody>
          <a:bodyPr wrap="square" lIns="0" tIns="0" rIns="0" bIns="0" rtlCol="0" anchor="ctr">
            <a:normAutofit/>
          </a:bodyPr>
          <a:lstStyle/>
          <a:p>
            <a:pPr marL="0" indent="0" algn="ctr" rtl="1">
              <a:buNone/>
            </a:pPr>
            <a:r>
              <a:rPr lang="en-US" sz="28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8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0" name="Text 8"/>
          <p:cNvSpPr/>
          <p:nvPr/>
        </p:nvSpPr>
        <p:spPr>
          <a:xfrm>
            <a:off x="1069848" y="3127248"/>
            <a:ext cx="2816352" cy="384048"/>
          </a:xfrm>
          <a:prstGeom prst="rect">
            <a:avLst/>
          </a:prstGeom>
          <a:noFill/>
          <a:ln/>
        </p:spPr>
        <p:txBody>
          <a:bodyPr wrap="square" lIns="0" tIns="0" rIns="0" bIns="0" rtlCol="0" anchor="ctr">
            <a:normAutofit/>
          </a:bodyPr>
          <a:lstStyle/>
          <a:p>
            <a:pPr marL="0" indent="0" algn="ctr" rtl="1">
              <a:buNone/>
            </a:pPr>
            <a:r>
              <a:rPr lang="en-US" sz="1700" b="1" dirty="0" err="1">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داده</a:t>
            </a:r>
            <a:r>
              <a:rPr lang="fa-IR" sz="17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‌برداری</a:t>
            </a:r>
            <a:r>
              <a:rPr lang="en-US" sz="17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 از یک فرد سالم</a:t>
            </a:r>
            <a:endParaRPr lang="en-US" sz="17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1" name="Text 9"/>
          <p:cNvSpPr/>
          <p:nvPr/>
        </p:nvSpPr>
        <p:spPr>
          <a:xfrm>
            <a:off x="1097280" y="3730752"/>
            <a:ext cx="2761488" cy="1024128"/>
          </a:xfrm>
          <a:prstGeom prst="rect">
            <a:avLst/>
          </a:prstGeom>
          <a:noFill/>
          <a:ln/>
        </p:spPr>
        <p:txBody>
          <a:bodyPr wrap="square" lIns="0" tIns="0" rIns="0" bIns="0" rtlCol="0" anchor="t">
            <a:normAutofit/>
          </a:bodyPr>
          <a:lstStyle/>
          <a:p>
            <a:pPr marL="0" indent="0" algn="ctr" rtl="1">
              <a:buNone/>
            </a:pPr>
            <a:r>
              <a:rPr lang="en-US" sz="127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الگوهای واقعی بیماران تحت تأثیر شدت بیماری، خستگی، کوتاهی عضلات و راهبردهای جبرانی فردی هستند.</a:t>
            </a:r>
            <a:endParaRPr lang="en-US" sz="12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2" name="Shape 10"/>
          <p:cNvSpPr/>
          <p:nvPr/>
        </p:nvSpPr>
        <p:spPr>
          <a:xfrm>
            <a:off x="4562856" y="1755648"/>
            <a:ext cx="3456432" cy="3401568"/>
          </a:xfrm>
          <a:prstGeom prst="roundRect">
            <a:avLst>
              <a:gd name="adj" fmla="val 2151"/>
            </a:avLst>
          </a:prstGeom>
          <a:solidFill>
            <a:srgbClr val="FFFFFF"/>
          </a:solidFill>
          <a:ln w="17145">
            <a:solidFill>
              <a:srgbClr val="E69F00"/>
            </a:solidFill>
            <a:prstDash val="solid"/>
          </a:ln>
          <a:effectLst>
            <a:outerShdw blurRad="12700" dist="50800" dir="2700000" algn="bl" rotWithShape="0">
              <a:srgbClr val="B0BEC5">
                <a:alpha val="12000"/>
              </a:srgbClr>
            </a:outerShdw>
          </a:effectLst>
        </p:spPr>
      </p:sp>
      <p:sp>
        <p:nvSpPr>
          <p:cNvPr id="13" name="Shape 11"/>
          <p:cNvSpPr/>
          <p:nvPr/>
        </p:nvSpPr>
        <p:spPr>
          <a:xfrm>
            <a:off x="5870448" y="2057400"/>
            <a:ext cx="841248" cy="841248"/>
          </a:xfrm>
          <a:prstGeom prst="ellipse">
            <a:avLst/>
          </a:prstGeom>
          <a:solidFill>
            <a:srgbClr val="E69F00"/>
          </a:solidFill>
          <a:ln w="12700">
            <a:solidFill>
              <a:srgbClr val="E69F00"/>
            </a:solidFill>
            <a:prstDash val="solid"/>
          </a:ln>
        </p:spPr>
      </p:sp>
      <p:sp>
        <p:nvSpPr>
          <p:cNvPr id="14" name="Text 12"/>
          <p:cNvSpPr/>
          <p:nvPr/>
        </p:nvSpPr>
        <p:spPr>
          <a:xfrm>
            <a:off x="5870448" y="2112264"/>
            <a:ext cx="841248" cy="566928"/>
          </a:xfrm>
          <a:prstGeom prst="rect">
            <a:avLst/>
          </a:prstGeom>
          <a:noFill/>
          <a:ln/>
        </p:spPr>
        <p:txBody>
          <a:bodyPr wrap="square" lIns="0" tIns="0" rIns="0" bIns="0" rtlCol="0" anchor="ctr">
            <a:normAutofit/>
          </a:bodyPr>
          <a:lstStyle/>
          <a:p>
            <a:pPr marL="0" indent="0" algn="ctr" rtl="1">
              <a:buNone/>
            </a:pPr>
            <a:r>
              <a:rPr lang="en-US" sz="28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۲</a:t>
            </a:r>
            <a:endParaRPr lang="en-US" sz="28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5" name="Text 13"/>
          <p:cNvSpPr/>
          <p:nvPr/>
        </p:nvSpPr>
        <p:spPr>
          <a:xfrm>
            <a:off x="4882896" y="3127248"/>
            <a:ext cx="2816352"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تعداد نمونه محدود</a:t>
            </a:r>
            <a:endParaRPr lang="en-US" sz="17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6" name="Text 14"/>
          <p:cNvSpPr/>
          <p:nvPr/>
        </p:nvSpPr>
        <p:spPr>
          <a:xfrm>
            <a:off x="4910328" y="3730752"/>
            <a:ext cx="2761488" cy="1024128"/>
          </a:xfrm>
          <a:prstGeom prst="rect">
            <a:avLst/>
          </a:prstGeom>
          <a:noFill/>
          <a:ln/>
        </p:spPr>
        <p:txBody>
          <a:bodyPr wrap="square" lIns="0" tIns="0" rIns="0" bIns="0" rtlCol="0" anchor="t">
            <a:normAutofit/>
          </a:bodyPr>
          <a:lstStyle/>
          <a:p>
            <a:pPr marL="0" indent="0" algn="ctr" rtl="1">
              <a:buNone/>
            </a:pPr>
            <a:r>
              <a:rPr lang="en-US" sz="127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اعتبارسنجی متقاطع، پایداری میان تکرارهای همان فرد را می‌سنجد؛ نه تعمیم به افراد جدید.</a:t>
            </a:r>
            <a:endParaRPr lang="en-US" sz="12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7" name="Shape 15"/>
          <p:cNvSpPr/>
          <p:nvPr/>
        </p:nvSpPr>
        <p:spPr>
          <a:xfrm>
            <a:off x="8375904" y="1755648"/>
            <a:ext cx="3456432" cy="3401568"/>
          </a:xfrm>
          <a:prstGeom prst="roundRect">
            <a:avLst>
              <a:gd name="adj" fmla="val 2151"/>
            </a:avLst>
          </a:prstGeom>
          <a:solidFill>
            <a:srgbClr val="FFFFFF"/>
          </a:solidFill>
          <a:ln w="17145">
            <a:solidFill>
              <a:srgbClr val="0B6E99"/>
            </a:solidFill>
            <a:prstDash val="solid"/>
          </a:ln>
          <a:effectLst>
            <a:outerShdw blurRad="12700" dist="50800" dir="2700000" algn="bl" rotWithShape="0">
              <a:srgbClr val="B0BEC5">
                <a:alpha val="12000"/>
              </a:srgbClr>
            </a:outerShdw>
          </a:effectLst>
        </p:spPr>
      </p:sp>
      <p:sp>
        <p:nvSpPr>
          <p:cNvPr id="18" name="Shape 16"/>
          <p:cNvSpPr/>
          <p:nvPr/>
        </p:nvSpPr>
        <p:spPr>
          <a:xfrm>
            <a:off x="9683496" y="2057400"/>
            <a:ext cx="841248" cy="841248"/>
          </a:xfrm>
          <a:prstGeom prst="ellipse">
            <a:avLst/>
          </a:prstGeom>
          <a:solidFill>
            <a:srgbClr val="0B6E99"/>
          </a:solidFill>
          <a:ln w="12700">
            <a:solidFill>
              <a:srgbClr val="0B6E99"/>
            </a:solidFill>
            <a:prstDash val="solid"/>
          </a:ln>
        </p:spPr>
      </p:sp>
      <p:sp>
        <p:nvSpPr>
          <p:cNvPr id="19" name="Text 17"/>
          <p:cNvSpPr/>
          <p:nvPr/>
        </p:nvSpPr>
        <p:spPr>
          <a:xfrm>
            <a:off x="9683496" y="2112264"/>
            <a:ext cx="841248" cy="566928"/>
          </a:xfrm>
          <a:prstGeom prst="rect">
            <a:avLst/>
          </a:prstGeom>
          <a:noFill/>
          <a:ln/>
        </p:spPr>
        <p:txBody>
          <a:bodyPr wrap="square" lIns="0" tIns="0" rIns="0" bIns="0" rtlCol="0" anchor="ctr">
            <a:normAutofit/>
          </a:bodyPr>
          <a:lstStyle/>
          <a:p>
            <a:pPr marL="0" indent="0" algn="ctr" rtl="1">
              <a:buNone/>
            </a:pPr>
            <a:r>
              <a:rPr lang="en-US" sz="28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۳</a:t>
            </a:r>
            <a:endParaRPr lang="en-US" sz="28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0" name="Text 18"/>
          <p:cNvSpPr/>
          <p:nvPr/>
        </p:nvSpPr>
        <p:spPr>
          <a:xfrm>
            <a:off x="8695944" y="3127248"/>
            <a:ext cx="2816352" cy="384048"/>
          </a:xfrm>
          <a:prstGeom prst="rect">
            <a:avLst/>
          </a:prstGeom>
          <a:noFill/>
          <a:ln/>
        </p:spPr>
        <p:txBody>
          <a:bodyPr wrap="square" lIns="0" tIns="0" rIns="0" bIns="0" rtlCol="0" anchor="ctr">
            <a:normAutofit/>
          </a:bodyPr>
          <a:lstStyle/>
          <a:p>
            <a:pPr marL="0" indent="0" algn="ctr" rtl="1">
              <a:buNone/>
            </a:pPr>
            <a:r>
              <a:rPr lang="en-US" sz="17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وابستگی به شرایط ثبت</a:t>
            </a:r>
            <a:endParaRPr lang="en-US" sz="17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1" name="Text 19"/>
          <p:cNvSpPr/>
          <p:nvPr/>
        </p:nvSpPr>
        <p:spPr>
          <a:xfrm>
            <a:off x="8723376" y="3730752"/>
            <a:ext cx="2761488" cy="1024128"/>
          </a:xfrm>
          <a:prstGeom prst="rect">
            <a:avLst/>
          </a:prstGeom>
          <a:noFill/>
          <a:ln/>
        </p:spPr>
        <p:txBody>
          <a:bodyPr wrap="square" lIns="0" tIns="0" rIns="0" bIns="0" rtlCol="0" anchor="t">
            <a:normAutofit/>
          </a:bodyPr>
          <a:lstStyle/>
          <a:p>
            <a:pPr marL="0" indent="0" algn="ctr" rtl="1">
              <a:buNone/>
            </a:pPr>
            <a:r>
              <a:rPr lang="en-US" sz="127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محل و زاویه نصب حسگر، نرخ نمونه‌برداری و پنجره زمانی می‌توانند ویژگی‌ها را تغییر دهند.</a:t>
            </a:r>
            <a:endParaRPr lang="en-US" sz="127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2" name="Shape 20"/>
          <p:cNvSpPr/>
          <p:nvPr/>
        </p:nvSpPr>
        <p:spPr>
          <a:xfrm>
            <a:off x="1051560" y="5468112"/>
            <a:ext cx="10085832" cy="694944"/>
          </a:xfrm>
          <a:prstGeom prst="roundRect">
            <a:avLst>
              <a:gd name="adj" fmla="val 15789"/>
            </a:avLst>
          </a:prstGeom>
          <a:solidFill>
            <a:srgbClr val="FDECEA"/>
          </a:solidFill>
          <a:ln w="12700">
            <a:solidFill>
              <a:srgbClr val="F0C8C2"/>
            </a:solidFill>
            <a:prstDash val="solid"/>
          </a:ln>
        </p:spPr>
        <p:txBody>
          <a:bodyPr/>
          <a:lstStyle/>
          <a:p>
            <a:pPr marL="0" algn="r" defTabSz="914400" rtl="1" eaLnBrk="1" latinLnBrk="0" hangingPunct="1"/>
            <a:endParaRPr lang="en-US" dirty="0"/>
          </a:p>
        </p:txBody>
      </p:sp>
      <p:sp>
        <p:nvSpPr>
          <p:cNvPr id="24" name="Shape 22"/>
          <p:cNvSpPr/>
          <p:nvPr/>
        </p:nvSpPr>
        <p:spPr>
          <a:xfrm>
            <a:off x="658368" y="6473952"/>
            <a:ext cx="10881360" cy="0"/>
          </a:xfrm>
          <a:prstGeom prst="line">
            <a:avLst/>
          </a:prstGeom>
          <a:noFill/>
          <a:ln w="10160">
            <a:solidFill>
              <a:srgbClr val="E9EEF2"/>
            </a:solidFill>
            <a:prstDash val="solid"/>
          </a:ln>
        </p:spPr>
      </p:sp>
      <p:sp>
        <p:nvSpPr>
          <p:cNvPr id="25" name="Text 23"/>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6" name="Text 24"/>
          <p:cNvSpPr/>
          <p:nvPr/>
        </p:nvSpPr>
        <p:spPr>
          <a:xfrm>
            <a:off x="3442716"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محدودیت‌ها</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مسیر آینده | ۲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7" name="Text 25"/>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۱۲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8" name="Shape 26"/>
          <p:cNvSpPr/>
          <p:nvPr/>
        </p:nvSpPr>
        <p:spPr>
          <a:xfrm>
            <a:off x="2560320" y="6766560"/>
            <a:ext cx="5643154" cy="41148"/>
          </a:xfrm>
          <a:prstGeom prst="rect">
            <a:avLst/>
          </a:prstGeom>
          <a:solidFill>
            <a:srgbClr val="0B6E99"/>
          </a:solidFill>
          <a:ln w="12700">
            <a:solidFill>
              <a:srgbClr val="0B6E99"/>
            </a:solidFill>
            <a:prstDash val="solid"/>
          </a:ln>
        </p:spPr>
      </p:sp>
      <p:sp>
        <p:nvSpPr>
          <p:cNvPr id="29" name="Shape 27"/>
          <p:cNvSpPr/>
          <p:nvPr/>
        </p:nvSpPr>
        <p:spPr>
          <a:xfrm>
            <a:off x="8203474" y="6766560"/>
            <a:ext cx="940526" cy="41148"/>
          </a:xfrm>
          <a:prstGeom prst="rect">
            <a:avLst/>
          </a:prstGeom>
          <a:solidFill>
            <a:srgbClr val="E6EDF2"/>
          </a:solidFill>
          <a:ln w="12700">
            <a:solidFill>
              <a:srgbClr val="E6EDF2"/>
            </a:solidFill>
            <a:prstDash val="solid"/>
          </a:ln>
        </p:spPr>
      </p:sp>
      <p:sp>
        <p:nvSpPr>
          <p:cNvPr id="6" name="Text 34">
            <a:extLst>
              <a:ext uri="{FF2B5EF4-FFF2-40B4-BE49-F238E27FC236}">
                <a16:creationId xmlns:a16="http://schemas.microsoft.com/office/drawing/2014/main" id="{631FC415-8B21-6287-6343-B42B9786CD62}"/>
              </a:ext>
            </a:extLst>
          </p:cNvPr>
          <p:cNvSpPr/>
          <p:nvPr/>
        </p:nvSpPr>
        <p:spPr>
          <a:xfrm>
            <a:off x="2552700" y="5504689"/>
            <a:ext cx="7360920" cy="347472"/>
          </a:xfrm>
          <a:prstGeom prst="rect">
            <a:avLst/>
          </a:prstGeom>
          <a:noFill/>
          <a:ln/>
        </p:spPr>
        <p:txBody>
          <a:bodyPr wrap="square" lIns="0" tIns="0" rIns="0" bIns="0" rtlCol="0" anchor="ctr">
            <a:normAutofit/>
          </a:bodyPr>
          <a:lstStyle/>
          <a:p>
            <a:pPr marL="0" indent="0" algn="ctr" rtl="1">
              <a:buNone/>
            </a:pPr>
            <a:r>
              <a:rPr lang="en-US" sz="2000" b="1" dirty="0">
                <a:solidFill>
                  <a:srgbClr val="C0392B"/>
                </a:solidFill>
                <a:latin typeface="Sharif 1.2" panose="020B0000040000000000" pitchFamily="34" charset="-78"/>
                <a:ea typeface="Sharif 1.2" panose="020B0000040000000000" pitchFamily="34" charset="-78"/>
                <a:cs typeface="Sharif 1.2" panose="020B0000040000000000" pitchFamily="34" charset="-78"/>
              </a:rPr>
              <a:t>هیچ داده‌ای از بیمار مبتلا به دوشن برای آموزش مدل‌ها استفاده نشده است.</a:t>
            </a:r>
            <a:endParaRPr lang="en-US" sz="2000" b="1" dirty="0">
              <a:latin typeface="Sharif 1.2" panose="020B0000040000000000" pitchFamily="34" charset="-78"/>
              <a:ea typeface="Sharif 1.2" panose="020B0000040000000000" pitchFamily="34" charset="-78"/>
              <a:cs typeface="Sharif 1.2" panose="020B0000040000000000" pitchFamily="34" charset="-78"/>
            </a:endParaRPr>
          </a:p>
        </p:txBody>
      </p:sp>
      <p:sp>
        <p:nvSpPr>
          <p:cNvPr id="30" name="Text 35">
            <a:extLst>
              <a:ext uri="{FF2B5EF4-FFF2-40B4-BE49-F238E27FC236}">
                <a16:creationId xmlns:a16="http://schemas.microsoft.com/office/drawing/2014/main" id="{791B3F77-DEC3-E40E-C2D6-D74F4C70DD0C}"/>
              </a:ext>
            </a:extLst>
          </p:cNvPr>
          <p:cNvSpPr/>
          <p:nvPr/>
        </p:nvSpPr>
        <p:spPr>
          <a:xfrm>
            <a:off x="2552700" y="5888737"/>
            <a:ext cx="7360920" cy="274320"/>
          </a:xfrm>
          <a:prstGeom prst="rect">
            <a:avLst/>
          </a:prstGeom>
          <a:noFill/>
          <a:ln/>
        </p:spPr>
        <p:txBody>
          <a:bodyPr wrap="square" lIns="0" tIns="0" rIns="0" bIns="0" rtlCol="0" anchor="ctr">
            <a:normAutofit/>
          </a:bodyPr>
          <a:lstStyle/>
          <a:p>
            <a:pPr marL="0" indent="0" algn="ctr" rtl="1">
              <a:buNone/>
            </a:pPr>
            <a:r>
              <a:rPr lang="en-US" sz="1350" dirty="0">
                <a:solidFill>
                  <a:srgbClr val="1F2937"/>
                </a:solidFill>
                <a:latin typeface="Sharif 1.2 Thin" panose="020B0000040000000000" pitchFamily="34" charset="-78"/>
                <a:ea typeface="Sharif 1.2 Thin" panose="020B0000040000000000" pitchFamily="34" charset="-78"/>
                <a:cs typeface="Sharif 1.2 Thin" panose="020B0000040000000000" pitchFamily="34" charset="-78"/>
              </a:rPr>
              <a:t>نتایج این پژوهش باید به‌عنوان امکان‌سنجی فنی تفسیر شوند، نه اثبات کاربرد بالینی.</a:t>
            </a:r>
            <a:endParaRPr lang="en-US" sz="1350" dirty="0">
              <a:latin typeface="Sharif 1.2 Thin" panose="020B0000040000000000" pitchFamily="34" charset="-78"/>
              <a:ea typeface="Sharif 1.2 Thin" panose="020B0000040000000000" pitchFamily="34" charset="-78"/>
              <a:cs typeface="Sharif 1.2 Thin" panose="020B0000040000000000" pitchFamily="34" charset="-78"/>
            </a:endParaRP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0B6E99"/>
          </a:solidFill>
          <a:ln w="12700">
            <a:solidFill>
              <a:srgbClr val="0B6E99"/>
            </a:solidFill>
            <a:prstDash val="solid"/>
          </a:ln>
        </p:spPr>
      </p:sp>
      <p:sp>
        <p:nvSpPr>
          <p:cNvPr id="4" name="Text 2"/>
          <p:cNvSpPr/>
          <p:nvPr/>
        </p:nvSpPr>
        <p:spPr>
          <a:xfrm>
            <a:off x="4572000" y="493776"/>
            <a:ext cx="6812280" cy="530352"/>
          </a:xfrm>
          <a:prstGeom prst="rect">
            <a:avLst/>
          </a:prstGeom>
          <a:noFill/>
          <a:ln/>
        </p:spPr>
        <p:txBody>
          <a:bodyPr wrap="square" lIns="0" tIns="0" rIns="0" bIns="0" rtlCol="0" anchor="ctr">
            <a:normAutofit/>
          </a:bodyPr>
          <a:lstStyle/>
          <a:p>
            <a:pPr marL="0" indent="0" algn="r" rtl="1">
              <a:buNone/>
            </a:pPr>
            <a:r>
              <a:rPr lang="en-US" sz="270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مسیر پیشنهادی تا کاربرد بالینی</a:t>
            </a:r>
            <a:endParaRPr lang="en-US" sz="27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 name="Shape 3"/>
          <p:cNvSpPr/>
          <p:nvPr/>
        </p:nvSpPr>
        <p:spPr>
          <a:xfrm>
            <a:off x="658368" y="1207008"/>
            <a:ext cx="10881360" cy="0"/>
          </a:xfrm>
          <a:prstGeom prst="line">
            <a:avLst/>
          </a:prstGeom>
          <a:noFill/>
          <a:ln w="15240">
            <a:solidFill>
              <a:srgbClr val="D9E2EC"/>
            </a:solidFill>
            <a:prstDash val="solid"/>
          </a:ln>
        </p:spPr>
      </p:sp>
      <p:sp>
        <p:nvSpPr>
          <p:cNvPr id="7" name="Text 5"/>
          <p:cNvSpPr/>
          <p:nvPr/>
        </p:nvSpPr>
        <p:spPr>
          <a:xfrm>
            <a:off x="3858768" y="1444752"/>
            <a:ext cx="7223760" cy="384048"/>
          </a:xfrm>
          <a:prstGeom prst="rect">
            <a:avLst/>
          </a:prstGeom>
          <a:noFill/>
          <a:ln/>
        </p:spPr>
        <p:txBody>
          <a:bodyPr wrap="square" lIns="0" tIns="0" rIns="0" bIns="0" rtlCol="0" anchor="ctr">
            <a:normAutofit/>
          </a:bodyPr>
          <a:lstStyle/>
          <a:p>
            <a:pPr marL="0" indent="0" algn="r" rtl="1">
              <a:buNone/>
            </a:pPr>
            <a:r>
              <a:rPr lang="en-US" sz="185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گام بعدی، تبدیل امکان‌سنجی فنی به یک مطالعه بالینی معتبر است</a:t>
            </a:r>
            <a:endParaRPr lang="en-US" sz="185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9" name="Shape 7"/>
          <p:cNvSpPr/>
          <p:nvPr/>
        </p:nvSpPr>
        <p:spPr>
          <a:xfrm>
            <a:off x="9674352" y="2350008"/>
            <a:ext cx="786384" cy="786384"/>
          </a:xfrm>
          <a:prstGeom prst="ellipse">
            <a:avLst/>
          </a:prstGeom>
          <a:solidFill>
            <a:srgbClr val="0B6E99"/>
          </a:solidFill>
          <a:ln w="12700">
            <a:solidFill>
              <a:srgbClr val="0B6E99"/>
            </a:solidFill>
            <a:prstDash val="solid"/>
          </a:ln>
        </p:spPr>
        <p:txBody>
          <a:bodyPr/>
          <a:lstStyle/>
          <a:p>
            <a:pPr marL="0" algn="r" defTabSz="914400" rtl="1" eaLnBrk="1" latinLnBrk="0" hangingPunct="1"/>
            <a:endParaRPr lang="en-US" dirty="0"/>
          </a:p>
        </p:txBody>
      </p:sp>
      <p:sp>
        <p:nvSpPr>
          <p:cNvPr id="10" name="Text 8"/>
          <p:cNvSpPr/>
          <p:nvPr/>
        </p:nvSpPr>
        <p:spPr>
          <a:xfrm>
            <a:off x="9674352" y="2441448"/>
            <a:ext cx="786384" cy="475488"/>
          </a:xfrm>
          <a:prstGeom prst="rect">
            <a:avLst/>
          </a:prstGeom>
          <a:noFill/>
          <a:ln/>
        </p:spPr>
        <p:txBody>
          <a:bodyPr wrap="square" lIns="0" tIns="0" rIns="0" bIns="0" rtlCol="0" anchor="ctr">
            <a:normAutofit/>
          </a:bodyPr>
          <a:lstStyle/>
          <a:p>
            <a:pPr marL="0" indent="0" algn="ctr">
              <a:buNone/>
            </a:pPr>
            <a:r>
              <a:rPr lang="fa-IR" sz="22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2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1" name="Shape 9"/>
          <p:cNvSpPr/>
          <p:nvPr/>
        </p:nvSpPr>
        <p:spPr>
          <a:xfrm>
            <a:off x="8997696" y="3401568"/>
            <a:ext cx="2139696" cy="1627632"/>
          </a:xfrm>
          <a:prstGeom prst="roundRect">
            <a:avLst>
              <a:gd name="adj" fmla="val 4494"/>
            </a:avLst>
          </a:prstGeom>
          <a:solidFill>
            <a:srgbClr val="FFFFFF"/>
          </a:solidFill>
          <a:ln w="16510">
            <a:solidFill>
              <a:srgbClr val="0B6E99"/>
            </a:solidFill>
            <a:prstDash val="solid"/>
          </a:ln>
        </p:spPr>
      </p:sp>
      <p:sp>
        <p:nvSpPr>
          <p:cNvPr id="12" name="Text 10"/>
          <p:cNvSpPr/>
          <p:nvPr/>
        </p:nvSpPr>
        <p:spPr>
          <a:xfrm>
            <a:off x="9144000"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داده‌برداری از بیماران</a:t>
            </a:r>
            <a:endParaRPr lang="en-US" sz="153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3" name="Text 11"/>
          <p:cNvSpPr/>
          <p:nvPr/>
        </p:nvSpPr>
        <p:spPr>
          <a:xfrm>
            <a:off x="9171432" y="4178808"/>
            <a:ext cx="1792224" cy="566928"/>
          </a:xfrm>
          <a:prstGeom prst="rect">
            <a:avLst/>
          </a:prstGeom>
          <a:noFill/>
          <a:ln/>
        </p:spPr>
        <p:txBody>
          <a:bodyPr wrap="square" lIns="0" tIns="0" rIns="0" bIns="0" rtlCol="0" anchor="t">
            <a:normAutofit/>
          </a:bodyPr>
          <a:lstStyle/>
          <a:p>
            <a:pPr marL="0" indent="0" algn="ctr" rtl="1">
              <a:buNone/>
            </a:pPr>
            <a:r>
              <a:rPr lang="en-US" sz="1140" dirty="0" err="1">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اجرای</a:t>
            </a:r>
            <a:r>
              <a:rPr lang="en-US" sz="114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 NSAA با حضور متخصص</a:t>
            </a:r>
            <a:endParaRPr lang="en-US" sz="114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5" name="Shape 13"/>
          <p:cNvSpPr/>
          <p:nvPr/>
        </p:nvSpPr>
        <p:spPr>
          <a:xfrm>
            <a:off x="7059168" y="2350008"/>
            <a:ext cx="786384" cy="786384"/>
          </a:xfrm>
          <a:prstGeom prst="ellipse">
            <a:avLst/>
          </a:prstGeom>
          <a:solidFill>
            <a:srgbClr val="0B7A75"/>
          </a:solidFill>
          <a:ln w="12700">
            <a:solidFill>
              <a:srgbClr val="0B7A75"/>
            </a:solidFill>
            <a:prstDash val="solid"/>
          </a:ln>
        </p:spPr>
        <p:txBody>
          <a:bodyPr/>
          <a:lstStyle/>
          <a:p>
            <a:pPr marL="0" algn="r" defTabSz="914400" rtl="1" eaLnBrk="1" latinLnBrk="0" hangingPunct="1"/>
            <a:endParaRPr lang="en-US" dirty="0"/>
          </a:p>
        </p:txBody>
      </p:sp>
      <p:sp>
        <p:nvSpPr>
          <p:cNvPr id="16" name="Text 14"/>
          <p:cNvSpPr/>
          <p:nvPr/>
        </p:nvSpPr>
        <p:spPr>
          <a:xfrm>
            <a:off x="7059168" y="2441448"/>
            <a:ext cx="786384" cy="475488"/>
          </a:xfrm>
          <a:prstGeom prst="rect">
            <a:avLst/>
          </a:prstGeom>
          <a:noFill/>
          <a:ln/>
        </p:spPr>
        <p:txBody>
          <a:bodyPr wrap="square" lIns="0" tIns="0" rIns="0" bIns="0" rtlCol="0" anchor="ctr">
            <a:normAutofit/>
          </a:bodyPr>
          <a:lstStyle/>
          <a:p>
            <a:pPr marL="0" indent="0" algn="ctr">
              <a:buNone/>
            </a:pPr>
            <a:r>
              <a:rPr lang="fa-IR" sz="22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۲</a:t>
            </a:r>
            <a:endParaRPr lang="en-US" sz="2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7" name="Shape 15"/>
          <p:cNvSpPr/>
          <p:nvPr/>
        </p:nvSpPr>
        <p:spPr>
          <a:xfrm>
            <a:off x="6382512" y="3401568"/>
            <a:ext cx="2139696" cy="1627632"/>
          </a:xfrm>
          <a:prstGeom prst="roundRect">
            <a:avLst>
              <a:gd name="adj" fmla="val 4494"/>
            </a:avLst>
          </a:prstGeom>
          <a:solidFill>
            <a:srgbClr val="FFFFFF"/>
          </a:solidFill>
          <a:ln w="16510">
            <a:solidFill>
              <a:srgbClr val="0B7A75"/>
            </a:solidFill>
            <a:prstDash val="solid"/>
          </a:ln>
        </p:spPr>
      </p:sp>
      <p:sp>
        <p:nvSpPr>
          <p:cNvPr id="18" name="Text 16"/>
          <p:cNvSpPr/>
          <p:nvPr/>
        </p:nvSpPr>
        <p:spPr>
          <a:xfrm>
            <a:off x="6528816"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اعتبارسنجی مستقل از آزمودنی</a:t>
            </a:r>
            <a:endParaRPr lang="en-US" sz="153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9" name="Text 17"/>
          <p:cNvSpPr/>
          <p:nvPr/>
        </p:nvSpPr>
        <p:spPr>
          <a:xfrm>
            <a:off x="6556248"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کنار گذاشتن کامل داده یک فرد در آزمون</a:t>
            </a:r>
            <a:endParaRPr lang="en-US" sz="114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1" name="Shape 19"/>
          <p:cNvSpPr/>
          <p:nvPr/>
        </p:nvSpPr>
        <p:spPr>
          <a:xfrm>
            <a:off x="4443984" y="2350008"/>
            <a:ext cx="786384" cy="786384"/>
          </a:xfrm>
          <a:prstGeom prst="ellipse">
            <a:avLst/>
          </a:prstGeom>
          <a:solidFill>
            <a:srgbClr val="6B5BA6"/>
          </a:solidFill>
          <a:ln w="12700">
            <a:solidFill>
              <a:srgbClr val="6B5BA6"/>
            </a:solidFill>
            <a:prstDash val="solid"/>
          </a:ln>
        </p:spPr>
      </p:sp>
      <p:sp>
        <p:nvSpPr>
          <p:cNvPr id="22" name="Text 20"/>
          <p:cNvSpPr/>
          <p:nvPr/>
        </p:nvSpPr>
        <p:spPr>
          <a:xfrm>
            <a:off x="4443984" y="2441448"/>
            <a:ext cx="786384" cy="475488"/>
          </a:xfrm>
          <a:prstGeom prst="rect">
            <a:avLst/>
          </a:prstGeom>
          <a:noFill/>
          <a:ln/>
        </p:spPr>
        <p:txBody>
          <a:bodyPr wrap="square" lIns="0" tIns="0" rIns="0" bIns="0" rtlCol="0" anchor="ctr">
            <a:normAutofit/>
          </a:bodyPr>
          <a:lstStyle/>
          <a:p>
            <a:pPr marL="0" indent="0" algn="ctr">
              <a:buNone/>
            </a:pPr>
            <a:r>
              <a:rPr lang="fa-IR" sz="22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۳</a:t>
            </a:r>
            <a:endParaRPr lang="en-US" sz="2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3" name="Shape 21"/>
          <p:cNvSpPr/>
          <p:nvPr/>
        </p:nvSpPr>
        <p:spPr>
          <a:xfrm>
            <a:off x="3767328" y="3401568"/>
            <a:ext cx="2139696" cy="1627632"/>
          </a:xfrm>
          <a:prstGeom prst="roundRect">
            <a:avLst>
              <a:gd name="adj" fmla="val 4494"/>
            </a:avLst>
          </a:prstGeom>
          <a:solidFill>
            <a:srgbClr val="FFFFFF"/>
          </a:solidFill>
          <a:ln w="16510">
            <a:solidFill>
              <a:srgbClr val="6B5BA6"/>
            </a:solidFill>
            <a:prstDash val="solid"/>
          </a:ln>
        </p:spPr>
      </p:sp>
      <p:sp>
        <p:nvSpPr>
          <p:cNvPr id="24" name="Text 22"/>
          <p:cNvSpPr/>
          <p:nvPr/>
        </p:nvSpPr>
        <p:spPr>
          <a:xfrm>
            <a:off x="3913632"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بهینه‌سازی مدل و ویژگی</a:t>
            </a:r>
            <a:endParaRPr lang="en-US" sz="153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5" name="Text 23"/>
          <p:cNvSpPr/>
          <p:nvPr/>
        </p:nvSpPr>
        <p:spPr>
          <a:xfrm>
            <a:off x="3941064"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 ویژگی‌های فرکانسی و مدل‌های زمانی</a:t>
            </a:r>
            <a:endParaRPr lang="en-US" sz="114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6" name="Shape 24"/>
          <p:cNvSpPr/>
          <p:nvPr/>
        </p:nvSpPr>
        <p:spPr>
          <a:xfrm>
            <a:off x="1828800" y="2350008"/>
            <a:ext cx="786384" cy="786384"/>
          </a:xfrm>
          <a:prstGeom prst="ellipse">
            <a:avLst/>
          </a:prstGeom>
          <a:solidFill>
            <a:srgbClr val="2F855A"/>
          </a:solidFill>
          <a:ln w="12700">
            <a:solidFill>
              <a:srgbClr val="2F855A"/>
            </a:solidFill>
            <a:prstDash val="solid"/>
          </a:ln>
        </p:spPr>
      </p:sp>
      <p:sp>
        <p:nvSpPr>
          <p:cNvPr id="27" name="Text 25"/>
          <p:cNvSpPr/>
          <p:nvPr/>
        </p:nvSpPr>
        <p:spPr>
          <a:xfrm>
            <a:off x="1828800" y="2441448"/>
            <a:ext cx="786384" cy="475488"/>
          </a:xfrm>
          <a:prstGeom prst="rect">
            <a:avLst/>
          </a:prstGeom>
          <a:noFill/>
          <a:ln/>
        </p:spPr>
        <p:txBody>
          <a:bodyPr wrap="square" lIns="0" tIns="0" rIns="0" bIns="0" rtlCol="0" anchor="ctr">
            <a:normAutofit/>
          </a:bodyPr>
          <a:lstStyle/>
          <a:p>
            <a:pPr marL="0" indent="0" algn="ctr">
              <a:buNone/>
            </a:pPr>
            <a:r>
              <a:rPr lang="fa-IR" sz="22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۴</a:t>
            </a:r>
            <a:endParaRPr lang="en-US" sz="2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8" name="Shape 26"/>
          <p:cNvSpPr/>
          <p:nvPr/>
        </p:nvSpPr>
        <p:spPr>
          <a:xfrm>
            <a:off x="1152144" y="3401568"/>
            <a:ext cx="2139696" cy="1627632"/>
          </a:xfrm>
          <a:prstGeom prst="roundRect">
            <a:avLst>
              <a:gd name="adj" fmla="val 4494"/>
            </a:avLst>
          </a:prstGeom>
          <a:solidFill>
            <a:srgbClr val="FFFFFF"/>
          </a:solidFill>
          <a:ln w="16510">
            <a:solidFill>
              <a:srgbClr val="2F855A"/>
            </a:solidFill>
            <a:prstDash val="solid"/>
          </a:ln>
        </p:spPr>
      </p:sp>
      <p:sp>
        <p:nvSpPr>
          <p:cNvPr id="29" name="Text 27"/>
          <p:cNvSpPr/>
          <p:nvPr/>
        </p:nvSpPr>
        <p:spPr>
          <a:xfrm>
            <a:off x="1298448" y="3639312"/>
            <a:ext cx="1847088" cy="384048"/>
          </a:xfrm>
          <a:prstGeom prst="rect">
            <a:avLst/>
          </a:prstGeom>
          <a:noFill/>
          <a:ln/>
        </p:spPr>
        <p:txBody>
          <a:bodyPr wrap="square" lIns="0" tIns="0" rIns="0" bIns="0" rtlCol="0" anchor="ctr">
            <a:normAutofit/>
          </a:bodyPr>
          <a:lstStyle/>
          <a:p>
            <a:pPr marL="0" indent="0" algn="ctr" rtl="1">
              <a:buNone/>
            </a:pPr>
            <a:r>
              <a:rPr lang="en-US" sz="1530" b="1" dirty="0">
                <a:solidFill>
                  <a:srgbClr val="102A43"/>
                </a:solidFill>
                <a:latin typeface="Sharif 1.2 Thin" panose="020B0000040000000000" pitchFamily="34" charset="-78"/>
                <a:ea typeface="Sharif 1.2 Thin" panose="020B0000040000000000" pitchFamily="34" charset="-78"/>
                <a:cs typeface="Sharif 1.2 Thin" panose="020B0000040000000000" pitchFamily="34" charset="-78"/>
              </a:rPr>
              <a:t>ساده‌سازی و توسعه سامانه</a:t>
            </a:r>
            <a:endParaRPr lang="en-US" sz="153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0" name="Text 28"/>
          <p:cNvSpPr/>
          <p:nvPr/>
        </p:nvSpPr>
        <p:spPr>
          <a:xfrm>
            <a:off x="1325880" y="4178808"/>
            <a:ext cx="1792224" cy="566928"/>
          </a:xfrm>
          <a:prstGeom prst="rect">
            <a:avLst/>
          </a:prstGeom>
          <a:noFill/>
          <a:ln/>
        </p:spPr>
        <p:txBody>
          <a:bodyPr wrap="square" lIns="0" tIns="0" rIns="0" bIns="0" rtlCol="0" anchor="t">
            <a:normAutofit/>
          </a:bodyPr>
          <a:lstStyle/>
          <a:p>
            <a:pPr marL="0" indent="0" algn="ctr" rtl="1">
              <a:buNone/>
            </a:pPr>
            <a:r>
              <a:rPr lang="en-US" sz="1140" dirty="0">
                <a:solidFill>
                  <a:srgbClr val="64748B"/>
                </a:solidFill>
                <a:latin typeface="Sharif 1.2 Thin" panose="020B0000040000000000" pitchFamily="34" charset="-78"/>
                <a:ea typeface="Sharif 1.2 Thin" panose="020B0000040000000000" pitchFamily="34" charset="-78"/>
                <a:cs typeface="Sharif 1.2 Thin" panose="020B0000040000000000" pitchFamily="34" charset="-78"/>
              </a:rPr>
              <a:t>حذف مرحله‌ای حسگرها و رابط یکپارچه بالینی</a:t>
            </a:r>
            <a:endParaRPr lang="en-US" sz="114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1" name="Shape 29"/>
          <p:cNvSpPr/>
          <p:nvPr/>
        </p:nvSpPr>
        <p:spPr>
          <a:xfrm>
            <a:off x="1234440" y="5422392"/>
            <a:ext cx="9784080" cy="667512"/>
          </a:xfrm>
          <a:prstGeom prst="roundRect">
            <a:avLst>
              <a:gd name="adj" fmla="val 10959"/>
            </a:avLst>
          </a:prstGeom>
          <a:solidFill>
            <a:srgbClr val="102A43"/>
          </a:solidFill>
          <a:ln w="12700">
            <a:solidFill>
              <a:srgbClr val="102A43"/>
            </a:solidFill>
            <a:prstDash val="solid"/>
          </a:ln>
        </p:spPr>
      </p:sp>
      <p:sp>
        <p:nvSpPr>
          <p:cNvPr id="32" name="Text 30"/>
          <p:cNvSpPr/>
          <p:nvPr/>
        </p:nvSpPr>
        <p:spPr>
          <a:xfrm>
            <a:off x="1536192" y="5559552"/>
            <a:ext cx="9171432" cy="365760"/>
          </a:xfrm>
          <a:prstGeom prst="rect">
            <a:avLst/>
          </a:prstGeom>
          <a:noFill/>
          <a:ln/>
        </p:spPr>
        <p:txBody>
          <a:bodyPr wrap="square" lIns="0" tIns="0" rIns="0" bIns="0" rtlCol="0" anchor="ctr">
            <a:normAutofit/>
          </a:bodyPr>
          <a:lstStyle/>
          <a:p>
            <a:pPr marL="0" indent="0" algn="ctr" rtl="1">
              <a:buNone/>
            </a:pPr>
            <a:r>
              <a:rPr lang="en-US" sz="16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خروجی نهایی مورد انتظار: ابزار مکمل برای ارزیابی عینی‌تر، تکرارپذیرتر و پایش طولی عملکرد حرکتی</a:t>
            </a:r>
            <a:endParaRPr lang="en-US" sz="16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3" name="Shape 31"/>
          <p:cNvSpPr/>
          <p:nvPr/>
        </p:nvSpPr>
        <p:spPr>
          <a:xfrm>
            <a:off x="658368" y="6473952"/>
            <a:ext cx="10881360" cy="0"/>
          </a:xfrm>
          <a:prstGeom prst="line">
            <a:avLst/>
          </a:prstGeom>
          <a:noFill/>
          <a:ln w="10160">
            <a:solidFill>
              <a:srgbClr val="E9EEF2"/>
            </a:solidFill>
            <a:prstDash val="solid"/>
          </a:ln>
        </p:spPr>
      </p:sp>
      <p:sp>
        <p:nvSpPr>
          <p:cNvPr id="34" name="Text 32"/>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5" name="Text 33"/>
          <p:cNvSpPr/>
          <p:nvPr/>
        </p:nvSpPr>
        <p:spPr>
          <a:xfrm>
            <a:off x="3444087" y="6528816"/>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محدودیت‌ها</a:t>
            </a:r>
            <a:r>
              <a:rPr lang="en-US" sz="1200" dirty="0">
                <a:solidFill>
                  <a:srgbClr val="94A3B8"/>
                </a:solidFill>
                <a:latin typeface="Sharif 1.2 Thin" panose="020B0000040000000000" pitchFamily="34" charset="-78"/>
                <a:ea typeface="Sharif 1.2 Thin" panose="020B0000040000000000" pitchFamily="34" charset="-78"/>
                <a:cs typeface="Sharif 1.2 Thin" panose="020B0000040000000000" pitchFamily="34" charset="-78"/>
              </a:rPr>
              <a:t> و مسیر آینده | ۱ اسلاید تا پایان</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6" name="Text 34"/>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0B6E99"/>
                </a:solidFill>
                <a:latin typeface="Sharif 1.2 Thin" panose="020B0000040000000000" pitchFamily="34" charset="-78"/>
                <a:ea typeface="Sharif 1.2 Thin" panose="020B0000040000000000" pitchFamily="34" charset="-78"/>
                <a:cs typeface="Sharif 1.2 Thin" panose="020B0000040000000000" pitchFamily="34" charset="-78"/>
              </a:rPr>
              <a:t>۱۳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37" name="Shape 35"/>
          <p:cNvSpPr/>
          <p:nvPr/>
        </p:nvSpPr>
        <p:spPr>
          <a:xfrm>
            <a:off x="2560320" y="6766560"/>
            <a:ext cx="6113417" cy="41148"/>
          </a:xfrm>
          <a:prstGeom prst="rect">
            <a:avLst/>
          </a:prstGeom>
          <a:solidFill>
            <a:srgbClr val="0B6E99"/>
          </a:solidFill>
          <a:ln w="12700">
            <a:solidFill>
              <a:srgbClr val="0B6E99"/>
            </a:solidFill>
            <a:prstDash val="solid"/>
          </a:ln>
        </p:spPr>
      </p:sp>
      <p:sp>
        <p:nvSpPr>
          <p:cNvPr id="38" name="Shape 36"/>
          <p:cNvSpPr/>
          <p:nvPr/>
        </p:nvSpPr>
        <p:spPr>
          <a:xfrm>
            <a:off x="8673737" y="6766560"/>
            <a:ext cx="470263" cy="41148"/>
          </a:xfrm>
          <a:prstGeom prst="rect">
            <a:avLst/>
          </a:prstGeom>
          <a:solidFill>
            <a:srgbClr val="E6EDF2"/>
          </a:solidFill>
          <a:ln w="12700">
            <a:solidFill>
              <a:srgbClr val="E6EDF2"/>
            </a:solidFill>
            <a:prstDash val="solid"/>
          </a:ln>
        </p:spPr>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102A43"/>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D8AB5"/>
          </a:solidFill>
          <a:ln w="12700">
            <a:solidFill>
              <a:srgbClr val="1D8AB5"/>
            </a:solidFill>
            <a:prstDash val="solid"/>
          </a:ln>
        </p:spPr>
      </p:sp>
      <p:sp>
        <p:nvSpPr>
          <p:cNvPr id="4" name="Text 1"/>
          <p:cNvSpPr/>
          <p:nvPr/>
        </p:nvSpPr>
        <p:spPr>
          <a:xfrm>
            <a:off x="7772400" y="932688"/>
            <a:ext cx="2834640" cy="502920"/>
          </a:xfrm>
          <a:prstGeom prst="rect">
            <a:avLst/>
          </a:prstGeom>
          <a:noFill/>
          <a:ln/>
        </p:spPr>
        <p:txBody>
          <a:bodyPr wrap="square" lIns="0" tIns="0" rIns="0" bIns="0" rtlCol="0" anchor="ctr">
            <a:normAutofit/>
          </a:bodyPr>
          <a:lstStyle/>
          <a:p>
            <a:pPr marL="0" indent="0" algn="r" rtl="1">
              <a:buNone/>
            </a:pPr>
            <a:r>
              <a:rPr lang="en-US" sz="31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جمع‌بندی</a:t>
            </a:r>
            <a:endParaRPr lang="en-US" sz="31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5" name="Shape 2"/>
          <p:cNvSpPr/>
          <p:nvPr/>
        </p:nvSpPr>
        <p:spPr>
          <a:xfrm>
            <a:off x="10378440" y="1828800"/>
            <a:ext cx="512064" cy="512064"/>
          </a:xfrm>
          <a:prstGeom prst="ellipse">
            <a:avLst/>
          </a:prstGeom>
          <a:solidFill>
            <a:srgbClr val="1D8AB5"/>
          </a:solidFill>
          <a:ln w="12700">
            <a:solidFill>
              <a:srgbClr val="1D8AB5"/>
            </a:solidFill>
            <a:prstDash val="solid"/>
          </a:ln>
        </p:spPr>
      </p:sp>
      <p:sp>
        <p:nvSpPr>
          <p:cNvPr id="6" name="Text 3"/>
          <p:cNvSpPr/>
          <p:nvPr/>
        </p:nvSpPr>
        <p:spPr>
          <a:xfrm>
            <a:off x="10378440" y="1856232"/>
            <a:ext cx="512064" cy="393192"/>
          </a:xfrm>
          <a:prstGeom prst="rect">
            <a:avLst/>
          </a:prstGeom>
          <a:noFill/>
          <a:ln/>
        </p:spPr>
        <p:txBody>
          <a:bodyPr wrap="square" lIns="0" tIns="0" rIns="0" bIns="0" rtlCol="0" anchor="ctr">
            <a:normAutofit/>
          </a:bodyPr>
          <a:lstStyle/>
          <a:p>
            <a:pPr marL="0" indent="0" algn="ctr" rtl="1">
              <a:buNone/>
            </a:pPr>
            <a:r>
              <a:rPr lang="en-US" sz="18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۱</a:t>
            </a:r>
            <a:endParaRPr lang="en-US" sz="18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7" name="Text 4"/>
          <p:cNvSpPr/>
          <p:nvPr/>
        </p:nvSpPr>
        <p:spPr>
          <a:xfrm>
            <a:off x="2788920" y="1801368"/>
            <a:ext cx="7360920" cy="585216"/>
          </a:xfrm>
          <a:prstGeom prst="rect">
            <a:avLst/>
          </a:prstGeom>
          <a:noFill/>
          <a:ln/>
        </p:spPr>
        <p:txBody>
          <a:bodyPr wrap="square" lIns="0" tIns="0" rIns="0" bIns="0" rtlCol="0" anchor="ctr">
            <a:normAutofit/>
          </a:bodyPr>
          <a:lstStyle/>
          <a:p>
            <a:pPr marL="0" indent="0" algn="r" rtl="1">
              <a:buNone/>
            </a:pPr>
            <a:r>
              <a:rPr lang="en-US" sz="182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سامانه کامل ثبت، پردازش و طبقه‌بندی طراحی و پیاده‌سازی شد.</a:t>
            </a:r>
            <a:endParaRPr lang="en-US" sz="18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8" name="Shape 5"/>
          <p:cNvSpPr/>
          <p:nvPr/>
        </p:nvSpPr>
        <p:spPr>
          <a:xfrm>
            <a:off x="10378440" y="2761488"/>
            <a:ext cx="512064" cy="512064"/>
          </a:xfrm>
          <a:prstGeom prst="ellipse">
            <a:avLst/>
          </a:prstGeom>
          <a:solidFill>
            <a:srgbClr val="1D8AB5"/>
          </a:solidFill>
          <a:ln w="12700">
            <a:solidFill>
              <a:srgbClr val="1D8AB5"/>
            </a:solidFill>
            <a:prstDash val="solid"/>
          </a:ln>
        </p:spPr>
      </p:sp>
      <p:sp>
        <p:nvSpPr>
          <p:cNvPr id="9" name="Text 6"/>
          <p:cNvSpPr/>
          <p:nvPr/>
        </p:nvSpPr>
        <p:spPr>
          <a:xfrm>
            <a:off x="10378440" y="2788920"/>
            <a:ext cx="512064" cy="393192"/>
          </a:xfrm>
          <a:prstGeom prst="rect">
            <a:avLst/>
          </a:prstGeom>
          <a:noFill/>
          <a:ln/>
        </p:spPr>
        <p:txBody>
          <a:bodyPr wrap="square" lIns="0" tIns="0" rIns="0" bIns="0" rtlCol="0" anchor="ctr">
            <a:normAutofit/>
          </a:bodyPr>
          <a:lstStyle/>
          <a:p>
            <a:pPr marL="0" indent="0" algn="ctr" rtl="1">
              <a:buNone/>
            </a:pPr>
            <a:r>
              <a:rPr lang="en-US" sz="18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۲</a:t>
            </a:r>
            <a:endParaRPr lang="en-US" sz="18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0" name="Text 7"/>
          <p:cNvSpPr/>
          <p:nvPr/>
        </p:nvSpPr>
        <p:spPr>
          <a:xfrm>
            <a:off x="2788920" y="2734056"/>
            <a:ext cx="7360920" cy="585216"/>
          </a:xfrm>
          <a:prstGeom prst="rect">
            <a:avLst/>
          </a:prstGeom>
          <a:noFill/>
          <a:ln/>
        </p:spPr>
        <p:txBody>
          <a:bodyPr wrap="square" lIns="0" tIns="0" rIns="0" bIns="0" rtlCol="0" anchor="ctr">
            <a:normAutofit/>
          </a:bodyPr>
          <a:lstStyle/>
          <a:p>
            <a:pPr marL="0" indent="0" algn="r" rtl="1">
              <a:buNone/>
            </a:pPr>
            <a:r>
              <a:rPr lang="en-US" sz="182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بردار ۶۹۰ ویژگی با PCA به فضایی شامل ۱۰ تا ۱۵ مؤلفه کاهش یافت.</a:t>
            </a:r>
            <a:endParaRPr lang="en-US" sz="18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1" name="Shape 8"/>
          <p:cNvSpPr/>
          <p:nvPr/>
        </p:nvSpPr>
        <p:spPr>
          <a:xfrm>
            <a:off x="10378440" y="3694176"/>
            <a:ext cx="512064" cy="512064"/>
          </a:xfrm>
          <a:prstGeom prst="ellipse">
            <a:avLst/>
          </a:prstGeom>
          <a:solidFill>
            <a:srgbClr val="1D8AB5"/>
          </a:solidFill>
          <a:ln w="12700">
            <a:solidFill>
              <a:srgbClr val="1D8AB5"/>
            </a:solidFill>
            <a:prstDash val="solid"/>
          </a:ln>
        </p:spPr>
      </p:sp>
      <p:sp>
        <p:nvSpPr>
          <p:cNvPr id="12" name="Text 9"/>
          <p:cNvSpPr/>
          <p:nvPr/>
        </p:nvSpPr>
        <p:spPr>
          <a:xfrm>
            <a:off x="10378440" y="3721608"/>
            <a:ext cx="512064" cy="393192"/>
          </a:xfrm>
          <a:prstGeom prst="rect">
            <a:avLst/>
          </a:prstGeom>
          <a:noFill/>
          <a:ln/>
        </p:spPr>
        <p:txBody>
          <a:bodyPr wrap="square" lIns="0" tIns="0" rIns="0" bIns="0" rtlCol="0" anchor="ctr">
            <a:normAutofit/>
          </a:bodyPr>
          <a:lstStyle/>
          <a:p>
            <a:pPr marL="0" indent="0" algn="ctr" rtl="1">
              <a:buNone/>
            </a:pPr>
            <a:r>
              <a:rPr lang="en-US" sz="180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۳</a:t>
            </a:r>
            <a:endParaRPr lang="en-US" sz="18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3" name="Text 10"/>
          <p:cNvSpPr/>
          <p:nvPr/>
        </p:nvSpPr>
        <p:spPr>
          <a:xfrm>
            <a:off x="2788920" y="3666744"/>
            <a:ext cx="7360920" cy="585216"/>
          </a:xfrm>
          <a:prstGeom prst="rect">
            <a:avLst/>
          </a:prstGeom>
          <a:noFill/>
          <a:ln/>
        </p:spPr>
        <p:txBody>
          <a:bodyPr wrap="square" lIns="0" tIns="0" rIns="0" bIns="0" rtlCol="0" anchor="ctr">
            <a:normAutofit/>
          </a:bodyPr>
          <a:lstStyle/>
          <a:p>
            <a:pPr marL="0" indent="0" algn="r" rtl="1">
              <a:buNone/>
            </a:pPr>
            <a:r>
              <a:rPr lang="en-US" sz="1820" b="1" dirty="0">
                <a:solidFill>
                  <a:srgbClr val="FFFFFF"/>
                </a:solidFill>
                <a:latin typeface="Sharif 1.2 Thin" panose="020B0000040000000000" pitchFamily="34" charset="-78"/>
                <a:ea typeface="Sharif 1.2 Thin" panose="020B0000040000000000" pitchFamily="34" charset="-78"/>
                <a:cs typeface="Sharif 1.2 Thin" panose="020B0000040000000000" pitchFamily="34" charset="-78"/>
              </a:rPr>
              <a:t>سطوح عملکردی شبیه‌سازی‌شده در پنج فعالیت قابل تفکیک بودند.</a:t>
            </a:r>
            <a:endParaRPr lang="en-US" sz="182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4" name="Shape 11"/>
          <p:cNvSpPr/>
          <p:nvPr/>
        </p:nvSpPr>
        <p:spPr>
          <a:xfrm>
            <a:off x="1874520" y="4736592"/>
            <a:ext cx="8549640" cy="841248"/>
          </a:xfrm>
          <a:prstGeom prst="roundRect">
            <a:avLst>
              <a:gd name="adj" fmla="val 15217"/>
            </a:avLst>
          </a:prstGeom>
          <a:solidFill>
            <a:srgbClr val="183B56"/>
          </a:solidFill>
          <a:ln w="15240">
            <a:solidFill>
              <a:srgbClr val="335A75"/>
            </a:solidFill>
            <a:prstDash val="solid"/>
          </a:ln>
        </p:spPr>
      </p:sp>
      <p:sp>
        <p:nvSpPr>
          <p:cNvPr id="15" name="Text 12"/>
          <p:cNvSpPr/>
          <p:nvPr/>
        </p:nvSpPr>
        <p:spPr>
          <a:xfrm>
            <a:off x="2176272" y="4919472"/>
            <a:ext cx="7955280" cy="420624"/>
          </a:xfrm>
          <a:prstGeom prst="rect">
            <a:avLst/>
          </a:prstGeom>
          <a:noFill/>
          <a:ln/>
        </p:spPr>
        <p:txBody>
          <a:bodyPr wrap="square" lIns="0" tIns="0" rIns="0" bIns="0" rtlCol="0" anchor="ctr">
            <a:normAutofit/>
          </a:bodyPr>
          <a:lstStyle/>
          <a:p>
            <a:pPr marL="0" indent="0" algn="ctr" rtl="1">
              <a:buNone/>
            </a:pPr>
            <a:r>
              <a:rPr lang="en-US" sz="1800" b="1" dirty="0">
                <a:solidFill>
                  <a:srgbClr val="66E0D0"/>
                </a:solidFill>
                <a:latin typeface="Sharif 1.2 Thin" panose="020B0000040000000000" pitchFamily="34" charset="-78"/>
                <a:ea typeface="Sharif 1.2 Thin" panose="020B0000040000000000" pitchFamily="34" charset="-78"/>
                <a:cs typeface="Sharif 1.2 Thin" panose="020B0000040000000000" pitchFamily="34" charset="-78"/>
              </a:rPr>
              <a:t>دستاورد اصلی: اثبات امکان‌پذیری فنی چارچوب — نه اثبات کاربرد بالینی</a:t>
            </a:r>
            <a:endParaRPr lang="en-US" sz="18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18" name="Shape 15"/>
          <p:cNvSpPr/>
          <p:nvPr/>
        </p:nvSpPr>
        <p:spPr>
          <a:xfrm>
            <a:off x="658368" y="6473952"/>
            <a:ext cx="10881360" cy="0"/>
          </a:xfrm>
          <a:prstGeom prst="line">
            <a:avLst/>
          </a:prstGeom>
          <a:noFill/>
          <a:ln w="10160">
            <a:solidFill>
              <a:srgbClr val="335A75"/>
            </a:solidFill>
            <a:prstDash val="solid"/>
          </a:ln>
        </p:spPr>
      </p:sp>
      <p:sp>
        <p:nvSpPr>
          <p:cNvPr id="19" name="Text 16"/>
          <p:cNvSpPr/>
          <p:nvPr/>
        </p:nvSpPr>
        <p:spPr>
          <a:xfrm>
            <a:off x="8046720" y="6528816"/>
            <a:ext cx="3429000" cy="219456"/>
          </a:xfrm>
          <a:prstGeom prst="rect">
            <a:avLst/>
          </a:prstGeom>
          <a:noFill/>
          <a:ln/>
        </p:spPr>
        <p:txBody>
          <a:bodyPr wrap="square" lIns="0" tIns="0" rIns="0" bIns="0" rtlCol="0" anchor="ctr">
            <a:normAutofit/>
          </a:bodyPr>
          <a:lstStyle/>
          <a:p>
            <a:pPr marL="0" indent="0" algn="r" rtl="1">
              <a:buNone/>
            </a:pPr>
            <a:r>
              <a:rPr lang="en-US" sz="1200" dirty="0">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پایان‌نامه کارشناسی مهندسی مکانیک</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0" name="Text 17"/>
          <p:cNvSpPr/>
          <p:nvPr/>
        </p:nvSpPr>
        <p:spPr>
          <a:xfrm>
            <a:off x="3438144" y="6538138"/>
            <a:ext cx="5303520" cy="219456"/>
          </a:xfrm>
          <a:prstGeom prst="rect">
            <a:avLst/>
          </a:prstGeom>
          <a:noFill/>
          <a:ln/>
        </p:spPr>
        <p:txBody>
          <a:bodyPr wrap="square" lIns="0" tIns="0" rIns="0" bIns="0" rtlCol="0" anchor="ctr">
            <a:normAutofit/>
          </a:bodyPr>
          <a:lstStyle/>
          <a:p>
            <a:pPr marL="0" indent="0" algn="ctr" rtl="1">
              <a:buNone/>
            </a:pPr>
            <a:r>
              <a:rPr lang="en-US" sz="1200" dirty="0" err="1">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جمع‌بندی</a:t>
            </a:r>
            <a:r>
              <a:rPr lang="en-US" sz="1200" dirty="0">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 | </a:t>
            </a:r>
            <a:r>
              <a:rPr lang="en-US" sz="1200" dirty="0" err="1">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اسلاید</a:t>
            </a:r>
            <a:r>
              <a:rPr lang="en-US" sz="1200" dirty="0">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 </a:t>
            </a:r>
            <a:r>
              <a:rPr lang="en-US" sz="1200" dirty="0" err="1">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پایان</a:t>
            </a:r>
            <a:r>
              <a:rPr lang="fa-IR" sz="1200" dirty="0" err="1">
                <a:solidFill>
                  <a:srgbClr val="B7D5E4"/>
                </a:solidFill>
                <a:latin typeface="Sharif 1.2 Thin" panose="020B0000040000000000" pitchFamily="34" charset="-78"/>
                <a:ea typeface="Sharif 1.2 Thin" panose="020B0000040000000000" pitchFamily="34" charset="-78"/>
                <a:cs typeface="Sharif 1.2 Thin" panose="020B0000040000000000" pitchFamily="34" charset="-78"/>
              </a:rPr>
              <a:t>ی</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1" name="Text 18"/>
          <p:cNvSpPr/>
          <p:nvPr/>
        </p:nvSpPr>
        <p:spPr>
          <a:xfrm>
            <a:off x="713232" y="6528816"/>
            <a:ext cx="960120" cy="219456"/>
          </a:xfrm>
          <a:prstGeom prst="rect">
            <a:avLst/>
          </a:prstGeom>
          <a:noFill/>
          <a:ln/>
        </p:spPr>
        <p:txBody>
          <a:bodyPr wrap="square" lIns="0" tIns="0" rIns="0" bIns="0" rtlCol="0" anchor="ctr">
            <a:normAutofit/>
          </a:bodyPr>
          <a:lstStyle/>
          <a:p>
            <a:pPr marL="0" indent="0" algn="l" rtl="1">
              <a:buNone/>
            </a:pPr>
            <a:r>
              <a:rPr lang="en-US" sz="1200" dirty="0">
                <a:solidFill>
                  <a:srgbClr val="66E0D0"/>
                </a:solidFill>
                <a:latin typeface="Sharif 1.2 Thin" panose="020B0000040000000000" pitchFamily="34" charset="-78"/>
                <a:ea typeface="Sharif 1.2 Thin" panose="020B0000040000000000" pitchFamily="34" charset="-78"/>
                <a:cs typeface="Sharif 1.2 Thin" panose="020B0000040000000000" pitchFamily="34" charset="-78"/>
              </a:rPr>
              <a:t>۱۴ / ۱۴</a:t>
            </a:r>
            <a:endParaRPr lang="en-US" sz="1200" dirty="0">
              <a:latin typeface="Sharif 1.2 Thin" panose="020B0000040000000000" pitchFamily="34" charset="-78"/>
              <a:ea typeface="Sharif 1.2 Thin" panose="020B0000040000000000" pitchFamily="34" charset="-78"/>
              <a:cs typeface="Sharif 1.2 Thin" panose="020B0000040000000000" pitchFamily="34" charset="-78"/>
            </a:endParaRPr>
          </a:p>
        </p:txBody>
      </p:sp>
      <p:sp>
        <p:nvSpPr>
          <p:cNvPr id="22" name="Shape 19"/>
          <p:cNvSpPr/>
          <p:nvPr/>
        </p:nvSpPr>
        <p:spPr>
          <a:xfrm>
            <a:off x="2560320" y="6766560"/>
            <a:ext cx="6583680" cy="41148"/>
          </a:xfrm>
          <a:prstGeom prst="rect">
            <a:avLst/>
          </a:prstGeom>
          <a:solidFill>
            <a:srgbClr val="66E0D0"/>
          </a:solidFill>
          <a:ln w="12700">
            <a:solidFill>
              <a:srgbClr val="66E0D0"/>
            </a:solidFill>
            <a:prstDash val="solid"/>
          </a:ln>
        </p:spPr>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341</TotalTime>
  <Words>2989</Words>
  <Application>Microsoft Macintosh PowerPoint</Application>
  <PresentationFormat>Widescreen</PresentationFormat>
  <Paragraphs>435</Paragraphs>
  <Slides>21</Slides>
  <Notes>21</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Sharif 1.2</vt:lpstr>
      <vt:lpstr>Sharif 1.2 Medium</vt:lpstr>
      <vt:lpstr>Sharif 1.2 SemiBold</vt:lpstr>
      <vt:lpstr>Sharif 1.2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Sharif University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ارزیابی شاخص‌های عملکرد موتوری در بیماران دوشن به کمک حسگرهای اینرسیایی</dc:title>
  <dc:subject>Bachelor Thesis Defense - DMD motor performance assessment using inertial sensors</dc:subject>
  <dc:creator>Mohammad Rahmanitalab</dc:creator>
  <cp:lastModifiedBy>mohammad rahmanitalab</cp:lastModifiedBy>
  <cp:revision>23</cp:revision>
  <cp:lastPrinted>2026-07-21T16:43:49Z</cp:lastPrinted>
  <dcterms:created xsi:type="dcterms:W3CDTF">2026-07-19T14:42:07Z</dcterms:created>
  <dcterms:modified xsi:type="dcterms:W3CDTF">2026-07-21T17:33:27Z</dcterms:modified>
</cp:coreProperties>
</file>