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p:restoredTop sz="94610"/>
  </p:normalViewPr>
  <p:slideViewPr>
    <p:cSldViewPr snapToGrid="0" snapToObjects="1">
      <p:cViewPr>
        <p:scale>
          <a:sx n="107" d="100"/>
          <a:sy n="107" d="100"/>
        </p:scale>
        <p:origin x="760" y="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0288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25 ثانیه
در این ارائه، ابتدا مسئله و ایده اصلی پروژه را معرفی می‌کنم، سپس سامانه داده‌برداری و مسیر پردازش را توضیح می‌دهم و در پایان، نتایج پنج فعالیت، محدودیت‌ها و گام بعدی برای اعتبارسنجی بالینی را مرور می‌کنم.</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55 ثانیه
دوشن یک بیماری پیشرونده است و تغییرات عملکرد حرکتی برای تصمیم‌گیری درمانی اهمیت زیادی دارد. NSAA یک ابزار معتبر و رایج است، اما امتیازدهی آن بر مشاهده درمانگر استوار است. پرسش پروژه این بود که آیا داده‌های شتاب و سرعت زاویه‌ای می‌توانند سطوح صفر، یک و دو را از هم تفکیک کنند.</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50 ثانیه
برای پوشش حرکات با ماهیت‌های مختلف، پنج فعالیت انتخاب شد: یک فعالیت تقریباً ایستا، یک حرکت چندمرحله‌ای، یک حرکت انفجاری، یک حرکت متمرکز بر سر و یک حرکت انتقال وزن. دستاورد پروژه فقط آموزش مدل نبود؛ سامانه سخت‌افزاری، نرم‌افزار دریافت و کل زنجیره پردازش نیز توسعه یافت.</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55 ثانیه
این مهم‌ترین نکته تفسیری پروژه است. داده‌ها از بیمار واقعی جمع‌آوری نشدند. یک فرد سالم که با بیماری و معیار امتیازدهی آشنا بود، الگوهای حرکتی را در شرایط کنترل‌شده شبیه‌سازی کرد. بنابراین اعداد گزارش‌شده، توان تفکیک الگوهای شبیه‌سازی‌شده را نشان می‌دهند و نباید به‌عنوان دقت بالینی سامانه بیان شوند.</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65 ثانیه
سامانه از پنج واحد T-Wristband استفاده می‌کند. یک حسگر روی پیشانی، دو حسگر روی پشت مچ دست‌ها و دو حسگر بالای قوزک خارجی پاها نصب شدند. هر واحد سه محور شتاب و سه محور سرعت زاویه‌ای را با نرخ حدود ۹۰ تا ۱۰۰ هرتز ثبت و از طریق بلوتوث ارسال می‌کرد. این چیدمان به‌طور هم‌زمان حرکت اصلی و الگوهای جبرانی را پوشش می‌دهد.</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65 ثانیه
جریان داده از اجرای فعالیت شروع می‌شود. حسگرها داده را ثبت می‌کنند و نرم‌افزار متلب آن را هم‌زمان دریافت و ذخیره می‌کند. سپس در پایتون پیش‌پردازش، استخراج ویژگی، کاهش ابعاد و مقایسه مدل‌ها انجام می‌شود. معماری به‌صورت ماژولار طراحی شد تا هر بخش مستقل قابل توسعه باشد.</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65 ثانیه
داده خام ابتدا از نظر بایاس ژیروسکوپ اصلاح شد و فیلتر باترورث مرتبه چهارم با فرکانس قطع چهار هرتز به‌صورت دوطرفه اعمال شد. سپس از هر یک از شش کانال هر حسگر، ۲۳ ویژگی زمانی و آماری استخراج شد. حاصل پنج حسگر ضربدر شش سیگنال ضربدر ۲۳ ویژگی، یک بردار ۶۹۰ بعدی برای هر نمونه بود.</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65 ثانیه
برای جلوگیری از نشت اطلاعات، تمام تبدیل‌ها داخل یک Pipeline قرار گرفتند. در هر تکرار اعتبارسنجی، استانداردسازی و PCA فقط بر داده آموزش برازش شدند. سه مدل SVM، KNN و جنگل تصادفی مقایسه شدند. ارزیابی اصلی با اعتبارسنجی متقاطع طبقه‌بندی‌شده پنج‌بخشی و پنج تکرار و چند معیار مکمل انجام شد.</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70 ثانیه
ایستادن به‌عنوان فعالیت مرجع برای توسعه روند تحلیل انتخاب شد. با وجود دامنه حرکت کم، ویژگی‌های آماری نوسان بدن و حرکت جبرانی دست‌ها و سر اطلاعات تفکیک‌کننده داشتند. SVM با ۱۳ مؤلفه اصلی به دقت ۹۶ درصد رسید و از KNN و جنگل تصادفی بهتر بود. در ماتریس درهم‌ریختگی، سطح یک دشوارترین کلاس بود.</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60 ثانیه
در هر پنج فعالیت، SVM همراه با PCA مدل منتخب شد، اما تعداد مؤلفه مناسب متفاوت بود و بین ۱۰ تا ۱۵ قرار گرفت. این تفاوت نشان می‌دهد که ماهیت هر فعالیت بر حجم اطلاعات موردنیاز اثر دارد. حد نصاب‌های ۸۰ و ۹۰ درصد صرفاً برای انتخاب داخلی مدل‌ها تعریف شدند و معادل دقت بالینی نیستند.</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60 ثانیه
مقایسه فعالیت‌ها نشان داد که یک مجموعه ویژگی یا تعداد مؤلفه ثابت برای همه حرکات مناسب نیست. در ایستادن، نوسان‌های ظریف مهم‌اند؛ در برخاستن هماهنگی چند اندام؛ در پریدن انرژی و فرود؛ در بالا آوردن سر، حسگر پیشانی؛ و در بالا رفتن از جعبه، انتقال وزن و حسگرهای پا. بنابراین تحلیل فعالیت‌محور منطقی‌تر است.</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50 ثانیه
سه محدودیت اصلی وجود دارد: اول، همه داده‌ها از یک فرد سالم گرفته شده‌اند؛ دوم، تعداد نمونه نسبت به فضای اولیه ویژگی‌ها محدود است؛ و سوم، نتیجه به شرایط نصب و ثبت وابسته است. بنابراین اعتبارسنجی متقاطع فعلی تعمیم به بیمار یا حتی فرد سالم جدید را اثبات نمی‌کند.</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50 ثانیه
مهم‌ترین گام بعدی، جمع‌آوری داده از بیماران با امتیازدهی هم‌زمان متخصص است. پس از آن باید ارزیابی مستقل از آزمودنی انجام شود. در مرحله مدل‌سازی نیز تنظیم ابرپارامترها، ویژگی‌های فرکانسی و مدل‌های زمانی قابل بررسی‌اند. در نهایت باید تعداد حسگرها و نرم‌افزار برای کاربرد بالینی ساده‌تر شوند.</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35 ثانیه
در جمع‌بندی، یک سامانه کامل از ثبت داده تا طبقه‌بندی ساخته شد. کاهش ابعاد نشان داد بخش عمده اطلاعات موردنیاز در فضای بسیار کوچک‌تری از ۶۹۰ ویژگی قرار دارد و سطوح شبیه‌سازی‌شده قابل تفکیک‌اند. با این حال، دستاورد اصلی پروژه یک چارچوب فنی و روش‌مند است و اعتبار بالینی آن باید در مطالعه بعدی بررسی شود.</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a:effectLst/>
      </p:bgPr>
    </p:bg>
    <p:spTree>
      <p:nvGrpSpPr>
        <p:cNvPr id="1" name=""/>
        <p:cNvGrpSpPr/>
        <p:nvPr/>
      </p:nvGrpSpPr>
      <p:grpSpPr>
        <a:xfrm>
          <a:off x="0" y="0"/>
          <a:ext cx="0" cy="0"/>
          <a:chOff x="0" y="0"/>
          <a:chExt cx="0" cy="0"/>
        </a:xfrm>
      </p:grpSpPr>
      <p:sp>
        <p:nvSpPr>
          <p:cNvPr id="13" name="Text 9"/>
          <p:cNvSpPr/>
          <p:nvPr/>
        </p:nvSpPr>
        <p:spPr>
          <a:xfrm>
            <a:off x="4526280" y="1417320"/>
            <a:ext cx="6583680" cy="1847088"/>
          </a:xfrm>
          <a:prstGeom prst="rect">
            <a:avLst/>
          </a:prstGeom>
          <a:noFill/>
          <a:ln/>
        </p:spPr>
        <p:txBody>
          <a:bodyPr wrap="square" lIns="0" tIns="0" rIns="0" bIns="0" rtlCol="0" anchor="ctr">
            <a:normAutofit/>
          </a:bodyPr>
          <a:lstStyle/>
          <a:p>
            <a:pPr marL="0" indent="0" algn="r" rtl="1">
              <a:buNone/>
            </a:pPr>
            <a:r>
              <a:rPr lang="en-US" sz="30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ارزیابی شاخص‌های عملکرد موتوری</a:t>
            </a:r>
            <a:endParaRPr lang="en-US" sz="3000" b="1" dirty="0">
              <a:latin typeface="Sharif 1.2 SemiBold" panose="020B0000040000000000" pitchFamily="34" charset="-78"/>
              <a:ea typeface="Sharif 1.2 SemiBold" panose="020B0000040000000000" pitchFamily="34" charset="-78"/>
              <a:cs typeface="Sharif 1.2 SemiBold" panose="020B0000040000000000" pitchFamily="34" charset="-78"/>
            </a:endParaRPr>
          </a:p>
          <a:p>
            <a:pPr marL="0" indent="0" algn="r" rtl="1">
              <a:buNone/>
            </a:pPr>
            <a:r>
              <a:rPr lang="en-US" sz="30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در بیماران دوشن به کمک</a:t>
            </a:r>
            <a:endParaRPr lang="en-US" sz="3000" b="1" dirty="0">
              <a:latin typeface="Sharif 1.2 SemiBold" panose="020B0000040000000000" pitchFamily="34" charset="-78"/>
              <a:ea typeface="Sharif 1.2 SemiBold" panose="020B0000040000000000" pitchFamily="34" charset="-78"/>
              <a:cs typeface="Sharif 1.2 SemiBold" panose="020B0000040000000000" pitchFamily="34" charset="-78"/>
            </a:endParaRPr>
          </a:p>
          <a:p>
            <a:pPr marL="0" indent="0" algn="r" rtl="1">
              <a:buNone/>
            </a:pPr>
            <a:r>
              <a:rPr lang="en-US" sz="30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حسگرهای اینرسیایی</a:t>
            </a:r>
            <a:endParaRPr lang="en-US" sz="30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4" name="Shape 10"/>
          <p:cNvSpPr/>
          <p:nvPr/>
        </p:nvSpPr>
        <p:spPr>
          <a:xfrm>
            <a:off x="4892040" y="3520440"/>
            <a:ext cx="6108192" cy="0"/>
          </a:xfrm>
          <a:prstGeom prst="line">
            <a:avLst/>
          </a:prstGeom>
          <a:noFill/>
          <a:ln w="38100">
            <a:solidFill>
              <a:srgbClr val="0B6E99"/>
            </a:solidFill>
            <a:prstDash val="solid"/>
          </a:ln>
        </p:spPr>
      </p:sp>
      <p:sp>
        <p:nvSpPr>
          <p:cNvPr id="15" name="Text 11"/>
          <p:cNvSpPr/>
          <p:nvPr/>
        </p:nvSpPr>
        <p:spPr>
          <a:xfrm>
            <a:off x="6126480" y="3794760"/>
            <a:ext cx="4892040" cy="402336"/>
          </a:xfrm>
          <a:prstGeom prst="rect">
            <a:avLst/>
          </a:prstGeom>
          <a:noFill/>
          <a:ln/>
        </p:spPr>
        <p:txBody>
          <a:bodyPr wrap="square" lIns="0" tIns="0" rIns="0" bIns="0" rtlCol="0" anchor="ctr">
            <a:normAutofit/>
          </a:bodyPr>
          <a:lstStyle/>
          <a:p>
            <a:pPr marL="0" indent="0" algn="r" rtl="1">
              <a:buNone/>
            </a:pPr>
            <a:r>
              <a:rPr lang="en-US" sz="1600" b="1" dirty="0">
                <a:solidFill>
                  <a:srgbClr val="0B6E99"/>
                </a:solidFill>
                <a:latin typeface="Sharif 1.2 SemiBold" panose="020B0000040000000000" pitchFamily="34" charset="-78"/>
                <a:ea typeface="Sharif 1.2 SemiBold" panose="020B0000040000000000" pitchFamily="34" charset="-78"/>
                <a:cs typeface="Sharif 1.2 SemiBold" panose="020B0000040000000000" pitchFamily="34" charset="-78"/>
              </a:rPr>
              <a:t>ارائه دفاع کارشناسی مهندسی مکانیک</a:t>
            </a:r>
            <a:endParaRPr lang="en-US" sz="16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6" name="Text 12"/>
          <p:cNvSpPr/>
          <p:nvPr/>
        </p:nvSpPr>
        <p:spPr>
          <a:xfrm>
            <a:off x="7360920" y="4590288"/>
            <a:ext cx="3657600" cy="384048"/>
          </a:xfrm>
          <a:prstGeom prst="rect">
            <a:avLst/>
          </a:prstGeom>
          <a:noFill/>
          <a:ln/>
        </p:spPr>
        <p:txBody>
          <a:bodyPr wrap="square" lIns="0" tIns="0" rIns="0" bIns="0" rtlCol="0" anchor="ctr">
            <a:normAutofit/>
          </a:bodyPr>
          <a:lstStyle/>
          <a:p>
            <a:pPr marL="0" indent="0" algn="r" rtl="1">
              <a:buNone/>
            </a:pPr>
            <a:r>
              <a:rPr lang="en-US" sz="1900" b="1" dirty="0">
                <a:solidFill>
                  <a:srgbClr val="1F2937"/>
                </a:solidFill>
                <a:latin typeface="Sharif 1.2 SemiBold" panose="020B0000040000000000" pitchFamily="34" charset="-78"/>
                <a:ea typeface="Sharif 1.2 SemiBold" panose="020B0000040000000000" pitchFamily="34" charset="-78"/>
                <a:cs typeface="Sharif 1.2 SemiBold" panose="020B0000040000000000" pitchFamily="34" charset="-78"/>
              </a:rPr>
              <a:t>محمد رحمانی‌طلب</a:t>
            </a:r>
            <a:endParaRPr lang="en-US" sz="19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7" name="Text 13"/>
          <p:cNvSpPr/>
          <p:nvPr/>
        </p:nvSpPr>
        <p:spPr>
          <a:xfrm>
            <a:off x="6263640" y="5065776"/>
            <a:ext cx="4754880" cy="329184"/>
          </a:xfrm>
          <a:prstGeom prst="rect">
            <a:avLst/>
          </a:prstGeom>
          <a:noFill/>
          <a:ln/>
        </p:spPr>
        <p:txBody>
          <a:bodyPr wrap="square" lIns="0" tIns="0" rIns="0" bIns="0" rtlCol="0" anchor="ctr">
            <a:normAutofit/>
          </a:bodyPr>
          <a:lstStyle/>
          <a:p>
            <a:pPr marL="0" indent="0" algn="r" rtl="1">
              <a:buNone/>
            </a:pPr>
            <a:r>
              <a:rPr lang="en-US" sz="1400" dirty="0">
                <a:solidFill>
                  <a:srgbClr val="64748B"/>
                </a:solidFill>
                <a:latin typeface="Sharif 1.2 Light" panose="020B0000040000000000" pitchFamily="34" charset="-78"/>
                <a:ea typeface="Sharif 1.2 Light" panose="020B0000040000000000" pitchFamily="34" charset="-78"/>
                <a:cs typeface="Sharif 1.2 Light" panose="020B0000040000000000" pitchFamily="34" charset="-78"/>
              </a:rPr>
              <a:t>استاد راهنما: دکتر سعید بهزادی‌پور</a:t>
            </a:r>
            <a:endParaRPr lang="en-US" sz="140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18" name="Text 14"/>
          <p:cNvSpPr/>
          <p:nvPr/>
        </p:nvSpPr>
        <p:spPr>
          <a:xfrm>
            <a:off x="6263640" y="5440680"/>
            <a:ext cx="4754880" cy="329184"/>
          </a:xfrm>
          <a:prstGeom prst="rect">
            <a:avLst/>
          </a:prstGeom>
          <a:noFill/>
          <a:ln/>
        </p:spPr>
        <p:txBody>
          <a:bodyPr wrap="square" lIns="0" tIns="0" rIns="0" bIns="0" rtlCol="0" anchor="ctr">
            <a:normAutofit/>
          </a:bodyPr>
          <a:lstStyle/>
          <a:p>
            <a:pPr marL="0" indent="0" algn="r" rtl="1">
              <a:buNone/>
            </a:pPr>
            <a:r>
              <a:rPr lang="en-US" sz="1400" dirty="0">
                <a:solidFill>
                  <a:srgbClr val="64748B"/>
                </a:solidFill>
                <a:latin typeface="Sharif 1.2 Light" panose="020B0000040000000000" pitchFamily="34" charset="-78"/>
                <a:ea typeface="Sharif 1.2 Light" panose="020B0000040000000000" pitchFamily="34" charset="-78"/>
                <a:cs typeface="Sharif 1.2 Light" panose="020B0000040000000000" pitchFamily="34" charset="-78"/>
              </a:rPr>
              <a:t>استاد مشاور: دکتر مرضیه بابایی</a:t>
            </a:r>
            <a:endParaRPr lang="en-US" sz="140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19" name="Text 15"/>
          <p:cNvSpPr/>
          <p:nvPr/>
        </p:nvSpPr>
        <p:spPr>
          <a:xfrm>
            <a:off x="8869680" y="6053328"/>
            <a:ext cx="2148840" cy="292608"/>
          </a:xfrm>
          <a:prstGeom prst="rect">
            <a:avLst/>
          </a:prstGeom>
          <a:noFill/>
          <a:ln/>
        </p:spPr>
        <p:txBody>
          <a:bodyPr wrap="square" lIns="0" tIns="0" rIns="0" bIns="0" rtlCol="0" anchor="ctr">
            <a:normAutofit/>
          </a:bodyPr>
          <a:lstStyle/>
          <a:p>
            <a:pPr marL="0" indent="0" algn="r" rtl="1">
              <a:buNone/>
            </a:pPr>
            <a:r>
              <a:rPr lang="en-US" sz="1250" dirty="0">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تیر ۱۴۰۵</a:t>
            </a:r>
            <a:endParaRPr lang="en-US" sz="1250" dirty="0">
              <a:latin typeface="Sharif 1.2 Light" panose="020B0000040000000000" pitchFamily="34" charset="-78"/>
              <a:ea typeface="Sharif 1.2 Light" panose="020B0000040000000000" pitchFamily="34" charset="-78"/>
              <a:cs typeface="Sharif 1.2 Light" panose="020B0000040000000000" pitchFamily="34" charset="-78"/>
            </a:endParaRPr>
          </a:p>
        </p:txBody>
      </p:sp>
      <p:pic>
        <p:nvPicPr>
          <p:cNvPr id="22" name="Picture 21">
            <a:extLst>
              <a:ext uri="{FF2B5EF4-FFF2-40B4-BE49-F238E27FC236}">
                <a16:creationId xmlns:a16="http://schemas.microsoft.com/office/drawing/2014/main" id="{101F42FE-800A-6E4E-F7DB-A26C5E652184}"/>
              </a:ext>
            </a:extLst>
          </p:cNvPr>
          <p:cNvPicPr>
            <a:picLocks noChangeAspect="1"/>
          </p:cNvPicPr>
          <p:nvPr/>
        </p:nvPicPr>
        <p:blipFill>
          <a:blip r:embed="rId3"/>
          <a:stretch>
            <a:fillRect/>
          </a:stretch>
        </p:blipFill>
        <p:spPr>
          <a:xfrm>
            <a:off x="131350" y="539574"/>
            <a:ext cx="3584589" cy="5449667"/>
          </a:xfrm>
          <a:prstGeom prst="rect">
            <a:avLst/>
          </a:prstGeom>
        </p:spPr>
      </p:pic>
      <p:pic>
        <p:nvPicPr>
          <p:cNvPr id="23" name="Picture 22">
            <a:extLst>
              <a:ext uri="{FF2B5EF4-FFF2-40B4-BE49-F238E27FC236}">
                <a16:creationId xmlns:a16="http://schemas.microsoft.com/office/drawing/2014/main" id="{B9C78422-EC14-5C25-C6A6-98A7C38FA24E}"/>
              </a:ext>
            </a:extLst>
          </p:cNvPr>
          <p:cNvPicPr>
            <a:picLocks noChangeAspect="1"/>
          </p:cNvPicPr>
          <p:nvPr/>
        </p:nvPicPr>
        <p:blipFill>
          <a:blip r:embed="rId4"/>
          <a:stretch>
            <a:fillRect/>
          </a:stretch>
        </p:blipFill>
        <p:spPr>
          <a:xfrm>
            <a:off x="10243185" y="259080"/>
            <a:ext cx="1066800" cy="1066800"/>
          </a:xfrm>
          <a:prstGeom prst="rect">
            <a:avLst/>
          </a:prstGeom>
        </p:spPr>
      </p:pic>
      <p:pic>
        <p:nvPicPr>
          <p:cNvPr id="24" name="Picture 23">
            <a:extLst>
              <a:ext uri="{FF2B5EF4-FFF2-40B4-BE49-F238E27FC236}">
                <a16:creationId xmlns:a16="http://schemas.microsoft.com/office/drawing/2014/main" id="{F1823B88-1217-6856-A6FB-8D21E82E5759}"/>
              </a:ext>
            </a:extLst>
          </p:cNvPr>
          <p:cNvPicPr>
            <a:picLocks noChangeAspect="1"/>
          </p:cNvPicPr>
          <p:nvPr/>
        </p:nvPicPr>
        <p:blipFill>
          <a:blip r:embed="rId5"/>
          <a:stretch>
            <a:fillRect/>
          </a:stretch>
        </p:blipFill>
        <p:spPr>
          <a:xfrm>
            <a:off x="3821696" y="-34037"/>
            <a:ext cx="153651" cy="6952721"/>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مسئله پژوهش چیست؟</a:t>
            </a:r>
            <a:endParaRPr lang="en-US" sz="2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7" name="Shape 5"/>
          <p:cNvSpPr/>
          <p:nvPr/>
        </p:nvSpPr>
        <p:spPr>
          <a:xfrm>
            <a:off x="658368" y="1508760"/>
            <a:ext cx="5029200" cy="3931920"/>
          </a:xfrm>
          <a:prstGeom prst="roundRect">
            <a:avLst>
              <a:gd name="adj" fmla="val 1860"/>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sp>
        <p:nvSpPr>
          <p:cNvPr id="8" name="Shape 6"/>
          <p:cNvSpPr/>
          <p:nvPr/>
        </p:nvSpPr>
        <p:spPr>
          <a:xfrm>
            <a:off x="3822192" y="1755648"/>
            <a:ext cx="1572768" cy="347472"/>
          </a:xfrm>
          <a:prstGeom prst="roundRect">
            <a:avLst>
              <a:gd name="adj" fmla="val 47368"/>
            </a:avLst>
          </a:prstGeom>
          <a:solidFill>
            <a:srgbClr val="FDECEA"/>
          </a:solidFill>
          <a:ln w="12700">
            <a:solidFill>
              <a:srgbClr val="FDECEA"/>
            </a:solidFill>
            <a:prstDash val="solid"/>
          </a:ln>
        </p:spPr>
      </p:sp>
      <p:sp>
        <p:nvSpPr>
          <p:cNvPr id="9" name="Text 7"/>
          <p:cNvSpPr/>
          <p:nvPr/>
        </p:nvSpPr>
        <p:spPr>
          <a:xfrm>
            <a:off x="3931920" y="1773936"/>
            <a:ext cx="1353312" cy="310896"/>
          </a:xfrm>
          <a:prstGeom prst="rect">
            <a:avLst/>
          </a:prstGeom>
          <a:noFill/>
          <a:ln/>
        </p:spPr>
        <p:txBody>
          <a:bodyPr wrap="square" lIns="0" tIns="0" rIns="0" bIns="0" rtlCol="0" anchor="ctr">
            <a:normAutofit/>
          </a:bodyPr>
          <a:lstStyle/>
          <a:p>
            <a:pPr marL="0" indent="0" algn="ctr" rtl="1">
              <a:buNone/>
            </a:pPr>
            <a:r>
              <a:rPr lang="en-US" sz="1350" b="1" dirty="0">
                <a:solidFill>
                  <a:srgbClr val="C0392B"/>
                </a:solidFill>
                <a:latin typeface="Sharif 1.2" panose="020B0000040000000000" pitchFamily="34" charset="-78"/>
                <a:ea typeface="Sharif 1.2" panose="020B0000040000000000" pitchFamily="34" charset="-78"/>
                <a:cs typeface="Sharif 1.2" panose="020B0000040000000000" pitchFamily="34" charset="-78"/>
              </a:rPr>
              <a:t>چالش بالینی</a:t>
            </a:r>
            <a:endParaRPr lang="en-US" sz="135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10" name="Text 8"/>
          <p:cNvSpPr/>
          <p:nvPr/>
        </p:nvSpPr>
        <p:spPr>
          <a:xfrm>
            <a:off x="987552" y="2304288"/>
            <a:ext cx="4343400" cy="804672"/>
          </a:xfrm>
          <a:prstGeom prst="rect">
            <a:avLst/>
          </a:prstGeom>
          <a:noFill/>
          <a:ln/>
        </p:spPr>
        <p:txBody>
          <a:bodyPr wrap="square" lIns="0" tIns="0" rIns="0" bIns="0" rtlCol="0" anchor="t">
            <a:normAutofit/>
          </a:bodyPr>
          <a:lstStyle/>
          <a:p>
            <a:pPr marL="0" indent="0" algn="r" rtl="1">
              <a:buNone/>
            </a:pPr>
            <a:r>
              <a:rPr lang="en-US" sz="185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دیستروفی عضلانی دوشن با ضعف پیشرونده عضلات و کاهش تدریجی توانایی‌های حرکتی همراه است.</a:t>
            </a:r>
            <a:endParaRPr lang="en-US" sz="185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11" name="Shape 9"/>
          <p:cNvSpPr/>
          <p:nvPr/>
        </p:nvSpPr>
        <p:spPr>
          <a:xfrm>
            <a:off x="5074920" y="3273552"/>
            <a:ext cx="118872" cy="118872"/>
          </a:xfrm>
          <a:prstGeom prst="ellipse">
            <a:avLst/>
          </a:prstGeom>
          <a:solidFill>
            <a:srgbClr val="0B6E99"/>
          </a:solidFill>
          <a:ln w="12700">
            <a:solidFill>
              <a:srgbClr val="0B6E99"/>
            </a:solidFill>
            <a:prstDash val="solid"/>
          </a:ln>
        </p:spPr>
      </p:sp>
      <p:sp>
        <p:nvSpPr>
          <p:cNvPr id="12" name="Text 10"/>
          <p:cNvSpPr/>
          <p:nvPr/>
        </p:nvSpPr>
        <p:spPr>
          <a:xfrm>
            <a:off x="1024128" y="3108960"/>
            <a:ext cx="3886200" cy="438912"/>
          </a:xfrm>
          <a:prstGeom prst="rect">
            <a:avLst/>
          </a:prstGeom>
          <a:noFill/>
          <a:ln/>
        </p:spPr>
        <p:txBody>
          <a:bodyPr wrap="square" lIns="0" tIns="0" rIns="0" bIns="0" rtlCol="0" anchor="t">
            <a:normAutofit/>
          </a:bodyPr>
          <a:lstStyle/>
          <a:p>
            <a:pPr marL="0" indent="0" algn="r" rtl="1">
              <a:buNone/>
            </a:pPr>
            <a:r>
              <a:rPr lang="en-US" sz="152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پایش روند بیماری به ارزیابی تکرارپذیر عملکرد حرکتی نیاز دارد.</a:t>
            </a:r>
            <a:endParaRPr lang="en-US" sz="15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3" name="Shape 11"/>
          <p:cNvSpPr/>
          <p:nvPr/>
        </p:nvSpPr>
        <p:spPr>
          <a:xfrm>
            <a:off x="5074920" y="3931920"/>
            <a:ext cx="118872" cy="118872"/>
          </a:xfrm>
          <a:prstGeom prst="ellipse">
            <a:avLst/>
          </a:prstGeom>
          <a:solidFill>
            <a:srgbClr val="0B6E99"/>
          </a:solidFill>
          <a:ln w="12700">
            <a:solidFill>
              <a:srgbClr val="0B6E99"/>
            </a:solidFill>
            <a:prstDash val="solid"/>
          </a:ln>
        </p:spPr>
      </p:sp>
      <p:sp>
        <p:nvSpPr>
          <p:cNvPr id="14" name="Text 12"/>
          <p:cNvSpPr/>
          <p:nvPr/>
        </p:nvSpPr>
        <p:spPr>
          <a:xfrm>
            <a:off x="1024128" y="3767328"/>
            <a:ext cx="3886200" cy="438912"/>
          </a:xfrm>
          <a:prstGeom prst="rect">
            <a:avLst/>
          </a:prstGeom>
          <a:noFill/>
          <a:ln/>
        </p:spPr>
        <p:txBody>
          <a:bodyPr wrap="square" lIns="0" tIns="0" rIns="0" bIns="0" rtlCol="0" anchor="t">
            <a:normAutofit/>
          </a:bodyPr>
          <a:lstStyle/>
          <a:p>
            <a:pPr marL="0" indent="0" algn="r" rtl="1">
              <a:buNone/>
            </a:pPr>
            <a:r>
              <a:rPr lang="en-US" sz="152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امتیازدهی NSAA تا حدی به مشاهده و قضاوت ارزیاب وابسته است.</a:t>
            </a:r>
            <a:endParaRPr lang="en-US" sz="15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5" name="Shape 13"/>
          <p:cNvSpPr/>
          <p:nvPr/>
        </p:nvSpPr>
        <p:spPr>
          <a:xfrm>
            <a:off x="5074920" y="4590288"/>
            <a:ext cx="118872" cy="118872"/>
          </a:xfrm>
          <a:prstGeom prst="ellipse">
            <a:avLst/>
          </a:prstGeom>
          <a:solidFill>
            <a:srgbClr val="2F855A"/>
          </a:solidFill>
          <a:ln w="12700">
            <a:solidFill>
              <a:srgbClr val="2F855A"/>
            </a:solidFill>
            <a:prstDash val="solid"/>
          </a:ln>
        </p:spPr>
      </p:sp>
      <p:sp>
        <p:nvSpPr>
          <p:cNvPr id="16" name="Text 14"/>
          <p:cNvSpPr/>
          <p:nvPr/>
        </p:nvSpPr>
        <p:spPr>
          <a:xfrm>
            <a:off x="1024128" y="4425696"/>
            <a:ext cx="3886200" cy="438912"/>
          </a:xfrm>
          <a:prstGeom prst="rect">
            <a:avLst/>
          </a:prstGeom>
          <a:noFill/>
          <a:ln/>
        </p:spPr>
        <p:txBody>
          <a:bodyPr wrap="square" lIns="0" tIns="0" rIns="0" bIns="0" rtlCol="0" anchor="t">
            <a:normAutofit/>
          </a:bodyPr>
          <a:lstStyle/>
          <a:p>
            <a:pPr marL="0" indent="0" algn="r" rtl="1">
              <a:buNone/>
            </a:pPr>
            <a:r>
              <a:rPr lang="en-US" sz="152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داده‌های IMU امکان ثبت کمی شتاب و سرعت زاویه‌ای را فراهم می‌کنند.</a:t>
            </a:r>
            <a:endParaRPr lang="en-US" sz="15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7" name="Shape 15"/>
          <p:cNvSpPr/>
          <p:nvPr/>
        </p:nvSpPr>
        <p:spPr>
          <a:xfrm>
            <a:off x="5989320" y="1508760"/>
            <a:ext cx="5532120" cy="3931920"/>
          </a:xfrm>
          <a:prstGeom prst="roundRect">
            <a:avLst>
              <a:gd name="adj" fmla="val 1860"/>
            </a:avLst>
          </a:prstGeom>
          <a:solidFill>
            <a:srgbClr val="F4F8FB"/>
          </a:solidFill>
          <a:ln w="12700">
            <a:solidFill>
              <a:srgbClr val="D9E2EC"/>
            </a:solidFill>
            <a:prstDash val="solid"/>
          </a:ln>
          <a:effectLst>
            <a:outerShdw blurRad="12700" dist="50800" dir="2700000" algn="bl" rotWithShape="0">
              <a:srgbClr val="B0BEC5">
                <a:alpha val="12000"/>
              </a:srgbClr>
            </a:outerShdw>
          </a:effectLst>
        </p:spPr>
      </p:sp>
      <p:sp>
        <p:nvSpPr>
          <p:cNvPr id="18" name="Shape 16"/>
          <p:cNvSpPr/>
          <p:nvPr/>
        </p:nvSpPr>
        <p:spPr>
          <a:xfrm>
            <a:off x="8942832" y="1755648"/>
            <a:ext cx="2240280" cy="347472"/>
          </a:xfrm>
          <a:prstGeom prst="roundRect">
            <a:avLst>
              <a:gd name="adj" fmla="val 47368"/>
            </a:avLst>
          </a:prstGeom>
          <a:solidFill>
            <a:srgbClr val="E7F4F8"/>
          </a:solidFill>
          <a:ln w="12700">
            <a:solidFill>
              <a:srgbClr val="E7F4F8"/>
            </a:solidFill>
            <a:prstDash val="solid"/>
          </a:ln>
        </p:spPr>
      </p:sp>
      <p:sp>
        <p:nvSpPr>
          <p:cNvPr id="19" name="Text 17"/>
          <p:cNvSpPr/>
          <p:nvPr/>
        </p:nvSpPr>
        <p:spPr>
          <a:xfrm>
            <a:off x="9052560" y="1773936"/>
            <a:ext cx="2020824" cy="310896"/>
          </a:xfrm>
          <a:prstGeom prst="rect">
            <a:avLst/>
          </a:prstGeom>
          <a:noFill/>
          <a:ln/>
        </p:spPr>
        <p:txBody>
          <a:bodyPr wrap="square" lIns="0" tIns="0" rIns="0" bIns="0" rtlCol="0" anchor="ctr">
            <a:normAutofit/>
          </a:bodyPr>
          <a:lstStyle/>
          <a:p>
            <a:pPr marL="0" indent="0" algn="ctr" rtl="1">
              <a:buNone/>
            </a:pPr>
            <a:r>
              <a:rPr lang="en-US" sz="1320" b="1" dirty="0">
                <a:solidFill>
                  <a:srgbClr val="0B6E99"/>
                </a:solidFill>
                <a:latin typeface="Sharif 1.2" panose="020B0000040000000000" pitchFamily="34" charset="-78"/>
                <a:ea typeface="Sharif 1.2" panose="020B0000040000000000" pitchFamily="34" charset="-78"/>
                <a:cs typeface="Sharif 1.2" panose="020B0000040000000000" pitchFamily="34" charset="-78"/>
              </a:rPr>
              <a:t>مرجع ارزیابی: NSAA</a:t>
            </a:r>
            <a:endParaRPr lang="en-US" sz="13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20" name="Text 18"/>
          <p:cNvSpPr/>
          <p:nvPr/>
        </p:nvSpPr>
        <p:spPr>
          <a:xfrm>
            <a:off x="6446520" y="2267712"/>
            <a:ext cx="4663440" cy="411480"/>
          </a:xfrm>
          <a:prstGeom prst="rect">
            <a:avLst/>
          </a:prstGeom>
          <a:noFill/>
          <a:ln/>
        </p:spPr>
        <p:txBody>
          <a:bodyPr wrap="square" lIns="0" tIns="0" rIns="0" bIns="0" rtlCol="0" anchor="ctr">
            <a:normAutofit/>
          </a:bodyPr>
          <a:lstStyle/>
          <a:p>
            <a:pPr marL="0" indent="0" algn="ctr" rtl="1">
              <a:buNone/>
            </a:pPr>
            <a:r>
              <a:rPr lang="en-US" sz="165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هر فعالیت با یک نمره گسسته ارزیابی می‌شود</a:t>
            </a:r>
            <a:endParaRPr lang="en-US" sz="165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21" name="Shape 19"/>
          <p:cNvSpPr/>
          <p:nvPr/>
        </p:nvSpPr>
        <p:spPr>
          <a:xfrm>
            <a:off x="6492240" y="2816352"/>
            <a:ext cx="4498848" cy="658368"/>
          </a:xfrm>
          <a:prstGeom prst="roundRect">
            <a:avLst>
              <a:gd name="adj" fmla="val 11111"/>
            </a:avLst>
          </a:prstGeom>
          <a:solidFill>
            <a:srgbClr val="E8F5EE"/>
          </a:solidFill>
          <a:ln w="15240">
            <a:solidFill>
              <a:srgbClr val="2F855A"/>
            </a:solidFill>
            <a:prstDash val="solid"/>
          </a:ln>
        </p:spPr>
      </p:sp>
      <p:sp>
        <p:nvSpPr>
          <p:cNvPr id="22" name="Shape 20"/>
          <p:cNvSpPr/>
          <p:nvPr/>
        </p:nvSpPr>
        <p:spPr>
          <a:xfrm>
            <a:off x="10314432" y="2907792"/>
            <a:ext cx="457200" cy="457200"/>
          </a:xfrm>
          <a:prstGeom prst="ellipse">
            <a:avLst/>
          </a:prstGeom>
          <a:solidFill>
            <a:srgbClr val="2F855A"/>
          </a:solidFill>
          <a:ln w="12700">
            <a:solidFill>
              <a:srgbClr val="2F855A"/>
            </a:solidFill>
            <a:prstDash val="solid"/>
          </a:ln>
        </p:spPr>
      </p:sp>
      <p:sp>
        <p:nvSpPr>
          <p:cNvPr id="23" name="Text 21"/>
          <p:cNvSpPr/>
          <p:nvPr/>
        </p:nvSpPr>
        <p:spPr>
          <a:xfrm>
            <a:off x="10314432" y="2907792"/>
            <a:ext cx="457200" cy="402336"/>
          </a:xfrm>
          <a:prstGeom prst="rect">
            <a:avLst/>
          </a:prstGeom>
          <a:noFill/>
          <a:ln/>
        </p:spPr>
        <p:txBody>
          <a:bodyPr wrap="square" lIns="0" tIns="0" rIns="0" bIns="0" rtlCol="0" anchor="ctr">
            <a:normAutofit/>
          </a:bodyPr>
          <a:lstStyle/>
          <a:p>
            <a:pPr marL="0" indent="0" algn="ctr" rtl="1">
              <a:buNone/>
            </a:pPr>
            <a:r>
              <a:rPr lang="en-US" sz="19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۲</a:t>
            </a:r>
            <a:endParaRPr lang="en-US" sz="19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4" name="Text 22"/>
          <p:cNvSpPr/>
          <p:nvPr/>
        </p:nvSpPr>
        <p:spPr>
          <a:xfrm>
            <a:off x="7360920" y="2880360"/>
            <a:ext cx="2761488" cy="256032"/>
          </a:xfrm>
          <a:prstGeom prst="rect">
            <a:avLst/>
          </a:prstGeom>
          <a:noFill/>
          <a:ln/>
        </p:spPr>
        <p:txBody>
          <a:bodyPr wrap="square" lIns="0" tIns="0" rIns="0" bIns="0" rtlCol="0" anchor="ctr">
            <a:normAutofit/>
          </a:bodyPr>
          <a:lstStyle/>
          <a:p>
            <a:pPr marL="0" indent="0" algn="r" rtl="1">
              <a:buNone/>
            </a:pPr>
            <a:r>
              <a:rPr lang="en-US" sz="1420" b="1" dirty="0">
                <a:solidFill>
                  <a:srgbClr val="1F2937"/>
                </a:solidFill>
                <a:latin typeface="Sharif 1.2" panose="020B0000040000000000" pitchFamily="34" charset="-78"/>
                <a:ea typeface="Sharif 1.2" panose="020B0000040000000000" pitchFamily="34" charset="-78"/>
                <a:cs typeface="Sharif 1.2" panose="020B0000040000000000" pitchFamily="34" charset="-78"/>
              </a:rPr>
              <a:t>اجرای طبیعی و مستقل</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25" name="Text 23"/>
          <p:cNvSpPr/>
          <p:nvPr/>
        </p:nvSpPr>
        <p:spPr>
          <a:xfrm>
            <a:off x="6711696" y="3145536"/>
            <a:ext cx="3410712" cy="219456"/>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بدون الگوی جبرانی</a:t>
            </a:r>
            <a:endParaRPr lang="en-US" sz="11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6" name="Shape 24"/>
          <p:cNvSpPr/>
          <p:nvPr/>
        </p:nvSpPr>
        <p:spPr>
          <a:xfrm>
            <a:off x="6492240" y="3657600"/>
            <a:ext cx="4498848" cy="658368"/>
          </a:xfrm>
          <a:prstGeom prst="roundRect">
            <a:avLst>
              <a:gd name="adj" fmla="val 11111"/>
            </a:avLst>
          </a:prstGeom>
          <a:solidFill>
            <a:srgbClr val="FFF5D8"/>
          </a:solidFill>
          <a:ln w="15240">
            <a:solidFill>
              <a:srgbClr val="E69F00"/>
            </a:solidFill>
            <a:prstDash val="solid"/>
          </a:ln>
        </p:spPr>
      </p:sp>
      <p:sp>
        <p:nvSpPr>
          <p:cNvPr id="27" name="Shape 25"/>
          <p:cNvSpPr/>
          <p:nvPr/>
        </p:nvSpPr>
        <p:spPr>
          <a:xfrm>
            <a:off x="10314432" y="3749040"/>
            <a:ext cx="457200" cy="457200"/>
          </a:xfrm>
          <a:prstGeom prst="ellipse">
            <a:avLst/>
          </a:prstGeom>
          <a:solidFill>
            <a:srgbClr val="E69F00"/>
          </a:solidFill>
          <a:ln w="12700">
            <a:solidFill>
              <a:srgbClr val="E69F00"/>
            </a:solidFill>
            <a:prstDash val="solid"/>
          </a:ln>
        </p:spPr>
      </p:sp>
      <p:sp>
        <p:nvSpPr>
          <p:cNvPr id="28" name="Text 26"/>
          <p:cNvSpPr/>
          <p:nvPr/>
        </p:nvSpPr>
        <p:spPr>
          <a:xfrm>
            <a:off x="10314432" y="3749040"/>
            <a:ext cx="457200" cy="402336"/>
          </a:xfrm>
          <a:prstGeom prst="rect">
            <a:avLst/>
          </a:prstGeom>
          <a:noFill/>
          <a:ln/>
        </p:spPr>
        <p:txBody>
          <a:bodyPr wrap="square" lIns="0" tIns="0" rIns="0" bIns="0" rtlCol="0" anchor="ctr">
            <a:normAutofit/>
          </a:bodyPr>
          <a:lstStyle/>
          <a:p>
            <a:pPr marL="0" indent="0" algn="ctr" rtl="1">
              <a:buNone/>
            </a:pPr>
            <a:r>
              <a:rPr lang="en-US" sz="19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19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9" name="Text 27"/>
          <p:cNvSpPr/>
          <p:nvPr/>
        </p:nvSpPr>
        <p:spPr>
          <a:xfrm>
            <a:off x="7360920" y="3721608"/>
            <a:ext cx="2761488" cy="256032"/>
          </a:xfrm>
          <a:prstGeom prst="rect">
            <a:avLst/>
          </a:prstGeom>
          <a:noFill/>
          <a:ln/>
        </p:spPr>
        <p:txBody>
          <a:bodyPr wrap="square" lIns="0" tIns="0" rIns="0" bIns="0" rtlCol="0" anchor="ctr">
            <a:normAutofit/>
          </a:bodyPr>
          <a:lstStyle/>
          <a:p>
            <a:pPr marL="0" indent="0" algn="r" rtl="1">
              <a:buNone/>
            </a:pPr>
            <a:r>
              <a:rPr lang="en-US" sz="1420" b="1" dirty="0">
                <a:solidFill>
                  <a:srgbClr val="1F2937"/>
                </a:solidFill>
                <a:latin typeface="Sharif 1.2" panose="020B0000040000000000" pitchFamily="34" charset="-78"/>
                <a:ea typeface="Sharif 1.2" panose="020B0000040000000000" pitchFamily="34" charset="-78"/>
                <a:cs typeface="Sharif 1.2" panose="020B0000040000000000" pitchFamily="34" charset="-78"/>
              </a:rPr>
              <a:t>اجرای مستقل با جبران</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30" name="Text 28"/>
          <p:cNvSpPr/>
          <p:nvPr/>
        </p:nvSpPr>
        <p:spPr>
          <a:xfrm>
            <a:off x="6711696" y="3986784"/>
            <a:ext cx="3410712" cy="219456"/>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تغییر الگوی حرکت یا استفاده جبرانی</a:t>
            </a:r>
            <a:endParaRPr lang="en-US" sz="11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1" name="Shape 29"/>
          <p:cNvSpPr/>
          <p:nvPr/>
        </p:nvSpPr>
        <p:spPr>
          <a:xfrm>
            <a:off x="6492240" y="4498848"/>
            <a:ext cx="4498848" cy="658368"/>
          </a:xfrm>
          <a:prstGeom prst="roundRect">
            <a:avLst>
              <a:gd name="adj" fmla="val 11111"/>
            </a:avLst>
          </a:prstGeom>
          <a:solidFill>
            <a:srgbClr val="FDECEA"/>
          </a:solidFill>
          <a:ln w="15240">
            <a:solidFill>
              <a:srgbClr val="C0392B"/>
            </a:solidFill>
            <a:prstDash val="solid"/>
          </a:ln>
        </p:spPr>
      </p:sp>
      <p:sp>
        <p:nvSpPr>
          <p:cNvPr id="32" name="Shape 30"/>
          <p:cNvSpPr/>
          <p:nvPr/>
        </p:nvSpPr>
        <p:spPr>
          <a:xfrm>
            <a:off x="10314432" y="4590288"/>
            <a:ext cx="457200" cy="457200"/>
          </a:xfrm>
          <a:prstGeom prst="ellipse">
            <a:avLst/>
          </a:prstGeom>
          <a:solidFill>
            <a:srgbClr val="C0392B"/>
          </a:solidFill>
          <a:ln w="12700">
            <a:solidFill>
              <a:srgbClr val="C0392B"/>
            </a:solidFill>
            <a:prstDash val="solid"/>
          </a:ln>
        </p:spPr>
      </p:sp>
      <p:sp>
        <p:nvSpPr>
          <p:cNvPr id="33" name="Text 31"/>
          <p:cNvSpPr/>
          <p:nvPr/>
        </p:nvSpPr>
        <p:spPr>
          <a:xfrm>
            <a:off x="10314432" y="4590288"/>
            <a:ext cx="457200" cy="402336"/>
          </a:xfrm>
          <a:prstGeom prst="rect">
            <a:avLst/>
          </a:prstGeom>
          <a:noFill/>
          <a:ln/>
        </p:spPr>
        <p:txBody>
          <a:bodyPr wrap="square" lIns="0" tIns="0" rIns="0" bIns="0" rtlCol="0" anchor="ctr">
            <a:normAutofit/>
          </a:bodyPr>
          <a:lstStyle/>
          <a:p>
            <a:pPr marL="0" indent="0" algn="ctr" rtl="1">
              <a:buNone/>
            </a:pPr>
            <a:r>
              <a:rPr lang="en-US" sz="19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۰</a:t>
            </a:r>
            <a:endParaRPr lang="en-US" sz="19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4" name="Text 32"/>
          <p:cNvSpPr/>
          <p:nvPr/>
        </p:nvSpPr>
        <p:spPr>
          <a:xfrm>
            <a:off x="7360920" y="4562856"/>
            <a:ext cx="2761488" cy="256032"/>
          </a:xfrm>
          <a:prstGeom prst="rect">
            <a:avLst/>
          </a:prstGeom>
          <a:noFill/>
          <a:ln/>
        </p:spPr>
        <p:txBody>
          <a:bodyPr wrap="square" lIns="0" tIns="0" rIns="0" bIns="0" rtlCol="0" anchor="ctr">
            <a:normAutofit/>
          </a:bodyPr>
          <a:lstStyle/>
          <a:p>
            <a:pPr marL="0" indent="0" algn="r" rtl="1">
              <a:buNone/>
            </a:pPr>
            <a:r>
              <a:rPr lang="en-US" sz="1420" b="1" dirty="0">
                <a:solidFill>
                  <a:srgbClr val="1F2937"/>
                </a:solidFill>
                <a:latin typeface="Sharif 1.2" panose="020B0000040000000000" pitchFamily="34" charset="-78"/>
                <a:ea typeface="Sharif 1.2" panose="020B0000040000000000" pitchFamily="34" charset="-78"/>
                <a:cs typeface="Sharif 1.2" panose="020B0000040000000000" pitchFamily="34" charset="-78"/>
              </a:rPr>
              <a:t>ناتوانی در اجرای مستقل</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35" name="Text 33"/>
          <p:cNvSpPr/>
          <p:nvPr/>
        </p:nvSpPr>
        <p:spPr>
          <a:xfrm>
            <a:off x="6711696" y="4828032"/>
            <a:ext cx="3410712" cy="219456"/>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فعالیت به‌طور مستقل کامل نمی‌شود</a:t>
            </a:r>
            <a:endParaRPr lang="en-US" sz="11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6" name="Shape 34"/>
          <p:cNvSpPr/>
          <p:nvPr/>
        </p:nvSpPr>
        <p:spPr>
          <a:xfrm>
            <a:off x="1874520" y="5577840"/>
            <a:ext cx="8458200" cy="530352"/>
          </a:xfrm>
          <a:prstGeom prst="roundRect">
            <a:avLst>
              <a:gd name="adj" fmla="val 20690"/>
            </a:avLst>
          </a:prstGeom>
          <a:solidFill>
            <a:srgbClr val="102A43"/>
          </a:solidFill>
          <a:ln w="12700">
            <a:solidFill>
              <a:srgbClr val="102A43"/>
            </a:solidFill>
            <a:prstDash val="solid"/>
          </a:ln>
        </p:spPr>
      </p:sp>
      <p:sp>
        <p:nvSpPr>
          <p:cNvPr id="37" name="Text 35"/>
          <p:cNvSpPr/>
          <p:nvPr/>
        </p:nvSpPr>
        <p:spPr>
          <a:xfrm>
            <a:off x="2103120" y="5650992"/>
            <a:ext cx="8001000" cy="329184"/>
          </a:xfrm>
          <a:prstGeom prst="rect">
            <a:avLst/>
          </a:prstGeom>
          <a:noFill/>
          <a:ln/>
        </p:spPr>
        <p:txBody>
          <a:bodyPr wrap="square" lIns="0" tIns="0" rIns="0" bIns="0" rtlCol="0" anchor="ctr">
            <a:normAutofit/>
          </a:bodyPr>
          <a:lstStyle/>
          <a:p>
            <a:pPr marL="0" indent="0" algn="ctr" rtl="1">
              <a:buNone/>
            </a:pPr>
            <a:r>
              <a:rPr lang="en-US" sz="1720" b="1" dirty="0">
                <a:solidFill>
                  <a:srgbClr val="FFFFFF"/>
                </a:solidFill>
                <a:latin typeface="Sharif 1.2" panose="020B0000040000000000" pitchFamily="34" charset="-78"/>
                <a:ea typeface="Sharif 1.2" panose="020B0000040000000000" pitchFamily="34" charset="-78"/>
                <a:cs typeface="Sharif 1.2" panose="020B0000040000000000" pitchFamily="34" charset="-78"/>
              </a:rPr>
              <a:t>پرسش اصلی: آیا می‌توان سطوح عملکردی تعریف‌شده را از داده‌های حسگرهای اینرسیایی تفکیک کرد؟</a:t>
            </a:r>
            <a:endParaRPr lang="en-US" sz="17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38" name="Shape 36"/>
          <p:cNvSpPr/>
          <p:nvPr/>
        </p:nvSpPr>
        <p:spPr>
          <a:xfrm>
            <a:off x="658368" y="6473952"/>
            <a:ext cx="10881360" cy="0"/>
          </a:xfrm>
          <a:prstGeom prst="line">
            <a:avLst/>
          </a:prstGeom>
          <a:noFill/>
          <a:ln w="10160">
            <a:solidFill>
              <a:srgbClr val="E9EEF2"/>
            </a:solidFill>
            <a:prstDash val="solid"/>
          </a:ln>
        </p:spPr>
      </p:sp>
      <p:sp>
        <p:nvSpPr>
          <p:cNvPr id="39" name="Text 37"/>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پایان‌نامه کارشناسی مهندسی مکانیک</a:t>
            </a:r>
            <a:endParaRPr lang="en-US" sz="120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40" name="Text 38"/>
          <p:cNvSpPr/>
          <p:nvPr/>
        </p:nvSpPr>
        <p:spPr>
          <a:xfrm>
            <a:off x="3451860"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مقدمه</a:t>
            </a:r>
            <a:r>
              <a:rPr lang="en-US" sz="1200" dirty="0">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 و تعریف مسئله | ۱۲ اسلاید تا پایان</a:t>
            </a:r>
            <a:endParaRPr lang="en-US" sz="120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41" name="Text 39"/>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۲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2" name="Shape 40"/>
          <p:cNvSpPr/>
          <p:nvPr/>
        </p:nvSpPr>
        <p:spPr>
          <a:xfrm>
            <a:off x="2560320" y="6766560"/>
            <a:ext cx="940526" cy="41148"/>
          </a:xfrm>
          <a:prstGeom prst="rect">
            <a:avLst/>
          </a:prstGeom>
          <a:solidFill>
            <a:srgbClr val="0B6E99"/>
          </a:solidFill>
          <a:ln w="12700">
            <a:solidFill>
              <a:srgbClr val="0B6E99"/>
            </a:solidFill>
            <a:prstDash val="solid"/>
          </a:ln>
        </p:spPr>
      </p:sp>
      <p:sp>
        <p:nvSpPr>
          <p:cNvPr id="43" name="Shape 41"/>
          <p:cNvSpPr/>
          <p:nvPr/>
        </p:nvSpPr>
        <p:spPr>
          <a:xfrm>
            <a:off x="3500846" y="6766560"/>
            <a:ext cx="5643154" cy="41148"/>
          </a:xfrm>
          <a:prstGeom prst="rect">
            <a:avLst/>
          </a:prstGeom>
          <a:solidFill>
            <a:srgbClr val="E6EDF2"/>
          </a:solidFill>
          <a:ln w="12700">
            <a:solidFill>
              <a:srgbClr val="E6EDF2"/>
            </a:solidFill>
            <a:prstDash val="solid"/>
          </a:ln>
        </p:spPr>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دامنه و دستاوردهای پروژه</a:t>
            </a:r>
            <a:endParaRPr lang="en-US" sz="27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7" name="Text 5"/>
          <p:cNvSpPr/>
          <p:nvPr/>
        </p:nvSpPr>
        <p:spPr>
          <a:xfrm>
            <a:off x="3794760" y="1481328"/>
            <a:ext cx="7360920" cy="457200"/>
          </a:xfrm>
          <a:prstGeom prst="rect">
            <a:avLst/>
          </a:prstGeom>
          <a:noFill/>
          <a:ln/>
        </p:spPr>
        <p:txBody>
          <a:bodyPr wrap="square" lIns="0" tIns="0" rIns="0" bIns="0" rtlCol="0" anchor="ctr">
            <a:normAutofit/>
          </a:bodyPr>
          <a:lstStyle/>
          <a:p>
            <a:pPr marL="0" indent="0" algn="r" rtl="1">
              <a:buNone/>
            </a:pPr>
            <a:r>
              <a:rPr lang="en-US" sz="19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از ۱۷ فعالیت NSAA، پنج فعالیت با ماهیت حرکتی متفاوت انتخاب شد</a:t>
            </a:r>
            <a:endParaRPr lang="en-US" sz="19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8" name="Shape 6"/>
          <p:cNvSpPr/>
          <p:nvPr/>
        </p:nvSpPr>
        <p:spPr>
          <a:xfrm>
            <a:off x="713232"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9" name="Shape 7"/>
          <p:cNvSpPr/>
          <p:nvPr/>
        </p:nvSpPr>
        <p:spPr>
          <a:xfrm>
            <a:off x="1389888" y="3182112"/>
            <a:ext cx="658368" cy="658368"/>
          </a:xfrm>
          <a:prstGeom prst="ellipse">
            <a:avLst/>
          </a:prstGeom>
          <a:solidFill>
            <a:srgbClr val="0B6E99"/>
          </a:solidFill>
          <a:ln w="12700">
            <a:solidFill>
              <a:srgbClr val="0B6E99"/>
            </a:solidFill>
            <a:prstDash val="solid"/>
          </a:ln>
        </p:spPr>
        <p:txBody>
          <a:bodyPr/>
          <a:lstStyle/>
          <a:p>
            <a:endParaRPr lang="en-US" dirty="0"/>
          </a:p>
        </p:txBody>
      </p:sp>
      <p:sp>
        <p:nvSpPr>
          <p:cNvPr id="10" name="Text 8"/>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1" name="Text 9"/>
          <p:cNvSpPr/>
          <p:nvPr/>
        </p:nvSpPr>
        <p:spPr>
          <a:xfrm>
            <a:off x="877824"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ایستادن</a:t>
            </a:r>
            <a:endParaRPr lang="en-US" sz="1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2" name="Text 10"/>
          <p:cNvSpPr/>
          <p:nvPr/>
        </p:nvSpPr>
        <p:spPr>
          <a:xfrm>
            <a:off x="877824"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Light" panose="020B0000040000000000" pitchFamily="34" charset="-78"/>
                <a:ea typeface="Sharif 1.2 Light" panose="020B0000040000000000" pitchFamily="34" charset="-78"/>
                <a:cs typeface="Sharif 1.2 Light" panose="020B0000040000000000" pitchFamily="34" charset="-78"/>
              </a:rPr>
              <a:t>تعادل و نوسان کم‌دامنه</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3" name="Shape 11"/>
          <p:cNvSpPr/>
          <p:nvPr/>
        </p:nvSpPr>
        <p:spPr>
          <a:xfrm>
            <a:off x="2980944"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14" name="Shape 12"/>
          <p:cNvSpPr/>
          <p:nvPr/>
        </p:nvSpPr>
        <p:spPr>
          <a:xfrm>
            <a:off x="3657600" y="3182112"/>
            <a:ext cx="658368" cy="658368"/>
          </a:xfrm>
          <a:prstGeom prst="ellipse">
            <a:avLst/>
          </a:prstGeom>
          <a:solidFill>
            <a:srgbClr val="0B7A75"/>
          </a:solidFill>
          <a:ln w="12700">
            <a:solidFill>
              <a:srgbClr val="0B7A75"/>
            </a:solidFill>
            <a:prstDash val="solid"/>
          </a:ln>
        </p:spPr>
        <p:txBody>
          <a:bodyPr/>
          <a:lstStyle/>
          <a:p>
            <a:endParaRPr lang="en-US" dirty="0"/>
          </a:p>
        </p:txBody>
      </p:sp>
      <p:sp>
        <p:nvSpPr>
          <p:cNvPr id="15" name="Text 13"/>
          <p:cNvSpPr/>
          <p:nvPr/>
        </p:nvSpPr>
        <p:spPr>
          <a:xfrm>
            <a:off x="3657600"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Light" panose="020B0000040000000000" pitchFamily="34" charset="-78"/>
                <a:ea typeface="Sharif 1.2 Light" panose="020B0000040000000000" pitchFamily="34" charset="-78"/>
                <a:cs typeface="Sharif 1.2 Light" panose="020B0000040000000000" pitchFamily="34" charset="-78"/>
              </a:rPr>
              <a:t>۲</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6" name="Text 14"/>
          <p:cNvSpPr/>
          <p:nvPr/>
        </p:nvSpPr>
        <p:spPr>
          <a:xfrm>
            <a:off x="3145536"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برخاستن از صندلی</a:t>
            </a:r>
            <a:endParaRPr lang="en-US" sz="1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7" name="Text 15"/>
          <p:cNvSpPr/>
          <p:nvPr/>
        </p:nvSpPr>
        <p:spPr>
          <a:xfrm>
            <a:off x="3145536"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Light" panose="020B0000040000000000" pitchFamily="34" charset="-78"/>
                <a:ea typeface="Sharif 1.2 Light" panose="020B0000040000000000" pitchFamily="34" charset="-78"/>
                <a:cs typeface="Sharif 1.2 Light" panose="020B0000040000000000" pitchFamily="34" charset="-78"/>
              </a:rPr>
              <a:t>هماهنگی تنه، دست و پا</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8" name="Shape 16"/>
          <p:cNvSpPr/>
          <p:nvPr/>
        </p:nvSpPr>
        <p:spPr>
          <a:xfrm>
            <a:off x="5248656"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19" name="Shape 17"/>
          <p:cNvSpPr/>
          <p:nvPr/>
        </p:nvSpPr>
        <p:spPr>
          <a:xfrm>
            <a:off x="5925312" y="3182112"/>
            <a:ext cx="658368" cy="658368"/>
          </a:xfrm>
          <a:prstGeom prst="ellipse">
            <a:avLst/>
          </a:prstGeom>
          <a:solidFill>
            <a:srgbClr val="E69F00"/>
          </a:solidFill>
          <a:ln w="12700">
            <a:solidFill>
              <a:srgbClr val="E69F00"/>
            </a:solidFill>
            <a:prstDash val="solid"/>
          </a:ln>
        </p:spPr>
      </p:sp>
      <p:sp>
        <p:nvSpPr>
          <p:cNvPr id="20" name="Text 18"/>
          <p:cNvSpPr/>
          <p:nvPr/>
        </p:nvSpPr>
        <p:spPr>
          <a:xfrm>
            <a:off x="5925312"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۳</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1" name="Text 19"/>
          <p:cNvSpPr/>
          <p:nvPr/>
        </p:nvSpPr>
        <p:spPr>
          <a:xfrm>
            <a:off x="5413248"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پریدن</a:t>
            </a:r>
            <a:endParaRPr lang="en-US" sz="1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22" name="Text 20"/>
          <p:cNvSpPr/>
          <p:nvPr/>
        </p:nvSpPr>
        <p:spPr>
          <a:xfrm>
            <a:off x="5413248"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Light" panose="020B0000040000000000" pitchFamily="34" charset="-78"/>
                <a:ea typeface="Sharif 1.2 Light" panose="020B0000040000000000" pitchFamily="34" charset="-78"/>
                <a:cs typeface="Sharif 1.2 Light" panose="020B0000040000000000" pitchFamily="34" charset="-78"/>
              </a:rPr>
              <a:t>حرکت سریع و انفجاری</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3" name="Shape 21"/>
          <p:cNvSpPr/>
          <p:nvPr/>
        </p:nvSpPr>
        <p:spPr>
          <a:xfrm>
            <a:off x="7516368"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4" name="Shape 22"/>
          <p:cNvSpPr/>
          <p:nvPr/>
        </p:nvSpPr>
        <p:spPr>
          <a:xfrm>
            <a:off x="8193024" y="3182112"/>
            <a:ext cx="658368" cy="658368"/>
          </a:xfrm>
          <a:prstGeom prst="ellipse">
            <a:avLst/>
          </a:prstGeom>
          <a:solidFill>
            <a:srgbClr val="2F855A"/>
          </a:solidFill>
          <a:ln w="12700">
            <a:solidFill>
              <a:srgbClr val="2F855A"/>
            </a:solidFill>
            <a:prstDash val="solid"/>
          </a:ln>
        </p:spPr>
      </p:sp>
      <p:sp>
        <p:nvSpPr>
          <p:cNvPr id="25" name="Text 23"/>
          <p:cNvSpPr/>
          <p:nvPr/>
        </p:nvSpPr>
        <p:spPr>
          <a:xfrm>
            <a:off x="8193024"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۴</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6" name="Text 24"/>
          <p:cNvSpPr/>
          <p:nvPr/>
        </p:nvSpPr>
        <p:spPr>
          <a:xfrm>
            <a:off x="7680960"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بالا آوردن سر</a:t>
            </a:r>
            <a:endParaRPr lang="en-US" sz="1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27" name="Text 25"/>
          <p:cNvSpPr/>
          <p:nvPr/>
        </p:nvSpPr>
        <p:spPr>
          <a:xfrm>
            <a:off x="7680960"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Light" panose="020B0000040000000000" pitchFamily="34" charset="-78"/>
                <a:ea typeface="Sharif 1.2 Light" panose="020B0000040000000000" pitchFamily="34" charset="-78"/>
                <a:cs typeface="Sharif 1.2 Light" panose="020B0000040000000000" pitchFamily="34" charset="-78"/>
              </a:rPr>
              <a:t>حرکت ضدجاذبه گردن</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8" name="Shape 26"/>
          <p:cNvSpPr/>
          <p:nvPr/>
        </p:nvSpPr>
        <p:spPr>
          <a:xfrm>
            <a:off x="9784080"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9" name="Shape 27"/>
          <p:cNvSpPr/>
          <p:nvPr/>
        </p:nvSpPr>
        <p:spPr>
          <a:xfrm>
            <a:off x="10460736" y="3182112"/>
            <a:ext cx="658368" cy="658368"/>
          </a:xfrm>
          <a:prstGeom prst="ellipse">
            <a:avLst/>
          </a:prstGeom>
          <a:solidFill>
            <a:srgbClr val="C0392B"/>
          </a:solidFill>
          <a:ln w="12700">
            <a:solidFill>
              <a:srgbClr val="C0392B"/>
            </a:solidFill>
            <a:prstDash val="solid"/>
          </a:ln>
        </p:spPr>
      </p:sp>
      <p:sp>
        <p:nvSpPr>
          <p:cNvPr id="30" name="Text 28"/>
          <p:cNvSpPr/>
          <p:nvPr/>
        </p:nvSpPr>
        <p:spPr>
          <a:xfrm>
            <a:off x="10460736"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۵</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1" name="Text 29"/>
          <p:cNvSpPr/>
          <p:nvPr/>
        </p:nvSpPr>
        <p:spPr>
          <a:xfrm>
            <a:off x="9948672"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بالا رفتن از جعبه</a:t>
            </a:r>
            <a:endParaRPr lang="en-US" sz="1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32" name="Text 30"/>
          <p:cNvSpPr/>
          <p:nvPr/>
        </p:nvSpPr>
        <p:spPr>
          <a:xfrm>
            <a:off x="9948672"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Light" panose="020B0000040000000000" pitchFamily="34" charset="-78"/>
                <a:ea typeface="Sharif 1.2 Light" panose="020B0000040000000000" pitchFamily="34" charset="-78"/>
                <a:cs typeface="Sharif 1.2 Light" panose="020B0000040000000000" pitchFamily="34" charset="-78"/>
              </a:rPr>
              <a:t>انتقال وزن و تعادل</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3" name="Shape 31"/>
          <p:cNvSpPr/>
          <p:nvPr/>
        </p:nvSpPr>
        <p:spPr>
          <a:xfrm>
            <a:off x="713232" y="5303520"/>
            <a:ext cx="10771632" cy="859536"/>
          </a:xfrm>
          <a:prstGeom prst="roundRect">
            <a:avLst>
              <a:gd name="adj" fmla="val 8511"/>
            </a:avLst>
          </a:prstGeom>
          <a:solidFill>
            <a:srgbClr val="102A43"/>
          </a:solidFill>
          <a:ln w="12700">
            <a:solidFill>
              <a:srgbClr val="102A43"/>
            </a:solidFill>
            <a:prstDash val="solid"/>
          </a:ln>
        </p:spPr>
      </p:sp>
      <p:sp>
        <p:nvSpPr>
          <p:cNvPr id="34" name="Shape 32"/>
          <p:cNvSpPr/>
          <p:nvPr/>
        </p:nvSpPr>
        <p:spPr>
          <a:xfrm>
            <a:off x="3703320" y="5504688"/>
            <a:ext cx="438912" cy="438912"/>
          </a:xfrm>
          <a:prstGeom prst="ellipse">
            <a:avLst/>
          </a:prstGeom>
          <a:solidFill>
            <a:srgbClr val="1D8AB5"/>
          </a:solidFill>
          <a:ln w="12700">
            <a:solidFill>
              <a:srgbClr val="1D8AB5"/>
            </a:solidFill>
            <a:prstDash val="solid"/>
          </a:ln>
        </p:spPr>
      </p:sp>
      <p:sp>
        <p:nvSpPr>
          <p:cNvPr id="35" name="Text 33"/>
          <p:cNvSpPr/>
          <p:nvPr/>
        </p:nvSpPr>
        <p:spPr>
          <a:xfrm>
            <a:off x="3703320" y="5513832"/>
            <a:ext cx="438912" cy="384048"/>
          </a:xfrm>
          <a:prstGeom prst="rect">
            <a:avLst/>
          </a:prstGeom>
          <a:noFill/>
          <a:ln/>
        </p:spPr>
        <p:txBody>
          <a:bodyPr wrap="square" lIns="0" tIns="0" rIns="0" bIns="0" rtlCol="0" anchor="ctr">
            <a:normAutofit/>
          </a:bodyPr>
          <a:lstStyle/>
          <a:p>
            <a:pPr marL="0" indent="0" algn="ctr">
              <a:buNone/>
            </a:pPr>
            <a:r>
              <a:rPr lang="fa-IR" sz="1400"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۱</a:t>
            </a:r>
            <a:endParaRPr lang="en-US" sz="14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6" name="Text 34"/>
          <p:cNvSpPr/>
          <p:nvPr/>
        </p:nvSpPr>
        <p:spPr>
          <a:xfrm>
            <a:off x="868680" y="5422392"/>
            <a:ext cx="2670048" cy="256032"/>
          </a:xfrm>
          <a:prstGeom prst="rect">
            <a:avLst/>
          </a:prstGeom>
          <a:noFill/>
          <a:ln/>
        </p:spPr>
        <p:txBody>
          <a:bodyPr wrap="square" lIns="0" tIns="0" rIns="0" bIns="0" rtlCol="0" anchor="ctr">
            <a:normAutofit/>
          </a:bodyPr>
          <a:lstStyle/>
          <a:p>
            <a:pPr marL="0" indent="0" algn="r" rtl="1">
              <a:buNone/>
            </a:pPr>
            <a:r>
              <a:rPr lang="en-US" sz="1350" b="1" dirty="0">
                <a:solidFill>
                  <a:srgbClr val="FFFFFF"/>
                </a:solidFill>
                <a:latin typeface="Sharif 1.2" panose="020B0000040000000000" pitchFamily="34" charset="-78"/>
                <a:ea typeface="Sharif 1.2" panose="020B0000040000000000" pitchFamily="34" charset="-78"/>
                <a:cs typeface="Sharif 1.2" panose="020B0000040000000000" pitchFamily="34" charset="-78"/>
              </a:rPr>
              <a:t>سامانه پوشیدنی پنج‌حسگری</a:t>
            </a:r>
            <a:endParaRPr lang="en-US" sz="135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37" name="Text 35"/>
          <p:cNvSpPr/>
          <p:nvPr/>
        </p:nvSpPr>
        <p:spPr>
          <a:xfrm>
            <a:off x="868680" y="5715000"/>
            <a:ext cx="2670048" cy="292608"/>
          </a:xfrm>
          <a:prstGeom prst="rect">
            <a:avLst/>
          </a:prstGeom>
          <a:noFill/>
          <a:ln/>
        </p:spPr>
        <p:txBody>
          <a:bodyPr wrap="square" lIns="0" tIns="0" rIns="0" bIns="0" rtlCol="0" anchor="ctr">
            <a:normAutofit/>
          </a:bodyPr>
          <a:lstStyle/>
          <a:p>
            <a:pPr marL="0" indent="0" algn="r" rtl="1">
              <a:buNone/>
            </a:pPr>
            <a:r>
              <a:rPr lang="en-US" sz="1050" dirty="0">
                <a:solidFill>
                  <a:srgbClr val="D8EAF2"/>
                </a:solidFill>
                <a:latin typeface="Sharif 1.2 Light" panose="020B0000040000000000" pitchFamily="34" charset="-78"/>
                <a:ea typeface="Sharif 1.2 Light" panose="020B0000040000000000" pitchFamily="34" charset="-78"/>
                <a:cs typeface="Sharif 1.2 Light" panose="020B0000040000000000" pitchFamily="34" charset="-78"/>
              </a:rPr>
              <a:t>ثبت هم‌زمان حرکات سر، دست‌ها و پاها</a:t>
            </a:r>
            <a:endParaRPr lang="en-US" sz="10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8" name="Shape 36"/>
          <p:cNvSpPr/>
          <p:nvPr/>
        </p:nvSpPr>
        <p:spPr>
          <a:xfrm>
            <a:off x="7260336" y="5504688"/>
            <a:ext cx="438912" cy="438912"/>
          </a:xfrm>
          <a:prstGeom prst="ellipse">
            <a:avLst/>
          </a:prstGeom>
          <a:solidFill>
            <a:srgbClr val="1D8AB5"/>
          </a:solidFill>
          <a:ln w="12700">
            <a:solidFill>
              <a:srgbClr val="1D8AB5"/>
            </a:solidFill>
            <a:prstDash val="solid"/>
          </a:ln>
        </p:spPr>
      </p:sp>
      <p:sp>
        <p:nvSpPr>
          <p:cNvPr id="39" name="Text 37"/>
          <p:cNvSpPr/>
          <p:nvPr/>
        </p:nvSpPr>
        <p:spPr>
          <a:xfrm>
            <a:off x="7260336" y="5513832"/>
            <a:ext cx="438912" cy="384048"/>
          </a:xfrm>
          <a:prstGeom prst="rect">
            <a:avLst/>
          </a:prstGeom>
          <a:noFill/>
          <a:ln/>
        </p:spPr>
        <p:txBody>
          <a:bodyPr wrap="square" lIns="0" tIns="0" rIns="0" bIns="0" rtlCol="0" anchor="ctr">
            <a:normAutofit/>
          </a:bodyPr>
          <a:lstStyle/>
          <a:p>
            <a:pPr marL="0" indent="0" algn="ctr">
              <a:buNone/>
            </a:pPr>
            <a:r>
              <a:rPr lang="fa-IR" sz="1400" dirty="0">
                <a:solidFill>
                  <a:srgbClr val="FFFFFF"/>
                </a:solidFill>
                <a:latin typeface="Sharif 1.2 Light" panose="020B0000040000000000" pitchFamily="34" charset="-78"/>
                <a:ea typeface="Sharif 1.2 Light" panose="020B0000040000000000" pitchFamily="34" charset="-78"/>
                <a:cs typeface="Sharif 1.2 Light" panose="020B0000040000000000" pitchFamily="34" charset="-78"/>
              </a:rPr>
              <a:t>۲</a:t>
            </a:r>
            <a:endParaRPr lang="en-US" sz="14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0" name="Text 38"/>
          <p:cNvSpPr/>
          <p:nvPr/>
        </p:nvSpPr>
        <p:spPr>
          <a:xfrm>
            <a:off x="4425696" y="5422392"/>
            <a:ext cx="2670048" cy="256032"/>
          </a:xfrm>
          <a:prstGeom prst="rect">
            <a:avLst/>
          </a:prstGeom>
          <a:noFill/>
          <a:ln/>
        </p:spPr>
        <p:txBody>
          <a:bodyPr wrap="square" lIns="0" tIns="0" rIns="0" bIns="0" rtlCol="0" anchor="ctr">
            <a:normAutofit/>
          </a:bodyPr>
          <a:lstStyle/>
          <a:p>
            <a:pPr marL="0" indent="0" algn="r" rtl="1">
              <a:buNone/>
            </a:pPr>
            <a:r>
              <a:rPr lang="en-US" sz="1350" b="1" dirty="0">
                <a:solidFill>
                  <a:srgbClr val="FFFFFF"/>
                </a:solidFill>
                <a:latin typeface="Sharif 1.2" panose="020B0000040000000000" pitchFamily="34" charset="-78"/>
                <a:ea typeface="Sharif 1.2" panose="020B0000040000000000" pitchFamily="34" charset="-78"/>
                <a:cs typeface="Sharif 1.2" panose="020B0000040000000000" pitchFamily="34" charset="-78"/>
              </a:rPr>
              <a:t>زنجیره کامل پردازش</a:t>
            </a:r>
            <a:endParaRPr lang="en-US" sz="135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41" name="Text 39"/>
          <p:cNvSpPr/>
          <p:nvPr/>
        </p:nvSpPr>
        <p:spPr>
          <a:xfrm>
            <a:off x="4425696" y="5715000"/>
            <a:ext cx="2670048" cy="292608"/>
          </a:xfrm>
          <a:prstGeom prst="rect">
            <a:avLst/>
          </a:prstGeom>
          <a:noFill/>
          <a:ln/>
        </p:spPr>
        <p:txBody>
          <a:bodyPr wrap="square" lIns="0" tIns="0" rIns="0" bIns="0" rtlCol="0" anchor="ctr">
            <a:normAutofit/>
          </a:bodyPr>
          <a:lstStyle/>
          <a:p>
            <a:pPr marL="0" indent="0" algn="r" rtl="1">
              <a:buNone/>
            </a:pPr>
            <a:r>
              <a:rPr lang="en-US" sz="1050" dirty="0">
                <a:solidFill>
                  <a:srgbClr val="D8EAF2"/>
                </a:solidFill>
                <a:latin typeface="Sharif 1.2 Light" panose="020B0000040000000000" pitchFamily="34" charset="-78"/>
                <a:ea typeface="Sharif 1.2 Light" panose="020B0000040000000000" pitchFamily="34" charset="-78"/>
                <a:cs typeface="Sharif 1.2 Light" panose="020B0000040000000000" pitchFamily="34" charset="-78"/>
              </a:rPr>
              <a:t>از سیگنال خام تا بردار ویژگی و مدل طبقه‌بند</a:t>
            </a:r>
            <a:endParaRPr lang="en-US" sz="10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2" name="Shape 40"/>
          <p:cNvSpPr/>
          <p:nvPr/>
        </p:nvSpPr>
        <p:spPr>
          <a:xfrm>
            <a:off x="10817352" y="5504688"/>
            <a:ext cx="438912" cy="438912"/>
          </a:xfrm>
          <a:prstGeom prst="ellipse">
            <a:avLst/>
          </a:prstGeom>
          <a:solidFill>
            <a:srgbClr val="1D8AB5"/>
          </a:solidFill>
          <a:ln w="12700">
            <a:solidFill>
              <a:srgbClr val="1D8AB5"/>
            </a:solidFill>
            <a:prstDash val="solid"/>
          </a:ln>
        </p:spPr>
      </p:sp>
      <p:sp>
        <p:nvSpPr>
          <p:cNvPr id="43" name="Text 41"/>
          <p:cNvSpPr/>
          <p:nvPr/>
        </p:nvSpPr>
        <p:spPr>
          <a:xfrm>
            <a:off x="10817352" y="5513832"/>
            <a:ext cx="438912" cy="384048"/>
          </a:xfrm>
          <a:prstGeom prst="rect">
            <a:avLst/>
          </a:prstGeom>
          <a:noFill/>
          <a:ln/>
        </p:spPr>
        <p:txBody>
          <a:bodyPr wrap="square" lIns="0" tIns="0" rIns="0" bIns="0" rtlCol="0" anchor="ctr">
            <a:normAutofit/>
          </a:bodyPr>
          <a:lstStyle/>
          <a:p>
            <a:pPr marL="0" indent="0" algn="ctr">
              <a:buNone/>
            </a:pPr>
            <a:r>
              <a:rPr lang="fa-IR" sz="1400"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۳</a:t>
            </a:r>
            <a:endParaRPr lang="en-US" sz="14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4" name="Text 42"/>
          <p:cNvSpPr/>
          <p:nvPr/>
        </p:nvSpPr>
        <p:spPr>
          <a:xfrm>
            <a:off x="7982712" y="5422392"/>
            <a:ext cx="2670048" cy="256032"/>
          </a:xfrm>
          <a:prstGeom prst="rect">
            <a:avLst/>
          </a:prstGeom>
          <a:noFill/>
          <a:ln/>
        </p:spPr>
        <p:txBody>
          <a:bodyPr wrap="square" lIns="0" tIns="0" rIns="0" bIns="0" rtlCol="0" anchor="ctr">
            <a:normAutofit/>
          </a:bodyPr>
          <a:lstStyle/>
          <a:p>
            <a:pPr marL="0" indent="0" algn="r" rtl="1">
              <a:buNone/>
            </a:pPr>
            <a:r>
              <a:rPr lang="en-US" sz="1350" b="1" dirty="0">
                <a:solidFill>
                  <a:srgbClr val="FFFFFF"/>
                </a:solidFill>
                <a:latin typeface="Sharif 1.2" panose="020B0000040000000000" pitchFamily="34" charset="-78"/>
                <a:ea typeface="Sharif 1.2" panose="020B0000040000000000" pitchFamily="34" charset="-78"/>
                <a:cs typeface="Sharif 1.2" panose="020B0000040000000000" pitchFamily="34" charset="-78"/>
              </a:rPr>
              <a:t>مدل‌سازی مستقل هر فعالیت</a:t>
            </a:r>
            <a:endParaRPr lang="en-US" sz="135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45" name="Text 43"/>
          <p:cNvSpPr/>
          <p:nvPr/>
        </p:nvSpPr>
        <p:spPr>
          <a:xfrm>
            <a:off x="7982712" y="5715000"/>
            <a:ext cx="2670048" cy="292608"/>
          </a:xfrm>
          <a:prstGeom prst="rect">
            <a:avLst/>
          </a:prstGeom>
          <a:noFill/>
          <a:ln/>
        </p:spPr>
        <p:txBody>
          <a:bodyPr wrap="square" lIns="0" tIns="0" rIns="0" bIns="0" rtlCol="0" anchor="ctr">
            <a:normAutofit/>
          </a:bodyPr>
          <a:lstStyle/>
          <a:p>
            <a:pPr marL="0" indent="0" algn="r" rtl="1">
              <a:buNone/>
            </a:pPr>
            <a:r>
              <a:rPr lang="en-US" sz="1050" dirty="0">
                <a:solidFill>
                  <a:srgbClr val="D8EAF2"/>
                </a:solidFill>
                <a:latin typeface="Sharif 1.2 Light" panose="020B0000040000000000" pitchFamily="34" charset="-78"/>
                <a:ea typeface="Sharif 1.2 Light" panose="020B0000040000000000" pitchFamily="34" charset="-78"/>
                <a:cs typeface="Sharif 1.2 Light" panose="020B0000040000000000" pitchFamily="34" charset="-78"/>
              </a:rPr>
              <a:t>انتخاب تعداد مؤلفه و مدل مناسب برای هر حرکت</a:t>
            </a:r>
            <a:endParaRPr lang="en-US" sz="10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6" name="Shape 44"/>
          <p:cNvSpPr/>
          <p:nvPr/>
        </p:nvSpPr>
        <p:spPr>
          <a:xfrm>
            <a:off x="658368" y="6473952"/>
            <a:ext cx="10881360" cy="0"/>
          </a:xfrm>
          <a:prstGeom prst="line">
            <a:avLst/>
          </a:prstGeom>
          <a:noFill/>
          <a:ln w="10160">
            <a:solidFill>
              <a:srgbClr val="E9EEF2"/>
            </a:solidFill>
            <a:prstDash val="solid"/>
          </a:ln>
        </p:spPr>
      </p:sp>
      <p:sp>
        <p:nvSpPr>
          <p:cNvPr id="47" name="Text 45"/>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8" name="Text 46"/>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مقدمه</a:t>
            </a:r>
            <a:r>
              <a:rPr lang="en-US" sz="1200" dirty="0">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 و تعریف مسئله | ۱۱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9" name="Text 47"/>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۳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0" name="Shape 48"/>
          <p:cNvSpPr/>
          <p:nvPr/>
        </p:nvSpPr>
        <p:spPr>
          <a:xfrm>
            <a:off x="2560320" y="6766560"/>
            <a:ext cx="1410789" cy="41148"/>
          </a:xfrm>
          <a:prstGeom prst="rect">
            <a:avLst/>
          </a:prstGeom>
          <a:solidFill>
            <a:srgbClr val="0B6E99"/>
          </a:solidFill>
          <a:ln w="12700">
            <a:solidFill>
              <a:srgbClr val="0B6E99"/>
            </a:solidFill>
            <a:prstDash val="solid"/>
          </a:ln>
        </p:spPr>
      </p:sp>
      <p:sp>
        <p:nvSpPr>
          <p:cNvPr id="51" name="Shape 49"/>
          <p:cNvSpPr/>
          <p:nvPr/>
        </p:nvSpPr>
        <p:spPr>
          <a:xfrm>
            <a:off x="3971109" y="6766560"/>
            <a:ext cx="5172891" cy="41148"/>
          </a:xfrm>
          <a:prstGeom prst="rect">
            <a:avLst/>
          </a:prstGeom>
          <a:solidFill>
            <a:srgbClr val="E6EDF2"/>
          </a:solidFill>
          <a:ln w="12700">
            <a:solidFill>
              <a:srgbClr val="E6EDF2"/>
            </a:solidFill>
            <a:prstDash val="solid"/>
          </a:ln>
        </p:spPr>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نکته کلیدی درباره داده‌ها</a:t>
            </a:r>
            <a:endParaRPr lang="en-US" sz="27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7" name="Shape 5"/>
          <p:cNvSpPr/>
          <p:nvPr/>
        </p:nvSpPr>
        <p:spPr>
          <a:xfrm>
            <a:off x="777240" y="1572768"/>
            <a:ext cx="10652760" cy="4526280"/>
          </a:xfrm>
          <a:prstGeom prst="roundRect">
            <a:avLst>
              <a:gd name="adj" fmla="val 1616"/>
            </a:avLst>
          </a:prstGeom>
          <a:solidFill>
            <a:srgbClr val="FFF5D8"/>
          </a:solidFill>
          <a:ln w="17780">
            <a:solidFill>
              <a:srgbClr val="F2C15C"/>
            </a:solidFill>
            <a:prstDash val="solid"/>
          </a:ln>
          <a:effectLst>
            <a:outerShdw blurRad="12700" dist="50800" dir="2700000" algn="bl" rotWithShape="0">
              <a:srgbClr val="B0BEC5">
                <a:alpha val="12000"/>
              </a:srgbClr>
            </a:outerShdw>
          </a:effectLst>
        </p:spPr>
      </p:sp>
      <p:sp>
        <p:nvSpPr>
          <p:cNvPr id="8" name="Shape 6"/>
          <p:cNvSpPr/>
          <p:nvPr/>
        </p:nvSpPr>
        <p:spPr>
          <a:xfrm>
            <a:off x="8924544" y="1810512"/>
            <a:ext cx="2103120" cy="347472"/>
          </a:xfrm>
          <a:prstGeom prst="roundRect">
            <a:avLst>
              <a:gd name="adj" fmla="val 47368"/>
            </a:avLst>
          </a:prstGeom>
          <a:solidFill>
            <a:srgbClr val="FFE6A6"/>
          </a:solidFill>
          <a:ln w="12700">
            <a:solidFill>
              <a:srgbClr val="FFE6A6"/>
            </a:solidFill>
            <a:prstDash val="solid"/>
          </a:ln>
        </p:spPr>
      </p:sp>
      <p:sp>
        <p:nvSpPr>
          <p:cNvPr id="9" name="Text 7"/>
          <p:cNvSpPr/>
          <p:nvPr/>
        </p:nvSpPr>
        <p:spPr>
          <a:xfrm>
            <a:off x="9034272" y="1828800"/>
            <a:ext cx="1883664" cy="310896"/>
          </a:xfrm>
          <a:prstGeom prst="rect">
            <a:avLst/>
          </a:prstGeom>
          <a:noFill/>
          <a:ln/>
        </p:spPr>
        <p:txBody>
          <a:bodyPr wrap="square" lIns="0" tIns="0" rIns="0" bIns="0" rtlCol="0" anchor="ctr">
            <a:normAutofit/>
          </a:bodyPr>
          <a:lstStyle/>
          <a:p>
            <a:pPr marL="0" indent="0" algn="ctr" rtl="1">
              <a:buNone/>
            </a:pPr>
            <a:r>
              <a:rPr lang="en-US" sz="1400" b="1" dirty="0">
                <a:solidFill>
                  <a:srgbClr val="8A5A00"/>
                </a:solidFill>
                <a:latin typeface="Sharif 1.2 Medium" panose="020B0000040000000000" pitchFamily="34" charset="-78"/>
                <a:ea typeface="Sharif 1.2 Medium" panose="020B0000040000000000" pitchFamily="34" charset="-78"/>
                <a:cs typeface="Sharif 1.2 Medium" panose="020B0000040000000000" pitchFamily="34" charset="-78"/>
              </a:rPr>
              <a:t>شفاف‌سازی ضروری</a:t>
            </a:r>
            <a:endParaRPr lang="en-US" sz="14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10" name="Shape 8"/>
          <p:cNvSpPr/>
          <p:nvPr/>
        </p:nvSpPr>
        <p:spPr>
          <a:xfrm>
            <a:off x="8778240" y="2423160"/>
            <a:ext cx="1965960" cy="1389888"/>
          </a:xfrm>
          <a:prstGeom prst="roundRect">
            <a:avLst>
              <a:gd name="adj" fmla="val 5263"/>
            </a:avLst>
          </a:prstGeom>
          <a:solidFill>
            <a:srgbClr val="FFFFFF"/>
          </a:solidFill>
          <a:ln w="19050">
            <a:solidFill>
              <a:srgbClr val="0B6E99"/>
            </a:solidFill>
            <a:prstDash val="solid"/>
          </a:ln>
        </p:spPr>
      </p:sp>
      <p:sp>
        <p:nvSpPr>
          <p:cNvPr id="11" name="Shape 9"/>
          <p:cNvSpPr/>
          <p:nvPr/>
        </p:nvSpPr>
        <p:spPr>
          <a:xfrm>
            <a:off x="9482328" y="2624328"/>
            <a:ext cx="548640" cy="548640"/>
          </a:xfrm>
          <a:prstGeom prst="ellipse">
            <a:avLst/>
          </a:prstGeom>
          <a:solidFill>
            <a:srgbClr val="0B6E99"/>
          </a:solidFill>
          <a:ln w="12700">
            <a:solidFill>
              <a:srgbClr val="0B6E99"/>
            </a:solidFill>
            <a:prstDash val="solid"/>
          </a:ln>
        </p:spPr>
        <p:txBody>
          <a:bodyPr/>
          <a:lstStyle/>
          <a:p>
            <a:pPr marL="0" algn="r" defTabSz="914400" rtl="1" eaLnBrk="1" latinLnBrk="0" hangingPunct="1"/>
            <a:endParaRPr lang="en-US" dirty="0"/>
          </a:p>
        </p:txBody>
      </p:sp>
      <p:sp>
        <p:nvSpPr>
          <p:cNvPr id="12" name="Text 10"/>
          <p:cNvSpPr/>
          <p:nvPr/>
        </p:nvSpPr>
        <p:spPr>
          <a:xfrm>
            <a:off x="9482328" y="2697480"/>
            <a:ext cx="548640" cy="347472"/>
          </a:xfrm>
          <a:prstGeom prst="rect">
            <a:avLst/>
          </a:prstGeom>
          <a:noFill/>
          <a:ln/>
        </p:spPr>
        <p:txBody>
          <a:bodyPr wrap="square" lIns="0" tIns="0" rIns="0" bIns="0" rtlCol="0" anchor="ctr">
            <a:normAutofit/>
          </a:bodyPr>
          <a:lstStyle/>
          <a:p>
            <a:pPr marL="0" indent="0" algn="ctr">
              <a:buNone/>
            </a:pPr>
            <a:r>
              <a:rPr lang="fa-IR" sz="16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۴</a:t>
            </a:r>
            <a:endParaRPr lang="en-US" sz="16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3" name="Text 11"/>
          <p:cNvSpPr/>
          <p:nvPr/>
        </p:nvSpPr>
        <p:spPr>
          <a:xfrm>
            <a:off x="8915400" y="3227832"/>
            <a:ext cx="1691640" cy="256032"/>
          </a:xfrm>
          <a:prstGeom prst="rect">
            <a:avLst/>
          </a:prstGeom>
          <a:noFill/>
          <a:ln/>
        </p:spPr>
        <p:txBody>
          <a:bodyPr wrap="square" lIns="0" tIns="0" rIns="0" bIns="0" rtlCol="0" anchor="ctr">
            <a:normAutofit/>
          </a:bodyPr>
          <a:lstStyle/>
          <a:p>
            <a:pPr marL="0" indent="0" algn="ctr" rtl="1">
              <a:buNone/>
            </a:pPr>
            <a:r>
              <a:rPr lang="en-US" sz="145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فرد سالم</a:t>
            </a:r>
            <a:endParaRPr lang="en-US" sz="145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14" name="Text 12"/>
          <p:cNvSpPr/>
          <p:nvPr/>
        </p:nvSpPr>
        <p:spPr>
          <a:xfrm>
            <a:off x="8915400" y="3493008"/>
            <a:ext cx="1691640" cy="256032"/>
          </a:xfrm>
          <a:prstGeom prst="rect">
            <a:avLst/>
          </a:prstGeom>
          <a:noFill/>
          <a:ln/>
        </p:spPr>
        <p:txBody>
          <a:bodyPr wrap="square" lIns="0" tIns="0" rIns="0" bIns="0" rtlCol="0" anchor="t">
            <a:normAutofit/>
          </a:bodyPr>
          <a:lstStyle/>
          <a:p>
            <a:pPr marL="0" indent="0" algn="ctr" rtl="1">
              <a:buNone/>
            </a:pPr>
            <a:r>
              <a:rPr lang="en-US" sz="10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آشنا با دوشن و معیار NSAA</a:t>
            </a:r>
            <a:endParaRPr lang="en-US" sz="10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5" name="Shape 13"/>
          <p:cNvSpPr/>
          <p:nvPr/>
        </p:nvSpPr>
        <p:spPr>
          <a:xfrm>
            <a:off x="8595360" y="3127248"/>
            <a:ext cx="0" cy="0"/>
          </a:xfrm>
          <a:prstGeom prst="line">
            <a:avLst/>
          </a:prstGeom>
          <a:noFill/>
          <a:ln w="27940">
            <a:solidFill>
              <a:srgbClr val="E69F00"/>
            </a:solidFill>
            <a:prstDash val="solid"/>
            <a:headEnd type="none"/>
            <a:tailEnd type="triangle"/>
          </a:ln>
        </p:spPr>
      </p:sp>
      <p:sp>
        <p:nvSpPr>
          <p:cNvPr id="16" name="Shape 14"/>
          <p:cNvSpPr/>
          <p:nvPr/>
        </p:nvSpPr>
        <p:spPr>
          <a:xfrm>
            <a:off x="6199632" y="2423160"/>
            <a:ext cx="1965960" cy="1389888"/>
          </a:xfrm>
          <a:prstGeom prst="roundRect">
            <a:avLst>
              <a:gd name="adj" fmla="val 5263"/>
            </a:avLst>
          </a:prstGeom>
          <a:solidFill>
            <a:srgbClr val="FFFFFF"/>
          </a:solidFill>
          <a:ln w="19050">
            <a:solidFill>
              <a:srgbClr val="E69F00"/>
            </a:solidFill>
            <a:prstDash val="solid"/>
          </a:ln>
        </p:spPr>
      </p:sp>
      <p:sp>
        <p:nvSpPr>
          <p:cNvPr id="17" name="Shape 15"/>
          <p:cNvSpPr/>
          <p:nvPr/>
        </p:nvSpPr>
        <p:spPr>
          <a:xfrm>
            <a:off x="6903720" y="2624328"/>
            <a:ext cx="548640" cy="548640"/>
          </a:xfrm>
          <a:prstGeom prst="ellipse">
            <a:avLst/>
          </a:prstGeom>
          <a:solidFill>
            <a:srgbClr val="E69F00"/>
          </a:solidFill>
          <a:ln w="12700">
            <a:solidFill>
              <a:srgbClr val="E69F00"/>
            </a:solidFill>
            <a:prstDash val="solid"/>
          </a:ln>
        </p:spPr>
      </p:sp>
      <p:sp>
        <p:nvSpPr>
          <p:cNvPr id="18" name="Text 16"/>
          <p:cNvSpPr/>
          <p:nvPr/>
        </p:nvSpPr>
        <p:spPr>
          <a:xfrm>
            <a:off x="6903720" y="2697480"/>
            <a:ext cx="548640" cy="347472"/>
          </a:xfrm>
          <a:prstGeom prst="rect">
            <a:avLst/>
          </a:prstGeom>
          <a:noFill/>
          <a:ln/>
        </p:spPr>
        <p:txBody>
          <a:bodyPr wrap="square" lIns="0" tIns="0" rIns="0" bIns="0" rtlCol="0" anchor="ctr">
            <a:normAutofit/>
          </a:bodyPr>
          <a:lstStyle/>
          <a:p>
            <a:pPr marL="0" indent="0" algn="ctr">
              <a:buNone/>
            </a:pPr>
            <a:r>
              <a:rPr lang="fa-IR" sz="16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۳</a:t>
            </a:r>
            <a:endParaRPr lang="en-US" sz="16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9" name="Text 17"/>
          <p:cNvSpPr/>
          <p:nvPr/>
        </p:nvSpPr>
        <p:spPr>
          <a:xfrm>
            <a:off x="6336792" y="3227832"/>
            <a:ext cx="1691640" cy="256032"/>
          </a:xfrm>
          <a:prstGeom prst="rect">
            <a:avLst/>
          </a:prstGeom>
          <a:noFill/>
          <a:ln/>
        </p:spPr>
        <p:txBody>
          <a:bodyPr wrap="square" lIns="0" tIns="0" rIns="0" bIns="0" rtlCol="0" anchor="ctr">
            <a:normAutofit/>
          </a:bodyPr>
          <a:lstStyle/>
          <a:p>
            <a:pPr marL="0" indent="0" algn="ctr" rtl="1">
              <a:buNone/>
            </a:pPr>
            <a:r>
              <a:rPr lang="en-US" sz="145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شبیه‌سازی کنترل‌شده</a:t>
            </a:r>
            <a:endParaRPr lang="en-US" sz="145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20" name="Text 18"/>
          <p:cNvSpPr/>
          <p:nvPr/>
        </p:nvSpPr>
        <p:spPr>
          <a:xfrm>
            <a:off x="6336792" y="3493008"/>
            <a:ext cx="1691640" cy="256032"/>
          </a:xfrm>
          <a:prstGeom prst="rect">
            <a:avLst/>
          </a:prstGeom>
          <a:noFill/>
          <a:ln/>
        </p:spPr>
        <p:txBody>
          <a:bodyPr wrap="square" lIns="0" tIns="0" rIns="0" bIns="0" rtlCol="0" anchor="t">
            <a:normAutofit/>
          </a:bodyPr>
          <a:lstStyle/>
          <a:p>
            <a:pPr marL="0" indent="0" algn="ctr" rtl="1">
              <a:buNone/>
            </a:pPr>
            <a:r>
              <a:rPr lang="en-US" sz="10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اجرای الگوهای متناظر با نمره‌های ۰، ۱ و ۲</a:t>
            </a:r>
            <a:endParaRPr lang="en-US" sz="10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1" name="Shape 19"/>
          <p:cNvSpPr/>
          <p:nvPr/>
        </p:nvSpPr>
        <p:spPr>
          <a:xfrm>
            <a:off x="6016752" y="3127248"/>
            <a:ext cx="0" cy="0"/>
          </a:xfrm>
          <a:prstGeom prst="line">
            <a:avLst/>
          </a:prstGeom>
          <a:noFill/>
          <a:ln w="27940">
            <a:solidFill>
              <a:srgbClr val="E69F00"/>
            </a:solidFill>
            <a:prstDash val="solid"/>
            <a:headEnd type="none"/>
            <a:tailEnd type="triangle"/>
          </a:ln>
        </p:spPr>
      </p:sp>
      <p:sp>
        <p:nvSpPr>
          <p:cNvPr id="22" name="Shape 20"/>
          <p:cNvSpPr/>
          <p:nvPr/>
        </p:nvSpPr>
        <p:spPr>
          <a:xfrm>
            <a:off x="3621024" y="2423160"/>
            <a:ext cx="1965960" cy="1389888"/>
          </a:xfrm>
          <a:prstGeom prst="roundRect">
            <a:avLst>
              <a:gd name="adj" fmla="val 5263"/>
            </a:avLst>
          </a:prstGeom>
          <a:solidFill>
            <a:srgbClr val="FFFFFF"/>
          </a:solidFill>
          <a:ln w="19050">
            <a:solidFill>
              <a:srgbClr val="0B7A75"/>
            </a:solidFill>
            <a:prstDash val="solid"/>
          </a:ln>
        </p:spPr>
      </p:sp>
      <p:sp>
        <p:nvSpPr>
          <p:cNvPr id="23" name="Shape 21"/>
          <p:cNvSpPr/>
          <p:nvPr/>
        </p:nvSpPr>
        <p:spPr>
          <a:xfrm>
            <a:off x="4325112" y="2624328"/>
            <a:ext cx="548640" cy="548640"/>
          </a:xfrm>
          <a:prstGeom prst="ellipse">
            <a:avLst/>
          </a:prstGeom>
          <a:solidFill>
            <a:srgbClr val="0B7A75"/>
          </a:solidFill>
          <a:ln w="12700">
            <a:solidFill>
              <a:srgbClr val="0B7A75"/>
            </a:solidFill>
            <a:prstDash val="solid"/>
          </a:ln>
        </p:spPr>
      </p:sp>
      <p:sp>
        <p:nvSpPr>
          <p:cNvPr id="24" name="Text 22"/>
          <p:cNvSpPr/>
          <p:nvPr/>
        </p:nvSpPr>
        <p:spPr>
          <a:xfrm>
            <a:off x="4325112" y="2697480"/>
            <a:ext cx="548640" cy="347472"/>
          </a:xfrm>
          <a:prstGeom prst="rect">
            <a:avLst/>
          </a:prstGeom>
          <a:noFill/>
          <a:ln/>
        </p:spPr>
        <p:txBody>
          <a:bodyPr wrap="square" lIns="0" tIns="0" rIns="0" bIns="0" rtlCol="0" anchor="ctr">
            <a:normAutofit/>
          </a:bodyPr>
          <a:lstStyle/>
          <a:p>
            <a:pPr marL="0" indent="0" algn="ctr">
              <a:buNone/>
            </a:pPr>
            <a:r>
              <a:rPr lang="fa-IR" sz="16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۲</a:t>
            </a:r>
            <a:endParaRPr lang="en-US" sz="16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5" name="Text 23"/>
          <p:cNvSpPr/>
          <p:nvPr/>
        </p:nvSpPr>
        <p:spPr>
          <a:xfrm>
            <a:off x="3758184" y="3227832"/>
            <a:ext cx="1691640" cy="256032"/>
          </a:xfrm>
          <a:prstGeom prst="rect">
            <a:avLst/>
          </a:prstGeom>
          <a:noFill/>
          <a:ln/>
        </p:spPr>
        <p:txBody>
          <a:bodyPr wrap="square" lIns="0" tIns="0" rIns="0" bIns="0" rtlCol="0" anchor="ctr">
            <a:normAutofit/>
          </a:bodyPr>
          <a:lstStyle/>
          <a:p>
            <a:pPr marL="0" indent="0" algn="ctr" rtl="1">
              <a:buNone/>
            </a:pPr>
            <a:r>
              <a:rPr lang="en-US" sz="145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ثبت با پنج حسگر</a:t>
            </a:r>
            <a:endParaRPr lang="en-US" sz="145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26" name="Text 24"/>
          <p:cNvSpPr/>
          <p:nvPr/>
        </p:nvSpPr>
        <p:spPr>
          <a:xfrm>
            <a:off x="3758184" y="3493008"/>
            <a:ext cx="1691640" cy="256032"/>
          </a:xfrm>
          <a:prstGeom prst="rect">
            <a:avLst/>
          </a:prstGeom>
          <a:noFill/>
          <a:ln/>
        </p:spPr>
        <p:txBody>
          <a:bodyPr wrap="square" lIns="0" tIns="0" rIns="0" bIns="0" rtlCol="0" anchor="t">
            <a:normAutofit/>
          </a:bodyPr>
          <a:lstStyle/>
          <a:p>
            <a:pPr marL="0" indent="0" algn="ctr" rtl="1">
              <a:buNone/>
            </a:pPr>
            <a:r>
              <a:rPr lang="en-US" sz="10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داده‌های شتاب و سرعت زاویه‌ای</a:t>
            </a:r>
            <a:endParaRPr lang="en-US" sz="10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7" name="Shape 25"/>
          <p:cNvSpPr/>
          <p:nvPr/>
        </p:nvSpPr>
        <p:spPr>
          <a:xfrm>
            <a:off x="3438144" y="3127248"/>
            <a:ext cx="0" cy="0"/>
          </a:xfrm>
          <a:prstGeom prst="line">
            <a:avLst/>
          </a:prstGeom>
          <a:noFill/>
          <a:ln w="27940">
            <a:solidFill>
              <a:srgbClr val="E69F00"/>
            </a:solidFill>
            <a:prstDash val="solid"/>
            <a:headEnd type="none"/>
            <a:tailEnd type="triangle"/>
          </a:ln>
        </p:spPr>
      </p:sp>
      <p:sp>
        <p:nvSpPr>
          <p:cNvPr id="28" name="Shape 26"/>
          <p:cNvSpPr/>
          <p:nvPr/>
        </p:nvSpPr>
        <p:spPr>
          <a:xfrm>
            <a:off x="1042416" y="2423160"/>
            <a:ext cx="1965960" cy="1389888"/>
          </a:xfrm>
          <a:prstGeom prst="roundRect">
            <a:avLst>
              <a:gd name="adj" fmla="val 5263"/>
            </a:avLst>
          </a:prstGeom>
          <a:solidFill>
            <a:srgbClr val="FFFFFF"/>
          </a:solidFill>
          <a:ln w="19050">
            <a:solidFill>
              <a:srgbClr val="2F855A"/>
            </a:solidFill>
            <a:prstDash val="solid"/>
          </a:ln>
        </p:spPr>
      </p:sp>
      <p:sp>
        <p:nvSpPr>
          <p:cNvPr id="29" name="Shape 27"/>
          <p:cNvSpPr/>
          <p:nvPr/>
        </p:nvSpPr>
        <p:spPr>
          <a:xfrm>
            <a:off x="1746504" y="2624328"/>
            <a:ext cx="548640" cy="548640"/>
          </a:xfrm>
          <a:prstGeom prst="ellipse">
            <a:avLst/>
          </a:prstGeom>
          <a:solidFill>
            <a:srgbClr val="2F855A"/>
          </a:solidFill>
          <a:ln w="12700">
            <a:solidFill>
              <a:srgbClr val="2F855A"/>
            </a:solidFill>
            <a:prstDash val="solid"/>
          </a:ln>
        </p:spPr>
      </p:sp>
      <p:sp>
        <p:nvSpPr>
          <p:cNvPr id="30" name="Text 28"/>
          <p:cNvSpPr/>
          <p:nvPr/>
        </p:nvSpPr>
        <p:spPr>
          <a:xfrm>
            <a:off x="1746504" y="2697480"/>
            <a:ext cx="548640" cy="347472"/>
          </a:xfrm>
          <a:prstGeom prst="rect">
            <a:avLst/>
          </a:prstGeom>
          <a:noFill/>
          <a:ln/>
        </p:spPr>
        <p:txBody>
          <a:bodyPr wrap="square" lIns="0" tIns="0" rIns="0" bIns="0" rtlCol="0" anchor="ctr">
            <a:normAutofit/>
          </a:bodyPr>
          <a:lstStyle/>
          <a:p>
            <a:pPr marL="0" indent="0" algn="ctr">
              <a:buNone/>
            </a:pPr>
            <a:r>
              <a:rPr lang="fa-IR" sz="16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16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1" name="Text 29"/>
          <p:cNvSpPr/>
          <p:nvPr/>
        </p:nvSpPr>
        <p:spPr>
          <a:xfrm>
            <a:off x="1179576" y="3227832"/>
            <a:ext cx="1691640" cy="256032"/>
          </a:xfrm>
          <a:prstGeom prst="rect">
            <a:avLst/>
          </a:prstGeom>
          <a:noFill/>
          <a:ln/>
        </p:spPr>
        <p:txBody>
          <a:bodyPr wrap="square" lIns="0" tIns="0" rIns="0" bIns="0" rtlCol="0" anchor="ctr">
            <a:normAutofit/>
          </a:bodyPr>
          <a:lstStyle/>
          <a:p>
            <a:pPr marL="0" indent="0" algn="ctr" rtl="1">
              <a:buNone/>
            </a:pPr>
            <a:r>
              <a:rPr lang="en-US" sz="145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توسعه مدل</a:t>
            </a:r>
            <a:endParaRPr lang="en-US" sz="145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32" name="Text 30"/>
          <p:cNvSpPr/>
          <p:nvPr/>
        </p:nvSpPr>
        <p:spPr>
          <a:xfrm>
            <a:off x="1179576" y="3493008"/>
            <a:ext cx="1691640" cy="256032"/>
          </a:xfrm>
          <a:prstGeom prst="rect">
            <a:avLst/>
          </a:prstGeom>
          <a:noFill/>
          <a:ln/>
        </p:spPr>
        <p:txBody>
          <a:bodyPr wrap="square" lIns="0" tIns="0" rIns="0" bIns="0" rtlCol="0" anchor="t">
            <a:normAutofit/>
          </a:bodyPr>
          <a:lstStyle/>
          <a:p>
            <a:pPr marL="0" indent="0" algn="ctr" rtl="1">
              <a:buNone/>
            </a:pPr>
            <a:r>
              <a:rPr lang="en-US" sz="10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امکان‌سنجی تفکیک سطوح</a:t>
            </a:r>
            <a:endParaRPr lang="en-US" sz="10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3" name="Shape 31"/>
          <p:cNvSpPr/>
          <p:nvPr/>
        </p:nvSpPr>
        <p:spPr>
          <a:xfrm>
            <a:off x="1051560" y="4297680"/>
            <a:ext cx="9189720" cy="1024128"/>
          </a:xfrm>
          <a:prstGeom prst="roundRect">
            <a:avLst>
              <a:gd name="adj" fmla="val 10714"/>
            </a:avLst>
          </a:prstGeom>
          <a:solidFill>
            <a:srgbClr val="FFFFFF"/>
          </a:solidFill>
          <a:ln w="20320">
            <a:solidFill>
              <a:srgbClr val="C0392B"/>
            </a:solidFill>
            <a:prstDash val="solid"/>
          </a:ln>
        </p:spPr>
      </p:sp>
      <p:sp>
        <p:nvSpPr>
          <p:cNvPr id="34" name="Shape 32"/>
          <p:cNvSpPr/>
          <p:nvPr/>
        </p:nvSpPr>
        <p:spPr>
          <a:xfrm>
            <a:off x="9665208" y="4553712"/>
            <a:ext cx="438912" cy="438912"/>
          </a:xfrm>
          <a:prstGeom prst="ellipse">
            <a:avLst/>
          </a:prstGeom>
          <a:solidFill>
            <a:srgbClr val="C0392B"/>
          </a:solidFill>
          <a:ln w="12700">
            <a:solidFill>
              <a:srgbClr val="C0392B"/>
            </a:solidFill>
            <a:prstDash val="solid"/>
          </a:ln>
        </p:spPr>
      </p:sp>
      <p:sp>
        <p:nvSpPr>
          <p:cNvPr id="35" name="Text 33"/>
          <p:cNvSpPr/>
          <p:nvPr/>
        </p:nvSpPr>
        <p:spPr>
          <a:xfrm>
            <a:off x="9665208" y="4572000"/>
            <a:ext cx="438912" cy="310896"/>
          </a:xfrm>
          <a:prstGeom prst="rect">
            <a:avLst/>
          </a:prstGeom>
          <a:noFill/>
          <a:ln/>
        </p:spPr>
        <p:txBody>
          <a:bodyPr wrap="square" lIns="0" tIns="0" rIns="0" bIns="0" rtlCol="0" anchor="ctr">
            <a:normAutofit/>
          </a:bodyPr>
          <a:lstStyle/>
          <a:p>
            <a:pPr marL="0" indent="0" algn="ctr" rtl="1">
              <a:buNone/>
            </a:pPr>
            <a:r>
              <a:rPr lang="en-US" sz="19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a:t>
            </a:r>
            <a:endParaRPr lang="en-US" sz="19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6" name="Text 34"/>
          <p:cNvSpPr/>
          <p:nvPr/>
        </p:nvSpPr>
        <p:spPr>
          <a:xfrm>
            <a:off x="2103120" y="4443984"/>
            <a:ext cx="7360920" cy="347472"/>
          </a:xfrm>
          <a:prstGeom prst="rect">
            <a:avLst/>
          </a:prstGeom>
          <a:noFill/>
          <a:ln/>
        </p:spPr>
        <p:txBody>
          <a:bodyPr wrap="square" lIns="0" tIns="0" rIns="0" bIns="0" rtlCol="0" anchor="ctr">
            <a:normAutofit/>
          </a:bodyPr>
          <a:lstStyle/>
          <a:p>
            <a:pPr marL="0" indent="0" algn="ctr" rtl="1">
              <a:buNone/>
            </a:pPr>
            <a:r>
              <a:rPr lang="en-US" sz="2000" b="1" dirty="0">
                <a:solidFill>
                  <a:srgbClr val="C0392B"/>
                </a:solidFill>
                <a:latin typeface="Sharif 1.2 Medium" panose="020B0000040000000000" pitchFamily="34" charset="-78"/>
                <a:ea typeface="Sharif 1.2 Medium" panose="020B0000040000000000" pitchFamily="34" charset="-78"/>
                <a:cs typeface="Sharif 1.2 Medium" panose="020B0000040000000000" pitchFamily="34" charset="-78"/>
              </a:rPr>
              <a:t>هیچ داده‌ای از بیمار مبتلا به دوشن برای آموزش مدل‌ها استفاده نشده است.</a:t>
            </a:r>
            <a:endParaRPr lang="en-US" sz="20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37" name="Text 35"/>
          <p:cNvSpPr/>
          <p:nvPr/>
        </p:nvSpPr>
        <p:spPr>
          <a:xfrm>
            <a:off x="2103120" y="4828032"/>
            <a:ext cx="7360920" cy="274320"/>
          </a:xfrm>
          <a:prstGeom prst="rect">
            <a:avLst/>
          </a:prstGeom>
          <a:noFill/>
          <a:ln/>
        </p:spPr>
        <p:txBody>
          <a:bodyPr wrap="square" lIns="0" tIns="0" rIns="0" bIns="0" rtlCol="0" anchor="ctr">
            <a:normAutofit/>
          </a:bodyPr>
          <a:lstStyle/>
          <a:p>
            <a:pPr marL="0" indent="0" algn="ctr" rtl="1">
              <a:buNone/>
            </a:pPr>
            <a:r>
              <a:rPr lang="en-US" sz="135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نتایج این پژوهش باید به‌عنوان امکان‌سنجی فنی تفسیر شوند، نه اثبات کاربرد بالینی.</a:t>
            </a:r>
            <a:endParaRPr lang="en-US" sz="13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8" name="Shape 36"/>
          <p:cNvSpPr/>
          <p:nvPr/>
        </p:nvSpPr>
        <p:spPr>
          <a:xfrm>
            <a:off x="658368" y="6473952"/>
            <a:ext cx="10881360" cy="0"/>
          </a:xfrm>
          <a:prstGeom prst="line">
            <a:avLst/>
          </a:prstGeom>
          <a:noFill/>
          <a:ln w="10160">
            <a:solidFill>
              <a:srgbClr val="E9EEF2"/>
            </a:solidFill>
            <a:prstDash val="solid"/>
          </a:ln>
        </p:spPr>
      </p:sp>
      <p:sp>
        <p:nvSpPr>
          <p:cNvPr id="39" name="Text 37"/>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پایان‌نامه کارشناسی مهندسی مکانیک</a:t>
            </a:r>
            <a:endParaRPr lang="en-US" sz="120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40" name="Text 38"/>
          <p:cNvSpPr/>
          <p:nvPr/>
        </p:nvSpPr>
        <p:spPr>
          <a:xfrm>
            <a:off x="3444087" y="6523572"/>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مقدمه</a:t>
            </a:r>
            <a:r>
              <a:rPr lang="en-US" sz="1200" dirty="0">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 و تعریف مسئله | ۱۰ اسلاید تا پایان</a:t>
            </a:r>
            <a:endParaRPr lang="en-US" sz="120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41" name="Text 39"/>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۴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2" name="Shape 40"/>
          <p:cNvSpPr/>
          <p:nvPr/>
        </p:nvSpPr>
        <p:spPr>
          <a:xfrm>
            <a:off x="2560320" y="6766560"/>
            <a:ext cx="1881051" cy="41148"/>
          </a:xfrm>
          <a:prstGeom prst="rect">
            <a:avLst/>
          </a:prstGeom>
          <a:solidFill>
            <a:srgbClr val="0B6E99"/>
          </a:solidFill>
          <a:ln w="12700">
            <a:solidFill>
              <a:srgbClr val="0B6E99"/>
            </a:solidFill>
            <a:prstDash val="solid"/>
          </a:ln>
        </p:spPr>
      </p:sp>
      <p:sp>
        <p:nvSpPr>
          <p:cNvPr id="43" name="Shape 41"/>
          <p:cNvSpPr/>
          <p:nvPr/>
        </p:nvSpPr>
        <p:spPr>
          <a:xfrm>
            <a:off x="4441371" y="6766560"/>
            <a:ext cx="4702629" cy="41148"/>
          </a:xfrm>
          <a:prstGeom prst="rect">
            <a:avLst/>
          </a:prstGeom>
          <a:solidFill>
            <a:srgbClr val="E6EDF2"/>
          </a:solidFill>
          <a:ln w="12700">
            <a:solidFill>
              <a:srgbClr val="E6EDF2"/>
            </a:solidFill>
            <a:prstDash val="solid"/>
          </a:ln>
        </p:spPr>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سامانه داده‌برداری و محل نصب حسگرها</a:t>
            </a:r>
            <a:endParaRPr lang="en-US" sz="2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7" name="Shape 5"/>
          <p:cNvSpPr/>
          <p:nvPr/>
        </p:nvSpPr>
        <p:spPr>
          <a:xfrm>
            <a:off x="658368" y="1463040"/>
            <a:ext cx="5166360" cy="4681728"/>
          </a:xfrm>
          <a:prstGeom prst="roundRect">
            <a:avLst>
              <a:gd name="adj" fmla="val 1563"/>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pic>
        <p:nvPicPr>
          <p:cNvPr id="8" name="Image 0" descr="/mnt/data/dmd_assets/crops/sensor_photos.png"/>
          <p:cNvPicPr>
            <a:picLocks noChangeAspect="1"/>
          </p:cNvPicPr>
          <p:nvPr/>
        </p:nvPicPr>
        <p:blipFill>
          <a:blip r:embed="rId3"/>
          <a:srcRect t="12484" b="12484"/>
          <a:stretch/>
        </p:blipFill>
        <p:spPr>
          <a:xfrm>
            <a:off x="841248" y="1691640"/>
            <a:ext cx="4800600" cy="2240280"/>
          </a:xfrm>
          <a:prstGeom prst="rect">
            <a:avLst/>
          </a:prstGeom>
        </p:spPr>
      </p:pic>
      <p:sp>
        <p:nvSpPr>
          <p:cNvPr id="9" name="Text 6"/>
          <p:cNvSpPr/>
          <p:nvPr/>
        </p:nvSpPr>
        <p:spPr>
          <a:xfrm>
            <a:off x="932688" y="4023360"/>
            <a:ext cx="4617720" cy="329184"/>
          </a:xfrm>
          <a:prstGeom prst="rect">
            <a:avLst/>
          </a:prstGeom>
          <a:noFill/>
          <a:ln/>
        </p:spPr>
        <p:txBody>
          <a:bodyPr wrap="square" lIns="0" tIns="0" rIns="0" bIns="0" rtlCol="0" anchor="ctr">
            <a:normAutofit/>
          </a:bodyPr>
          <a:lstStyle/>
          <a:p>
            <a:pPr marL="0" indent="0" algn="ctr" rtl="1">
              <a:buNone/>
            </a:pPr>
            <a:r>
              <a:rPr lang="en-US" sz="1220" b="1" dirty="0">
                <a:solidFill>
                  <a:srgbClr val="64748B"/>
                </a:solidFill>
                <a:latin typeface="Sharif 1.2 SemiBold" panose="020B0000040000000000" pitchFamily="34" charset="-78"/>
                <a:ea typeface="Sharif 1.2 SemiBold" panose="020B0000040000000000" pitchFamily="34" charset="-78"/>
                <a:cs typeface="Sharif 1.2 SemiBold" panose="020B0000040000000000" pitchFamily="34" charset="-78"/>
              </a:rPr>
              <a:t>نمونه نصب حسگر روی مچ دست و بالای قوزک خارجی</a:t>
            </a:r>
            <a:endParaRPr lang="en-US" sz="122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0" name="Shape 7"/>
          <p:cNvSpPr/>
          <p:nvPr/>
        </p:nvSpPr>
        <p:spPr>
          <a:xfrm>
            <a:off x="896112" y="4617720"/>
            <a:ext cx="1051560" cy="1005840"/>
          </a:xfrm>
          <a:prstGeom prst="roundRect">
            <a:avLst>
              <a:gd name="adj" fmla="val 7273"/>
            </a:avLst>
          </a:prstGeom>
          <a:solidFill>
            <a:srgbClr val="EEF4F8"/>
          </a:solidFill>
          <a:ln w="12700">
            <a:solidFill>
              <a:srgbClr val="D8E5EC"/>
            </a:solidFill>
            <a:prstDash val="solid"/>
          </a:ln>
        </p:spPr>
      </p:sp>
      <p:sp>
        <p:nvSpPr>
          <p:cNvPr id="11" name="Text 8"/>
          <p:cNvSpPr/>
          <p:nvPr/>
        </p:nvSpPr>
        <p:spPr>
          <a:xfrm>
            <a:off x="950976" y="4736592"/>
            <a:ext cx="941832" cy="292608"/>
          </a:xfrm>
          <a:prstGeom prst="rect">
            <a:avLst/>
          </a:prstGeom>
          <a:noFill/>
          <a:ln/>
        </p:spPr>
        <p:txBody>
          <a:bodyPr wrap="square" lIns="0" tIns="0" rIns="0" bIns="0" rtlCol="0" anchor="ctr">
            <a:normAutofit/>
          </a:bodyPr>
          <a:lstStyle/>
          <a:p>
            <a:pPr marL="0" indent="0" algn="ctr" rtl="1">
              <a:buNone/>
            </a:pPr>
            <a:r>
              <a:rPr lang="en-US" b="1" dirty="0">
                <a:solidFill>
                  <a:srgbClr val="0B6E99"/>
                </a:solidFill>
                <a:latin typeface="Sharif 1.2 SemiBold" panose="020B0000040000000000" pitchFamily="34" charset="-78"/>
                <a:ea typeface="Sharif 1.2 SemiBold" panose="020B0000040000000000" pitchFamily="34" charset="-78"/>
                <a:cs typeface="Sharif 1.2 SemiBold" panose="020B0000040000000000" pitchFamily="34" charset="-78"/>
              </a:rPr>
              <a:t>۵</a:t>
            </a:r>
            <a:endParaRPr lang="en-US"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2" name="Text 9"/>
          <p:cNvSpPr/>
          <p:nvPr/>
        </p:nvSpPr>
        <p:spPr>
          <a:xfrm>
            <a:off x="950976" y="5102352"/>
            <a:ext cx="941832" cy="256032"/>
          </a:xfrm>
          <a:prstGeom prst="rect">
            <a:avLst/>
          </a:prstGeom>
          <a:noFill/>
          <a:ln/>
        </p:spPr>
        <p:txBody>
          <a:bodyPr wrap="square" lIns="0" tIns="0" rIns="0" bIns="0" rtlCol="0" anchor="ctr">
            <a:normAutofit/>
          </a:bodyPr>
          <a:lstStyle/>
          <a:p>
            <a:pPr marL="0" indent="0" algn="ctr" rtl="1">
              <a:buNone/>
            </a:pPr>
            <a:r>
              <a:rPr lang="en-US" sz="1050" dirty="0">
                <a:solidFill>
                  <a:srgbClr val="64748B"/>
                </a:solidFill>
                <a:latin typeface="Sharif 1.2 Light" panose="020B0000040000000000" pitchFamily="34" charset="-78"/>
                <a:ea typeface="Sharif 1.2 Light" panose="020B0000040000000000" pitchFamily="34" charset="-78"/>
                <a:cs typeface="Sharif 1.2 Light" panose="020B0000040000000000" pitchFamily="34" charset="-78"/>
              </a:rPr>
              <a:t>حسگر</a:t>
            </a:r>
            <a:endParaRPr lang="en-US" sz="105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13" name="Shape 10"/>
          <p:cNvSpPr/>
          <p:nvPr/>
        </p:nvSpPr>
        <p:spPr>
          <a:xfrm>
            <a:off x="2084832" y="4617720"/>
            <a:ext cx="1051560" cy="1005840"/>
          </a:xfrm>
          <a:prstGeom prst="roundRect">
            <a:avLst>
              <a:gd name="adj" fmla="val 7273"/>
            </a:avLst>
          </a:prstGeom>
          <a:solidFill>
            <a:srgbClr val="EEF4F8"/>
          </a:solidFill>
          <a:ln w="12700">
            <a:solidFill>
              <a:srgbClr val="D8E5EC"/>
            </a:solidFill>
            <a:prstDash val="solid"/>
          </a:ln>
        </p:spPr>
      </p:sp>
      <p:sp>
        <p:nvSpPr>
          <p:cNvPr id="14" name="Text 11"/>
          <p:cNvSpPr/>
          <p:nvPr/>
        </p:nvSpPr>
        <p:spPr>
          <a:xfrm>
            <a:off x="2139696" y="4736592"/>
            <a:ext cx="941832" cy="292608"/>
          </a:xfrm>
          <a:prstGeom prst="rect">
            <a:avLst/>
          </a:prstGeom>
          <a:noFill/>
          <a:ln/>
        </p:spPr>
        <p:txBody>
          <a:bodyPr wrap="square" lIns="0" tIns="0" rIns="0" bIns="0" rtlCol="0" anchor="ctr">
            <a:noAutofit/>
          </a:bodyPr>
          <a:lstStyle/>
          <a:p>
            <a:pPr marL="0" indent="0" algn="ctr" rtl="1">
              <a:buNone/>
            </a:pPr>
            <a:r>
              <a:rPr lang="en-US" b="1" dirty="0">
                <a:solidFill>
                  <a:srgbClr val="0B6E99"/>
                </a:solidFill>
                <a:latin typeface="Sharif 1.2 SemiBold" panose="020B0000040000000000" pitchFamily="34" charset="-78"/>
                <a:ea typeface="Sharif 1.2 SemiBold" panose="020B0000040000000000" pitchFamily="34" charset="-78"/>
                <a:cs typeface="Sharif 1.2 SemiBold" panose="020B0000040000000000" pitchFamily="34" charset="-78"/>
              </a:rPr>
              <a:t>۹۰–۱۰۰</a:t>
            </a:r>
            <a:endParaRPr lang="en-US"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5" name="Text 12"/>
          <p:cNvSpPr/>
          <p:nvPr/>
        </p:nvSpPr>
        <p:spPr>
          <a:xfrm>
            <a:off x="2139696" y="5102352"/>
            <a:ext cx="941832" cy="256032"/>
          </a:xfrm>
          <a:prstGeom prst="rect">
            <a:avLst/>
          </a:prstGeom>
          <a:noFill/>
          <a:ln/>
        </p:spPr>
        <p:txBody>
          <a:bodyPr wrap="square" lIns="0" tIns="0" rIns="0" bIns="0" rtlCol="0" anchor="ctr">
            <a:normAutofit/>
          </a:bodyPr>
          <a:lstStyle/>
          <a:p>
            <a:pPr marL="0" indent="0" algn="ctr" rtl="1">
              <a:buNone/>
            </a:pPr>
            <a:r>
              <a:rPr lang="en-US" sz="1050" dirty="0">
                <a:solidFill>
                  <a:srgbClr val="64748B"/>
                </a:solidFill>
                <a:latin typeface="Sharif 1.2 Light" panose="020B0000040000000000" pitchFamily="34" charset="-78"/>
                <a:ea typeface="Sharif 1.2 Light" panose="020B0000040000000000" pitchFamily="34" charset="-78"/>
                <a:cs typeface="Sharif 1.2 Light" panose="020B0000040000000000" pitchFamily="34" charset="-78"/>
              </a:rPr>
              <a:t>هرتز</a:t>
            </a:r>
            <a:endParaRPr lang="en-US" sz="105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16" name="Shape 13"/>
          <p:cNvSpPr/>
          <p:nvPr/>
        </p:nvSpPr>
        <p:spPr>
          <a:xfrm>
            <a:off x="3273552" y="4617720"/>
            <a:ext cx="1051560" cy="1005840"/>
          </a:xfrm>
          <a:prstGeom prst="roundRect">
            <a:avLst>
              <a:gd name="adj" fmla="val 7273"/>
            </a:avLst>
          </a:prstGeom>
          <a:solidFill>
            <a:srgbClr val="EEF4F8"/>
          </a:solidFill>
          <a:ln w="12700">
            <a:solidFill>
              <a:srgbClr val="D8E5EC"/>
            </a:solidFill>
            <a:prstDash val="solid"/>
          </a:ln>
        </p:spPr>
      </p:sp>
      <p:sp>
        <p:nvSpPr>
          <p:cNvPr id="17" name="Text 14"/>
          <p:cNvSpPr/>
          <p:nvPr/>
        </p:nvSpPr>
        <p:spPr>
          <a:xfrm>
            <a:off x="3328416" y="4736592"/>
            <a:ext cx="941832" cy="292608"/>
          </a:xfrm>
          <a:prstGeom prst="rect">
            <a:avLst/>
          </a:prstGeom>
          <a:noFill/>
          <a:ln/>
        </p:spPr>
        <p:txBody>
          <a:bodyPr wrap="square" lIns="0" tIns="0" rIns="0" bIns="0" rtlCol="0" anchor="ctr">
            <a:normAutofit/>
          </a:bodyPr>
          <a:lstStyle/>
          <a:p>
            <a:pPr marL="0" indent="0" algn="ctr" rtl="1">
              <a:buNone/>
            </a:pPr>
            <a:r>
              <a:rPr lang="en-US" b="1" dirty="0">
                <a:solidFill>
                  <a:srgbClr val="0B6E99"/>
                </a:solidFill>
                <a:latin typeface="Sharif 1.2 SemiBold" panose="020B0000040000000000" pitchFamily="34" charset="-78"/>
                <a:ea typeface="Sharif 1.2 SemiBold" panose="020B0000040000000000" pitchFamily="34" charset="-78"/>
                <a:cs typeface="Sharif 1.2 SemiBold" panose="020B0000040000000000" pitchFamily="34" charset="-78"/>
              </a:rPr>
              <a:t>۶</a:t>
            </a:r>
            <a:endParaRPr lang="en-US"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8" name="Text 15"/>
          <p:cNvSpPr/>
          <p:nvPr/>
        </p:nvSpPr>
        <p:spPr>
          <a:xfrm>
            <a:off x="3328416" y="5102352"/>
            <a:ext cx="941832" cy="256032"/>
          </a:xfrm>
          <a:prstGeom prst="rect">
            <a:avLst/>
          </a:prstGeom>
          <a:noFill/>
          <a:ln/>
        </p:spPr>
        <p:txBody>
          <a:bodyPr wrap="square" lIns="0" tIns="0" rIns="0" bIns="0" rtlCol="0" anchor="ctr">
            <a:normAutofit/>
          </a:bodyPr>
          <a:lstStyle/>
          <a:p>
            <a:pPr marL="0" indent="0" algn="ctr" rtl="1">
              <a:buNone/>
            </a:pPr>
            <a:r>
              <a:rPr lang="en-US" sz="1050" dirty="0">
                <a:solidFill>
                  <a:srgbClr val="64748B"/>
                </a:solidFill>
                <a:latin typeface="Sharif 1.2 Light" panose="020B0000040000000000" pitchFamily="34" charset="-78"/>
                <a:ea typeface="Sharif 1.2 Light" panose="020B0000040000000000" pitchFamily="34" charset="-78"/>
                <a:cs typeface="Sharif 1.2 Light" panose="020B0000040000000000" pitchFamily="34" charset="-78"/>
              </a:rPr>
              <a:t>سیگنال/حسگر</a:t>
            </a:r>
            <a:endParaRPr lang="en-US" sz="105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19" name="Shape 16"/>
          <p:cNvSpPr/>
          <p:nvPr/>
        </p:nvSpPr>
        <p:spPr>
          <a:xfrm>
            <a:off x="4462272" y="4617720"/>
            <a:ext cx="1051560" cy="1005840"/>
          </a:xfrm>
          <a:prstGeom prst="roundRect">
            <a:avLst>
              <a:gd name="adj" fmla="val 7273"/>
            </a:avLst>
          </a:prstGeom>
          <a:solidFill>
            <a:srgbClr val="E7F4F8"/>
          </a:solidFill>
          <a:ln w="12700">
            <a:solidFill>
              <a:srgbClr val="D8E5EC"/>
            </a:solidFill>
            <a:prstDash val="solid"/>
          </a:ln>
        </p:spPr>
      </p:sp>
      <p:sp>
        <p:nvSpPr>
          <p:cNvPr id="20" name="Text 17"/>
          <p:cNvSpPr/>
          <p:nvPr/>
        </p:nvSpPr>
        <p:spPr>
          <a:xfrm>
            <a:off x="4507992" y="4773168"/>
            <a:ext cx="960120" cy="256032"/>
          </a:xfrm>
          <a:prstGeom prst="rect">
            <a:avLst/>
          </a:prstGeom>
          <a:noFill/>
          <a:ln/>
        </p:spPr>
        <p:txBody>
          <a:bodyPr wrap="square" lIns="0" tIns="0" rIns="0" bIns="0" rtlCol="0" anchor="ctr">
            <a:noAutofit/>
          </a:bodyPr>
          <a:lstStyle/>
          <a:p>
            <a:pPr marL="0" indent="0" algn="ctr">
              <a:buNone/>
            </a:pPr>
            <a:r>
              <a:rPr lang="fa-IR" b="1" dirty="0" err="1">
                <a:solidFill>
                  <a:srgbClr val="0B6E99"/>
                </a:solidFill>
                <a:latin typeface="Sharif 1.2" panose="020B0000040000000000" pitchFamily="34" charset="-78"/>
                <a:ea typeface="Sharif 1.2" panose="020B0000040000000000" pitchFamily="34" charset="-78"/>
                <a:cs typeface="Sharif 1.2" panose="020B0000040000000000" pitchFamily="34" charset="-78"/>
              </a:rPr>
              <a:t>بلوتوث</a:t>
            </a:r>
            <a:endParaRPr lang="en-US"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21" name="Text 18"/>
          <p:cNvSpPr/>
          <p:nvPr/>
        </p:nvSpPr>
        <p:spPr>
          <a:xfrm>
            <a:off x="4517136" y="5102352"/>
            <a:ext cx="941832" cy="256032"/>
          </a:xfrm>
          <a:prstGeom prst="rect">
            <a:avLst/>
          </a:prstGeom>
          <a:noFill/>
          <a:ln/>
        </p:spPr>
        <p:txBody>
          <a:bodyPr wrap="square" lIns="0" tIns="0" rIns="0" bIns="0" rtlCol="0" anchor="ctr">
            <a:normAutofit/>
          </a:bodyPr>
          <a:lstStyle/>
          <a:p>
            <a:pPr marL="0" indent="0" algn="ctr" rtl="1">
              <a:buNone/>
            </a:pPr>
            <a:r>
              <a:rPr lang="en-US" sz="1050" dirty="0">
                <a:solidFill>
                  <a:srgbClr val="64748B"/>
                </a:solidFill>
                <a:latin typeface="Sharif 1.2 Light" panose="020B0000040000000000" pitchFamily="34" charset="-78"/>
                <a:ea typeface="Sharif 1.2 Light" panose="020B0000040000000000" pitchFamily="34" charset="-78"/>
                <a:cs typeface="Sharif 1.2 Light" panose="020B0000040000000000" pitchFamily="34" charset="-78"/>
              </a:rPr>
              <a:t>ارتباط</a:t>
            </a:r>
            <a:endParaRPr lang="en-US" sz="105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22" name="Shape 19"/>
          <p:cNvSpPr/>
          <p:nvPr/>
        </p:nvSpPr>
        <p:spPr>
          <a:xfrm>
            <a:off x="6080760" y="1463040"/>
            <a:ext cx="5440680" cy="4681728"/>
          </a:xfrm>
          <a:prstGeom prst="roundRect">
            <a:avLst>
              <a:gd name="adj" fmla="val 1563"/>
            </a:avLst>
          </a:prstGeom>
          <a:solidFill>
            <a:srgbClr val="F4F8FB"/>
          </a:solidFill>
          <a:ln w="12700">
            <a:solidFill>
              <a:srgbClr val="D9E2EC"/>
            </a:solidFill>
            <a:prstDash val="solid"/>
          </a:ln>
          <a:effectLst>
            <a:outerShdw blurRad="12700" dist="50800" dir="2700000" algn="bl" rotWithShape="0">
              <a:srgbClr val="B0BEC5">
                <a:alpha val="12000"/>
              </a:srgbClr>
            </a:outerShdw>
          </a:effectLst>
        </p:spPr>
      </p:sp>
      <p:sp>
        <p:nvSpPr>
          <p:cNvPr id="24" name="Shape 20"/>
          <p:cNvSpPr/>
          <p:nvPr/>
        </p:nvSpPr>
        <p:spPr>
          <a:xfrm>
            <a:off x="8851392" y="1847088"/>
            <a:ext cx="2331720" cy="804672"/>
          </a:xfrm>
          <a:prstGeom prst="roundRect">
            <a:avLst>
              <a:gd name="adj" fmla="val 9091"/>
            </a:avLst>
          </a:prstGeom>
          <a:solidFill>
            <a:srgbClr val="FFFFFF"/>
          </a:solidFill>
          <a:ln w="15875">
            <a:solidFill>
              <a:srgbClr val="0B6E99"/>
            </a:solidFill>
            <a:prstDash val="solid"/>
          </a:ln>
        </p:spPr>
      </p:sp>
      <p:sp>
        <p:nvSpPr>
          <p:cNvPr id="25" name="Text 21"/>
          <p:cNvSpPr/>
          <p:nvPr/>
        </p:nvSpPr>
        <p:spPr>
          <a:xfrm>
            <a:off x="9052560" y="1938528"/>
            <a:ext cx="1920240" cy="237744"/>
          </a:xfrm>
          <a:prstGeom prst="rect">
            <a:avLst/>
          </a:prstGeom>
          <a:noFill/>
          <a:ln/>
        </p:spPr>
        <p:txBody>
          <a:bodyPr wrap="square" lIns="0" tIns="0" rIns="0" bIns="0" rtlCol="0" anchor="ctr">
            <a:normAutofit/>
          </a:bodyPr>
          <a:lstStyle/>
          <a:p>
            <a:pPr marL="0" indent="0" algn="r" rtl="1">
              <a:buNone/>
            </a:pPr>
            <a:r>
              <a:rPr lang="en-US" sz="14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پیشانی</a:t>
            </a:r>
            <a:endParaRPr lang="en-US" sz="14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26" name="Text 22"/>
          <p:cNvSpPr/>
          <p:nvPr/>
        </p:nvSpPr>
        <p:spPr>
          <a:xfrm>
            <a:off x="9052560" y="2212848"/>
            <a:ext cx="1920240" cy="256032"/>
          </a:xfrm>
          <a:prstGeom prst="rect">
            <a:avLst/>
          </a:prstGeom>
          <a:noFill/>
          <a:ln/>
        </p:spPr>
        <p:txBody>
          <a:bodyPr wrap="square" lIns="0" tIns="0" rIns="0" bIns="0" rtlCol="0" anchor="t">
            <a:normAutofit/>
          </a:bodyPr>
          <a:lstStyle/>
          <a:p>
            <a:pPr marL="0" indent="0" algn="r" rtl="1">
              <a:buNone/>
            </a:pPr>
            <a:r>
              <a:rPr lang="en-US" sz="1070" dirty="0">
                <a:solidFill>
                  <a:srgbClr val="64748B"/>
                </a:solidFill>
                <a:latin typeface="Sharif 1.2 Light" panose="020B0000040000000000" pitchFamily="34" charset="-78"/>
                <a:ea typeface="Sharif 1.2 Light" panose="020B0000040000000000" pitchFamily="34" charset="-78"/>
                <a:cs typeface="Sharif 1.2 Light" panose="020B0000040000000000" pitchFamily="34" charset="-78"/>
              </a:rPr>
              <a:t>حرکت سر و کنترل تنه</a:t>
            </a:r>
            <a:endParaRPr lang="en-US" sz="107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27" name="Shape 23"/>
          <p:cNvSpPr/>
          <p:nvPr/>
        </p:nvSpPr>
        <p:spPr>
          <a:xfrm>
            <a:off x="8851392" y="2926080"/>
            <a:ext cx="2331720" cy="804672"/>
          </a:xfrm>
          <a:prstGeom prst="roundRect">
            <a:avLst>
              <a:gd name="adj" fmla="val 9091"/>
            </a:avLst>
          </a:prstGeom>
          <a:solidFill>
            <a:srgbClr val="FFFFFF"/>
          </a:solidFill>
          <a:ln w="15875">
            <a:solidFill>
              <a:srgbClr val="0B7A75"/>
            </a:solidFill>
            <a:prstDash val="solid"/>
          </a:ln>
        </p:spPr>
      </p:sp>
      <p:sp>
        <p:nvSpPr>
          <p:cNvPr id="28" name="Text 24"/>
          <p:cNvSpPr/>
          <p:nvPr/>
        </p:nvSpPr>
        <p:spPr>
          <a:xfrm>
            <a:off x="9052560" y="3017520"/>
            <a:ext cx="1920240" cy="237744"/>
          </a:xfrm>
          <a:prstGeom prst="rect">
            <a:avLst/>
          </a:prstGeom>
          <a:noFill/>
          <a:ln/>
        </p:spPr>
        <p:txBody>
          <a:bodyPr wrap="square" lIns="0" tIns="0" rIns="0" bIns="0" rtlCol="0" anchor="ctr">
            <a:normAutofit/>
          </a:bodyPr>
          <a:lstStyle/>
          <a:p>
            <a:pPr marL="0" indent="0" algn="r" rtl="1">
              <a:buNone/>
            </a:pPr>
            <a:r>
              <a:rPr lang="en-US" sz="14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پشت مچ دو دست</a:t>
            </a:r>
            <a:endParaRPr lang="en-US" sz="14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29" name="Text 25"/>
          <p:cNvSpPr/>
          <p:nvPr/>
        </p:nvSpPr>
        <p:spPr>
          <a:xfrm>
            <a:off x="9052560" y="3291840"/>
            <a:ext cx="1920240" cy="256032"/>
          </a:xfrm>
          <a:prstGeom prst="rect">
            <a:avLst/>
          </a:prstGeom>
          <a:noFill/>
          <a:ln/>
        </p:spPr>
        <p:txBody>
          <a:bodyPr wrap="square" lIns="0" tIns="0" rIns="0" bIns="0" rtlCol="0" anchor="t">
            <a:normAutofit/>
          </a:bodyPr>
          <a:lstStyle/>
          <a:p>
            <a:pPr marL="0" indent="0" algn="r" rtl="1">
              <a:buNone/>
            </a:pPr>
            <a:r>
              <a:rPr lang="en-US" sz="1070" dirty="0">
                <a:solidFill>
                  <a:srgbClr val="64748B"/>
                </a:solidFill>
                <a:latin typeface="Sharif 1.2 Light" panose="020B0000040000000000" pitchFamily="34" charset="-78"/>
                <a:ea typeface="Sharif 1.2 Light" panose="020B0000040000000000" pitchFamily="34" charset="-78"/>
                <a:cs typeface="Sharif 1.2 Light" panose="020B0000040000000000" pitchFamily="34" charset="-78"/>
              </a:rPr>
              <a:t>الگوهای جبرانی اندام فوقانی</a:t>
            </a:r>
            <a:endParaRPr lang="en-US" sz="107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30" name="Shape 26"/>
          <p:cNvSpPr/>
          <p:nvPr/>
        </p:nvSpPr>
        <p:spPr>
          <a:xfrm>
            <a:off x="8851392" y="4005072"/>
            <a:ext cx="2331720" cy="804672"/>
          </a:xfrm>
          <a:prstGeom prst="roundRect">
            <a:avLst>
              <a:gd name="adj" fmla="val 9091"/>
            </a:avLst>
          </a:prstGeom>
          <a:solidFill>
            <a:srgbClr val="FFFFFF"/>
          </a:solidFill>
          <a:ln w="15875">
            <a:solidFill>
              <a:srgbClr val="2F855A"/>
            </a:solidFill>
            <a:prstDash val="solid"/>
          </a:ln>
        </p:spPr>
      </p:sp>
      <p:sp>
        <p:nvSpPr>
          <p:cNvPr id="31" name="Text 27"/>
          <p:cNvSpPr/>
          <p:nvPr/>
        </p:nvSpPr>
        <p:spPr>
          <a:xfrm>
            <a:off x="9052560" y="4096512"/>
            <a:ext cx="1920240" cy="237744"/>
          </a:xfrm>
          <a:prstGeom prst="rect">
            <a:avLst/>
          </a:prstGeom>
          <a:noFill/>
          <a:ln/>
        </p:spPr>
        <p:txBody>
          <a:bodyPr wrap="square" lIns="0" tIns="0" rIns="0" bIns="0" rtlCol="0" anchor="ctr">
            <a:normAutofit/>
          </a:bodyPr>
          <a:lstStyle/>
          <a:p>
            <a:pPr marL="0" indent="0" algn="r" rtl="1">
              <a:buNone/>
            </a:pPr>
            <a:r>
              <a:rPr lang="en-US" sz="14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بالای قوزک خارجی دو پا</a:t>
            </a:r>
            <a:endParaRPr lang="en-US" sz="14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32" name="Text 28"/>
          <p:cNvSpPr/>
          <p:nvPr/>
        </p:nvSpPr>
        <p:spPr>
          <a:xfrm>
            <a:off x="9052560" y="4370832"/>
            <a:ext cx="1920240" cy="256032"/>
          </a:xfrm>
          <a:prstGeom prst="rect">
            <a:avLst/>
          </a:prstGeom>
          <a:noFill/>
          <a:ln/>
        </p:spPr>
        <p:txBody>
          <a:bodyPr wrap="square" lIns="0" tIns="0" rIns="0" bIns="0" rtlCol="0" anchor="t">
            <a:normAutofit/>
          </a:bodyPr>
          <a:lstStyle/>
          <a:p>
            <a:pPr marL="0" indent="0" algn="r" rtl="1">
              <a:buNone/>
            </a:pPr>
            <a:r>
              <a:rPr lang="en-US" sz="1070" dirty="0">
                <a:solidFill>
                  <a:srgbClr val="64748B"/>
                </a:solidFill>
                <a:latin typeface="Sharif 1.2 Light" panose="020B0000040000000000" pitchFamily="34" charset="-78"/>
                <a:ea typeface="Sharif 1.2 Light" panose="020B0000040000000000" pitchFamily="34" charset="-78"/>
                <a:cs typeface="Sharif 1.2 Light" panose="020B0000040000000000" pitchFamily="34" charset="-78"/>
              </a:rPr>
              <a:t>حرکت اندام تحتانی و تعادل</a:t>
            </a:r>
            <a:endParaRPr lang="en-US" sz="107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33" name="Text 29"/>
          <p:cNvSpPr/>
          <p:nvPr/>
        </p:nvSpPr>
        <p:spPr>
          <a:xfrm>
            <a:off x="6492240" y="5239512"/>
            <a:ext cx="4572000" cy="384048"/>
          </a:xfrm>
          <a:prstGeom prst="rect">
            <a:avLst/>
          </a:prstGeom>
          <a:noFill/>
          <a:ln/>
        </p:spPr>
        <p:txBody>
          <a:bodyPr wrap="square" lIns="0" tIns="0" rIns="0" bIns="0" rtlCol="0" anchor="ctr">
            <a:normAutofit/>
          </a:bodyPr>
          <a:lstStyle/>
          <a:p>
            <a:pPr marL="0" indent="0" algn="ctr" rtl="1">
              <a:buNone/>
            </a:pPr>
            <a:r>
              <a:rPr lang="en-US" sz="122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LILYGO T-Wristband  | MPU9250  </a:t>
            </a:r>
            <a:r>
              <a:rPr lang="en-US" sz="1220" dirty="0">
                <a:solidFill>
                  <a:srgbClr val="64748B"/>
                </a:solidFill>
                <a:latin typeface="Sharif 1.2 Light" panose="020B0000040000000000" pitchFamily="34" charset="-78"/>
                <a:ea typeface="Sharif 1.2 Light" panose="020B0000040000000000" pitchFamily="34" charset="-78"/>
                <a:cs typeface="Sharif 1.2 Light" panose="020B0000040000000000" pitchFamily="34" charset="-78"/>
              </a:rPr>
              <a:t>| ESP32-Pico-D4</a:t>
            </a:r>
            <a:endParaRPr lang="en-US" sz="12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4" name="Shape 30"/>
          <p:cNvSpPr/>
          <p:nvPr/>
        </p:nvSpPr>
        <p:spPr>
          <a:xfrm>
            <a:off x="658368" y="6473952"/>
            <a:ext cx="10881360" cy="0"/>
          </a:xfrm>
          <a:prstGeom prst="line">
            <a:avLst/>
          </a:prstGeom>
          <a:noFill/>
          <a:ln w="10160">
            <a:solidFill>
              <a:srgbClr val="E9EEF2"/>
            </a:solidFill>
            <a:prstDash val="solid"/>
          </a:ln>
        </p:spPr>
      </p:sp>
      <p:sp>
        <p:nvSpPr>
          <p:cNvPr id="35" name="Text 31"/>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پایان‌نامه کارشناسی مهندسی مکانیک</a:t>
            </a:r>
            <a:endParaRPr lang="en-US" sz="120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36" name="Text 32"/>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روش</a:t>
            </a:r>
            <a:r>
              <a:rPr lang="en-US" sz="1200" dirty="0">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 و پیاده‌سازی | ۹ اسلاید تا پایان</a:t>
            </a:r>
            <a:endParaRPr lang="en-US" sz="120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37" name="Text 33"/>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۵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8" name="Shape 34"/>
          <p:cNvSpPr/>
          <p:nvPr/>
        </p:nvSpPr>
        <p:spPr>
          <a:xfrm>
            <a:off x="2560320" y="6766560"/>
            <a:ext cx="2351314" cy="41148"/>
          </a:xfrm>
          <a:prstGeom prst="rect">
            <a:avLst/>
          </a:prstGeom>
          <a:solidFill>
            <a:srgbClr val="0B6E99"/>
          </a:solidFill>
          <a:ln w="12700">
            <a:solidFill>
              <a:srgbClr val="0B6E99"/>
            </a:solidFill>
            <a:prstDash val="solid"/>
          </a:ln>
        </p:spPr>
      </p:sp>
      <p:sp>
        <p:nvSpPr>
          <p:cNvPr id="39" name="Shape 35"/>
          <p:cNvSpPr/>
          <p:nvPr/>
        </p:nvSpPr>
        <p:spPr>
          <a:xfrm>
            <a:off x="4911634" y="6766560"/>
            <a:ext cx="4232366" cy="41148"/>
          </a:xfrm>
          <a:prstGeom prst="rect">
            <a:avLst/>
          </a:prstGeom>
          <a:solidFill>
            <a:srgbClr val="E6EDF2"/>
          </a:solidFill>
          <a:ln w="12700">
            <a:solidFill>
              <a:srgbClr val="E6EDF2"/>
            </a:solidFill>
            <a:prstDash val="solid"/>
          </a:ln>
        </p:spPr>
      </p:sp>
      <p:pic>
        <p:nvPicPr>
          <p:cNvPr id="40" name="Picture 39">
            <a:extLst>
              <a:ext uri="{FF2B5EF4-FFF2-40B4-BE49-F238E27FC236}">
                <a16:creationId xmlns:a16="http://schemas.microsoft.com/office/drawing/2014/main" id="{FAC0E45A-FA7E-267A-4212-0B01EE269C7E}"/>
              </a:ext>
            </a:extLst>
          </p:cNvPr>
          <p:cNvPicPr>
            <a:picLocks noChangeAspect="1"/>
          </p:cNvPicPr>
          <p:nvPr/>
        </p:nvPicPr>
        <p:blipFill>
          <a:blip r:embed="rId4"/>
          <a:stretch>
            <a:fillRect/>
          </a:stretch>
        </p:blipFill>
        <p:spPr>
          <a:xfrm>
            <a:off x="6261259" y="1801368"/>
            <a:ext cx="2331720" cy="3108960"/>
          </a:xfrm>
          <a:prstGeom prst="rect">
            <a:avLst/>
          </a:prstGeom>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مسیر کامل داده تا پیش‌بینی نمره</a:t>
            </a:r>
            <a:endParaRPr lang="en-US" sz="27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7" name="Text 5"/>
          <p:cNvSpPr/>
          <p:nvPr/>
        </p:nvSpPr>
        <p:spPr>
          <a:xfrm>
            <a:off x="4023360" y="1417320"/>
            <a:ext cx="6995160" cy="384048"/>
          </a:xfrm>
          <a:prstGeom prst="rect">
            <a:avLst/>
          </a:prstGeom>
          <a:noFill/>
          <a:ln/>
        </p:spPr>
        <p:txBody>
          <a:bodyPr wrap="square" lIns="0" tIns="0" rIns="0" bIns="0" rtlCol="0" anchor="ctr">
            <a:normAutofit/>
          </a:bodyPr>
          <a:lstStyle/>
          <a:p>
            <a:pPr marL="0" indent="0" algn="r" rtl="1">
              <a:buNone/>
            </a:pPr>
            <a:r>
              <a:rPr lang="en-US" sz="185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یک زنجیره یکپارچه از ثبت حرکت تا انتخاب مدل نهایی</a:t>
            </a:r>
            <a:endParaRPr lang="en-US" sz="185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8" name="Shape 6"/>
          <p:cNvSpPr/>
          <p:nvPr/>
        </p:nvSpPr>
        <p:spPr>
          <a:xfrm>
            <a:off x="530352" y="2267712"/>
            <a:ext cx="1563624" cy="2148840"/>
          </a:xfrm>
          <a:prstGeom prst="roundRect">
            <a:avLst>
              <a:gd name="adj" fmla="val 4678"/>
            </a:avLst>
          </a:prstGeom>
          <a:solidFill>
            <a:srgbClr val="FFFFFF"/>
          </a:solidFill>
          <a:ln w="17780">
            <a:solidFill>
              <a:srgbClr val="0B6E99"/>
            </a:solidFill>
            <a:prstDash val="solid"/>
          </a:ln>
        </p:spPr>
      </p:sp>
      <p:sp>
        <p:nvSpPr>
          <p:cNvPr id="9" name="Shape 7"/>
          <p:cNvSpPr/>
          <p:nvPr/>
        </p:nvSpPr>
        <p:spPr>
          <a:xfrm>
            <a:off x="1024128" y="2523744"/>
            <a:ext cx="576072" cy="576072"/>
          </a:xfrm>
          <a:prstGeom prst="ellipse">
            <a:avLst/>
          </a:prstGeom>
          <a:solidFill>
            <a:srgbClr val="0B6E99"/>
          </a:solidFill>
          <a:ln w="12700">
            <a:solidFill>
              <a:srgbClr val="0B6E99"/>
            </a:solidFill>
            <a:prstDash val="solid"/>
          </a:ln>
        </p:spPr>
      </p:sp>
      <p:sp>
        <p:nvSpPr>
          <p:cNvPr id="10" name="Text 8"/>
          <p:cNvSpPr/>
          <p:nvPr/>
        </p:nvSpPr>
        <p:spPr>
          <a:xfrm>
            <a:off x="1024128"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1</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1" name="Text 9"/>
          <p:cNvSpPr/>
          <p:nvPr/>
        </p:nvSpPr>
        <p:spPr>
          <a:xfrm>
            <a:off x="649224"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اجرای فعالیت</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12" name="Text 10"/>
          <p:cNvSpPr/>
          <p:nvPr/>
        </p:nvSpPr>
        <p:spPr>
          <a:xfrm>
            <a:off x="649224"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سطح ۰، ۱ یا ۲</a:t>
            </a:r>
            <a:endParaRPr lang="en-US" sz="108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3" name="Shape 11"/>
          <p:cNvSpPr/>
          <p:nvPr/>
        </p:nvSpPr>
        <p:spPr>
          <a:xfrm>
            <a:off x="2103120" y="3337560"/>
            <a:ext cx="73152" cy="0"/>
          </a:xfrm>
          <a:prstGeom prst="line">
            <a:avLst/>
          </a:prstGeom>
          <a:noFill/>
          <a:ln w="17780">
            <a:solidFill>
              <a:srgbClr val="94A3B8"/>
            </a:solidFill>
            <a:prstDash val="solid"/>
            <a:headEnd type="none"/>
            <a:tailEnd type="triangle"/>
          </a:ln>
        </p:spPr>
      </p:sp>
      <p:sp>
        <p:nvSpPr>
          <p:cNvPr id="14" name="Shape 12"/>
          <p:cNvSpPr/>
          <p:nvPr/>
        </p:nvSpPr>
        <p:spPr>
          <a:xfrm>
            <a:off x="2185416" y="2267712"/>
            <a:ext cx="1563624" cy="2148840"/>
          </a:xfrm>
          <a:prstGeom prst="roundRect">
            <a:avLst>
              <a:gd name="adj" fmla="val 4678"/>
            </a:avLst>
          </a:prstGeom>
          <a:solidFill>
            <a:srgbClr val="FFFFFF"/>
          </a:solidFill>
          <a:ln w="17780">
            <a:solidFill>
              <a:srgbClr val="1D8AB5"/>
            </a:solidFill>
            <a:prstDash val="solid"/>
          </a:ln>
        </p:spPr>
      </p:sp>
      <p:sp>
        <p:nvSpPr>
          <p:cNvPr id="15" name="Shape 13"/>
          <p:cNvSpPr/>
          <p:nvPr/>
        </p:nvSpPr>
        <p:spPr>
          <a:xfrm>
            <a:off x="2679192" y="2523744"/>
            <a:ext cx="576072" cy="576072"/>
          </a:xfrm>
          <a:prstGeom prst="ellipse">
            <a:avLst/>
          </a:prstGeom>
          <a:solidFill>
            <a:srgbClr val="1D8AB5"/>
          </a:solidFill>
          <a:ln w="12700">
            <a:solidFill>
              <a:srgbClr val="1D8AB5"/>
            </a:solidFill>
            <a:prstDash val="solid"/>
          </a:ln>
        </p:spPr>
      </p:sp>
      <p:sp>
        <p:nvSpPr>
          <p:cNvPr id="16" name="Text 14"/>
          <p:cNvSpPr/>
          <p:nvPr/>
        </p:nvSpPr>
        <p:spPr>
          <a:xfrm>
            <a:off x="2679192"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2</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7" name="Text 15"/>
          <p:cNvSpPr/>
          <p:nvPr/>
        </p:nvSpPr>
        <p:spPr>
          <a:xfrm>
            <a:off x="2304288"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ثبت پنج‌حسگری</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18" name="Text 16"/>
          <p:cNvSpPr/>
          <p:nvPr/>
        </p:nvSpPr>
        <p:spPr>
          <a:xfrm>
            <a:off x="2304288"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شتاب و ژیروسکوپ</a:t>
            </a:r>
            <a:endParaRPr lang="en-US" sz="108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9" name="Shape 17"/>
          <p:cNvSpPr/>
          <p:nvPr/>
        </p:nvSpPr>
        <p:spPr>
          <a:xfrm>
            <a:off x="3758184" y="3337560"/>
            <a:ext cx="73152" cy="0"/>
          </a:xfrm>
          <a:prstGeom prst="line">
            <a:avLst/>
          </a:prstGeom>
          <a:noFill/>
          <a:ln w="17780">
            <a:solidFill>
              <a:srgbClr val="94A3B8"/>
            </a:solidFill>
            <a:prstDash val="solid"/>
            <a:headEnd type="none"/>
            <a:tailEnd type="triangle"/>
          </a:ln>
        </p:spPr>
      </p:sp>
      <p:sp>
        <p:nvSpPr>
          <p:cNvPr id="20" name="Shape 18"/>
          <p:cNvSpPr/>
          <p:nvPr/>
        </p:nvSpPr>
        <p:spPr>
          <a:xfrm>
            <a:off x="3840480" y="2267712"/>
            <a:ext cx="1563624" cy="2148840"/>
          </a:xfrm>
          <a:prstGeom prst="roundRect">
            <a:avLst>
              <a:gd name="adj" fmla="val 4678"/>
            </a:avLst>
          </a:prstGeom>
          <a:solidFill>
            <a:srgbClr val="FFFFFF"/>
          </a:solidFill>
          <a:ln w="17780">
            <a:solidFill>
              <a:srgbClr val="0B7A75"/>
            </a:solidFill>
            <a:prstDash val="solid"/>
          </a:ln>
        </p:spPr>
      </p:sp>
      <p:sp>
        <p:nvSpPr>
          <p:cNvPr id="21" name="Shape 19"/>
          <p:cNvSpPr/>
          <p:nvPr/>
        </p:nvSpPr>
        <p:spPr>
          <a:xfrm>
            <a:off x="4334256" y="2523744"/>
            <a:ext cx="576072" cy="576072"/>
          </a:xfrm>
          <a:prstGeom prst="ellipse">
            <a:avLst/>
          </a:prstGeom>
          <a:solidFill>
            <a:srgbClr val="0B7A75"/>
          </a:solidFill>
          <a:ln w="12700">
            <a:solidFill>
              <a:srgbClr val="0B7A75"/>
            </a:solidFill>
            <a:prstDash val="solid"/>
          </a:ln>
        </p:spPr>
      </p:sp>
      <p:sp>
        <p:nvSpPr>
          <p:cNvPr id="22" name="Text 20"/>
          <p:cNvSpPr/>
          <p:nvPr/>
        </p:nvSpPr>
        <p:spPr>
          <a:xfrm>
            <a:off x="4334256"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3</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3" name="Text 21"/>
          <p:cNvSpPr/>
          <p:nvPr/>
        </p:nvSpPr>
        <p:spPr>
          <a:xfrm>
            <a:off x="3959352"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دریافت در MATLAB</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24" name="Text 22"/>
          <p:cNvSpPr/>
          <p:nvPr/>
        </p:nvSpPr>
        <p:spPr>
          <a:xfrm>
            <a:off x="3959352"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نمایش و ذخیره‌سازی</a:t>
            </a:r>
            <a:endParaRPr lang="en-US" sz="108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5" name="Shape 23"/>
          <p:cNvSpPr/>
          <p:nvPr/>
        </p:nvSpPr>
        <p:spPr>
          <a:xfrm>
            <a:off x="5413248" y="3337560"/>
            <a:ext cx="73152" cy="0"/>
          </a:xfrm>
          <a:prstGeom prst="line">
            <a:avLst/>
          </a:prstGeom>
          <a:noFill/>
          <a:ln w="17780">
            <a:solidFill>
              <a:srgbClr val="94A3B8"/>
            </a:solidFill>
            <a:prstDash val="solid"/>
            <a:headEnd type="none"/>
            <a:tailEnd type="triangle"/>
          </a:ln>
        </p:spPr>
      </p:sp>
      <p:sp>
        <p:nvSpPr>
          <p:cNvPr id="26" name="Shape 24"/>
          <p:cNvSpPr/>
          <p:nvPr/>
        </p:nvSpPr>
        <p:spPr>
          <a:xfrm>
            <a:off x="5495544" y="2267712"/>
            <a:ext cx="1563624" cy="2148840"/>
          </a:xfrm>
          <a:prstGeom prst="roundRect">
            <a:avLst>
              <a:gd name="adj" fmla="val 4678"/>
            </a:avLst>
          </a:prstGeom>
          <a:solidFill>
            <a:srgbClr val="FFFFFF"/>
          </a:solidFill>
          <a:ln w="17780">
            <a:solidFill>
              <a:srgbClr val="E69F00"/>
            </a:solidFill>
            <a:prstDash val="solid"/>
          </a:ln>
        </p:spPr>
      </p:sp>
      <p:sp>
        <p:nvSpPr>
          <p:cNvPr id="27" name="Shape 25"/>
          <p:cNvSpPr/>
          <p:nvPr/>
        </p:nvSpPr>
        <p:spPr>
          <a:xfrm>
            <a:off x="5989320" y="2523744"/>
            <a:ext cx="576072" cy="576072"/>
          </a:xfrm>
          <a:prstGeom prst="ellipse">
            <a:avLst/>
          </a:prstGeom>
          <a:solidFill>
            <a:srgbClr val="E69F00"/>
          </a:solidFill>
          <a:ln w="12700">
            <a:solidFill>
              <a:srgbClr val="E69F00"/>
            </a:solidFill>
            <a:prstDash val="solid"/>
          </a:ln>
        </p:spPr>
      </p:sp>
      <p:sp>
        <p:nvSpPr>
          <p:cNvPr id="28" name="Text 26"/>
          <p:cNvSpPr/>
          <p:nvPr/>
        </p:nvSpPr>
        <p:spPr>
          <a:xfrm>
            <a:off x="5989320"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4</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9" name="Text 27"/>
          <p:cNvSpPr/>
          <p:nvPr/>
        </p:nvSpPr>
        <p:spPr>
          <a:xfrm>
            <a:off x="5614416"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پیش‌پردازش</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30" name="Text 28"/>
          <p:cNvSpPr/>
          <p:nvPr/>
        </p:nvSpPr>
        <p:spPr>
          <a:xfrm>
            <a:off x="5614416"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بایاس، فیلتر و آماده‌سازی</a:t>
            </a:r>
            <a:endParaRPr lang="en-US" sz="108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1" name="Shape 29"/>
          <p:cNvSpPr/>
          <p:nvPr/>
        </p:nvSpPr>
        <p:spPr>
          <a:xfrm>
            <a:off x="7068312" y="3337560"/>
            <a:ext cx="73152" cy="0"/>
          </a:xfrm>
          <a:prstGeom prst="line">
            <a:avLst/>
          </a:prstGeom>
          <a:noFill/>
          <a:ln w="17780">
            <a:solidFill>
              <a:srgbClr val="94A3B8"/>
            </a:solidFill>
            <a:prstDash val="solid"/>
            <a:headEnd type="none"/>
            <a:tailEnd type="triangle"/>
          </a:ln>
        </p:spPr>
      </p:sp>
      <p:sp>
        <p:nvSpPr>
          <p:cNvPr id="32" name="Shape 30"/>
          <p:cNvSpPr/>
          <p:nvPr/>
        </p:nvSpPr>
        <p:spPr>
          <a:xfrm>
            <a:off x="7150608" y="2267712"/>
            <a:ext cx="1563624" cy="2148840"/>
          </a:xfrm>
          <a:prstGeom prst="roundRect">
            <a:avLst>
              <a:gd name="adj" fmla="val 4678"/>
            </a:avLst>
          </a:prstGeom>
          <a:solidFill>
            <a:srgbClr val="FFFFFF"/>
          </a:solidFill>
          <a:ln w="17780">
            <a:solidFill>
              <a:srgbClr val="2F855A"/>
            </a:solidFill>
            <a:prstDash val="solid"/>
          </a:ln>
        </p:spPr>
      </p:sp>
      <p:sp>
        <p:nvSpPr>
          <p:cNvPr id="33" name="Shape 31"/>
          <p:cNvSpPr/>
          <p:nvPr/>
        </p:nvSpPr>
        <p:spPr>
          <a:xfrm>
            <a:off x="7644384" y="2523744"/>
            <a:ext cx="576072" cy="576072"/>
          </a:xfrm>
          <a:prstGeom prst="ellipse">
            <a:avLst/>
          </a:prstGeom>
          <a:solidFill>
            <a:srgbClr val="2F855A"/>
          </a:solidFill>
          <a:ln w="12700">
            <a:solidFill>
              <a:srgbClr val="2F855A"/>
            </a:solidFill>
            <a:prstDash val="solid"/>
          </a:ln>
        </p:spPr>
      </p:sp>
      <p:sp>
        <p:nvSpPr>
          <p:cNvPr id="34" name="Text 32"/>
          <p:cNvSpPr/>
          <p:nvPr/>
        </p:nvSpPr>
        <p:spPr>
          <a:xfrm>
            <a:off x="7644384"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5</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5" name="Text 33"/>
          <p:cNvSpPr/>
          <p:nvPr/>
        </p:nvSpPr>
        <p:spPr>
          <a:xfrm>
            <a:off x="7269480"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استخراج ویژگی</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36" name="Text 34"/>
          <p:cNvSpPr/>
          <p:nvPr/>
        </p:nvSpPr>
        <p:spPr>
          <a:xfrm>
            <a:off x="7269480"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۶۹۰ ویژگی برای هر نمونه</a:t>
            </a:r>
            <a:endParaRPr lang="en-US" sz="108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7" name="Shape 35"/>
          <p:cNvSpPr/>
          <p:nvPr/>
        </p:nvSpPr>
        <p:spPr>
          <a:xfrm>
            <a:off x="8723376" y="3337560"/>
            <a:ext cx="73152" cy="0"/>
          </a:xfrm>
          <a:prstGeom prst="line">
            <a:avLst/>
          </a:prstGeom>
          <a:noFill/>
          <a:ln w="17780">
            <a:solidFill>
              <a:srgbClr val="94A3B8"/>
            </a:solidFill>
            <a:prstDash val="solid"/>
            <a:headEnd type="none"/>
            <a:tailEnd type="triangle"/>
          </a:ln>
        </p:spPr>
      </p:sp>
      <p:sp>
        <p:nvSpPr>
          <p:cNvPr id="38" name="Shape 36"/>
          <p:cNvSpPr/>
          <p:nvPr/>
        </p:nvSpPr>
        <p:spPr>
          <a:xfrm>
            <a:off x="8805672" y="2267712"/>
            <a:ext cx="1563624" cy="2148840"/>
          </a:xfrm>
          <a:prstGeom prst="roundRect">
            <a:avLst>
              <a:gd name="adj" fmla="val 4678"/>
            </a:avLst>
          </a:prstGeom>
          <a:solidFill>
            <a:srgbClr val="FFFFFF"/>
          </a:solidFill>
          <a:ln w="17780">
            <a:solidFill>
              <a:srgbClr val="6B5BA6"/>
            </a:solidFill>
            <a:prstDash val="solid"/>
          </a:ln>
        </p:spPr>
      </p:sp>
      <p:sp>
        <p:nvSpPr>
          <p:cNvPr id="39" name="Shape 37"/>
          <p:cNvSpPr/>
          <p:nvPr/>
        </p:nvSpPr>
        <p:spPr>
          <a:xfrm>
            <a:off x="9299448" y="2523744"/>
            <a:ext cx="576072" cy="576072"/>
          </a:xfrm>
          <a:prstGeom prst="ellipse">
            <a:avLst/>
          </a:prstGeom>
          <a:solidFill>
            <a:srgbClr val="6B5BA6"/>
          </a:solidFill>
          <a:ln w="12700">
            <a:solidFill>
              <a:srgbClr val="6B5BA6"/>
            </a:solidFill>
            <a:prstDash val="solid"/>
          </a:ln>
        </p:spPr>
      </p:sp>
      <p:sp>
        <p:nvSpPr>
          <p:cNvPr id="40" name="Text 38"/>
          <p:cNvSpPr/>
          <p:nvPr/>
        </p:nvSpPr>
        <p:spPr>
          <a:xfrm>
            <a:off x="9299448"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6</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1" name="Text 39"/>
          <p:cNvSpPr/>
          <p:nvPr/>
        </p:nvSpPr>
        <p:spPr>
          <a:xfrm>
            <a:off x="8924544"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PCA و مدل‌ها</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42" name="Text 40"/>
          <p:cNvSpPr/>
          <p:nvPr/>
        </p:nvSpPr>
        <p:spPr>
          <a:xfrm>
            <a:off x="8924544"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SVM / KNN / RF</a:t>
            </a:r>
            <a:endParaRPr lang="en-US" sz="108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3" name="Shape 41"/>
          <p:cNvSpPr/>
          <p:nvPr/>
        </p:nvSpPr>
        <p:spPr>
          <a:xfrm>
            <a:off x="10378440" y="3337560"/>
            <a:ext cx="73152" cy="0"/>
          </a:xfrm>
          <a:prstGeom prst="line">
            <a:avLst/>
          </a:prstGeom>
          <a:noFill/>
          <a:ln w="17780">
            <a:solidFill>
              <a:srgbClr val="94A3B8"/>
            </a:solidFill>
            <a:prstDash val="solid"/>
            <a:headEnd type="none"/>
            <a:tailEnd type="triangle"/>
          </a:ln>
        </p:spPr>
      </p:sp>
      <p:sp>
        <p:nvSpPr>
          <p:cNvPr id="44" name="Shape 42"/>
          <p:cNvSpPr/>
          <p:nvPr/>
        </p:nvSpPr>
        <p:spPr>
          <a:xfrm>
            <a:off x="10460736" y="2267712"/>
            <a:ext cx="1563624" cy="2148840"/>
          </a:xfrm>
          <a:prstGeom prst="roundRect">
            <a:avLst>
              <a:gd name="adj" fmla="val 4678"/>
            </a:avLst>
          </a:prstGeom>
          <a:solidFill>
            <a:srgbClr val="FFFFFF"/>
          </a:solidFill>
          <a:ln w="17780">
            <a:solidFill>
              <a:srgbClr val="C0392B"/>
            </a:solidFill>
            <a:prstDash val="solid"/>
          </a:ln>
        </p:spPr>
      </p:sp>
      <p:sp>
        <p:nvSpPr>
          <p:cNvPr id="45" name="Shape 43"/>
          <p:cNvSpPr/>
          <p:nvPr/>
        </p:nvSpPr>
        <p:spPr>
          <a:xfrm>
            <a:off x="10954512" y="2523744"/>
            <a:ext cx="576072" cy="576072"/>
          </a:xfrm>
          <a:prstGeom prst="ellipse">
            <a:avLst/>
          </a:prstGeom>
          <a:solidFill>
            <a:srgbClr val="C0392B"/>
          </a:solidFill>
          <a:ln w="12700">
            <a:solidFill>
              <a:srgbClr val="C0392B"/>
            </a:solidFill>
            <a:prstDash val="solid"/>
          </a:ln>
        </p:spPr>
      </p:sp>
      <p:sp>
        <p:nvSpPr>
          <p:cNvPr id="46" name="Text 44"/>
          <p:cNvSpPr/>
          <p:nvPr/>
        </p:nvSpPr>
        <p:spPr>
          <a:xfrm>
            <a:off x="10954512"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7</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7" name="Text 45"/>
          <p:cNvSpPr/>
          <p:nvPr/>
        </p:nvSpPr>
        <p:spPr>
          <a:xfrm>
            <a:off x="10579608"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ارزیابی و انتخاب</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48" name="Text 46"/>
          <p:cNvSpPr/>
          <p:nvPr/>
        </p:nvSpPr>
        <p:spPr>
          <a:xfrm>
            <a:off x="10579608"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اعتبارسنجی متقاطع</a:t>
            </a:r>
            <a:endParaRPr lang="en-US" sz="108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9" name="Shape 47"/>
          <p:cNvSpPr/>
          <p:nvPr/>
        </p:nvSpPr>
        <p:spPr>
          <a:xfrm>
            <a:off x="941832" y="4983480"/>
            <a:ext cx="10241280" cy="841248"/>
          </a:xfrm>
          <a:prstGeom prst="roundRect">
            <a:avLst>
              <a:gd name="adj" fmla="val 8696"/>
            </a:avLst>
          </a:prstGeom>
          <a:solidFill>
            <a:srgbClr val="102A43"/>
          </a:solidFill>
          <a:ln w="12700">
            <a:solidFill>
              <a:srgbClr val="102A43"/>
            </a:solidFill>
            <a:prstDash val="solid"/>
          </a:ln>
        </p:spPr>
      </p:sp>
      <p:sp>
        <p:nvSpPr>
          <p:cNvPr id="50" name="Text 48"/>
          <p:cNvSpPr/>
          <p:nvPr/>
        </p:nvSpPr>
        <p:spPr>
          <a:xfrm>
            <a:off x="1207008" y="5193792"/>
            <a:ext cx="1298448" cy="29260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Sharif 1.2" panose="020B0000040000000000" pitchFamily="34" charset="-78"/>
                <a:ea typeface="Sharif 1.2" panose="020B0000040000000000" pitchFamily="34" charset="-78"/>
                <a:cs typeface="Sharif 1.2" panose="020B0000040000000000" pitchFamily="34" charset="-78"/>
              </a:rPr>
              <a:t>Arduino</a:t>
            </a:r>
            <a:endParaRPr lang="en-US" sz="15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51" name="Text 49"/>
          <p:cNvSpPr/>
          <p:nvPr/>
        </p:nvSpPr>
        <p:spPr>
          <a:xfrm>
            <a:off x="3794760" y="5193792"/>
            <a:ext cx="1298448" cy="29260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Sharif 1.2" panose="020B0000040000000000" pitchFamily="34" charset="-78"/>
                <a:ea typeface="Sharif 1.2" panose="020B0000040000000000" pitchFamily="34" charset="-78"/>
                <a:cs typeface="Sharif 1.2" panose="020B0000040000000000" pitchFamily="34" charset="-78"/>
              </a:rPr>
              <a:t>MATLAB</a:t>
            </a:r>
            <a:endParaRPr lang="en-US" sz="15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52" name="Text 50"/>
          <p:cNvSpPr/>
          <p:nvPr/>
        </p:nvSpPr>
        <p:spPr>
          <a:xfrm>
            <a:off x="6419088" y="5193792"/>
            <a:ext cx="1298448" cy="29260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Sharif 1.2" panose="020B0000040000000000" pitchFamily="34" charset="-78"/>
                <a:ea typeface="Sharif 1.2" panose="020B0000040000000000" pitchFamily="34" charset="-78"/>
                <a:cs typeface="Sharif 1.2" panose="020B0000040000000000" pitchFamily="34" charset="-78"/>
              </a:rPr>
              <a:t>Python</a:t>
            </a:r>
            <a:endParaRPr lang="en-US" sz="15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53" name="Text 51"/>
          <p:cNvSpPr/>
          <p:nvPr/>
        </p:nvSpPr>
        <p:spPr>
          <a:xfrm>
            <a:off x="8906256" y="5193792"/>
            <a:ext cx="1508760" cy="29260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Sharif 1.2" panose="020B0000040000000000" pitchFamily="34" charset="-78"/>
                <a:ea typeface="Sharif 1.2" panose="020B0000040000000000" pitchFamily="34" charset="-78"/>
                <a:cs typeface="Sharif 1.2" panose="020B0000040000000000" pitchFamily="34" charset="-78"/>
              </a:rPr>
              <a:t>Scikit-learn</a:t>
            </a:r>
            <a:endParaRPr lang="en-US" sz="15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54" name="Text 52"/>
          <p:cNvSpPr/>
          <p:nvPr/>
        </p:nvSpPr>
        <p:spPr>
          <a:xfrm>
            <a:off x="1207008" y="5513832"/>
            <a:ext cx="1298448" cy="201168"/>
          </a:xfrm>
          <a:prstGeom prst="rect">
            <a:avLst/>
          </a:prstGeom>
          <a:noFill/>
          <a:ln/>
        </p:spPr>
        <p:txBody>
          <a:bodyPr wrap="square" lIns="0" tIns="0" rIns="0" bIns="0" rtlCol="0" anchor="ctr">
            <a:normAutofit/>
          </a:bodyPr>
          <a:lstStyle/>
          <a:p>
            <a:pPr marL="0" indent="0" algn="ctr" rtl="1">
              <a:buNone/>
            </a:pPr>
            <a:r>
              <a:rPr lang="en-US" sz="970" dirty="0">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نمونه‌برداری</a:t>
            </a:r>
            <a:endParaRPr lang="en-US" sz="9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5" name="Text 53"/>
          <p:cNvSpPr/>
          <p:nvPr/>
        </p:nvSpPr>
        <p:spPr>
          <a:xfrm>
            <a:off x="3794760" y="5513832"/>
            <a:ext cx="1298448" cy="201168"/>
          </a:xfrm>
          <a:prstGeom prst="rect">
            <a:avLst/>
          </a:prstGeom>
          <a:noFill/>
          <a:ln/>
        </p:spPr>
        <p:txBody>
          <a:bodyPr wrap="square" lIns="0" tIns="0" rIns="0" bIns="0" rtlCol="0" anchor="ctr">
            <a:normAutofit/>
          </a:bodyPr>
          <a:lstStyle/>
          <a:p>
            <a:pPr marL="0" indent="0" algn="ctr" rtl="1">
              <a:buNone/>
            </a:pPr>
            <a:r>
              <a:rPr lang="en-US" sz="970" dirty="0">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دریافت و ذخیره</a:t>
            </a:r>
            <a:endParaRPr lang="en-US" sz="9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6" name="Text 54"/>
          <p:cNvSpPr/>
          <p:nvPr/>
        </p:nvSpPr>
        <p:spPr>
          <a:xfrm>
            <a:off x="6419088" y="5513832"/>
            <a:ext cx="1298448" cy="201168"/>
          </a:xfrm>
          <a:prstGeom prst="rect">
            <a:avLst/>
          </a:prstGeom>
          <a:noFill/>
          <a:ln/>
        </p:spPr>
        <p:txBody>
          <a:bodyPr wrap="square" lIns="0" tIns="0" rIns="0" bIns="0" rtlCol="0" anchor="ctr">
            <a:normAutofit/>
          </a:bodyPr>
          <a:lstStyle/>
          <a:p>
            <a:pPr marL="0" indent="0" algn="ctr" rtl="1">
              <a:buNone/>
            </a:pPr>
            <a:r>
              <a:rPr lang="en-US" sz="970" dirty="0">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ویژگی و تحلیل</a:t>
            </a:r>
            <a:endParaRPr lang="en-US" sz="9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7" name="Text 55"/>
          <p:cNvSpPr/>
          <p:nvPr/>
        </p:nvSpPr>
        <p:spPr>
          <a:xfrm>
            <a:off x="8906256" y="5513832"/>
            <a:ext cx="1508760" cy="201168"/>
          </a:xfrm>
          <a:prstGeom prst="rect">
            <a:avLst/>
          </a:prstGeom>
          <a:noFill/>
          <a:ln/>
        </p:spPr>
        <p:txBody>
          <a:bodyPr wrap="square" lIns="0" tIns="0" rIns="0" bIns="0" rtlCol="0" anchor="ctr">
            <a:normAutofit/>
          </a:bodyPr>
          <a:lstStyle/>
          <a:p>
            <a:pPr marL="0" indent="0" algn="ctr" rtl="1">
              <a:buNone/>
            </a:pPr>
            <a:r>
              <a:rPr lang="en-US" sz="970" dirty="0">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مدل‌سازی</a:t>
            </a:r>
            <a:endParaRPr lang="en-US" sz="9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8" name="Shape 56"/>
          <p:cNvSpPr/>
          <p:nvPr/>
        </p:nvSpPr>
        <p:spPr>
          <a:xfrm>
            <a:off x="658368" y="6473952"/>
            <a:ext cx="10881360" cy="0"/>
          </a:xfrm>
          <a:prstGeom prst="line">
            <a:avLst/>
          </a:prstGeom>
          <a:noFill/>
          <a:ln w="10160">
            <a:solidFill>
              <a:srgbClr val="E9EEF2"/>
            </a:solidFill>
            <a:prstDash val="solid"/>
          </a:ln>
        </p:spPr>
      </p:sp>
      <p:sp>
        <p:nvSpPr>
          <p:cNvPr id="59" name="Text 57"/>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پایان‌نامه کارشناسی مهندسی مکانیک</a:t>
            </a:r>
            <a:endParaRPr lang="en-US" sz="120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60" name="Text 58"/>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روش</a:t>
            </a:r>
            <a:r>
              <a:rPr lang="en-US" sz="1200" dirty="0">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 </a:t>
            </a:r>
            <a:r>
              <a:rPr lang="en-US" sz="1200" dirty="0" err="1">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و</a:t>
            </a:r>
            <a:r>
              <a:rPr lang="en-US" sz="1200" dirty="0">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 پیاده‌سازی | ۸ اسلاید تا پایان</a:t>
            </a:r>
            <a:endParaRPr lang="en-US" sz="120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61" name="Text 59"/>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۶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62" name="Shape 60"/>
          <p:cNvSpPr/>
          <p:nvPr/>
        </p:nvSpPr>
        <p:spPr>
          <a:xfrm>
            <a:off x="2560320" y="6766560"/>
            <a:ext cx="2821577" cy="41148"/>
          </a:xfrm>
          <a:prstGeom prst="rect">
            <a:avLst/>
          </a:prstGeom>
          <a:solidFill>
            <a:srgbClr val="0B6E99"/>
          </a:solidFill>
          <a:ln w="12700">
            <a:solidFill>
              <a:srgbClr val="0B6E99"/>
            </a:solidFill>
            <a:prstDash val="solid"/>
          </a:ln>
        </p:spPr>
      </p:sp>
      <p:sp>
        <p:nvSpPr>
          <p:cNvPr id="63" name="Shape 61"/>
          <p:cNvSpPr/>
          <p:nvPr/>
        </p:nvSpPr>
        <p:spPr>
          <a:xfrm>
            <a:off x="5381897" y="6766560"/>
            <a:ext cx="3762103" cy="41148"/>
          </a:xfrm>
          <a:prstGeom prst="rect">
            <a:avLst/>
          </a:prstGeom>
          <a:solidFill>
            <a:srgbClr val="E6EDF2"/>
          </a:solidFill>
          <a:ln w="12700">
            <a:solidFill>
              <a:srgbClr val="E6EDF2"/>
            </a:solidFill>
            <a:prstDash val="solid"/>
          </a:ln>
        </p:spPr>
      </p:sp>
    </p:spTree>
  </p:cSld>
  <p:clrMapOvr>
    <a:masterClrMapping/>
  </p:clrMapOvr>
  <p:transition spd="med">
    <p:push/>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از سیگنال خام تا بردار ۶۹۰ ویژگی</a:t>
            </a:r>
            <a:endParaRPr lang="en-US" sz="27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7" name="Shape 5"/>
          <p:cNvSpPr/>
          <p:nvPr/>
        </p:nvSpPr>
        <p:spPr>
          <a:xfrm>
            <a:off x="658368" y="1481328"/>
            <a:ext cx="5532120" cy="4526280"/>
          </a:xfrm>
          <a:prstGeom prst="roundRect">
            <a:avLst>
              <a:gd name="adj" fmla="val 1616"/>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sp>
        <p:nvSpPr>
          <p:cNvPr id="8" name="Shape 6"/>
          <p:cNvSpPr/>
          <p:nvPr/>
        </p:nvSpPr>
        <p:spPr>
          <a:xfrm>
            <a:off x="4370832" y="1737360"/>
            <a:ext cx="1463040" cy="347472"/>
          </a:xfrm>
          <a:prstGeom prst="roundRect">
            <a:avLst>
              <a:gd name="adj" fmla="val 47368"/>
            </a:avLst>
          </a:prstGeom>
          <a:solidFill>
            <a:srgbClr val="E7F4F8"/>
          </a:solidFill>
          <a:ln w="12700">
            <a:solidFill>
              <a:srgbClr val="E7F4F8"/>
            </a:solidFill>
            <a:prstDash val="solid"/>
          </a:ln>
        </p:spPr>
      </p:sp>
      <p:sp>
        <p:nvSpPr>
          <p:cNvPr id="9" name="Text 7"/>
          <p:cNvSpPr/>
          <p:nvPr/>
        </p:nvSpPr>
        <p:spPr>
          <a:xfrm>
            <a:off x="4480560" y="1755648"/>
            <a:ext cx="1243584" cy="310896"/>
          </a:xfrm>
          <a:prstGeom prst="rect">
            <a:avLst/>
          </a:prstGeom>
          <a:noFill/>
          <a:ln/>
        </p:spPr>
        <p:txBody>
          <a:bodyPr wrap="square" lIns="0" tIns="0" rIns="0" bIns="0" rtlCol="0" anchor="ctr">
            <a:normAutofit/>
          </a:bodyPr>
          <a:lstStyle/>
          <a:p>
            <a:pPr marL="0" indent="0" algn="ctr" rtl="1">
              <a:buNone/>
            </a:pPr>
            <a:r>
              <a:rPr lang="en-US" sz="1350" b="1" dirty="0">
                <a:solidFill>
                  <a:srgbClr val="0B6E99"/>
                </a:solidFill>
                <a:latin typeface="Sharif 1.2 SemiBold" panose="020B0000040000000000" pitchFamily="34" charset="-78"/>
                <a:ea typeface="Sharif 1.2 SemiBold" panose="020B0000040000000000" pitchFamily="34" charset="-78"/>
                <a:cs typeface="Sharif 1.2 SemiBold" panose="020B0000040000000000" pitchFamily="34" charset="-78"/>
              </a:rPr>
              <a:t>پیش‌پردازش</a:t>
            </a:r>
            <a:endParaRPr lang="en-US" sz="135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pic>
        <p:nvPicPr>
          <p:cNvPr id="10" name="Image 0" descr="/mnt/data/dmd_assets/crops/signal_schematic.png"/>
          <p:cNvPicPr>
            <a:picLocks noChangeAspect="1"/>
          </p:cNvPicPr>
          <p:nvPr/>
        </p:nvPicPr>
        <p:blipFill>
          <a:blip r:embed="rId3"/>
          <a:stretch>
            <a:fillRect/>
          </a:stretch>
        </p:blipFill>
        <p:spPr>
          <a:xfrm>
            <a:off x="1071786" y="2130552"/>
            <a:ext cx="4513260" cy="1591056"/>
          </a:xfrm>
          <a:prstGeom prst="rect">
            <a:avLst/>
          </a:prstGeom>
        </p:spPr>
      </p:pic>
      <p:sp>
        <p:nvSpPr>
          <p:cNvPr id="11" name="Text 8"/>
          <p:cNvSpPr/>
          <p:nvPr/>
        </p:nvSpPr>
        <p:spPr>
          <a:xfrm>
            <a:off x="1042416" y="3877056"/>
            <a:ext cx="594360" cy="237744"/>
          </a:xfrm>
          <a:prstGeom prst="rect">
            <a:avLst/>
          </a:prstGeom>
          <a:noFill/>
          <a:ln/>
        </p:spPr>
        <p:txBody>
          <a:bodyPr wrap="square" lIns="0" tIns="0" rIns="0" bIns="0" rtlCol="0" anchor="ctr">
            <a:normAutofit/>
          </a:bodyPr>
          <a:lstStyle/>
          <a:p>
            <a:pPr marL="0" indent="0" algn="l" rtl="1">
              <a:buNone/>
            </a:pPr>
            <a:r>
              <a:rPr lang="en-US" sz="1150" dirty="0">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خام</a:t>
            </a:r>
            <a:endParaRPr lang="en-US" sz="115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12" name="Shape 9"/>
          <p:cNvSpPr/>
          <p:nvPr/>
        </p:nvSpPr>
        <p:spPr>
          <a:xfrm>
            <a:off x="1298686" y="3995928"/>
            <a:ext cx="475488" cy="0"/>
          </a:xfrm>
          <a:prstGeom prst="line">
            <a:avLst/>
          </a:prstGeom>
          <a:noFill/>
          <a:ln w="25400">
            <a:solidFill>
              <a:srgbClr val="94A3B8"/>
            </a:solidFill>
            <a:prstDash val="solid"/>
          </a:ln>
        </p:spPr>
      </p:sp>
      <p:sp>
        <p:nvSpPr>
          <p:cNvPr id="13" name="Text 10"/>
          <p:cNvSpPr/>
          <p:nvPr/>
        </p:nvSpPr>
        <p:spPr>
          <a:xfrm>
            <a:off x="835152" y="4175363"/>
            <a:ext cx="914400" cy="237744"/>
          </a:xfrm>
          <a:prstGeom prst="rect">
            <a:avLst/>
          </a:prstGeom>
          <a:noFill/>
          <a:ln/>
        </p:spPr>
        <p:txBody>
          <a:bodyPr wrap="square" lIns="0" tIns="0" rIns="0" bIns="0" rtlCol="0" anchor="ctr">
            <a:normAutofit/>
          </a:bodyPr>
          <a:lstStyle/>
          <a:p>
            <a:pPr marL="0" indent="0" algn="l" rtl="1">
              <a:buNone/>
            </a:pPr>
            <a:r>
              <a:rPr lang="en-US" sz="1150" dirty="0">
                <a:solidFill>
                  <a:srgbClr val="0B6E99"/>
                </a:solidFill>
                <a:latin typeface="Sharif 1.2 Light" panose="020B0000040000000000" pitchFamily="34" charset="-78"/>
                <a:ea typeface="Sharif 1.2 Light" panose="020B0000040000000000" pitchFamily="34" charset="-78"/>
                <a:cs typeface="Sharif 1.2 Light" panose="020B0000040000000000" pitchFamily="34" charset="-78"/>
              </a:rPr>
              <a:t>فیلترشده</a:t>
            </a:r>
            <a:endParaRPr lang="en-US" sz="115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14" name="Shape 11"/>
          <p:cNvSpPr/>
          <p:nvPr/>
        </p:nvSpPr>
        <p:spPr>
          <a:xfrm>
            <a:off x="1298686" y="4294235"/>
            <a:ext cx="475488" cy="0"/>
          </a:xfrm>
          <a:prstGeom prst="line">
            <a:avLst/>
          </a:prstGeom>
          <a:noFill/>
          <a:ln w="25400">
            <a:solidFill>
              <a:srgbClr val="0B6E99"/>
            </a:solidFill>
            <a:prstDash val="solid"/>
          </a:ln>
        </p:spPr>
      </p:sp>
      <p:sp>
        <p:nvSpPr>
          <p:cNvPr id="15" name="Shape 12"/>
          <p:cNvSpPr/>
          <p:nvPr/>
        </p:nvSpPr>
        <p:spPr>
          <a:xfrm>
            <a:off x="5605272" y="4517136"/>
            <a:ext cx="91440" cy="91440"/>
          </a:xfrm>
          <a:prstGeom prst="ellipse">
            <a:avLst/>
          </a:prstGeom>
          <a:solidFill>
            <a:srgbClr val="0B6E99"/>
          </a:solidFill>
          <a:ln w="12700">
            <a:solidFill>
              <a:srgbClr val="0B6E99"/>
            </a:solidFill>
            <a:prstDash val="solid"/>
          </a:ln>
        </p:spPr>
      </p:sp>
      <p:sp>
        <p:nvSpPr>
          <p:cNvPr id="16" name="Text 13"/>
          <p:cNvSpPr/>
          <p:nvPr/>
        </p:nvSpPr>
        <p:spPr>
          <a:xfrm>
            <a:off x="1051560" y="4370832"/>
            <a:ext cx="4407408" cy="256032"/>
          </a:xfrm>
          <a:prstGeom prst="rect">
            <a:avLst/>
          </a:prstGeom>
          <a:noFill/>
          <a:ln/>
        </p:spPr>
        <p:txBody>
          <a:bodyPr wrap="square" lIns="0" tIns="0" rIns="0" bIns="0" rtlCol="0" anchor="ctr">
            <a:normAutofit/>
          </a:bodyPr>
          <a:lstStyle/>
          <a:p>
            <a:pPr marL="0" indent="0" algn="r" rtl="1">
              <a:buNone/>
            </a:pPr>
            <a:r>
              <a:rPr lang="en-US" sz="125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حذف خطای پیش‌مقدار ژیروسکوپ</a:t>
            </a:r>
            <a:endParaRPr lang="en-US" sz="12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7" name="Shape 14"/>
          <p:cNvSpPr/>
          <p:nvPr/>
        </p:nvSpPr>
        <p:spPr>
          <a:xfrm>
            <a:off x="5605272" y="4901184"/>
            <a:ext cx="91440" cy="91440"/>
          </a:xfrm>
          <a:prstGeom prst="ellipse">
            <a:avLst/>
          </a:prstGeom>
          <a:solidFill>
            <a:srgbClr val="0B6E99"/>
          </a:solidFill>
          <a:ln w="12700">
            <a:solidFill>
              <a:srgbClr val="0B6E99"/>
            </a:solidFill>
            <a:prstDash val="solid"/>
          </a:ln>
        </p:spPr>
      </p:sp>
      <p:sp>
        <p:nvSpPr>
          <p:cNvPr id="18" name="Text 15"/>
          <p:cNvSpPr/>
          <p:nvPr/>
        </p:nvSpPr>
        <p:spPr>
          <a:xfrm>
            <a:off x="1051560" y="4754880"/>
            <a:ext cx="4407408" cy="256032"/>
          </a:xfrm>
          <a:prstGeom prst="rect">
            <a:avLst/>
          </a:prstGeom>
          <a:noFill/>
          <a:ln/>
        </p:spPr>
        <p:txBody>
          <a:bodyPr wrap="square" lIns="0" tIns="0" rIns="0" bIns="0" rtlCol="0" anchor="ctr">
            <a:normAutofit/>
          </a:bodyPr>
          <a:lstStyle/>
          <a:p>
            <a:pPr marL="0" indent="0" algn="r" rtl="1">
              <a:buNone/>
            </a:pPr>
            <a:r>
              <a:rPr lang="en-US" sz="125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فیلتر پایین‌گذر باترورث مرتبه ۴، قطع ۴ هرتز</a:t>
            </a:r>
            <a:endParaRPr lang="en-US" sz="12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9" name="Shape 16"/>
          <p:cNvSpPr/>
          <p:nvPr/>
        </p:nvSpPr>
        <p:spPr>
          <a:xfrm>
            <a:off x="5605272" y="5285232"/>
            <a:ext cx="91440" cy="91440"/>
          </a:xfrm>
          <a:prstGeom prst="ellipse">
            <a:avLst/>
          </a:prstGeom>
          <a:solidFill>
            <a:srgbClr val="0B6E99"/>
          </a:solidFill>
          <a:ln w="12700">
            <a:solidFill>
              <a:srgbClr val="0B6E99"/>
            </a:solidFill>
            <a:prstDash val="solid"/>
          </a:ln>
        </p:spPr>
      </p:sp>
      <p:sp>
        <p:nvSpPr>
          <p:cNvPr id="20" name="Text 17"/>
          <p:cNvSpPr/>
          <p:nvPr/>
        </p:nvSpPr>
        <p:spPr>
          <a:xfrm>
            <a:off x="1051560" y="5138928"/>
            <a:ext cx="4407408" cy="256032"/>
          </a:xfrm>
          <a:prstGeom prst="rect">
            <a:avLst/>
          </a:prstGeom>
          <a:noFill/>
          <a:ln/>
        </p:spPr>
        <p:txBody>
          <a:bodyPr wrap="square" lIns="0" tIns="0" rIns="0" bIns="0" rtlCol="0" anchor="ctr">
            <a:normAutofit/>
          </a:bodyPr>
          <a:lstStyle/>
          <a:p>
            <a:pPr marL="0" indent="0" algn="r" rtl="1">
              <a:buNone/>
            </a:pPr>
            <a:r>
              <a:rPr lang="en-US" sz="125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اعمال دوطرفه برای جلوگیری از تأخیر فازی</a:t>
            </a:r>
            <a:endParaRPr lang="en-US" sz="12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1" name="Shape 18"/>
          <p:cNvSpPr/>
          <p:nvPr/>
        </p:nvSpPr>
        <p:spPr>
          <a:xfrm>
            <a:off x="6419088" y="1481328"/>
            <a:ext cx="5102352" cy="4526280"/>
          </a:xfrm>
          <a:prstGeom prst="roundRect">
            <a:avLst>
              <a:gd name="adj" fmla="val 1616"/>
            </a:avLst>
          </a:prstGeom>
          <a:solidFill>
            <a:srgbClr val="F4F8FB"/>
          </a:solidFill>
          <a:ln w="12700">
            <a:solidFill>
              <a:srgbClr val="D9E2EC"/>
            </a:solidFill>
            <a:prstDash val="solid"/>
          </a:ln>
          <a:effectLst>
            <a:outerShdw blurRad="12700" dist="50800" dir="2700000" algn="bl" rotWithShape="0">
              <a:srgbClr val="B0BEC5">
                <a:alpha val="12000"/>
              </a:srgbClr>
            </a:outerShdw>
          </a:effectLst>
        </p:spPr>
      </p:sp>
      <p:sp>
        <p:nvSpPr>
          <p:cNvPr id="22" name="Shape 19"/>
          <p:cNvSpPr/>
          <p:nvPr/>
        </p:nvSpPr>
        <p:spPr>
          <a:xfrm>
            <a:off x="9601200" y="1737360"/>
            <a:ext cx="1572768" cy="347472"/>
          </a:xfrm>
          <a:prstGeom prst="roundRect">
            <a:avLst>
              <a:gd name="adj" fmla="val 47368"/>
            </a:avLst>
          </a:prstGeom>
          <a:solidFill>
            <a:srgbClr val="E8F5EE"/>
          </a:solidFill>
          <a:ln w="12700">
            <a:solidFill>
              <a:srgbClr val="E8F5EE"/>
            </a:solidFill>
            <a:prstDash val="solid"/>
          </a:ln>
        </p:spPr>
      </p:sp>
      <p:sp>
        <p:nvSpPr>
          <p:cNvPr id="23" name="Text 20"/>
          <p:cNvSpPr/>
          <p:nvPr/>
        </p:nvSpPr>
        <p:spPr>
          <a:xfrm>
            <a:off x="9710928" y="1755648"/>
            <a:ext cx="1353312" cy="310896"/>
          </a:xfrm>
          <a:prstGeom prst="rect">
            <a:avLst/>
          </a:prstGeom>
          <a:noFill/>
          <a:ln/>
        </p:spPr>
        <p:txBody>
          <a:bodyPr wrap="square" lIns="0" tIns="0" rIns="0" bIns="0" rtlCol="0" anchor="ctr">
            <a:normAutofit/>
          </a:bodyPr>
          <a:lstStyle/>
          <a:p>
            <a:pPr marL="0" indent="0" algn="ctr" rtl="1">
              <a:buNone/>
            </a:pPr>
            <a:r>
              <a:rPr lang="en-US" sz="1350" b="1" dirty="0">
                <a:solidFill>
                  <a:srgbClr val="2F855A"/>
                </a:solidFill>
                <a:latin typeface="Sharif 1.2 SemiBold" panose="020B0000040000000000" pitchFamily="34" charset="-78"/>
                <a:ea typeface="Sharif 1.2 SemiBold" panose="020B0000040000000000" pitchFamily="34" charset="-78"/>
                <a:cs typeface="Sharif 1.2 SemiBold" panose="020B0000040000000000" pitchFamily="34" charset="-78"/>
              </a:rPr>
              <a:t>استخراج ویژگی</a:t>
            </a:r>
            <a:endParaRPr lang="en-US" sz="135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24" name="Text 21"/>
          <p:cNvSpPr/>
          <p:nvPr/>
        </p:nvSpPr>
        <p:spPr>
          <a:xfrm>
            <a:off x="9902317" y="2235709"/>
            <a:ext cx="800100" cy="466343"/>
          </a:xfrm>
          <a:prstGeom prst="rect">
            <a:avLst/>
          </a:prstGeom>
          <a:noFill/>
          <a:ln/>
        </p:spPr>
        <p:txBody>
          <a:bodyPr wrap="square" lIns="0" tIns="0" rIns="0" bIns="0" rtlCol="0" anchor="ctr">
            <a:normAutofit/>
          </a:bodyPr>
          <a:lstStyle/>
          <a:p>
            <a:pPr marL="0" indent="0" algn="ctr" rtl="1">
              <a:buNone/>
            </a:pPr>
            <a:r>
              <a:rPr lang="en-US" sz="2400" b="1" dirty="0">
                <a:solidFill>
                  <a:srgbClr val="0B6E99"/>
                </a:solidFill>
                <a:latin typeface="Sharif 1.2 Medium" panose="020B0000040000000000" pitchFamily="34" charset="-78"/>
                <a:ea typeface="Sharif 1.2 Medium" panose="020B0000040000000000" pitchFamily="34" charset="-78"/>
                <a:cs typeface="Sharif 1.2 Medium" panose="020B0000040000000000" pitchFamily="34" charset="-78"/>
              </a:rPr>
              <a:t>۵ حسگر</a:t>
            </a:r>
            <a:endParaRPr lang="en-US" sz="24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25" name="Text 22"/>
          <p:cNvSpPr/>
          <p:nvPr/>
        </p:nvSpPr>
        <p:spPr>
          <a:xfrm>
            <a:off x="9609188" y="2240206"/>
            <a:ext cx="281993" cy="393801"/>
          </a:xfrm>
          <a:prstGeom prst="rect">
            <a:avLst/>
          </a:prstGeom>
          <a:noFill/>
          <a:ln/>
        </p:spPr>
        <p:txBody>
          <a:bodyPr wrap="square" lIns="0" tIns="0" rIns="0" bIns="0" rtlCol="0" anchor="ctr">
            <a:noAutofit/>
          </a:bodyPr>
          <a:lstStyle/>
          <a:p>
            <a:pPr marL="0" indent="0" algn="ctr">
              <a:buNone/>
            </a:pPr>
            <a:r>
              <a:rPr lang="en-US" sz="2800" b="1" dirty="0">
                <a:solidFill>
                  <a:srgbClr val="64748B"/>
                </a:solidFill>
                <a:latin typeface="Sharif 1.2" panose="020B0000040000000000" pitchFamily="34" charset="-78"/>
                <a:ea typeface="Sharif 1.2" panose="020B0000040000000000" pitchFamily="34" charset="-78"/>
                <a:cs typeface="Sharif 1.2" panose="020B0000040000000000" pitchFamily="34" charset="-78"/>
              </a:rPr>
              <a:t>×</a:t>
            </a:r>
            <a:endParaRPr lang="en-US" sz="28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26" name="Text 23"/>
          <p:cNvSpPr/>
          <p:nvPr/>
        </p:nvSpPr>
        <p:spPr>
          <a:xfrm>
            <a:off x="8689948" y="2235709"/>
            <a:ext cx="908104" cy="466343"/>
          </a:xfrm>
          <a:prstGeom prst="rect">
            <a:avLst/>
          </a:prstGeom>
          <a:noFill/>
          <a:ln/>
        </p:spPr>
        <p:txBody>
          <a:bodyPr wrap="square" lIns="0" tIns="0" rIns="0" bIns="0" rtlCol="0" anchor="ctr">
            <a:noAutofit/>
          </a:bodyPr>
          <a:lstStyle/>
          <a:p>
            <a:pPr marL="0" indent="0" algn="ctr" rtl="1">
              <a:buNone/>
            </a:pPr>
            <a:r>
              <a:rPr lang="en-US" sz="2400" b="1" dirty="0">
                <a:solidFill>
                  <a:srgbClr val="0B7A75"/>
                </a:solidFill>
                <a:latin typeface="Sharif 1.2" panose="020B0000040000000000" pitchFamily="34" charset="-78"/>
                <a:ea typeface="Sharif 1.2" panose="020B0000040000000000" pitchFamily="34" charset="-78"/>
                <a:cs typeface="Sharif 1.2" panose="020B0000040000000000" pitchFamily="34" charset="-78"/>
              </a:rPr>
              <a:t>۶</a:t>
            </a:r>
            <a:r>
              <a:rPr lang="fa-IR" sz="2400" b="1" dirty="0">
                <a:solidFill>
                  <a:srgbClr val="0B7A75"/>
                </a:solidFill>
                <a:latin typeface="Sharif 1.2 Medium" panose="020B0000040000000000" pitchFamily="34" charset="-78"/>
                <a:ea typeface="Sharif 1.2 Medium" panose="020B0000040000000000" pitchFamily="34" charset="-78"/>
                <a:cs typeface="Sharif 1.2 Medium" panose="020B0000040000000000" pitchFamily="34" charset="-78"/>
              </a:rPr>
              <a:t> </a:t>
            </a:r>
            <a:r>
              <a:rPr lang="en-US" sz="2400" b="1" dirty="0" err="1">
                <a:solidFill>
                  <a:srgbClr val="0B7A75"/>
                </a:solidFill>
                <a:latin typeface="Sharif 1.2" panose="020B0000040000000000" pitchFamily="34" charset="-78"/>
                <a:ea typeface="Sharif 1.2" panose="020B0000040000000000" pitchFamily="34" charset="-78"/>
                <a:cs typeface="Sharif 1.2" panose="020B0000040000000000" pitchFamily="34" charset="-78"/>
              </a:rPr>
              <a:t>سیگنال</a:t>
            </a:r>
            <a:endParaRPr lang="en-US" sz="24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27" name="Text 24"/>
          <p:cNvSpPr/>
          <p:nvPr/>
        </p:nvSpPr>
        <p:spPr>
          <a:xfrm>
            <a:off x="8375128" y="2239519"/>
            <a:ext cx="303684" cy="393801"/>
          </a:xfrm>
          <a:prstGeom prst="rect">
            <a:avLst/>
          </a:prstGeom>
          <a:noFill/>
          <a:ln/>
        </p:spPr>
        <p:txBody>
          <a:bodyPr wrap="square" lIns="0" tIns="0" rIns="0" bIns="0" rtlCol="0" anchor="ctr">
            <a:noAutofit/>
          </a:bodyPr>
          <a:lstStyle/>
          <a:p>
            <a:pPr marL="0" indent="0" algn="ctr">
              <a:buNone/>
            </a:pPr>
            <a:r>
              <a:rPr lang="en-US" sz="2800" b="1" dirty="0">
                <a:solidFill>
                  <a:srgbClr val="64748B"/>
                </a:solidFill>
                <a:latin typeface="Sharif 1.2" panose="020B0000040000000000" pitchFamily="34" charset="-78"/>
                <a:ea typeface="Sharif 1.2" panose="020B0000040000000000" pitchFamily="34" charset="-78"/>
                <a:cs typeface="Sharif 1.2" panose="020B0000040000000000" pitchFamily="34" charset="-78"/>
              </a:rPr>
              <a:t>×</a:t>
            </a:r>
            <a:endParaRPr lang="en-US" sz="28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28" name="Text 25"/>
          <p:cNvSpPr/>
          <p:nvPr/>
        </p:nvSpPr>
        <p:spPr>
          <a:xfrm>
            <a:off x="7455888" y="2235709"/>
            <a:ext cx="908104" cy="466343"/>
          </a:xfrm>
          <a:prstGeom prst="rect">
            <a:avLst/>
          </a:prstGeom>
          <a:noFill/>
          <a:ln/>
        </p:spPr>
        <p:txBody>
          <a:bodyPr wrap="square" lIns="0" tIns="0" rIns="0" bIns="0" rtlCol="0" anchor="ctr">
            <a:noAutofit/>
          </a:bodyPr>
          <a:lstStyle/>
          <a:p>
            <a:pPr marL="0" indent="0" algn="ctr" rtl="1">
              <a:buNone/>
            </a:pPr>
            <a:r>
              <a:rPr lang="en-US" sz="2400" b="1" dirty="0">
                <a:solidFill>
                  <a:srgbClr val="2F855A"/>
                </a:solidFill>
                <a:latin typeface="Sharif 1.2 Medium" panose="020B0000040000000000" pitchFamily="34" charset="-78"/>
                <a:ea typeface="Sharif 1.2 Medium" panose="020B0000040000000000" pitchFamily="34" charset="-78"/>
                <a:cs typeface="Sharif 1.2 Medium" panose="020B0000040000000000" pitchFamily="34" charset="-78"/>
              </a:rPr>
              <a:t>۲۳</a:t>
            </a:r>
            <a:r>
              <a:rPr lang="fa-IR" sz="2400" b="1" dirty="0">
                <a:solidFill>
                  <a:srgbClr val="2F855A"/>
                </a:solidFill>
                <a:latin typeface="Sharif 1.2 Medium" panose="020B0000040000000000" pitchFamily="34" charset="-78"/>
                <a:ea typeface="Sharif 1.2 Medium" panose="020B0000040000000000" pitchFamily="34" charset="-78"/>
                <a:cs typeface="Sharif 1.2 Medium" panose="020B0000040000000000" pitchFamily="34" charset="-78"/>
              </a:rPr>
              <a:t> </a:t>
            </a:r>
            <a:r>
              <a:rPr lang="en-US" sz="2400" b="1" dirty="0">
                <a:solidFill>
                  <a:srgbClr val="2F855A"/>
                </a:solidFill>
                <a:latin typeface="Sharif 1.2 Medium" panose="020B0000040000000000" pitchFamily="34" charset="-78"/>
                <a:ea typeface="Sharif 1.2 Medium" panose="020B0000040000000000" pitchFamily="34" charset="-78"/>
                <a:cs typeface="Sharif 1.2 Medium" panose="020B0000040000000000" pitchFamily="34" charset="-78"/>
              </a:rPr>
              <a:t> </a:t>
            </a:r>
            <a:r>
              <a:rPr lang="en-US" sz="2400" b="1" dirty="0">
                <a:solidFill>
                  <a:srgbClr val="2F855A"/>
                </a:solidFill>
                <a:latin typeface="Sharif 1.2 SemiBold" panose="020B0000040000000000" pitchFamily="34" charset="-78"/>
                <a:ea typeface="Sharif 1.2 SemiBold" panose="020B0000040000000000" pitchFamily="34" charset="-78"/>
                <a:cs typeface="Sharif 1.2 SemiBold" panose="020B0000040000000000" pitchFamily="34" charset="-78"/>
              </a:rPr>
              <a:t>ویژگی</a:t>
            </a:r>
            <a:endParaRPr lang="en-US" sz="24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30" name="Text 27"/>
          <p:cNvSpPr/>
          <p:nvPr/>
        </p:nvSpPr>
        <p:spPr>
          <a:xfrm>
            <a:off x="7975788" y="2830068"/>
            <a:ext cx="2377440" cy="502920"/>
          </a:xfrm>
          <a:prstGeom prst="rect">
            <a:avLst/>
          </a:prstGeom>
          <a:noFill/>
          <a:ln/>
        </p:spPr>
        <p:txBody>
          <a:bodyPr wrap="square" lIns="0" tIns="0" rIns="0" bIns="0" rtlCol="0" anchor="ctr">
            <a:normAutofit/>
          </a:bodyPr>
          <a:lstStyle/>
          <a:p>
            <a:pPr marL="0" indent="0" algn="ctr" rtl="1">
              <a:buNone/>
            </a:pPr>
            <a:r>
              <a:rPr lang="en-US" sz="20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۶۹۰</a:t>
            </a:r>
            <a:r>
              <a:rPr lang="fa-IR" sz="20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 </a:t>
            </a:r>
            <a:r>
              <a:rPr lang="en-US" sz="20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 ویژگی برای هر نمونه</a:t>
            </a:r>
            <a:endParaRPr lang="en-US" sz="20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31" name="Text 28"/>
          <p:cNvSpPr/>
          <p:nvPr/>
        </p:nvSpPr>
        <p:spPr>
          <a:xfrm>
            <a:off x="9326880" y="3703320"/>
            <a:ext cx="1572768" cy="228600"/>
          </a:xfrm>
          <a:prstGeom prst="rect">
            <a:avLst/>
          </a:prstGeom>
          <a:noFill/>
          <a:ln/>
        </p:spPr>
        <p:txBody>
          <a:bodyPr wrap="square" lIns="0" tIns="0" rIns="0" bIns="0" rtlCol="0" anchor="ctr">
            <a:normAutofit/>
          </a:bodyPr>
          <a:lstStyle/>
          <a:p>
            <a:pPr marL="0" indent="0" algn="r" rtl="1">
              <a:buNone/>
            </a:pPr>
            <a:r>
              <a:rPr lang="en-US" sz="1170"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مرکزی</a:t>
            </a:r>
            <a:endParaRPr lang="en-US" sz="11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2" name="Text 29"/>
          <p:cNvSpPr/>
          <p:nvPr/>
        </p:nvSpPr>
        <p:spPr>
          <a:xfrm>
            <a:off x="6812280" y="3703320"/>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میانگین، میانه</a:t>
            </a:r>
            <a:endParaRPr lang="en-US" sz="10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3" name="Text 30"/>
          <p:cNvSpPr/>
          <p:nvPr/>
        </p:nvSpPr>
        <p:spPr>
          <a:xfrm>
            <a:off x="9326880" y="4087368"/>
            <a:ext cx="1572768" cy="228600"/>
          </a:xfrm>
          <a:prstGeom prst="rect">
            <a:avLst/>
          </a:prstGeom>
          <a:noFill/>
          <a:ln/>
        </p:spPr>
        <p:txBody>
          <a:bodyPr wrap="square" lIns="0" tIns="0" rIns="0" bIns="0" rtlCol="0" anchor="ctr">
            <a:normAutofit/>
          </a:bodyPr>
          <a:lstStyle/>
          <a:p>
            <a:pPr marL="0" indent="0" algn="r" rtl="1">
              <a:buNone/>
            </a:pPr>
            <a:r>
              <a:rPr lang="en-US" sz="1170"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پراکندگی</a:t>
            </a:r>
            <a:endParaRPr lang="en-US" sz="11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4" name="Text 31"/>
          <p:cNvSpPr/>
          <p:nvPr/>
        </p:nvSpPr>
        <p:spPr>
          <a:xfrm>
            <a:off x="6812280" y="4087368"/>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انحراف معیار، IQR، دامنه</a:t>
            </a:r>
            <a:endParaRPr lang="en-US" sz="10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5" name="Text 32"/>
          <p:cNvSpPr/>
          <p:nvPr/>
        </p:nvSpPr>
        <p:spPr>
          <a:xfrm>
            <a:off x="9326880" y="4471416"/>
            <a:ext cx="1572768" cy="228600"/>
          </a:xfrm>
          <a:prstGeom prst="rect">
            <a:avLst/>
          </a:prstGeom>
          <a:noFill/>
          <a:ln/>
        </p:spPr>
        <p:txBody>
          <a:bodyPr wrap="square" lIns="0" tIns="0" rIns="0" bIns="0" rtlCol="0" anchor="ctr">
            <a:normAutofit/>
          </a:bodyPr>
          <a:lstStyle/>
          <a:p>
            <a:pPr marL="0" indent="0" algn="r" rtl="1">
              <a:buNone/>
            </a:pPr>
            <a:r>
              <a:rPr lang="en-US" sz="1170"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شدت</a:t>
            </a:r>
            <a:endParaRPr lang="en-US" sz="11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6" name="Text 33"/>
          <p:cNvSpPr/>
          <p:nvPr/>
        </p:nvSpPr>
        <p:spPr>
          <a:xfrm>
            <a:off x="6812280" y="4471416"/>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RMS، انرژی، قدر مطلق</a:t>
            </a:r>
            <a:endParaRPr lang="en-US" sz="10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7" name="Text 34"/>
          <p:cNvSpPr/>
          <p:nvPr/>
        </p:nvSpPr>
        <p:spPr>
          <a:xfrm>
            <a:off x="9326880" y="4855464"/>
            <a:ext cx="1572768" cy="228600"/>
          </a:xfrm>
          <a:prstGeom prst="rect">
            <a:avLst/>
          </a:prstGeom>
          <a:noFill/>
          <a:ln/>
        </p:spPr>
        <p:txBody>
          <a:bodyPr wrap="square" lIns="0" tIns="0" rIns="0" bIns="0" rtlCol="0" anchor="ctr">
            <a:normAutofit/>
          </a:bodyPr>
          <a:lstStyle/>
          <a:p>
            <a:pPr marL="0" indent="0" algn="r" rtl="1">
              <a:buNone/>
            </a:pPr>
            <a:r>
              <a:rPr lang="en-US" sz="1170"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شکل توزیع</a:t>
            </a:r>
            <a:endParaRPr lang="en-US" sz="11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8" name="Text 35"/>
          <p:cNvSpPr/>
          <p:nvPr/>
        </p:nvSpPr>
        <p:spPr>
          <a:xfrm>
            <a:off x="6812280" y="4855464"/>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چولگی، کشیدگی، آنتروپی</a:t>
            </a:r>
            <a:endParaRPr lang="en-US" sz="10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9" name="Text 36"/>
          <p:cNvSpPr/>
          <p:nvPr/>
        </p:nvSpPr>
        <p:spPr>
          <a:xfrm>
            <a:off x="9326880" y="5239512"/>
            <a:ext cx="1572768" cy="228600"/>
          </a:xfrm>
          <a:prstGeom prst="rect">
            <a:avLst/>
          </a:prstGeom>
          <a:noFill/>
          <a:ln/>
        </p:spPr>
        <p:txBody>
          <a:bodyPr wrap="square" lIns="0" tIns="0" rIns="0" bIns="0" rtlCol="0" anchor="ctr">
            <a:normAutofit/>
          </a:bodyPr>
          <a:lstStyle/>
          <a:p>
            <a:pPr marL="0" indent="0" algn="r" rtl="1">
              <a:buNone/>
            </a:pPr>
            <a:r>
              <a:rPr lang="en-US" sz="1170"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تغییرات زمانی</a:t>
            </a:r>
            <a:endParaRPr lang="en-US" sz="11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0" name="Text 37"/>
          <p:cNvSpPr/>
          <p:nvPr/>
        </p:nvSpPr>
        <p:spPr>
          <a:xfrm>
            <a:off x="6812280" y="5239512"/>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تفاضل‌ها، عبور از صفر، خودهمبستگی</a:t>
            </a:r>
            <a:endParaRPr lang="en-US" sz="10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1" name="Shape 38"/>
          <p:cNvSpPr/>
          <p:nvPr/>
        </p:nvSpPr>
        <p:spPr>
          <a:xfrm>
            <a:off x="658368" y="6473952"/>
            <a:ext cx="10881360" cy="0"/>
          </a:xfrm>
          <a:prstGeom prst="line">
            <a:avLst/>
          </a:prstGeom>
          <a:noFill/>
          <a:ln w="10160">
            <a:solidFill>
              <a:srgbClr val="E9EEF2"/>
            </a:solidFill>
            <a:prstDash val="solid"/>
          </a:ln>
        </p:spPr>
      </p:sp>
      <p:sp>
        <p:nvSpPr>
          <p:cNvPr id="42" name="Text 39"/>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3" name="Text 40"/>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روش</a:t>
            </a:r>
            <a:r>
              <a:rPr lang="en-US" sz="120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 و پیاده‌سازی | ۷ اسلاید تا پایان</a:t>
            </a:r>
            <a:endParaRPr lang="en-US" sz="12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4" name="Text 41"/>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۷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5" name="Shape 42"/>
          <p:cNvSpPr/>
          <p:nvPr/>
        </p:nvSpPr>
        <p:spPr>
          <a:xfrm>
            <a:off x="2560320" y="6766560"/>
            <a:ext cx="3291840" cy="41148"/>
          </a:xfrm>
          <a:prstGeom prst="rect">
            <a:avLst/>
          </a:prstGeom>
          <a:solidFill>
            <a:srgbClr val="0B6E99"/>
          </a:solidFill>
          <a:ln w="12700">
            <a:solidFill>
              <a:srgbClr val="0B6E99"/>
            </a:solidFill>
            <a:prstDash val="solid"/>
          </a:ln>
        </p:spPr>
      </p:sp>
      <p:sp>
        <p:nvSpPr>
          <p:cNvPr id="46" name="Shape 43"/>
          <p:cNvSpPr/>
          <p:nvPr/>
        </p:nvSpPr>
        <p:spPr>
          <a:xfrm>
            <a:off x="5852160" y="6766560"/>
            <a:ext cx="3291840" cy="41148"/>
          </a:xfrm>
          <a:prstGeom prst="rect">
            <a:avLst/>
          </a:prstGeom>
          <a:solidFill>
            <a:srgbClr val="E6EDF2"/>
          </a:solidFill>
          <a:ln w="12700">
            <a:solidFill>
              <a:srgbClr val="E6EDF2"/>
            </a:solidFill>
            <a:prstDash val="solid"/>
          </a:ln>
        </p:spPr>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189720" y="219456"/>
            <a:ext cx="224028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یادگیری ماشین و ارزیابی</a:t>
            </a:r>
            <a:endParaRPr lang="en-US" sz="9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مدل‌سازی بدون نشت اطلاعات</a:t>
            </a:r>
            <a:endParaRPr lang="en-US" sz="2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658368" cy="320040"/>
          </a:xfrm>
          <a:prstGeom prst="rect">
            <a:avLst/>
          </a:prstGeom>
          <a:noFill/>
          <a:ln/>
        </p:spPr>
        <p:txBody>
          <a:bodyPr wrap="square" lIns="0" tIns="0" rIns="0" bIns="0" rtlCol="0" anchor="ctr">
            <a:normAutofit/>
          </a:bodyPr>
          <a:lstStyle/>
          <a:p>
            <a:pPr marL="0" indent="0" algn="l" rtl="1">
              <a:buNone/>
            </a:pPr>
            <a:r>
              <a:rPr lang="en-US" sz="108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۸ / ۱۴</a:t>
            </a:r>
            <a:endParaRPr lang="en-US" sz="10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7" name="Shape 5"/>
          <p:cNvSpPr/>
          <p:nvPr/>
        </p:nvSpPr>
        <p:spPr>
          <a:xfrm>
            <a:off x="685800" y="1481328"/>
            <a:ext cx="7132320" cy="4526280"/>
          </a:xfrm>
          <a:prstGeom prst="roundRect">
            <a:avLst>
              <a:gd name="adj" fmla="val 1616"/>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sp>
        <p:nvSpPr>
          <p:cNvPr id="8" name="Shape 6"/>
          <p:cNvSpPr/>
          <p:nvPr/>
        </p:nvSpPr>
        <p:spPr>
          <a:xfrm>
            <a:off x="5806440" y="1746504"/>
            <a:ext cx="1645920" cy="347472"/>
          </a:xfrm>
          <a:prstGeom prst="roundRect">
            <a:avLst>
              <a:gd name="adj" fmla="val 47368"/>
            </a:avLst>
          </a:prstGeom>
          <a:solidFill>
            <a:srgbClr val="E7F4F8"/>
          </a:solidFill>
          <a:ln w="12700">
            <a:solidFill>
              <a:srgbClr val="E7F4F8"/>
            </a:solidFill>
            <a:prstDash val="solid"/>
          </a:ln>
        </p:spPr>
      </p:sp>
      <p:sp>
        <p:nvSpPr>
          <p:cNvPr id="9" name="Text 7"/>
          <p:cNvSpPr/>
          <p:nvPr/>
        </p:nvSpPr>
        <p:spPr>
          <a:xfrm>
            <a:off x="5916168" y="1764792"/>
            <a:ext cx="1426464" cy="310896"/>
          </a:xfrm>
          <a:prstGeom prst="rect">
            <a:avLst/>
          </a:prstGeom>
          <a:noFill/>
          <a:ln/>
        </p:spPr>
        <p:txBody>
          <a:bodyPr wrap="square" lIns="0" tIns="0" rIns="0" bIns="0" rtlCol="0" anchor="ctr">
            <a:normAutofit/>
          </a:bodyPr>
          <a:lstStyle/>
          <a:p>
            <a:pPr marL="0" indent="0" algn="ctr" rtl="1">
              <a:buNone/>
            </a:pPr>
            <a:r>
              <a:rPr lang="en-US" sz="1320" b="1" dirty="0">
                <a:solidFill>
                  <a:srgbClr val="0B6E99"/>
                </a:solidFill>
                <a:latin typeface="Sharif 1.2 SemiBold" panose="020B0000040000000000" pitchFamily="34" charset="-78"/>
                <a:ea typeface="Sharif 1.2 SemiBold" panose="020B0000040000000000" pitchFamily="34" charset="-78"/>
                <a:cs typeface="Sharif 1.2 SemiBold" panose="020B0000040000000000" pitchFamily="34" charset="-78"/>
              </a:rPr>
              <a:t>Pipeline پردازش</a:t>
            </a:r>
            <a:endParaRPr lang="en-US" sz="132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0" name="Shape 8"/>
          <p:cNvSpPr/>
          <p:nvPr/>
        </p:nvSpPr>
        <p:spPr>
          <a:xfrm>
            <a:off x="6080760" y="2404872"/>
            <a:ext cx="1389888" cy="1353312"/>
          </a:xfrm>
          <a:prstGeom prst="roundRect">
            <a:avLst>
              <a:gd name="adj" fmla="val 5405"/>
            </a:avLst>
          </a:prstGeom>
          <a:solidFill>
            <a:srgbClr val="F8FBFD"/>
          </a:solidFill>
          <a:ln w="17780">
            <a:solidFill>
              <a:srgbClr val="0B6E99"/>
            </a:solidFill>
            <a:prstDash val="solid"/>
          </a:ln>
        </p:spPr>
      </p:sp>
      <p:sp>
        <p:nvSpPr>
          <p:cNvPr id="11" name="Text 9"/>
          <p:cNvSpPr/>
          <p:nvPr/>
        </p:nvSpPr>
        <p:spPr>
          <a:xfrm>
            <a:off x="6153912" y="2596896"/>
            <a:ext cx="1243584" cy="310896"/>
          </a:xfrm>
          <a:prstGeom prst="rect">
            <a:avLst/>
          </a:prstGeom>
          <a:noFill/>
          <a:ln/>
        </p:spPr>
        <p:txBody>
          <a:bodyPr wrap="square" lIns="0" tIns="0" rIns="0" bIns="0" rtlCol="0" anchor="ctr">
            <a:normAutofit/>
          </a:bodyPr>
          <a:lstStyle/>
          <a:p>
            <a:pPr marL="0" indent="0" algn="ctr" rtl="1">
              <a:buNone/>
            </a:pPr>
            <a:r>
              <a:rPr lang="en-US" sz="1420" b="1" dirty="0">
                <a:solidFill>
                  <a:srgbClr val="0B6E99"/>
                </a:solidFill>
                <a:latin typeface="Sharif 1.2 SemiBold" panose="020B0000040000000000" pitchFamily="34" charset="-78"/>
                <a:ea typeface="Sharif 1.2 SemiBold" panose="020B0000040000000000" pitchFamily="34" charset="-78"/>
                <a:cs typeface="Sharif 1.2 SemiBold" panose="020B0000040000000000" pitchFamily="34" charset="-78"/>
              </a:rPr>
              <a:t>تقسیم داده</a:t>
            </a:r>
            <a:endParaRPr lang="en-US" sz="142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2" name="Text 10"/>
          <p:cNvSpPr/>
          <p:nvPr/>
        </p:nvSpPr>
        <p:spPr>
          <a:xfrm>
            <a:off x="6172200" y="3063240"/>
            <a:ext cx="1207008" cy="384048"/>
          </a:xfrm>
          <a:prstGeom prst="rect">
            <a:avLst/>
          </a:prstGeom>
          <a:noFill/>
          <a:ln/>
        </p:spPr>
        <p:txBody>
          <a:bodyPr wrap="square" lIns="0" tIns="0" rIns="0" bIns="0" rtlCol="0" anchor="t">
            <a:normAutofit/>
          </a:bodyPr>
          <a:lstStyle/>
          <a:p>
            <a:pPr marL="0" indent="0" algn="ctr" rtl="1">
              <a:buNone/>
            </a:pPr>
            <a:r>
              <a:rPr lang="en-US" sz="102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آموزش / آزمون</a:t>
            </a:r>
            <a:endParaRPr lang="en-US" sz="10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3" name="Shape 11"/>
          <p:cNvSpPr/>
          <p:nvPr/>
        </p:nvSpPr>
        <p:spPr>
          <a:xfrm>
            <a:off x="5897880" y="3081528"/>
            <a:ext cx="0" cy="0"/>
          </a:xfrm>
          <a:prstGeom prst="line">
            <a:avLst/>
          </a:prstGeom>
          <a:noFill/>
          <a:ln w="20320">
            <a:solidFill>
              <a:srgbClr val="94A3B8"/>
            </a:solidFill>
            <a:prstDash val="solid"/>
            <a:headEnd type="none"/>
            <a:tailEnd type="triangle"/>
          </a:ln>
        </p:spPr>
      </p:sp>
      <p:sp>
        <p:nvSpPr>
          <p:cNvPr id="14" name="Shape 12"/>
          <p:cNvSpPr/>
          <p:nvPr/>
        </p:nvSpPr>
        <p:spPr>
          <a:xfrm>
            <a:off x="4398264" y="2404872"/>
            <a:ext cx="1389888" cy="1353312"/>
          </a:xfrm>
          <a:prstGeom prst="roundRect">
            <a:avLst>
              <a:gd name="adj" fmla="val 5405"/>
            </a:avLst>
          </a:prstGeom>
          <a:solidFill>
            <a:srgbClr val="F8FBFD"/>
          </a:solidFill>
          <a:ln w="17780">
            <a:solidFill>
              <a:srgbClr val="0B7A75"/>
            </a:solidFill>
            <a:prstDash val="solid"/>
          </a:ln>
        </p:spPr>
      </p:sp>
      <p:sp>
        <p:nvSpPr>
          <p:cNvPr id="15" name="Text 13"/>
          <p:cNvSpPr/>
          <p:nvPr/>
        </p:nvSpPr>
        <p:spPr>
          <a:xfrm>
            <a:off x="4471416" y="2615184"/>
            <a:ext cx="1243584" cy="274320"/>
          </a:xfrm>
          <a:prstGeom prst="rect">
            <a:avLst/>
          </a:prstGeom>
          <a:noFill/>
          <a:ln/>
        </p:spPr>
        <p:txBody>
          <a:bodyPr wrap="square" lIns="0" tIns="0" rIns="0" bIns="0" rtlCol="0" anchor="ctr">
            <a:normAutofit/>
          </a:bodyPr>
          <a:lstStyle/>
          <a:p>
            <a:pPr marL="0" indent="0" algn="ctr">
              <a:buNone/>
            </a:pPr>
            <a:r>
              <a:rPr lang="en-US" sz="1450" b="1" dirty="0">
                <a:solidFill>
                  <a:srgbClr val="0B7A75"/>
                </a:solidFill>
                <a:latin typeface="Sharif 1.2 SemiBold" panose="020B0000040000000000" pitchFamily="34" charset="-78"/>
                <a:ea typeface="Sharif 1.2 SemiBold" panose="020B0000040000000000" pitchFamily="34" charset="-78"/>
                <a:cs typeface="Sharif 1.2 SemiBold" panose="020B0000040000000000" pitchFamily="34" charset="-78"/>
              </a:rPr>
              <a:t>StandardScaler</a:t>
            </a:r>
            <a:endParaRPr lang="en-US" sz="145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6" name="Text 14"/>
          <p:cNvSpPr/>
          <p:nvPr/>
        </p:nvSpPr>
        <p:spPr>
          <a:xfrm>
            <a:off x="4489704" y="3063240"/>
            <a:ext cx="1207008" cy="384048"/>
          </a:xfrm>
          <a:prstGeom prst="rect">
            <a:avLst/>
          </a:prstGeom>
          <a:noFill/>
          <a:ln/>
        </p:spPr>
        <p:txBody>
          <a:bodyPr wrap="square" lIns="0" tIns="0" rIns="0" bIns="0" rtlCol="0" anchor="t">
            <a:normAutofit/>
          </a:bodyPr>
          <a:lstStyle/>
          <a:p>
            <a:pPr marL="0" indent="0" algn="ctr" rtl="1">
              <a:buNone/>
            </a:pPr>
            <a:r>
              <a:rPr lang="en-US" sz="102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برازش فقط روی آموزش</a:t>
            </a:r>
            <a:endParaRPr lang="en-US" sz="10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7" name="Shape 15"/>
          <p:cNvSpPr/>
          <p:nvPr/>
        </p:nvSpPr>
        <p:spPr>
          <a:xfrm>
            <a:off x="4215384" y="3081528"/>
            <a:ext cx="0" cy="0"/>
          </a:xfrm>
          <a:prstGeom prst="line">
            <a:avLst/>
          </a:prstGeom>
          <a:noFill/>
          <a:ln w="20320">
            <a:solidFill>
              <a:srgbClr val="94A3B8"/>
            </a:solidFill>
            <a:prstDash val="solid"/>
            <a:headEnd type="none"/>
            <a:tailEnd type="triangle"/>
          </a:ln>
        </p:spPr>
      </p:sp>
      <p:sp>
        <p:nvSpPr>
          <p:cNvPr id="18" name="Shape 16"/>
          <p:cNvSpPr/>
          <p:nvPr/>
        </p:nvSpPr>
        <p:spPr>
          <a:xfrm>
            <a:off x="2715768" y="2404872"/>
            <a:ext cx="1389888" cy="1353312"/>
          </a:xfrm>
          <a:prstGeom prst="roundRect">
            <a:avLst>
              <a:gd name="adj" fmla="val 5405"/>
            </a:avLst>
          </a:prstGeom>
          <a:solidFill>
            <a:srgbClr val="F8FBFD"/>
          </a:solidFill>
          <a:ln w="17780">
            <a:solidFill>
              <a:srgbClr val="6B5BA6"/>
            </a:solidFill>
            <a:prstDash val="solid"/>
          </a:ln>
        </p:spPr>
      </p:sp>
      <p:sp>
        <p:nvSpPr>
          <p:cNvPr id="19" name="Text 17"/>
          <p:cNvSpPr/>
          <p:nvPr/>
        </p:nvSpPr>
        <p:spPr>
          <a:xfrm>
            <a:off x="2788920" y="2615184"/>
            <a:ext cx="1243584" cy="274320"/>
          </a:xfrm>
          <a:prstGeom prst="rect">
            <a:avLst/>
          </a:prstGeom>
          <a:noFill/>
          <a:ln/>
        </p:spPr>
        <p:txBody>
          <a:bodyPr wrap="square" lIns="0" tIns="0" rIns="0" bIns="0" rtlCol="0" anchor="ctr">
            <a:normAutofit/>
          </a:bodyPr>
          <a:lstStyle/>
          <a:p>
            <a:pPr marL="0" indent="0" algn="ctr">
              <a:buNone/>
            </a:pPr>
            <a:r>
              <a:rPr lang="en-US" sz="1450" b="1" dirty="0">
                <a:solidFill>
                  <a:srgbClr val="6B5BA6"/>
                </a:solidFill>
                <a:latin typeface="Sharif 1.2 SemiBold" panose="020B0000040000000000" pitchFamily="34" charset="-78"/>
                <a:ea typeface="Sharif 1.2 SemiBold" panose="020B0000040000000000" pitchFamily="34" charset="-78"/>
                <a:cs typeface="Sharif 1.2 SemiBold" panose="020B0000040000000000" pitchFamily="34" charset="-78"/>
              </a:rPr>
              <a:t>PCA</a:t>
            </a:r>
            <a:endParaRPr lang="en-US" sz="145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20" name="Text 18"/>
          <p:cNvSpPr/>
          <p:nvPr/>
        </p:nvSpPr>
        <p:spPr>
          <a:xfrm>
            <a:off x="2807208" y="3063240"/>
            <a:ext cx="1207008" cy="384048"/>
          </a:xfrm>
          <a:prstGeom prst="rect">
            <a:avLst/>
          </a:prstGeom>
          <a:noFill/>
          <a:ln/>
        </p:spPr>
        <p:txBody>
          <a:bodyPr wrap="square" lIns="0" tIns="0" rIns="0" bIns="0" rtlCol="0" anchor="t">
            <a:normAutofit/>
          </a:bodyPr>
          <a:lstStyle/>
          <a:p>
            <a:pPr marL="0" indent="0" algn="ctr" rtl="1">
              <a:buNone/>
            </a:pPr>
            <a:r>
              <a:rPr lang="en-US" sz="102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کاهش ابعاد</a:t>
            </a:r>
            <a:endParaRPr lang="en-US" sz="10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1" name="Shape 19"/>
          <p:cNvSpPr/>
          <p:nvPr/>
        </p:nvSpPr>
        <p:spPr>
          <a:xfrm>
            <a:off x="2532888" y="3081528"/>
            <a:ext cx="0" cy="0"/>
          </a:xfrm>
          <a:prstGeom prst="line">
            <a:avLst/>
          </a:prstGeom>
          <a:noFill/>
          <a:ln w="20320">
            <a:solidFill>
              <a:srgbClr val="94A3B8"/>
            </a:solidFill>
            <a:prstDash val="solid"/>
            <a:headEnd type="none"/>
            <a:tailEnd type="triangle"/>
          </a:ln>
        </p:spPr>
      </p:sp>
      <p:sp>
        <p:nvSpPr>
          <p:cNvPr id="22" name="Shape 20"/>
          <p:cNvSpPr/>
          <p:nvPr/>
        </p:nvSpPr>
        <p:spPr>
          <a:xfrm>
            <a:off x="1033272" y="2404872"/>
            <a:ext cx="1389888" cy="1353312"/>
          </a:xfrm>
          <a:prstGeom prst="roundRect">
            <a:avLst>
              <a:gd name="adj" fmla="val 5405"/>
            </a:avLst>
          </a:prstGeom>
          <a:solidFill>
            <a:srgbClr val="F8FBFD"/>
          </a:solidFill>
          <a:ln w="17780">
            <a:solidFill>
              <a:srgbClr val="2F855A"/>
            </a:solidFill>
            <a:prstDash val="solid"/>
          </a:ln>
        </p:spPr>
      </p:sp>
      <p:sp>
        <p:nvSpPr>
          <p:cNvPr id="23" name="Text 21"/>
          <p:cNvSpPr/>
          <p:nvPr/>
        </p:nvSpPr>
        <p:spPr>
          <a:xfrm>
            <a:off x="1106424" y="2596896"/>
            <a:ext cx="1243584" cy="310896"/>
          </a:xfrm>
          <a:prstGeom prst="rect">
            <a:avLst/>
          </a:prstGeom>
          <a:noFill/>
          <a:ln/>
        </p:spPr>
        <p:txBody>
          <a:bodyPr wrap="square" lIns="0" tIns="0" rIns="0" bIns="0" rtlCol="0" anchor="ctr">
            <a:normAutofit/>
          </a:bodyPr>
          <a:lstStyle/>
          <a:p>
            <a:pPr marL="0" indent="0" algn="ctr" rtl="1">
              <a:buNone/>
            </a:pPr>
            <a:r>
              <a:rPr lang="en-US" sz="1420" b="1" dirty="0">
                <a:solidFill>
                  <a:srgbClr val="2F855A"/>
                </a:solidFill>
                <a:latin typeface="Sharif 1.2 SemiBold" panose="020B0000040000000000" pitchFamily="34" charset="-78"/>
                <a:ea typeface="Sharif 1.2 SemiBold" panose="020B0000040000000000" pitchFamily="34" charset="-78"/>
                <a:cs typeface="Sharif 1.2 SemiBold" panose="020B0000040000000000" pitchFamily="34" charset="-78"/>
              </a:rPr>
              <a:t>طبقه‌بند</a:t>
            </a:r>
            <a:endParaRPr lang="en-US" sz="142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24" name="Text 22"/>
          <p:cNvSpPr/>
          <p:nvPr/>
        </p:nvSpPr>
        <p:spPr>
          <a:xfrm>
            <a:off x="1124712" y="3063240"/>
            <a:ext cx="1207008" cy="384048"/>
          </a:xfrm>
          <a:prstGeom prst="rect">
            <a:avLst/>
          </a:prstGeom>
          <a:noFill/>
          <a:ln/>
        </p:spPr>
        <p:txBody>
          <a:bodyPr wrap="square" lIns="0" tIns="0" rIns="0" bIns="0" rtlCol="0" anchor="t">
            <a:normAutofit/>
          </a:bodyPr>
          <a:lstStyle/>
          <a:p>
            <a:pPr marL="0" indent="0" algn="ctr" rtl="1">
              <a:buNone/>
            </a:pPr>
            <a:r>
              <a:rPr lang="en-US" sz="102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پیش‌بینی سطح عملکرد</a:t>
            </a:r>
            <a:endParaRPr lang="en-US" sz="10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5" name="Shape 23"/>
          <p:cNvSpPr/>
          <p:nvPr/>
        </p:nvSpPr>
        <p:spPr>
          <a:xfrm>
            <a:off x="1051560" y="4224528"/>
            <a:ext cx="6355080" cy="1124712"/>
          </a:xfrm>
          <a:prstGeom prst="roundRect">
            <a:avLst>
              <a:gd name="adj" fmla="val 8130"/>
            </a:avLst>
          </a:prstGeom>
          <a:solidFill>
            <a:srgbClr val="EEF4F8"/>
          </a:solidFill>
          <a:ln w="12700">
            <a:solidFill>
              <a:srgbClr val="D9E2EC"/>
            </a:solidFill>
            <a:prstDash val="solid"/>
          </a:ln>
        </p:spPr>
      </p:sp>
      <p:sp>
        <p:nvSpPr>
          <p:cNvPr id="26" name="Text 24"/>
          <p:cNvSpPr/>
          <p:nvPr/>
        </p:nvSpPr>
        <p:spPr>
          <a:xfrm>
            <a:off x="5870448" y="4407408"/>
            <a:ext cx="1234440" cy="237744"/>
          </a:xfrm>
          <a:prstGeom prst="rect">
            <a:avLst/>
          </a:prstGeom>
          <a:noFill/>
          <a:ln/>
        </p:spPr>
        <p:txBody>
          <a:bodyPr wrap="square" lIns="0" tIns="0" rIns="0" bIns="0" rtlCol="0" anchor="ctr">
            <a:normAutofit/>
          </a:bodyPr>
          <a:lstStyle/>
          <a:p>
            <a:pPr marL="0" indent="0" algn="r" rtl="1">
              <a:buNone/>
            </a:pPr>
            <a:r>
              <a:rPr lang="en-US" sz="1250" b="1" dirty="0">
                <a:solidFill>
                  <a:srgbClr val="0B6E99"/>
                </a:solidFill>
                <a:latin typeface="Sharif 1.2 SemiBold" panose="020B0000040000000000" pitchFamily="34" charset="-78"/>
                <a:ea typeface="Sharif 1.2 SemiBold" panose="020B0000040000000000" pitchFamily="34" charset="-78"/>
                <a:cs typeface="Sharif 1.2 SemiBold" panose="020B0000040000000000" pitchFamily="34" charset="-78"/>
              </a:rPr>
              <a:t>اصل روش‌شناختی</a:t>
            </a:r>
            <a:endParaRPr lang="en-US" sz="125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27" name="Text 25"/>
          <p:cNvSpPr/>
          <p:nvPr/>
        </p:nvSpPr>
        <p:spPr>
          <a:xfrm>
            <a:off x="1325880" y="4681728"/>
            <a:ext cx="5623560" cy="429768"/>
          </a:xfrm>
          <a:prstGeom prst="rect">
            <a:avLst/>
          </a:prstGeom>
          <a:noFill/>
          <a:ln/>
        </p:spPr>
        <p:txBody>
          <a:bodyPr wrap="square" lIns="0" tIns="0" rIns="0" bIns="0" rtlCol="0" anchor="ctr">
            <a:normAutofit/>
          </a:bodyPr>
          <a:lstStyle/>
          <a:p>
            <a:pPr marL="0" indent="0" algn="ctr" rtl="1">
              <a:buNone/>
            </a:pPr>
            <a:r>
              <a:rPr lang="en-US" sz="1320"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استانداردسازی و PCA در هر تکرار فقط روی داده‌های آموزش برازش شدند؛ سپس همان تبدیل‌ها روی داده آزمون اعمال شد.</a:t>
            </a:r>
            <a:endParaRPr lang="en-US" sz="13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8" name="Shape 26"/>
          <p:cNvSpPr/>
          <p:nvPr/>
        </p:nvSpPr>
        <p:spPr>
          <a:xfrm>
            <a:off x="8065008" y="1481328"/>
            <a:ext cx="3456432" cy="4526280"/>
          </a:xfrm>
          <a:prstGeom prst="roundRect">
            <a:avLst>
              <a:gd name="adj" fmla="val 2116"/>
            </a:avLst>
          </a:prstGeom>
          <a:solidFill>
            <a:srgbClr val="F4F8FB"/>
          </a:solidFill>
          <a:ln w="12700">
            <a:solidFill>
              <a:srgbClr val="D9E2EC"/>
            </a:solidFill>
            <a:prstDash val="solid"/>
          </a:ln>
          <a:effectLst>
            <a:outerShdw blurRad="12700" dist="50800" dir="2700000" algn="bl" rotWithShape="0">
              <a:srgbClr val="B0BEC5">
                <a:alpha val="12000"/>
              </a:srgbClr>
            </a:outerShdw>
          </a:effectLst>
        </p:spPr>
      </p:sp>
      <p:sp>
        <p:nvSpPr>
          <p:cNvPr id="29" name="Shape 27"/>
          <p:cNvSpPr/>
          <p:nvPr/>
        </p:nvSpPr>
        <p:spPr>
          <a:xfrm>
            <a:off x="9674352" y="1746504"/>
            <a:ext cx="1481328" cy="347472"/>
          </a:xfrm>
          <a:prstGeom prst="roundRect">
            <a:avLst>
              <a:gd name="adj" fmla="val 47368"/>
            </a:avLst>
          </a:prstGeom>
          <a:solidFill>
            <a:srgbClr val="E8F5EE"/>
          </a:solidFill>
          <a:ln w="12700">
            <a:solidFill>
              <a:srgbClr val="E8F5EE"/>
            </a:solidFill>
            <a:prstDash val="solid"/>
          </a:ln>
        </p:spPr>
      </p:sp>
      <p:sp>
        <p:nvSpPr>
          <p:cNvPr id="30" name="Text 28"/>
          <p:cNvSpPr/>
          <p:nvPr/>
        </p:nvSpPr>
        <p:spPr>
          <a:xfrm>
            <a:off x="9784080" y="1764792"/>
            <a:ext cx="1261872" cy="310896"/>
          </a:xfrm>
          <a:prstGeom prst="rect">
            <a:avLst/>
          </a:prstGeom>
          <a:noFill/>
          <a:ln/>
        </p:spPr>
        <p:txBody>
          <a:bodyPr wrap="square" lIns="0" tIns="0" rIns="0" bIns="0" rtlCol="0" anchor="ctr">
            <a:normAutofit/>
          </a:bodyPr>
          <a:lstStyle/>
          <a:p>
            <a:pPr marL="0" indent="0" algn="ctr" rtl="1">
              <a:buNone/>
            </a:pPr>
            <a:r>
              <a:rPr lang="en-US" sz="1300" b="1" dirty="0">
                <a:solidFill>
                  <a:srgbClr val="2F855A"/>
                </a:solidFill>
                <a:latin typeface="Sharif 1.2 SemiBold" panose="020B0000040000000000" pitchFamily="34" charset="-78"/>
                <a:ea typeface="Sharif 1.2 SemiBold" panose="020B0000040000000000" pitchFamily="34" charset="-78"/>
                <a:cs typeface="Sharif 1.2 SemiBold" panose="020B0000040000000000" pitchFamily="34" charset="-78"/>
              </a:rPr>
              <a:t>مدل‌ها و ارزیابی</a:t>
            </a:r>
            <a:endParaRPr lang="en-US" sz="13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31" name="Shape 29"/>
          <p:cNvSpPr/>
          <p:nvPr/>
        </p:nvSpPr>
        <p:spPr>
          <a:xfrm>
            <a:off x="8366760" y="2404872"/>
            <a:ext cx="2834640" cy="548640"/>
          </a:xfrm>
          <a:prstGeom prst="roundRect">
            <a:avLst>
              <a:gd name="adj" fmla="val 13333"/>
            </a:avLst>
          </a:prstGeom>
          <a:solidFill>
            <a:srgbClr val="FFFFFF"/>
          </a:solidFill>
          <a:ln w="19050">
            <a:solidFill>
              <a:srgbClr val="0B6E99"/>
            </a:solidFill>
            <a:prstDash val="solid"/>
          </a:ln>
        </p:spPr>
      </p:sp>
      <p:sp>
        <p:nvSpPr>
          <p:cNvPr id="32" name="Text 30"/>
          <p:cNvSpPr/>
          <p:nvPr/>
        </p:nvSpPr>
        <p:spPr>
          <a:xfrm>
            <a:off x="8449056" y="2496312"/>
            <a:ext cx="1078992" cy="237744"/>
          </a:xfrm>
          <a:prstGeom prst="rect">
            <a:avLst/>
          </a:prstGeom>
          <a:noFill/>
          <a:ln/>
        </p:spPr>
        <p:txBody>
          <a:bodyPr wrap="square" lIns="0" tIns="0" rIns="0" bIns="0" rtlCol="0" anchor="ctr">
            <a:normAutofit/>
          </a:bodyPr>
          <a:lstStyle/>
          <a:p>
            <a:pPr marL="0" indent="0" algn="l">
              <a:buNone/>
            </a:pPr>
            <a:r>
              <a:rPr lang="en-US" sz="1350" b="1" dirty="0">
                <a:solidFill>
                  <a:srgbClr val="0B6E99"/>
                </a:solidFill>
                <a:latin typeface="Sharif 1.2 SemiBold" panose="020B0000040000000000" pitchFamily="34" charset="-78"/>
                <a:ea typeface="Sharif 1.2 SemiBold" panose="020B0000040000000000" pitchFamily="34" charset="-78"/>
                <a:cs typeface="Sharif 1.2 SemiBold" panose="020B0000040000000000" pitchFamily="34" charset="-78"/>
              </a:rPr>
              <a:t>SVM</a:t>
            </a:r>
            <a:endParaRPr lang="en-US" sz="135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33" name="Text 31"/>
          <p:cNvSpPr/>
          <p:nvPr/>
        </p:nvSpPr>
        <p:spPr>
          <a:xfrm>
            <a:off x="9710928" y="2496312"/>
            <a:ext cx="1188720" cy="256032"/>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هسته RBF</a:t>
            </a:r>
            <a:endParaRPr lang="en-US" sz="11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4" name="Shape 32"/>
          <p:cNvSpPr/>
          <p:nvPr/>
        </p:nvSpPr>
        <p:spPr>
          <a:xfrm>
            <a:off x="8366760" y="3118104"/>
            <a:ext cx="2834640" cy="548640"/>
          </a:xfrm>
          <a:prstGeom prst="roundRect">
            <a:avLst>
              <a:gd name="adj" fmla="val 13333"/>
            </a:avLst>
          </a:prstGeom>
          <a:solidFill>
            <a:srgbClr val="FFFFFF"/>
          </a:solidFill>
          <a:ln w="12700">
            <a:solidFill>
              <a:srgbClr val="D9E2EC"/>
            </a:solidFill>
            <a:prstDash val="solid"/>
          </a:ln>
        </p:spPr>
      </p:sp>
      <p:sp>
        <p:nvSpPr>
          <p:cNvPr id="35" name="Text 33"/>
          <p:cNvSpPr/>
          <p:nvPr/>
        </p:nvSpPr>
        <p:spPr>
          <a:xfrm>
            <a:off x="8449056" y="3209544"/>
            <a:ext cx="1078992" cy="237744"/>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KNN</a:t>
            </a:r>
            <a:endParaRPr lang="en-US" sz="135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36" name="Text 34"/>
          <p:cNvSpPr/>
          <p:nvPr/>
        </p:nvSpPr>
        <p:spPr>
          <a:xfrm>
            <a:off x="9710928" y="3209544"/>
            <a:ext cx="1188720" cy="256032"/>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پنج همسایه</a:t>
            </a:r>
            <a:endParaRPr lang="en-US" sz="11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7" name="Shape 35"/>
          <p:cNvSpPr/>
          <p:nvPr/>
        </p:nvSpPr>
        <p:spPr>
          <a:xfrm>
            <a:off x="8366760" y="3831336"/>
            <a:ext cx="2834640" cy="548640"/>
          </a:xfrm>
          <a:prstGeom prst="roundRect">
            <a:avLst>
              <a:gd name="adj" fmla="val 13333"/>
            </a:avLst>
          </a:prstGeom>
          <a:solidFill>
            <a:srgbClr val="FFFFFF"/>
          </a:solidFill>
          <a:ln w="12700">
            <a:solidFill>
              <a:srgbClr val="D9E2EC"/>
            </a:solidFill>
            <a:prstDash val="solid"/>
          </a:ln>
        </p:spPr>
      </p:sp>
      <p:sp>
        <p:nvSpPr>
          <p:cNvPr id="38" name="Text 36"/>
          <p:cNvSpPr/>
          <p:nvPr/>
        </p:nvSpPr>
        <p:spPr>
          <a:xfrm>
            <a:off x="8449056" y="3922776"/>
            <a:ext cx="1078992" cy="237744"/>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Random Forest</a:t>
            </a:r>
            <a:endParaRPr lang="en-US" sz="135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39" name="Text 37"/>
          <p:cNvSpPr/>
          <p:nvPr/>
        </p:nvSpPr>
        <p:spPr>
          <a:xfrm>
            <a:off x="9710928" y="3922776"/>
            <a:ext cx="1188720" cy="256032"/>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۵۰۰ درخت</a:t>
            </a:r>
            <a:endParaRPr lang="en-US" sz="11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0" name="Text 38"/>
          <p:cNvSpPr/>
          <p:nvPr/>
        </p:nvSpPr>
        <p:spPr>
          <a:xfrm>
            <a:off x="8357616" y="4626864"/>
            <a:ext cx="2816352" cy="274320"/>
          </a:xfrm>
          <a:prstGeom prst="rect">
            <a:avLst/>
          </a:prstGeom>
          <a:noFill/>
          <a:ln/>
        </p:spPr>
        <p:txBody>
          <a:bodyPr wrap="square" lIns="0" tIns="0" rIns="0" bIns="0" rtlCol="0" anchor="ctr">
            <a:normAutofit/>
          </a:bodyPr>
          <a:lstStyle/>
          <a:p>
            <a:pPr marL="0" indent="0" algn="ctr" rtl="1">
              <a:buNone/>
            </a:pPr>
            <a:r>
              <a:rPr lang="en-US" sz="13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اعتبارسنجی متقاطع طبقه‌بندی‌شده</a:t>
            </a:r>
            <a:endParaRPr lang="en-US" sz="13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41" name="Text 39"/>
          <p:cNvSpPr/>
          <p:nvPr/>
        </p:nvSpPr>
        <p:spPr>
          <a:xfrm>
            <a:off x="8357616" y="4928616"/>
            <a:ext cx="2816352" cy="256032"/>
          </a:xfrm>
          <a:prstGeom prst="rect">
            <a:avLst/>
          </a:prstGeom>
          <a:noFill/>
          <a:ln/>
        </p:spPr>
        <p:txBody>
          <a:bodyPr wrap="square" lIns="0" tIns="0" rIns="0" bIns="0" rtlCol="0" anchor="ctr">
            <a:normAutofit/>
          </a:bodyPr>
          <a:lstStyle/>
          <a:p>
            <a:pPr marL="0" indent="0" algn="ctr" rtl="1">
              <a:buNone/>
            </a:pPr>
            <a:r>
              <a:rPr lang="en-US" sz="152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۵ بخش × ۵ تکرار</a:t>
            </a:r>
            <a:endParaRPr lang="en-US" sz="15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2" name="Text 40"/>
          <p:cNvSpPr/>
          <p:nvPr/>
        </p:nvSpPr>
        <p:spPr>
          <a:xfrm>
            <a:off x="8302752" y="5340096"/>
            <a:ext cx="2926080" cy="274320"/>
          </a:xfrm>
          <a:prstGeom prst="rect">
            <a:avLst/>
          </a:prstGeom>
          <a:noFill/>
          <a:ln/>
        </p:spPr>
        <p:txBody>
          <a:bodyPr wrap="square" lIns="0" tIns="0" rIns="0" bIns="0" rtlCol="0" anchor="ctr">
            <a:normAutofit/>
          </a:bodyPr>
          <a:lstStyle/>
          <a:p>
            <a:pPr marL="0" indent="0" algn="ctr">
              <a:buNone/>
            </a:pPr>
            <a:r>
              <a:rPr lang="en-US" sz="105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Accuracy • Precision • Recall • Specificity • F1</a:t>
            </a:r>
            <a:endParaRPr lang="en-US" sz="10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3" name="Shape 41"/>
          <p:cNvSpPr/>
          <p:nvPr/>
        </p:nvSpPr>
        <p:spPr>
          <a:xfrm>
            <a:off x="658368" y="6473952"/>
            <a:ext cx="10881360" cy="0"/>
          </a:xfrm>
          <a:prstGeom prst="line">
            <a:avLst/>
          </a:prstGeom>
          <a:noFill/>
          <a:ln w="10160">
            <a:solidFill>
              <a:srgbClr val="E9EEF2"/>
            </a:solidFill>
            <a:prstDash val="solid"/>
          </a:ln>
        </p:spPr>
      </p:sp>
      <p:sp>
        <p:nvSpPr>
          <p:cNvPr id="44" name="Text 42"/>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پایان‌نامه کارشناسی مهندسی مکانیک</a:t>
            </a:r>
            <a:endParaRPr lang="en-US" sz="12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5" name="Text 43"/>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روش</a:t>
            </a:r>
            <a:r>
              <a:rPr lang="en-US" sz="120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 و پیاده‌سازی | ۶ اسلاید تا پایان</a:t>
            </a:r>
            <a:endParaRPr lang="en-US" sz="12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6" name="Text 44"/>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۸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7" name="Shape 45"/>
          <p:cNvSpPr/>
          <p:nvPr/>
        </p:nvSpPr>
        <p:spPr>
          <a:xfrm>
            <a:off x="2560320" y="6766560"/>
            <a:ext cx="3762103" cy="41148"/>
          </a:xfrm>
          <a:prstGeom prst="rect">
            <a:avLst/>
          </a:prstGeom>
          <a:solidFill>
            <a:srgbClr val="0B6E99"/>
          </a:solidFill>
          <a:ln w="12700">
            <a:solidFill>
              <a:srgbClr val="0B6E99"/>
            </a:solidFill>
            <a:prstDash val="solid"/>
          </a:ln>
        </p:spPr>
      </p:sp>
      <p:sp>
        <p:nvSpPr>
          <p:cNvPr id="48" name="Shape 46"/>
          <p:cNvSpPr/>
          <p:nvPr/>
        </p:nvSpPr>
        <p:spPr>
          <a:xfrm>
            <a:off x="6322423" y="6766560"/>
            <a:ext cx="2821577" cy="41148"/>
          </a:xfrm>
          <a:prstGeom prst="rect">
            <a:avLst/>
          </a:prstGeom>
          <a:solidFill>
            <a:srgbClr val="E6EDF2"/>
          </a:solidFill>
          <a:ln w="12700">
            <a:solidFill>
              <a:srgbClr val="E6EDF2"/>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animEffect transition="in" filter="fade">
                          <p:cBhvr>
                            <p:cTn id="4" dur="350" fill="hold"/>
                            <p:tgtEl>
                              <p:spTgt spid="3"/>
                            </p:tgtEl>
                          </p:cBhvr>
                        </p:animEffect>
                      </p:childTnLst>
                    </p:cTn>
                  </p:par>
                  <p:par>
                    <p:cTn id="5" fill="hold">
                      <p:stCondLst>
                        <p:cond delay="0"/>
                      </p:stCondLst>
                      <p:childTnLst>
                        <p:animEffect transition="in" filter="fade">
                          <p:cBhvr>
                            <p:cTn id="6" dur="350" fill="hold"/>
                            <p:tgtEl>
                              <p:spTgt spid="4"/>
                            </p:tgtEl>
                          </p:cBhvr>
                        </p:animEffect>
                      </p:childTnLst>
                    </p:cTn>
                  </p:par>
                  <p:par>
                    <p:cTn id="7" fill="hold">
                      <p:stCondLst>
                        <p:cond delay="0"/>
                      </p:stCondLst>
                      <p:childTnLst>
                        <p:animEffect transition="in" filter="fade">
                          <p:cBhvr>
                            <p:cTn id="8" dur="350" fill="hold"/>
                            <p:tgtEl>
                              <p:spTgt spid="9"/>
                            </p:tgtEl>
                          </p:cBhvr>
                        </p:animEffect>
                      </p:childTnLst>
                    </p:cTn>
                  </p:par>
                  <p:par>
                    <p:cTn id="9" fill="hold">
                      <p:stCondLst>
                        <p:cond delay="0"/>
                      </p:stCondLst>
                      <p:childTnLst>
                        <p:animEffect transition="in" filter="fade">
                          <p:cBhvr>
                            <p:cTn id="10" dur="350" fill="hold"/>
                            <p:tgtEl>
                              <p:spTgt spid="11"/>
                            </p:tgtEl>
                          </p:cBhvr>
                        </p:animEffect>
                      </p:childTnLst>
                    </p:cTn>
                  </p:par>
                  <p:par>
                    <p:cTn id="11" fill="hold">
                      <p:stCondLst>
                        <p:cond delay="0"/>
                      </p:stCondLst>
                      <p:childTnLst>
                        <p:animEffect transition="in" filter="fade">
                          <p:cBhvr>
                            <p:cTn id="12" dur="350" fill="hold"/>
                            <p:tgtEl>
                              <p:spTgt spid="12"/>
                            </p:tgtEl>
                          </p:cBhvr>
                        </p:animEffect>
                      </p:childTnLst>
                    </p:cTn>
                  </p:par>
                </p:childTnLst>
              </p:cTn>
            </p:seq>
          </p:childTnLst>
        </p:cTn>
      </p:par>
    </p:tnLst>
    <p:bldLst>
      <p:bldP spid="3" grpId="0"/>
      <p:bldP spid="4" grpId="0"/>
      <p:bldP spid="9"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مطالعه موردی: نتیجه فعالیت ایستادن</a:t>
            </a:r>
            <a:endParaRPr lang="en-US" sz="2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7" name="Shape 5"/>
          <p:cNvSpPr/>
          <p:nvPr/>
        </p:nvSpPr>
        <p:spPr>
          <a:xfrm>
            <a:off x="658368" y="1481328"/>
            <a:ext cx="3794760" cy="4526280"/>
          </a:xfrm>
          <a:prstGeom prst="roundRect">
            <a:avLst>
              <a:gd name="adj" fmla="val 1928"/>
            </a:avLst>
          </a:prstGeom>
          <a:solidFill>
            <a:srgbClr val="102A43"/>
          </a:solidFill>
          <a:ln w="12700">
            <a:solidFill>
              <a:srgbClr val="102A43"/>
            </a:solidFill>
            <a:prstDash val="solid"/>
          </a:ln>
          <a:effectLst>
            <a:outerShdw blurRad="12700" dist="50800" dir="2700000" algn="bl" rotWithShape="0">
              <a:srgbClr val="B0BEC5">
                <a:alpha val="12000"/>
              </a:srgbClr>
            </a:outerShdw>
          </a:effectLst>
        </p:spPr>
      </p:sp>
      <p:sp>
        <p:nvSpPr>
          <p:cNvPr id="8" name="Text 6"/>
          <p:cNvSpPr/>
          <p:nvPr/>
        </p:nvSpPr>
        <p:spPr>
          <a:xfrm>
            <a:off x="1051560" y="1792224"/>
            <a:ext cx="3017520" cy="310896"/>
          </a:xfrm>
          <a:prstGeom prst="rect">
            <a:avLst/>
          </a:prstGeom>
          <a:noFill/>
          <a:ln/>
        </p:spPr>
        <p:txBody>
          <a:bodyPr wrap="square" lIns="0" tIns="0" rIns="0" bIns="0" rtlCol="0" anchor="ctr">
            <a:normAutofit/>
          </a:bodyPr>
          <a:lstStyle/>
          <a:p>
            <a:pPr marL="0" indent="0" algn="ctr" rtl="1">
              <a:buNone/>
            </a:pPr>
            <a:r>
              <a:rPr lang="en-US" sz="1350" dirty="0">
                <a:solidFill>
                  <a:srgbClr val="B7D5E4"/>
                </a:solidFill>
                <a:latin typeface="Sharif 1.2 ExtraLight" panose="020B0000040000000000" pitchFamily="34" charset="-78"/>
                <a:ea typeface="Sharif 1.2 ExtraLight" panose="020B0000040000000000" pitchFamily="34" charset="-78"/>
                <a:cs typeface="Sharif 1.2 ExtraLight" panose="020B0000040000000000" pitchFamily="34" charset="-78"/>
              </a:rPr>
              <a:t>مدل منتخب</a:t>
            </a:r>
            <a:endParaRPr lang="en-US" sz="13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9" name="Text 7"/>
          <p:cNvSpPr/>
          <p:nvPr/>
        </p:nvSpPr>
        <p:spPr>
          <a:xfrm>
            <a:off x="960120" y="2148840"/>
            <a:ext cx="3200400" cy="502920"/>
          </a:xfrm>
          <a:prstGeom prst="rect">
            <a:avLst/>
          </a:prstGeom>
          <a:noFill/>
          <a:ln/>
        </p:spPr>
        <p:txBody>
          <a:bodyPr wrap="square" lIns="0" tIns="0" rIns="0" bIns="0" rtlCol="0" anchor="ctr">
            <a:normAutofit/>
          </a:bodyPr>
          <a:lstStyle/>
          <a:p>
            <a:pPr marL="0" indent="0" algn="ctr">
              <a:buNone/>
            </a:pPr>
            <a:r>
              <a:rPr lang="en-US" sz="29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SVM + PCA</a:t>
            </a:r>
            <a:endParaRPr lang="en-US" sz="29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0" name="Text 8"/>
          <p:cNvSpPr/>
          <p:nvPr/>
        </p:nvSpPr>
        <p:spPr>
          <a:xfrm>
            <a:off x="1051560" y="2880360"/>
            <a:ext cx="3017520" cy="274320"/>
          </a:xfrm>
          <a:prstGeom prst="rect">
            <a:avLst/>
          </a:prstGeom>
          <a:noFill/>
          <a:ln/>
        </p:spPr>
        <p:txBody>
          <a:bodyPr wrap="square" lIns="0" tIns="0" rIns="0" bIns="0" rtlCol="0" anchor="ctr">
            <a:normAutofit/>
          </a:bodyPr>
          <a:lstStyle/>
          <a:p>
            <a:pPr marL="0" indent="0" algn="ctr" rtl="1">
              <a:buNone/>
            </a:pPr>
            <a:r>
              <a:rPr lang="en-US" sz="1350" dirty="0">
                <a:solidFill>
                  <a:srgbClr val="B7D5E4"/>
                </a:solidFill>
                <a:latin typeface="Sharif 1.2 ExtraLight" panose="020B0000040000000000" pitchFamily="34" charset="-78"/>
                <a:ea typeface="Sharif 1.2 ExtraLight" panose="020B0000040000000000" pitchFamily="34" charset="-78"/>
                <a:cs typeface="Sharif 1.2 ExtraLight" panose="020B0000040000000000" pitchFamily="34" charset="-78"/>
              </a:rPr>
              <a:t>دقت</a:t>
            </a:r>
            <a:endParaRPr lang="en-US" sz="13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1" name="Text 9"/>
          <p:cNvSpPr/>
          <p:nvPr/>
        </p:nvSpPr>
        <p:spPr>
          <a:xfrm>
            <a:off x="1097280" y="3163824"/>
            <a:ext cx="2926080" cy="786384"/>
          </a:xfrm>
          <a:prstGeom prst="rect">
            <a:avLst/>
          </a:prstGeom>
          <a:noFill/>
          <a:ln/>
        </p:spPr>
        <p:txBody>
          <a:bodyPr wrap="square" lIns="0" tIns="0" rIns="0" bIns="0" rtlCol="0" anchor="ctr">
            <a:normAutofit/>
          </a:bodyPr>
          <a:lstStyle/>
          <a:p>
            <a:pPr marL="0" indent="0" algn="ctr" rtl="1">
              <a:buNone/>
            </a:pPr>
            <a:r>
              <a:rPr lang="en-US" sz="4800" b="1" dirty="0">
                <a:solidFill>
                  <a:srgbClr val="57D6C6"/>
                </a:solidFill>
                <a:latin typeface="Sharif 1.2 ExtraLight" panose="020B0000040000000000" pitchFamily="34" charset="-78"/>
                <a:ea typeface="Sharif 1.2 ExtraLight" panose="020B0000040000000000" pitchFamily="34" charset="-78"/>
                <a:cs typeface="Sharif 1.2 ExtraLight" panose="020B0000040000000000" pitchFamily="34" charset="-78"/>
              </a:rPr>
              <a:t>۹۶٪</a:t>
            </a:r>
            <a:endParaRPr lang="en-US" sz="48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2" name="Shape 10"/>
          <p:cNvSpPr/>
          <p:nvPr/>
        </p:nvSpPr>
        <p:spPr>
          <a:xfrm>
            <a:off x="1207008" y="4169664"/>
            <a:ext cx="2606040" cy="0"/>
          </a:xfrm>
          <a:prstGeom prst="line">
            <a:avLst/>
          </a:prstGeom>
          <a:noFill/>
          <a:ln w="12700">
            <a:solidFill>
              <a:srgbClr val="335A75"/>
            </a:solidFill>
            <a:prstDash val="solid"/>
          </a:ln>
        </p:spPr>
      </p:sp>
      <p:sp>
        <p:nvSpPr>
          <p:cNvPr id="13" name="Text 11"/>
          <p:cNvSpPr/>
          <p:nvPr/>
        </p:nvSpPr>
        <p:spPr>
          <a:xfrm>
            <a:off x="1143000" y="4370832"/>
            <a:ext cx="2788920" cy="347472"/>
          </a:xfrm>
          <a:prstGeom prst="rect">
            <a:avLst/>
          </a:prstGeom>
          <a:noFill/>
          <a:ln/>
        </p:spPr>
        <p:txBody>
          <a:bodyPr wrap="square" lIns="0" tIns="0" rIns="0" bIns="0" rtlCol="0" anchor="ctr">
            <a:normAutofit/>
          </a:bodyPr>
          <a:lstStyle/>
          <a:p>
            <a:pPr marL="0" indent="0" algn="ctr" rtl="1">
              <a:buNone/>
            </a:pPr>
            <a:r>
              <a:rPr lang="en-US" sz="19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۱۳ مؤلفه اصلی</a:t>
            </a:r>
            <a:endParaRPr lang="en-US" sz="19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4" name="Text 12"/>
          <p:cNvSpPr/>
          <p:nvPr/>
        </p:nvSpPr>
        <p:spPr>
          <a:xfrm>
            <a:off x="1143000" y="4782312"/>
            <a:ext cx="2788920" cy="274320"/>
          </a:xfrm>
          <a:prstGeom prst="rect">
            <a:avLst/>
          </a:prstGeom>
          <a:noFill/>
          <a:ln/>
        </p:spPr>
        <p:txBody>
          <a:bodyPr wrap="square" lIns="0" tIns="0" rIns="0" bIns="0" rtlCol="0" anchor="ctr">
            <a:normAutofit/>
          </a:bodyPr>
          <a:lstStyle/>
          <a:p>
            <a:pPr marL="0" indent="0" algn="ctr" rtl="1">
              <a:buNone/>
            </a:pPr>
            <a:r>
              <a:rPr lang="en-US" sz="1250" dirty="0">
                <a:solidFill>
                  <a:srgbClr val="B7D5E4"/>
                </a:solidFill>
                <a:latin typeface="Sharif 1.2 ExtraLight" panose="020B0000040000000000" pitchFamily="34" charset="-78"/>
                <a:ea typeface="Sharif 1.2 ExtraLight" panose="020B0000040000000000" pitchFamily="34" charset="-78"/>
                <a:cs typeface="Sharif 1.2 ExtraLight" panose="020B0000040000000000" pitchFamily="34" charset="-78"/>
              </a:rPr>
              <a:t>حدود ۷۰٪ واریانس داده</a:t>
            </a:r>
            <a:endParaRPr lang="en-US" sz="12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5" name="Text 13"/>
          <p:cNvSpPr/>
          <p:nvPr/>
        </p:nvSpPr>
        <p:spPr>
          <a:xfrm>
            <a:off x="1143000" y="5230368"/>
            <a:ext cx="2788920" cy="292608"/>
          </a:xfrm>
          <a:prstGeom prst="rect">
            <a:avLst/>
          </a:prstGeom>
          <a:noFill/>
          <a:ln/>
        </p:spPr>
        <p:txBody>
          <a:bodyPr wrap="square" lIns="0" tIns="0" rIns="0" bIns="0" rtlCol="0" anchor="ctr">
            <a:normAutofit/>
          </a:bodyPr>
          <a:lstStyle/>
          <a:p>
            <a:pPr marL="0" indent="0" algn="ctr" rtl="1">
              <a:buNone/>
            </a:pPr>
            <a:r>
              <a:rPr lang="en-US" sz="1250" dirty="0">
                <a:solidFill>
                  <a:srgbClr val="D8EAF2"/>
                </a:solidFill>
                <a:latin typeface="Sharif 1.2 ExtraLight" panose="020B0000040000000000" pitchFamily="34" charset="-78"/>
                <a:ea typeface="Sharif 1.2 ExtraLight" panose="020B0000040000000000" pitchFamily="34" charset="-78"/>
                <a:cs typeface="Sharif 1.2 ExtraLight" panose="020B0000040000000000" pitchFamily="34" charset="-78"/>
              </a:rPr>
              <a:t>تفکیک سه سطح شبیه‌سازی‌شده</a:t>
            </a:r>
            <a:endParaRPr lang="en-US" sz="12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6" name="Shape 14"/>
          <p:cNvSpPr/>
          <p:nvPr/>
        </p:nvSpPr>
        <p:spPr>
          <a:xfrm>
            <a:off x="4709160" y="1481328"/>
            <a:ext cx="6812280" cy="4526280"/>
          </a:xfrm>
          <a:prstGeom prst="roundRect">
            <a:avLst>
              <a:gd name="adj" fmla="val 1616"/>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sp>
        <p:nvSpPr>
          <p:cNvPr id="17" name="Shape 15"/>
          <p:cNvSpPr/>
          <p:nvPr/>
        </p:nvSpPr>
        <p:spPr>
          <a:xfrm>
            <a:off x="9738360" y="1746504"/>
            <a:ext cx="1444752" cy="347472"/>
          </a:xfrm>
          <a:prstGeom prst="roundRect">
            <a:avLst>
              <a:gd name="adj" fmla="val 47368"/>
            </a:avLst>
          </a:prstGeom>
          <a:solidFill>
            <a:srgbClr val="E7F4F8"/>
          </a:solidFill>
          <a:ln w="12700">
            <a:solidFill>
              <a:srgbClr val="E7F4F8"/>
            </a:solidFill>
            <a:prstDash val="solid"/>
          </a:ln>
        </p:spPr>
      </p:sp>
      <p:sp>
        <p:nvSpPr>
          <p:cNvPr id="18" name="Text 16"/>
          <p:cNvSpPr/>
          <p:nvPr/>
        </p:nvSpPr>
        <p:spPr>
          <a:xfrm>
            <a:off x="9848088" y="1764792"/>
            <a:ext cx="1225296" cy="310896"/>
          </a:xfrm>
          <a:prstGeom prst="rect">
            <a:avLst/>
          </a:prstGeom>
          <a:noFill/>
          <a:ln/>
        </p:spPr>
        <p:txBody>
          <a:bodyPr wrap="square" lIns="0" tIns="0" rIns="0" bIns="0" rtlCol="0" anchor="ctr">
            <a:normAutofit/>
          </a:bodyPr>
          <a:lstStyle/>
          <a:p>
            <a:pPr marL="0" indent="0" algn="ctr" rtl="1">
              <a:buNone/>
            </a:pPr>
            <a:r>
              <a:rPr lang="en-US" sz="130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مقایسه مدل‌ها</a:t>
            </a:r>
            <a:endParaRPr lang="en-US" sz="13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9" name="Text 17"/>
          <p:cNvSpPr/>
          <p:nvPr/>
        </p:nvSpPr>
        <p:spPr>
          <a:xfrm>
            <a:off x="5102352" y="2532888"/>
            <a:ext cx="1508760" cy="228600"/>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SVM</a:t>
            </a:r>
            <a:endParaRPr lang="en-US" sz="13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0" name="Shape 18"/>
          <p:cNvSpPr/>
          <p:nvPr/>
        </p:nvSpPr>
        <p:spPr>
          <a:xfrm>
            <a:off x="6720840" y="2423160"/>
            <a:ext cx="4069080" cy="475488"/>
          </a:xfrm>
          <a:prstGeom prst="roundRect">
            <a:avLst>
              <a:gd name="adj" fmla="val 17308"/>
            </a:avLst>
          </a:prstGeom>
          <a:solidFill>
            <a:srgbClr val="EEF4F8"/>
          </a:solidFill>
          <a:ln w="12700">
            <a:solidFill>
              <a:srgbClr val="EEF4F8"/>
            </a:solidFill>
            <a:prstDash val="solid"/>
          </a:ln>
        </p:spPr>
      </p:sp>
      <p:sp>
        <p:nvSpPr>
          <p:cNvPr id="21" name="Shape 19"/>
          <p:cNvSpPr/>
          <p:nvPr/>
        </p:nvSpPr>
        <p:spPr>
          <a:xfrm>
            <a:off x="6720840" y="2423160"/>
            <a:ext cx="3906317" cy="475488"/>
          </a:xfrm>
          <a:prstGeom prst="roundRect">
            <a:avLst>
              <a:gd name="adj" fmla="val 17308"/>
            </a:avLst>
          </a:prstGeom>
          <a:solidFill>
            <a:srgbClr val="0B6E99"/>
          </a:solidFill>
          <a:ln w="12700">
            <a:solidFill>
              <a:srgbClr val="0B6E99"/>
            </a:solidFill>
            <a:prstDash val="solid"/>
          </a:ln>
        </p:spPr>
      </p:sp>
      <p:sp>
        <p:nvSpPr>
          <p:cNvPr id="22" name="Text 20"/>
          <p:cNvSpPr/>
          <p:nvPr/>
        </p:nvSpPr>
        <p:spPr>
          <a:xfrm>
            <a:off x="10890504" y="2478024"/>
            <a:ext cx="438912" cy="292608"/>
          </a:xfrm>
          <a:prstGeom prst="rect">
            <a:avLst/>
          </a:prstGeom>
          <a:noFill/>
          <a:ln/>
        </p:spPr>
        <p:txBody>
          <a:bodyPr wrap="square" lIns="0" tIns="0" rIns="0" bIns="0" rtlCol="0" anchor="ctr">
            <a:normAutofit/>
          </a:bodyPr>
          <a:lstStyle/>
          <a:p>
            <a:pPr marL="0" indent="0" algn="ctr" rtl="1">
              <a:buNone/>
            </a:pPr>
            <a:r>
              <a:rPr lang="en-US" sz="130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۹۶٪</a:t>
            </a:r>
            <a:endParaRPr lang="en-US" sz="13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3" name="Text 21"/>
          <p:cNvSpPr/>
          <p:nvPr/>
        </p:nvSpPr>
        <p:spPr>
          <a:xfrm>
            <a:off x="5102352" y="3310128"/>
            <a:ext cx="1508760" cy="228600"/>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KNN</a:t>
            </a:r>
            <a:endParaRPr lang="en-US" sz="13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4" name="Shape 22"/>
          <p:cNvSpPr/>
          <p:nvPr/>
        </p:nvSpPr>
        <p:spPr>
          <a:xfrm>
            <a:off x="6720840" y="3200400"/>
            <a:ext cx="4069080" cy="475488"/>
          </a:xfrm>
          <a:prstGeom prst="roundRect">
            <a:avLst>
              <a:gd name="adj" fmla="val 17308"/>
            </a:avLst>
          </a:prstGeom>
          <a:solidFill>
            <a:srgbClr val="EEF4F8"/>
          </a:solidFill>
          <a:ln w="12700">
            <a:solidFill>
              <a:srgbClr val="EEF4F8"/>
            </a:solidFill>
            <a:prstDash val="solid"/>
          </a:ln>
        </p:spPr>
      </p:sp>
      <p:sp>
        <p:nvSpPr>
          <p:cNvPr id="25" name="Shape 23"/>
          <p:cNvSpPr/>
          <p:nvPr/>
        </p:nvSpPr>
        <p:spPr>
          <a:xfrm>
            <a:off x="6720840" y="3200400"/>
            <a:ext cx="3784244" cy="475488"/>
          </a:xfrm>
          <a:prstGeom prst="roundRect">
            <a:avLst>
              <a:gd name="adj" fmla="val 17308"/>
            </a:avLst>
          </a:prstGeom>
          <a:solidFill>
            <a:srgbClr val="0B7A75"/>
          </a:solidFill>
          <a:ln w="12700">
            <a:solidFill>
              <a:srgbClr val="0B7A75"/>
            </a:solidFill>
            <a:prstDash val="solid"/>
          </a:ln>
        </p:spPr>
      </p:sp>
      <p:sp>
        <p:nvSpPr>
          <p:cNvPr id="26" name="Text 24"/>
          <p:cNvSpPr/>
          <p:nvPr/>
        </p:nvSpPr>
        <p:spPr>
          <a:xfrm>
            <a:off x="10890504" y="3255264"/>
            <a:ext cx="438912" cy="292608"/>
          </a:xfrm>
          <a:prstGeom prst="rect">
            <a:avLst/>
          </a:prstGeom>
          <a:noFill/>
          <a:ln/>
        </p:spPr>
        <p:txBody>
          <a:bodyPr wrap="square" lIns="0" tIns="0" rIns="0" bIns="0" rtlCol="0" anchor="ctr">
            <a:normAutofit/>
          </a:bodyPr>
          <a:lstStyle/>
          <a:p>
            <a:pPr marL="0" indent="0" algn="ctr" rtl="1">
              <a:buNone/>
            </a:pPr>
            <a:r>
              <a:rPr lang="en-US" sz="1300" b="1" dirty="0">
                <a:solidFill>
                  <a:srgbClr val="0B7A75"/>
                </a:solidFill>
                <a:latin typeface="Sharif 1.2 ExtraLight" panose="020B0000040000000000" pitchFamily="34" charset="-78"/>
                <a:ea typeface="Sharif 1.2 ExtraLight" panose="020B0000040000000000" pitchFamily="34" charset="-78"/>
                <a:cs typeface="Sharif 1.2 ExtraLight" panose="020B0000040000000000" pitchFamily="34" charset="-78"/>
              </a:rPr>
              <a:t>۹۳٪</a:t>
            </a:r>
            <a:endParaRPr lang="en-US" sz="13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7" name="Text 25"/>
          <p:cNvSpPr/>
          <p:nvPr/>
        </p:nvSpPr>
        <p:spPr>
          <a:xfrm>
            <a:off x="5102352" y="4087368"/>
            <a:ext cx="1508760" cy="228600"/>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Random Forest</a:t>
            </a:r>
            <a:endParaRPr lang="en-US" sz="13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8" name="Shape 26"/>
          <p:cNvSpPr/>
          <p:nvPr/>
        </p:nvSpPr>
        <p:spPr>
          <a:xfrm>
            <a:off x="6720840" y="3977640"/>
            <a:ext cx="4069080" cy="475488"/>
          </a:xfrm>
          <a:prstGeom prst="roundRect">
            <a:avLst>
              <a:gd name="adj" fmla="val 17308"/>
            </a:avLst>
          </a:prstGeom>
          <a:solidFill>
            <a:srgbClr val="EEF4F8"/>
          </a:solidFill>
          <a:ln w="12700">
            <a:solidFill>
              <a:srgbClr val="EEF4F8"/>
            </a:solidFill>
            <a:prstDash val="solid"/>
          </a:ln>
        </p:spPr>
      </p:sp>
      <p:sp>
        <p:nvSpPr>
          <p:cNvPr id="29" name="Shape 27"/>
          <p:cNvSpPr/>
          <p:nvPr/>
        </p:nvSpPr>
        <p:spPr>
          <a:xfrm>
            <a:off x="6720840" y="3977640"/>
            <a:ext cx="3743554" cy="475488"/>
          </a:xfrm>
          <a:prstGeom prst="roundRect">
            <a:avLst>
              <a:gd name="adj" fmla="val 17308"/>
            </a:avLst>
          </a:prstGeom>
          <a:solidFill>
            <a:srgbClr val="94A3B8"/>
          </a:solidFill>
          <a:ln w="12700">
            <a:solidFill>
              <a:srgbClr val="94A3B8"/>
            </a:solidFill>
            <a:prstDash val="solid"/>
          </a:ln>
        </p:spPr>
      </p:sp>
      <p:sp>
        <p:nvSpPr>
          <p:cNvPr id="30" name="Text 28"/>
          <p:cNvSpPr/>
          <p:nvPr/>
        </p:nvSpPr>
        <p:spPr>
          <a:xfrm>
            <a:off x="10890504" y="4032504"/>
            <a:ext cx="438912" cy="292608"/>
          </a:xfrm>
          <a:prstGeom prst="rect">
            <a:avLst/>
          </a:prstGeom>
          <a:noFill/>
          <a:ln/>
        </p:spPr>
        <p:txBody>
          <a:bodyPr wrap="square" lIns="0" tIns="0" rIns="0" bIns="0" rtlCol="0" anchor="ctr">
            <a:normAutofit/>
          </a:bodyPr>
          <a:lstStyle/>
          <a:p>
            <a:pPr marL="0" indent="0" algn="ctr" rtl="1">
              <a:buNone/>
            </a:pPr>
            <a:r>
              <a:rPr lang="en-US" sz="1300" b="1"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۹۲٪</a:t>
            </a:r>
            <a:endParaRPr lang="en-US" sz="13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1" name="Text 29"/>
          <p:cNvSpPr/>
          <p:nvPr/>
        </p:nvSpPr>
        <p:spPr>
          <a:xfrm>
            <a:off x="7882128" y="4572000"/>
            <a:ext cx="2926080" cy="256032"/>
          </a:xfrm>
          <a:prstGeom prst="rect">
            <a:avLst/>
          </a:prstGeom>
          <a:noFill/>
          <a:ln/>
        </p:spPr>
        <p:txBody>
          <a:bodyPr wrap="square" lIns="0" tIns="0" rIns="0" bIns="0" rtlCol="0" anchor="ctr">
            <a:normAutofit/>
          </a:bodyPr>
          <a:lstStyle/>
          <a:p>
            <a:pPr marL="0" indent="0" algn="r" rtl="1">
              <a:buNone/>
            </a:pPr>
            <a:r>
              <a:rPr lang="en-US" sz="15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چرا ایستادن قابل تفکیک بود؟</a:t>
            </a:r>
            <a:endParaRPr lang="en-US" sz="15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2" name="Shape 30"/>
          <p:cNvSpPr/>
          <p:nvPr/>
        </p:nvSpPr>
        <p:spPr>
          <a:xfrm>
            <a:off x="10753344" y="5020056"/>
            <a:ext cx="82296" cy="82296"/>
          </a:xfrm>
          <a:prstGeom prst="ellipse">
            <a:avLst/>
          </a:prstGeom>
          <a:solidFill>
            <a:srgbClr val="0B6E99"/>
          </a:solidFill>
          <a:ln w="12700">
            <a:solidFill>
              <a:srgbClr val="0B6E99"/>
            </a:solidFill>
            <a:prstDash val="solid"/>
          </a:ln>
        </p:spPr>
      </p:sp>
      <p:sp>
        <p:nvSpPr>
          <p:cNvPr id="33" name="Text 31"/>
          <p:cNvSpPr/>
          <p:nvPr/>
        </p:nvSpPr>
        <p:spPr>
          <a:xfrm>
            <a:off x="7360920" y="4919472"/>
            <a:ext cx="3246120" cy="192024"/>
          </a:xfrm>
          <a:prstGeom prst="rect">
            <a:avLst/>
          </a:prstGeom>
          <a:noFill/>
          <a:ln/>
        </p:spPr>
        <p:txBody>
          <a:bodyPr wrap="square" lIns="0" tIns="0" rIns="0" bIns="0" rtlCol="0" anchor="ctr">
            <a:normAutofit/>
          </a:bodyPr>
          <a:lstStyle/>
          <a:p>
            <a:pPr marL="0" indent="0" algn="r" rtl="1">
              <a:buNone/>
            </a:pPr>
            <a:r>
              <a:rPr lang="en-US" sz="115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نوسان‌های ظریف بدن</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4" name="Shape 32"/>
          <p:cNvSpPr/>
          <p:nvPr/>
        </p:nvSpPr>
        <p:spPr>
          <a:xfrm>
            <a:off x="10753344" y="5266944"/>
            <a:ext cx="82296" cy="82296"/>
          </a:xfrm>
          <a:prstGeom prst="ellipse">
            <a:avLst/>
          </a:prstGeom>
          <a:solidFill>
            <a:srgbClr val="0B6E99"/>
          </a:solidFill>
          <a:ln w="12700">
            <a:solidFill>
              <a:srgbClr val="0B6E99"/>
            </a:solidFill>
            <a:prstDash val="solid"/>
          </a:ln>
        </p:spPr>
      </p:sp>
      <p:sp>
        <p:nvSpPr>
          <p:cNvPr id="35" name="Text 33"/>
          <p:cNvSpPr/>
          <p:nvPr/>
        </p:nvSpPr>
        <p:spPr>
          <a:xfrm>
            <a:off x="7360920" y="5166360"/>
            <a:ext cx="3246120" cy="192024"/>
          </a:xfrm>
          <a:prstGeom prst="rect">
            <a:avLst/>
          </a:prstGeom>
          <a:noFill/>
          <a:ln/>
        </p:spPr>
        <p:txBody>
          <a:bodyPr wrap="square" lIns="0" tIns="0" rIns="0" bIns="0" rtlCol="0" anchor="ctr">
            <a:normAutofit/>
          </a:bodyPr>
          <a:lstStyle/>
          <a:p>
            <a:pPr marL="0" indent="0" algn="r" rtl="1">
              <a:buNone/>
            </a:pPr>
            <a:r>
              <a:rPr lang="en-US" sz="115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نحوه حفظ تعادل</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6" name="Shape 34"/>
          <p:cNvSpPr/>
          <p:nvPr/>
        </p:nvSpPr>
        <p:spPr>
          <a:xfrm>
            <a:off x="10753344" y="5513832"/>
            <a:ext cx="82296" cy="82296"/>
          </a:xfrm>
          <a:prstGeom prst="ellipse">
            <a:avLst/>
          </a:prstGeom>
          <a:solidFill>
            <a:srgbClr val="0B6E99"/>
          </a:solidFill>
          <a:ln w="12700">
            <a:solidFill>
              <a:srgbClr val="0B6E99"/>
            </a:solidFill>
            <a:prstDash val="solid"/>
          </a:ln>
        </p:spPr>
      </p:sp>
      <p:sp>
        <p:nvSpPr>
          <p:cNvPr id="37" name="Text 35"/>
          <p:cNvSpPr/>
          <p:nvPr/>
        </p:nvSpPr>
        <p:spPr>
          <a:xfrm>
            <a:off x="7360920" y="5413248"/>
            <a:ext cx="3246120" cy="192024"/>
          </a:xfrm>
          <a:prstGeom prst="rect">
            <a:avLst/>
          </a:prstGeom>
          <a:noFill/>
          <a:ln/>
        </p:spPr>
        <p:txBody>
          <a:bodyPr wrap="square" lIns="0" tIns="0" rIns="0" bIns="0" rtlCol="0" anchor="ctr">
            <a:normAutofit/>
          </a:bodyPr>
          <a:lstStyle/>
          <a:p>
            <a:pPr marL="0" indent="0" algn="r" rtl="1">
              <a:buNone/>
            </a:pPr>
            <a:r>
              <a:rPr lang="en-US" sz="115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میزان حرکت جبرانی دست‌ها و سر</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8" name="Text 36"/>
          <p:cNvSpPr/>
          <p:nvPr/>
        </p:nvSpPr>
        <p:spPr>
          <a:xfrm>
            <a:off x="5120640" y="5669280"/>
            <a:ext cx="5349240" cy="228600"/>
          </a:xfrm>
          <a:prstGeom prst="rect">
            <a:avLst/>
          </a:prstGeom>
          <a:noFill/>
          <a:ln/>
        </p:spPr>
        <p:txBody>
          <a:bodyPr wrap="square" lIns="0" tIns="0" rIns="0" bIns="0" rtlCol="0" anchor="ctr">
            <a:normAutofit/>
          </a:bodyPr>
          <a:lstStyle/>
          <a:p>
            <a:pPr marL="0" indent="0" algn="ctr" rtl="1">
              <a:buNone/>
            </a:pPr>
            <a:r>
              <a:rPr lang="en-US" sz="1130" dirty="0">
                <a:solidFill>
                  <a:srgbClr val="C0392B"/>
                </a:solidFill>
                <a:latin typeface="Sharif 1.2 ExtraLight" panose="020B0000040000000000" pitchFamily="34" charset="-78"/>
                <a:ea typeface="Sharif 1.2 ExtraLight" panose="020B0000040000000000" pitchFamily="34" charset="-78"/>
                <a:cs typeface="Sharif 1.2 ExtraLight" panose="020B0000040000000000" pitchFamily="34" charset="-78"/>
              </a:rPr>
              <a:t>نمره ۱ بیشترین هم‌پوشانی را با دو سطح دیگر داشت.</a:t>
            </a:r>
            <a:endParaRPr lang="en-US" sz="113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9" name="Shape 37"/>
          <p:cNvSpPr/>
          <p:nvPr/>
        </p:nvSpPr>
        <p:spPr>
          <a:xfrm>
            <a:off x="658368" y="6473952"/>
            <a:ext cx="10881360" cy="0"/>
          </a:xfrm>
          <a:prstGeom prst="line">
            <a:avLst/>
          </a:prstGeom>
          <a:noFill/>
          <a:ln w="10160">
            <a:solidFill>
              <a:srgbClr val="E9EEF2"/>
            </a:solidFill>
            <a:prstDash val="solid"/>
          </a:ln>
        </p:spPr>
      </p:sp>
      <p:sp>
        <p:nvSpPr>
          <p:cNvPr id="40" name="Text 38"/>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1" name="Text 39"/>
          <p:cNvSpPr/>
          <p:nvPr/>
        </p:nvSpPr>
        <p:spPr>
          <a:xfrm>
            <a:off x="3451860"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نتایج</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و بحث | ۵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2" name="Text 40"/>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۹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3" name="Shape 41"/>
          <p:cNvSpPr/>
          <p:nvPr/>
        </p:nvSpPr>
        <p:spPr>
          <a:xfrm>
            <a:off x="2560320" y="6766560"/>
            <a:ext cx="4232366" cy="41148"/>
          </a:xfrm>
          <a:prstGeom prst="rect">
            <a:avLst/>
          </a:prstGeom>
          <a:solidFill>
            <a:srgbClr val="0B6E99"/>
          </a:solidFill>
          <a:ln w="12700">
            <a:solidFill>
              <a:srgbClr val="0B6E99"/>
            </a:solidFill>
            <a:prstDash val="solid"/>
          </a:ln>
        </p:spPr>
      </p:sp>
      <p:sp>
        <p:nvSpPr>
          <p:cNvPr id="44" name="Shape 42"/>
          <p:cNvSpPr/>
          <p:nvPr/>
        </p:nvSpPr>
        <p:spPr>
          <a:xfrm>
            <a:off x="6792686" y="6766560"/>
            <a:ext cx="2351314" cy="41148"/>
          </a:xfrm>
          <a:prstGeom prst="rect">
            <a:avLst/>
          </a:prstGeom>
          <a:solidFill>
            <a:srgbClr val="E6EDF2"/>
          </a:solidFill>
          <a:ln w="12700">
            <a:solidFill>
              <a:srgbClr val="E6EDF2"/>
            </a:solidFill>
            <a:prstDash val="solid"/>
          </a:ln>
        </p:spPr>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خلاصه نتایج پنج فعالیت</a:t>
            </a:r>
            <a:endParaRPr lang="en-US" sz="2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7" name="Text 5"/>
          <p:cNvSpPr/>
          <p:nvPr/>
        </p:nvSpPr>
        <p:spPr>
          <a:xfrm>
            <a:off x="4041648" y="1444752"/>
            <a:ext cx="7040880" cy="384048"/>
          </a:xfrm>
          <a:prstGeom prst="rect">
            <a:avLst/>
          </a:prstGeom>
          <a:noFill/>
          <a:ln/>
        </p:spPr>
        <p:txBody>
          <a:bodyPr wrap="square" lIns="0" tIns="0" rIns="0" bIns="0" rtlCol="0" anchor="ctr">
            <a:normAutofit/>
          </a:bodyPr>
          <a:lstStyle/>
          <a:p>
            <a:pPr marL="0" indent="0" algn="r" rtl="1">
              <a:buNone/>
            </a:pPr>
            <a:r>
              <a:rPr lang="en-US" sz="18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در تمام فعالیت‌ها، ترکیب منتخب شامل SVM و PCA بود</a:t>
            </a:r>
            <a:endParaRPr lang="en-US" sz="18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8" name="Shape 6"/>
          <p:cNvSpPr/>
          <p:nvPr/>
        </p:nvSpPr>
        <p:spPr>
          <a:xfrm>
            <a:off x="804672" y="1938528"/>
            <a:ext cx="10588752" cy="502920"/>
          </a:xfrm>
          <a:prstGeom prst="roundRect">
            <a:avLst>
              <a:gd name="adj" fmla="val 14545"/>
            </a:avLst>
          </a:prstGeom>
          <a:solidFill>
            <a:srgbClr val="102A43"/>
          </a:solidFill>
          <a:ln w="12700">
            <a:solidFill>
              <a:srgbClr val="102A43"/>
            </a:solidFill>
            <a:prstDash val="solid"/>
          </a:ln>
        </p:spPr>
      </p:sp>
      <p:sp>
        <p:nvSpPr>
          <p:cNvPr id="9" name="Text 7"/>
          <p:cNvSpPr/>
          <p:nvPr/>
        </p:nvSpPr>
        <p:spPr>
          <a:xfrm>
            <a:off x="8823960" y="2029968"/>
            <a:ext cx="2057400" cy="237744"/>
          </a:xfrm>
          <a:prstGeom prst="rect">
            <a:avLst/>
          </a:prstGeom>
          <a:noFill/>
          <a:ln/>
        </p:spPr>
        <p:txBody>
          <a:bodyPr wrap="square" lIns="0" tIns="0" rIns="0" bIns="0" rtlCol="0" anchor="ctr">
            <a:normAutofit/>
          </a:bodyPr>
          <a:lstStyle/>
          <a:p>
            <a:pPr marL="0" indent="0" algn="ctr" rtl="1">
              <a:buNone/>
            </a:pPr>
            <a:r>
              <a:rPr lang="en-US" sz="13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فعالیت</a:t>
            </a:r>
            <a:endParaRPr lang="en-US" sz="13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0" name="Text 8"/>
          <p:cNvSpPr/>
          <p:nvPr/>
        </p:nvSpPr>
        <p:spPr>
          <a:xfrm>
            <a:off x="5989320" y="2029968"/>
            <a:ext cx="2057400" cy="237744"/>
          </a:xfrm>
          <a:prstGeom prst="rect">
            <a:avLst/>
          </a:prstGeom>
          <a:noFill/>
          <a:ln/>
        </p:spPr>
        <p:txBody>
          <a:bodyPr wrap="square" lIns="0" tIns="0" rIns="0" bIns="0" rtlCol="0" anchor="ctr">
            <a:normAutofit/>
          </a:bodyPr>
          <a:lstStyle/>
          <a:p>
            <a:pPr marL="0" indent="0" algn="ctr" rtl="1">
              <a:buNone/>
            </a:pPr>
            <a:r>
              <a:rPr lang="en-US" sz="13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تعداد مؤلفه اصلی</a:t>
            </a:r>
            <a:endParaRPr lang="en-US" sz="13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1" name="Text 9"/>
          <p:cNvSpPr/>
          <p:nvPr/>
        </p:nvSpPr>
        <p:spPr>
          <a:xfrm>
            <a:off x="3721608" y="2029968"/>
            <a:ext cx="1737360" cy="237744"/>
          </a:xfrm>
          <a:prstGeom prst="rect">
            <a:avLst/>
          </a:prstGeom>
          <a:noFill/>
          <a:ln/>
        </p:spPr>
        <p:txBody>
          <a:bodyPr wrap="square" lIns="0" tIns="0" rIns="0" bIns="0" rtlCol="0" anchor="ctr">
            <a:normAutofit/>
          </a:bodyPr>
          <a:lstStyle/>
          <a:p>
            <a:pPr marL="0" indent="0" algn="ctr" rtl="1">
              <a:buNone/>
            </a:pPr>
            <a:r>
              <a:rPr lang="en-US" sz="13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حد نصاب داخلی</a:t>
            </a:r>
            <a:endParaRPr lang="en-US" sz="13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2" name="Text 10"/>
          <p:cNvSpPr/>
          <p:nvPr/>
        </p:nvSpPr>
        <p:spPr>
          <a:xfrm>
            <a:off x="960120" y="2029968"/>
            <a:ext cx="2468880" cy="237744"/>
          </a:xfrm>
          <a:prstGeom prst="rect">
            <a:avLst/>
          </a:prstGeom>
          <a:noFill/>
          <a:ln/>
        </p:spPr>
        <p:txBody>
          <a:bodyPr wrap="square" lIns="0" tIns="0" rIns="0" bIns="0" rtlCol="0" anchor="ctr">
            <a:normAutofit/>
          </a:bodyPr>
          <a:lstStyle/>
          <a:p>
            <a:pPr marL="0" indent="0" algn="ctr" rtl="1">
              <a:buNone/>
            </a:pPr>
            <a:r>
              <a:rPr lang="en-US" sz="13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برداشت اصلی</a:t>
            </a:r>
            <a:endParaRPr lang="en-US" sz="13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3" name="Shape 11"/>
          <p:cNvSpPr/>
          <p:nvPr/>
        </p:nvSpPr>
        <p:spPr>
          <a:xfrm>
            <a:off x="804672" y="2560320"/>
            <a:ext cx="10588752" cy="521208"/>
          </a:xfrm>
          <a:prstGeom prst="roundRect">
            <a:avLst>
              <a:gd name="adj" fmla="val 7018"/>
            </a:avLst>
          </a:prstGeom>
          <a:solidFill>
            <a:srgbClr val="FFFFFF"/>
          </a:solidFill>
          <a:ln w="12700">
            <a:solidFill>
              <a:srgbClr val="E0E8EE"/>
            </a:solidFill>
            <a:prstDash val="solid"/>
          </a:ln>
        </p:spPr>
      </p:sp>
      <p:sp>
        <p:nvSpPr>
          <p:cNvPr id="14" name="Shape 12"/>
          <p:cNvSpPr/>
          <p:nvPr/>
        </p:nvSpPr>
        <p:spPr>
          <a:xfrm>
            <a:off x="11219688" y="2560320"/>
            <a:ext cx="173736" cy="521208"/>
          </a:xfrm>
          <a:prstGeom prst="rect">
            <a:avLst/>
          </a:prstGeom>
          <a:solidFill>
            <a:srgbClr val="0B6E99"/>
          </a:solidFill>
          <a:ln w="12700">
            <a:solidFill>
              <a:srgbClr val="0B6E99"/>
            </a:solidFill>
            <a:prstDash val="solid"/>
          </a:ln>
        </p:spPr>
      </p:sp>
      <p:sp>
        <p:nvSpPr>
          <p:cNvPr id="15" name="Text 13"/>
          <p:cNvSpPr/>
          <p:nvPr/>
        </p:nvSpPr>
        <p:spPr>
          <a:xfrm>
            <a:off x="8668512" y="2651760"/>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ایستادن</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6" name="Shape 14"/>
          <p:cNvSpPr/>
          <p:nvPr/>
        </p:nvSpPr>
        <p:spPr>
          <a:xfrm>
            <a:off x="6053328" y="2798064"/>
            <a:ext cx="2103120" cy="0"/>
          </a:xfrm>
          <a:prstGeom prst="line">
            <a:avLst/>
          </a:prstGeom>
          <a:noFill/>
          <a:ln w="101600">
            <a:solidFill>
              <a:srgbClr val="EEF4F8"/>
            </a:solidFill>
            <a:prstDash val="solid"/>
            <a:headEnd type="none"/>
            <a:tailEnd type="none"/>
          </a:ln>
        </p:spPr>
      </p:sp>
      <p:sp>
        <p:nvSpPr>
          <p:cNvPr id="17" name="Shape 15"/>
          <p:cNvSpPr/>
          <p:nvPr/>
        </p:nvSpPr>
        <p:spPr>
          <a:xfrm>
            <a:off x="6053328" y="2706624"/>
            <a:ext cx="1822704" cy="182880"/>
          </a:xfrm>
          <a:prstGeom prst="roundRect">
            <a:avLst>
              <a:gd name="adj" fmla="val 30000"/>
            </a:avLst>
          </a:prstGeom>
          <a:solidFill>
            <a:srgbClr val="0B6E99"/>
          </a:solidFill>
          <a:ln w="12700">
            <a:solidFill>
              <a:srgbClr val="0B6E99"/>
            </a:solidFill>
            <a:prstDash val="solid"/>
          </a:ln>
        </p:spPr>
      </p:sp>
      <p:sp>
        <p:nvSpPr>
          <p:cNvPr id="18" name="Text 16"/>
          <p:cNvSpPr/>
          <p:nvPr/>
        </p:nvSpPr>
        <p:spPr>
          <a:xfrm>
            <a:off x="8211312" y="2624328"/>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۱۳</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9" name="Shape 17"/>
          <p:cNvSpPr/>
          <p:nvPr/>
        </p:nvSpPr>
        <p:spPr>
          <a:xfrm>
            <a:off x="4005072" y="2633472"/>
            <a:ext cx="1097280" cy="356616"/>
          </a:xfrm>
          <a:prstGeom prst="roundRect">
            <a:avLst>
              <a:gd name="adj" fmla="val 46154"/>
            </a:avLst>
          </a:prstGeom>
          <a:solidFill>
            <a:srgbClr val="E8F5EE"/>
          </a:solidFill>
          <a:ln w="12700">
            <a:solidFill>
              <a:srgbClr val="E8F5EE"/>
            </a:solidFill>
            <a:prstDash val="solid"/>
          </a:ln>
        </p:spPr>
      </p:sp>
      <p:sp>
        <p:nvSpPr>
          <p:cNvPr id="20" name="Text 18"/>
          <p:cNvSpPr/>
          <p:nvPr/>
        </p:nvSpPr>
        <p:spPr>
          <a:xfrm>
            <a:off x="4114800" y="2651760"/>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2F855A"/>
                </a:solidFill>
                <a:latin typeface="Sharif 1.2 ExtraLight" panose="020B0000040000000000" pitchFamily="34" charset="-78"/>
                <a:ea typeface="Sharif 1.2 ExtraLight" panose="020B0000040000000000" pitchFamily="34" charset="-78"/>
                <a:cs typeface="Sharif 1.2 ExtraLight" panose="020B0000040000000000" pitchFamily="34" charset="-78"/>
              </a:rPr>
              <a:t>۹۰٪</a:t>
            </a:r>
            <a:endParaRPr lang="en-US" sz="12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1" name="Text 19"/>
          <p:cNvSpPr/>
          <p:nvPr/>
        </p:nvSpPr>
        <p:spPr>
          <a:xfrm>
            <a:off x="1005840" y="2651760"/>
            <a:ext cx="2468880" cy="256032"/>
          </a:xfrm>
          <a:prstGeom prst="rect">
            <a:avLst/>
          </a:prstGeom>
          <a:noFill/>
          <a:ln/>
        </p:spPr>
        <p:txBody>
          <a:bodyPr wrap="square" lIns="0" tIns="0" rIns="0" bIns="0" rtlCol="0" anchor="ctr">
            <a:normAutofit/>
          </a:bodyPr>
          <a:lstStyle/>
          <a:p>
            <a:pPr marL="0" indent="0" algn="ctr" rtl="1">
              <a:buNone/>
            </a:pPr>
            <a:r>
              <a:rPr lang="en-US" sz="114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نتیجه گزارش‌شده: ۹۶٪</a:t>
            </a:r>
            <a:endParaRPr lang="en-US" sz="114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2" name="Shape 20"/>
          <p:cNvSpPr/>
          <p:nvPr/>
        </p:nvSpPr>
        <p:spPr>
          <a:xfrm>
            <a:off x="804672" y="3191256"/>
            <a:ext cx="10588752" cy="521208"/>
          </a:xfrm>
          <a:prstGeom prst="roundRect">
            <a:avLst>
              <a:gd name="adj" fmla="val 7018"/>
            </a:avLst>
          </a:prstGeom>
          <a:solidFill>
            <a:srgbClr val="F3F7FA"/>
          </a:solidFill>
          <a:ln w="12700">
            <a:solidFill>
              <a:srgbClr val="E0E8EE"/>
            </a:solidFill>
            <a:prstDash val="solid"/>
          </a:ln>
        </p:spPr>
      </p:sp>
      <p:sp>
        <p:nvSpPr>
          <p:cNvPr id="23" name="Shape 21"/>
          <p:cNvSpPr/>
          <p:nvPr/>
        </p:nvSpPr>
        <p:spPr>
          <a:xfrm>
            <a:off x="11219688" y="3191256"/>
            <a:ext cx="173736" cy="521208"/>
          </a:xfrm>
          <a:prstGeom prst="rect">
            <a:avLst/>
          </a:prstGeom>
          <a:solidFill>
            <a:srgbClr val="0B7A75"/>
          </a:solidFill>
          <a:ln w="12700">
            <a:solidFill>
              <a:srgbClr val="0B7A75"/>
            </a:solidFill>
            <a:prstDash val="solid"/>
          </a:ln>
        </p:spPr>
      </p:sp>
      <p:sp>
        <p:nvSpPr>
          <p:cNvPr id="24" name="Text 22"/>
          <p:cNvSpPr/>
          <p:nvPr/>
        </p:nvSpPr>
        <p:spPr>
          <a:xfrm>
            <a:off x="8668512" y="3282696"/>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برخاستن از صندلی</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5" name="Shape 23"/>
          <p:cNvSpPr/>
          <p:nvPr/>
        </p:nvSpPr>
        <p:spPr>
          <a:xfrm>
            <a:off x="6053328" y="3429000"/>
            <a:ext cx="2103120" cy="0"/>
          </a:xfrm>
          <a:prstGeom prst="line">
            <a:avLst/>
          </a:prstGeom>
          <a:noFill/>
          <a:ln w="101600">
            <a:solidFill>
              <a:srgbClr val="EEF4F8"/>
            </a:solidFill>
            <a:prstDash val="solid"/>
            <a:headEnd type="none"/>
            <a:tailEnd type="none"/>
          </a:ln>
        </p:spPr>
      </p:sp>
      <p:sp>
        <p:nvSpPr>
          <p:cNvPr id="26" name="Shape 24"/>
          <p:cNvSpPr/>
          <p:nvPr/>
        </p:nvSpPr>
        <p:spPr>
          <a:xfrm>
            <a:off x="6053328" y="3337560"/>
            <a:ext cx="1962912" cy="182880"/>
          </a:xfrm>
          <a:prstGeom prst="roundRect">
            <a:avLst>
              <a:gd name="adj" fmla="val 30000"/>
            </a:avLst>
          </a:prstGeom>
          <a:solidFill>
            <a:srgbClr val="0B7A75"/>
          </a:solidFill>
          <a:ln w="12700">
            <a:solidFill>
              <a:srgbClr val="0B7A75"/>
            </a:solidFill>
            <a:prstDash val="solid"/>
          </a:ln>
        </p:spPr>
      </p:sp>
      <p:sp>
        <p:nvSpPr>
          <p:cNvPr id="27" name="Text 25"/>
          <p:cNvSpPr/>
          <p:nvPr/>
        </p:nvSpPr>
        <p:spPr>
          <a:xfrm>
            <a:off x="8211312" y="3255264"/>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0B7A75"/>
                </a:solidFill>
                <a:latin typeface="Sharif 1.2 ExtraLight" panose="020B0000040000000000" pitchFamily="34" charset="-78"/>
                <a:ea typeface="Sharif 1.2 ExtraLight" panose="020B0000040000000000" pitchFamily="34" charset="-78"/>
                <a:cs typeface="Sharif 1.2 ExtraLight" panose="020B0000040000000000" pitchFamily="34" charset="-78"/>
              </a:rPr>
              <a:t>۱۴</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8" name="Shape 26"/>
          <p:cNvSpPr/>
          <p:nvPr/>
        </p:nvSpPr>
        <p:spPr>
          <a:xfrm>
            <a:off x="4005072" y="3264408"/>
            <a:ext cx="1097280" cy="356616"/>
          </a:xfrm>
          <a:prstGeom prst="roundRect">
            <a:avLst>
              <a:gd name="adj" fmla="val 46154"/>
            </a:avLst>
          </a:prstGeom>
          <a:solidFill>
            <a:srgbClr val="FFF5D8"/>
          </a:solidFill>
          <a:ln w="12700">
            <a:solidFill>
              <a:srgbClr val="FFF5D8"/>
            </a:solidFill>
            <a:prstDash val="solid"/>
          </a:ln>
        </p:spPr>
      </p:sp>
      <p:sp>
        <p:nvSpPr>
          <p:cNvPr id="29" name="Text 27"/>
          <p:cNvSpPr/>
          <p:nvPr/>
        </p:nvSpPr>
        <p:spPr>
          <a:xfrm>
            <a:off x="4114800" y="3282696"/>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8A5A00"/>
                </a:solidFill>
                <a:latin typeface="Sharif 1.2 ExtraLight" panose="020B0000040000000000" pitchFamily="34" charset="-78"/>
                <a:ea typeface="Sharif 1.2 ExtraLight" panose="020B0000040000000000" pitchFamily="34" charset="-78"/>
                <a:cs typeface="Sharif 1.2 ExtraLight" panose="020B0000040000000000" pitchFamily="34" charset="-78"/>
              </a:rPr>
              <a:t>۸۰٪</a:t>
            </a:r>
            <a:endParaRPr lang="en-US" sz="12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0" name="Text 28"/>
          <p:cNvSpPr/>
          <p:nvPr/>
        </p:nvSpPr>
        <p:spPr>
          <a:xfrm>
            <a:off x="1005840" y="3282696"/>
            <a:ext cx="2468880" cy="256032"/>
          </a:xfrm>
          <a:prstGeom prst="rect">
            <a:avLst/>
          </a:prstGeom>
          <a:noFill/>
          <a:ln/>
        </p:spPr>
        <p:txBody>
          <a:bodyPr wrap="square" lIns="0" tIns="0" rIns="0" bIns="0" rtlCol="0" anchor="ctr">
            <a:normAutofit/>
          </a:bodyPr>
          <a:lstStyle/>
          <a:p>
            <a:pPr marL="0" indent="0" algn="ctr" rtl="1">
              <a:buNone/>
            </a:pPr>
            <a:r>
              <a:rPr lang="en-US" sz="114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حرکت چندمرحله‌ای</a:t>
            </a:r>
            <a:endParaRPr lang="en-US" sz="114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1" name="Shape 29"/>
          <p:cNvSpPr/>
          <p:nvPr/>
        </p:nvSpPr>
        <p:spPr>
          <a:xfrm>
            <a:off x="804672" y="3822192"/>
            <a:ext cx="10588752" cy="521208"/>
          </a:xfrm>
          <a:prstGeom prst="roundRect">
            <a:avLst>
              <a:gd name="adj" fmla="val 7018"/>
            </a:avLst>
          </a:prstGeom>
          <a:solidFill>
            <a:srgbClr val="FFFFFF"/>
          </a:solidFill>
          <a:ln w="12700">
            <a:solidFill>
              <a:srgbClr val="E0E8EE"/>
            </a:solidFill>
            <a:prstDash val="solid"/>
          </a:ln>
        </p:spPr>
      </p:sp>
      <p:sp>
        <p:nvSpPr>
          <p:cNvPr id="32" name="Shape 30"/>
          <p:cNvSpPr/>
          <p:nvPr/>
        </p:nvSpPr>
        <p:spPr>
          <a:xfrm>
            <a:off x="11219688" y="3822192"/>
            <a:ext cx="173736" cy="521208"/>
          </a:xfrm>
          <a:prstGeom prst="rect">
            <a:avLst/>
          </a:prstGeom>
          <a:solidFill>
            <a:srgbClr val="E69F00"/>
          </a:solidFill>
          <a:ln w="12700">
            <a:solidFill>
              <a:srgbClr val="E69F00"/>
            </a:solidFill>
            <a:prstDash val="solid"/>
          </a:ln>
        </p:spPr>
      </p:sp>
      <p:sp>
        <p:nvSpPr>
          <p:cNvPr id="33" name="Text 31"/>
          <p:cNvSpPr/>
          <p:nvPr/>
        </p:nvSpPr>
        <p:spPr>
          <a:xfrm>
            <a:off x="8668512" y="3913632"/>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پریدن</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4" name="Shape 32"/>
          <p:cNvSpPr/>
          <p:nvPr/>
        </p:nvSpPr>
        <p:spPr>
          <a:xfrm>
            <a:off x="6053328" y="4059936"/>
            <a:ext cx="2103120" cy="0"/>
          </a:xfrm>
          <a:prstGeom prst="line">
            <a:avLst/>
          </a:prstGeom>
          <a:noFill/>
          <a:ln w="101600">
            <a:solidFill>
              <a:srgbClr val="EEF4F8"/>
            </a:solidFill>
            <a:prstDash val="solid"/>
            <a:headEnd type="none"/>
            <a:tailEnd type="none"/>
          </a:ln>
        </p:spPr>
      </p:sp>
      <p:sp>
        <p:nvSpPr>
          <p:cNvPr id="35" name="Shape 33"/>
          <p:cNvSpPr/>
          <p:nvPr/>
        </p:nvSpPr>
        <p:spPr>
          <a:xfrm>
            <a:off x="6053328" y="3968496"/>
            <a:ext cx="2103120" cy="182880"/>
          </a:xfrm>
          <a:prstGeom prst="roundRect">
            <a:avLst>
              <a:gd name="adj" fmla="val 30000"/>
            </a:avLst>
          </a:prstGeom>
          <a:solidFill>
            <a:srgbClr val="E69F00"/>
          </a:solidFill>
          <a:ln w="12700">
            <a:solidFill>
              <a:srgbClr val="E69F00"/>
            </a:solidFill>
            <a:prstDash val="solid"/>
          </a:ln>
        </p:spPr>
      </p:sp>
      <p:sp>
        <p:nvSpPr>
          <p:cNvPr id="36" name="Text 34"/>
          <p:cNvSpPr/>
          <p:nvPr/>
        </p:nvSpPr>
        <p:spPr>
          <a:xfrm>
            <a:off x="8211312" y="3886200"/>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E69F00"/>
                </a:solidFill>
                <a:latin typeface="Sharif 1.2 ExtraLight" panose="020B0000040000000000" pitchFamily="34" charset="-78"/>
                <a:ea typeface="Sharif 1.2 ExtraLight" panose="020B0000040000000000" pitchFamily="34" charset="-78"/>
                <a:cs typeface="Sharif 1.2 ExtraLight" panose="020B0000040000000000" pitchFamily="34" charset="-78"/>
              </a:rPr>
              <a:t>۱۵</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7" name="Shape 35"/>
          <p:cNvSpPr/>
          <p:nvPr/>
        </p:nvSpPr>
        <p:spPr>
          <a:xfrm>
            <a:off x="4005072" y="3895344"/>
            <a:ext cx="1097280" cy="356616"/>
          </a:xfrm>
          <a:prstGeom prst="roundRect">
            <a:avLst>
              <a:gd name="adj" fmla="val 46154"/>
            </a:avLst>
          </a:prstGeom>
          <a:solidFill>
            <a:srgbClr val="E8F5EE"/>
          </a:solidFill>
          <a:ln w="12700">
            <a:solidFill>
              <a:srgbClr val="E8F5EE"/>
            </a:solidFill>
            <a:prstDash val="solid"/>
          </a:ln>
        </p:spPr>
      </p:sp>
      <p:sp>
        <p:nvSpPr>
          <p:cNvPr id="38" name="Text 36"/>
          <p:cNvSpPr/>
          <p:nvPr/>
        </p:nvSpPr>
        <p:spPr>
          <a:xfrm>
            <a:off x="4114800" y="3913632"/>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2F855A"/>
                </a:solidFill>
                <a:latin typeface="Sharif 1.2 ExtraLight" panose="020B0000040000000000" pitchFamily="34" charset="-78"/>
                <a:ea typeface="Sharif 1.2 ExtraLight" panose="020B0000040000000000" pitchFamily="34" charset="-78"/>
                <a:cs typeface="Sharif 1.2 ExtraLight" panose="020B0000040000000000" pitchFamily="34" charset="-78"/>
              </a:rPr>
              <a:t>۹۰٪</a:t>
            </a:r>
            <a:endParaRPr lang="en-US" sz="12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9" name="Text 37"/>
          <p:cNvSpPr/>
          <p:nvPr/>
        </p:nvSpPr>
        <p:spPr>
          <a:xfrm>
            <a:off x="1005840" y="3913632"/>
            <a:ext cx="2468880" cy="256032"/>
          </a:xfrm>
          <a:prstGeom prst="rect">
            <a:avLst/>
          </a:prstGeom>
          <a:noFill/>
          <a:ln/>
        </p:spPr>
        <p:txBody>
          <a:bodyPr wrap="square" lIns="0" tIns="0" rIns="0" bIns="0" rtlCol="0" anchor="ctr">
            <a:normAutofit/>
          </a:bodyPr>
          <a:lstStyle/>
          <a:p>
            <a:pPr marL="0" indent="0" algn="ctr" rtl="1">
              <a:buNone/>
            </a:pPr>
            <a:r>
              <a:rPr lang="en-US" sz="114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بیشترین تعداد مؤلفه</a:t>
            </a:r>
            <a:endParaRPr lang="en-US" sz="114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0" name="Shape 38"/>
          <p:cNvSpPr/>
          <p:nvPr/>
        </p:nvSpPr>
        <p:spPr>
          <a:xfrm>
            <a:off x="804672" y="4453128"/>
            <a:ext cx="10588752" cy="521208"/>
          </a:xfrm>
          <a:prstGeom prst="roundRect">
            <a:avLst>
              <a:gd name="adj" fmla="val 7018"/>
            </a:avLst>
          </a:prstGeom>
          <a:solidFill>
            <a:srgbClr val="F3F7FA"/>
          </a:solidFill>
          <a:ln w="12700">
            <a:solidFill>
              <a:srgbClr val="E0E8EE"/>
            </a:solidFill>
            <a:prstDash val="solid"/>
          </a:ln>
        </p:spPr>
      </p:sp>
      <p:sp>
        <p:nvSpPr>
          <p:cNvPr id="41" name="Shape 39"/>
          <p:cNvSpPr/>
          <p:nvPr/>
        </p:nvSpPr>
        <p:spPr>
          <a:xfrm>
            <a:off x="11219688" y="4453128"/>
            <a:ext cx="173736" cy="521208"/>
          </a:xfrm>
          <a:prstGeom prst="rect">
            <a:avLst/>
          </a:prstGeom>
          <a:solidFill>
            <a:srgbClr val="2F855A"/>
          </a:solidFill>
          <a:ln w="12700">
            <a:solidFill>
              <a:srgbClr val="2F855A"/>
            </a:solidFill>
            <a:prstDash val="solid"/>
          </a:ln>
        </p:spPr>
      </p:sp>
      <p:sp>
        <p:nvSpPr>
          <p:cNvPr id="42" name="Text 40"/>
          <p:cNvSpPr/>
          <p:nvPr/>
        </p:nvSpPr>
        <p:spPr>
          <a:xfrm>
            <a:off x="8668512" y="4544568"/>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بالا آوردن سر</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3" name="Shape 41"/>
          <p:cNvSpPr/>
          <p:nvPr/>
        </p:nvSpPr>
        <p:spPr>
          <a:xfrm>
            <a:off x="6053328" y="4690872"/>
            <a:ext cx="2103120" cy="0"/>
          </a:xfrm>
          <a:prstGeom prst="line">
            <a:avLst/>
          </a:prstGeom>
          <a:noFill/>
          <a:ln w="101600">
            <a:solidFill>
              <a:srgbClr val="EEF4F8"/>
            </a:solidFill>
            <a:prstDash val="solid"/>
            <a:headEnd type="none"/>
            <a:tailEnd type="none"/>
          </a:ln>
        </p:spPr>
      </p:sp>
      <p:sp>
        <p:nvSpPr>
          <p:cNvPr id="44" name="Shape 42"/>
          <p:cNvSpPr/>
          <p:nvPr/>
        </p:nvSpPr>
        <p:spPr>
          <a:xfrm>
            <a:off x="6053328" y="4599432"/>
            <a:ext cx="1962912" cy="182880"/>
          </a:xfrm>
          <a:prstGeom prst="roundRect">
            <a:avLst>
              <a:gd name="adj" fmla="val 30000"/>
            </a:avLst>
          </a:prstGeom>
          <a:solidFill>
            <a:srgbClr val="2F855A"/>
          </a:solidFill>
          <a:ln w="12700">
            <a:solidFill>
              <a:srgbClr val="2F855A"/>
            </a:solidFill>
            <a:prstDash val="solid"/>
          </a:ln>
        </p:spPr>
      </p:sp>
      <p:sp>
        <p:nvSpPr>
          <p:cNvPr id="45" name="Text 43"/>
          <p:cNvSpPr/>
          <p:nvPr/>
        </p:nvSpPr>
        <p:spPr>
          <a:xfrm>
            <a:off x="8211312" y="4517136"/>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2F855A"/>
                </a:solidFill>
                <a:latin typeface="Sharif 1.2 ExtraLight" panose="020B0000040000000000" pitchFamily="34" charset="-78"/>
                <a:ea typeface="Sharif 1.2 ExtraLight" panose="020B0000040000000000" pitchFamily="34" charset="-78"/>
                <a:cs typeface="Sharif 1.2 ExtraLight" panose="020B0000040000000000" pitchFamily="34" charset="-78"/>
              </a:rPr>
              <a:t>۱۴</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6" name="Shape 44"/>
          <p:cNvSpPr/>
          <p:nvPr/>
        </p:nvSpPr>
        <p:spPr>
          <a:xfrm>
            <a:off x="4005072" y="4526280"/>
            <a:ext cx="1097280" cy="356616"/>
          </a:xfrm>
          <a:prstGeom prst="roundRect">
            <a:avLst>
              <a:gd name="adj" fmla="val 46154"/>
            </a:avLst>
          </a:prstGeom>
          <a:solidFill>
            <a:srgbClr val="E8F5EE"/>
          </a:solidFill>
          <a:ln w="12700">
            <a:solidFill>
              <a:srgbClr val="E8F5EE"/>
            </a:solidFill>
            <a:prstDash val="solid"/>
          </a:ln>
        </p:spPr>
      </p:sp>
      <p:sp>
        <p:nvSpPr>
          <p:cNvPr id="47" name="Text 45"/>
          <p:cNvSpPr/>
          <p:nvPr/>
        </p:nvSpPr>
        <p:spPr>
          <a:xfrm>
            <a:off x="4114800" y="4544568"/>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2F855A"/>
                </a:solidFill>
                <a:latin typeface="Sharif 1.2 ExtraLight" panose="020B0000040000000000" pitchFamily="34" charset="-78"/>
                <a:ea typeface="Sharif 1.2 ExtraLight" panose="020B0000040000000000" pitchFamily="34" charset="-78"/>
                <a:cs typeface="Sharif 1.2 ExtraLight" panose="020B0000040000000000" pitchFamily="34" charset="-78"/>
              </a:rPr>
              <a:t>۹۰٪</a:t>
            </a:r>
            <a:endParaRPr lang="en-US" sz="12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8" name="Text 46"/>
          <p:cNvSpPr/>
          <p:nvPr/>
        </p:nvSpPr>
        <p:spPr>
          <a:xfrm>
            <a:off x="1005840" y="4544568"/>
            <a:ext cx="2468880" cy="256032"/>
          </a:xfrm>
          <a:prstGeom prst="rect">
            <a:avLst/>
          </a:prstGeom>
          <a:noFill/>
          <a:ln/>
        </p:spPr>
        <p:txBody>
          <a:bodyPr wrap="square" lIns="0" tIns="0" rIns="0" bIns="0" rtlCol="0" anchor="ctr">
            <a:normAutofit/>
          </a:bodyPr>
          <a:lstStyle/>
          <a:p>
            <a:pPr marL="0" indent="0" algn="ctr" rtl="1">
              <a:buNone/>
            </a:pPr>
            <a:r>
              <a:rPr lang="en-US" sz="114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نقش اصلی حسگر پیشانی</a:t>
            </a:r>
            <a:endParaRPr lang="en-US" sz="114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9" name="Shape 47"/>
          <p:cNvSpPr/>
          <p:nvPr/>
        </p:nvSpPr>
        <p:spPr>
          <a:xfrm>
            <a:off x="804672" y="5084064"/>
            <a:ext cx="10588752" cy="521208"/>
          </a:xfrm>
          <a:prstGeom prst="roundRect">
            <a:avLst>
              <a:gd name="adj" fmla="val 7018"/>
            </a:avLst>
          </a:prstGeom>
          <a:solidFill>
            <a:srgbClr val="FFFFFF"/>
          </a:solidFill>
          <a:ln w="12700">
            <a:solidFill>
              <a:srgbClr val="E0E8EE"/>
            </a:solidFill>
            <a:prstDash val="solid"/>
          </a:ln>
        </p:spPr>
      </p:sp>
      <p:sp>
        <p:nvSpPr>
          <p:cNvPr id="50" name="Shape 48"/>
          <p:cNvSpPr/>
          <p:nvPr/>
        </p:nvSpPr>
        <p:spPr>
          <a:xfrm>
            <a:off x="11219688" y="5084064"/>
            <a:ext cx="173736" cy="521208"/>
          </a:xfrm>
          <a:prstGeom prst="rect">
            <a:avLst/>
          </a:prstGeom>
          <a:solidFill>
            <a:srgbClr val="C0392B"/>
          </a:solidFill>
          <a:ln w="12700">
            <a:solidFill>
              <a:srgbClr val="C0392B"/>
            </a:solidFill>
            <a:prstDash val="solid"/>
          </a:ln>
        </p:spPr>
      </p:sp>
      <p:sp>
        <p:nvSpPr>
          <p:cNvPr id="51" name="Text 49"/>
          <p:cNvSpPr/>
          <p:nvPr/>
        </p:nvSpPr>
        <p:spPr>
          <a:xfrm>
            <a:off x="8668512" y="5175504"/>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بالا رفتن از جعبه</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2" name="Shape 50"/>
          <p:cNvSpPr/>
          <p:nvPr/>
        </p:nvSpPr>
        <p:spPr>
          <a:xfrm>
            <a:off x="6053328" y="5321808"/>
            <a:ext cx="2103120" cy="0"/>
          </a:xfrm>
          <a:prstGeom prst="line">
            <a:avLst/>
          </a:prstGeom>
          <a:noFill/>
          <a:ln w="101600">
            <a:solidFill>
              <a:srgbClr val="EEF4F8"/>
            </a:solidFill>
            <a:prstDash val="solid"/>
            <a:headEnd type="none"/>
            <a:tailEnd type="none"/>
          </a:ln>
        </p:spPr>
      </p:sp>
      <p:sp>
        <p:nvSpPr>
          <p:cNvPr id="53" name="Shape 51"/>
          <p:cNvSpPr/>
          <p:nvPr/>
        </p:nvSpPr>
        <p:spPr>
          <a:xfrm>
            <a:off x="6053328" y="5230368"/>
            <a:ext cx="1402080" cy="182880"/>
          </a:xfrm>
          <a:prstGeom prst="roundRect">
            <a:avLst>
              <a:gd name="adj" fmla="val 30000"/>
            </a:avLst>
          </a:prstGeom>
          <a:solidFill>
            <a:srgbClr val="C0392B"/>
          </a:solidFill>
          <a:ln w="12700">
            <a:solidFill>
              <a:srgbClr val="C0392B"/>
            </a:solidFill>
            <a:prstDash val="solid"/>
          </a:ln>
        </p:spPr>
      </p:sp>
      <p:sp>
        <p:nvSpPr>
          <p:cNvPr id="54" name="Text 52"/>
          <p:cNvSpPr/>
          <p:nvPr/>
        </p:nvSpPr>
        <p:spPr>
          <a:xfrm>
            <a:off x="8211312" y="5148072"/>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C0392B"/>
                </a:solidFill>
                <a:latin typeface="Sharif 1.2 ExtraLight" panose="020B0000040000000000" pitchFamily="34" charset="-78"/>
                <a:ea typeface="Sharif 1.2 ExtraLight" panose="020B0000040000000000" pitchFamily="34" charset="-78"/>
                <a:cs typeface="Sharif 1.2 ExtraLight" panose="020B0000040000000000" pitchFamily="34" charset="-78"/>
              </a:rPr>
              <a:t>۱۰</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5" name="Shape 53"/>
          <p:cNvSpPr/>
          <p:nvPr/>
        </p:nvSpPr>
        <p:spPr>
          <a:xfrm>
            <a:off x="4005072" y="5157216"/>
            <a:ext cx="1097280" cy="356616"/>
          </a:xfrm>
          <a:prstGeom prst="roundRect">
            <a:avLst>
              <a:gd name="adj" fmla="val 46154"/>
            </a:avLst>
          </a:prstGeom>
          <a:solidFill>
            <a:srgbClr val="FFF5D8"/>
          </a:solidFill>
          <a:ln w="12700">
            <a:solidFill>
              <a:srgbClr val="FFF5D8"/>
            </a:solidFill>
            <a:prstDash val="solid"/>
          </a:ln>
        </p:spPr>
      </p:sp>
      <p:sp>
        <p:nvSpPr>
          <p:cNvPr id="56" name="Text 54"/>
          <p:cNvSpPr/>
          <p:nvPr/>
        </p:nvSpPr>
        <p:spPr>
          <a:xfrm>
            <a:off x="4114800" y="5175504"/>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8A5A00"/>
                </a:solidFill>
                <a:latin typeface="Sharif 1.2 ExtraLight" panose="020B0000040000000000" pitchFamily="34" charset="-78"/>
                <a:ea typeface="Sharif 1.2 ExtraLight" panose="020B0000040000000000" pitchFamily="34" charset="-78"/>
                <a:cs typeface="Sharif 1.2 ExtraLight" panose="020B0000040000000000" pitchFamily="34" charset="-78"/>
              </a:rPr>
              <a:t>۸۰٪</a:t>
            </a:r>
            <a:endParaRPr lang="en-US" sz="12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7" name="Text 55"/>
          <p:cNvSpPr/>
          <p:nvPr/>
        </p:nvSpPr>
        <p:spPr>
          <a:xfrm>
            <a:off x="1005840" y="5175504"/>
            <a:ext cx="2468880" cy="256032"/>
          </a:xfrm>
          <a:prstGeom prst="rect">
            <a:avLst/>
          </a:prstGeom>
          <a:noFill/>
          <a:ln/>
        </p:spPr>
        <p:txBody>
          <a:bodyPr wrap="square" lIns="0" tIns="0" rIns="0" bIns="0" rtlCol="0" anchor="ctr">
            <a:normAutofit/>
          </a:bodyPr>
          <a:lstStyle/>
          <a:p>
            <a:pPr marL="0" indent="0" algn="ctr" rtl="1">
              <a:buNone/>
            </a:pPr>
            <a:r>
              <a:rPr lang="en-US" sz="114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فشرده‌ترین فضای ویژگی</a:t>
            </a:r>
            <a:endParaRPr lang="en-US" sz="114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8" name="Shape 56"/>
          <p:cNvSpPr/>
          <p:nvPr/>
        </p:nvSpPr>
        <p:spPr>
          <a:xfrm>
            <a:off x="1316736" y="5833872"/>
            <a:ext cx="9555480" cy="493776"/>
          </a:xfrm>
          <a:prstGeom prst="roundRect">
            <a:avLst>
              <a:gd name="adj" fmla="val 18519"/>
            </a:avLst>
          </a:prstGeom>
          <a:solidFill>
            <a:srgbClr val="FDECEA"/>
          </a:solidFill>
          <a:ln w="12700">
            <a:solidFill>
              <a:srgbClr val="F2C4BE"/>
            </a:solidFill>
            <a:prstDash val="solid"/>
          </a:ln>
        </p:spPr>
      </p:sp>
      <p:sp>
        <p:nvSpPr>
          <p:cNvPr id="59" name="Text 57"/>
          <p:cNvSpPr/>
          <p:nvPr/>
        </p:nvSpPr>
        <p:spPr>
          <a:xfrm>
            <a:off x="1572768" y="5934456"/>
            <a:ext cx="9052560" cy="256032"/>
          </a:xfrm>
          <a:prstGeom prst="rect">
            <a:avLst/>
          </a:prstGeom>
          <a:noFill/>
          <a:ln/>
        </p:spPr>
        <p:txBody>
          <a:bodyPr wrap="square" lIns="0" tIns="0" rIns="0" bIns="0" rtlCol="0" anchor="ctr">
            <a:normAutofit/>
          </a:bodyPr>
          <a:lstStyle/>
          <a:p>
            <a:pPr marL="0" indent="0" algn="ctr" rtl="1">
              <a:buNone/>
            </a:pPr>
            <a:r>
              <a:rPr lang="en-US" sz="1220" b="1" dirty="0">
                <a:solidFill>
                  <a:srgbClr val="C0392B"/>
                </a:solidFill>
                <a:latin typeface="Sharif 1.2 ExtraLight" panose="020B0000040000000000" pitchFamily="34" charset="-78"/>
                <a:ea typeface="Sharif 1.2 ExtraLight" panose="020B0000040000000000" pitchFamily="34" charset="-78"/>
                <a:cs typeface="Sharif 1.2 ExtraLight" panose="020B0000040000000000" pitchFamily="34" charset="-78"/>
              </a:rPr>
              <a:t>حد نصاب‌ها فقط معیار مهندسی انتخاب مدل در این مجموعه داده هستند و بیانگر اعتبار بالینی نیستند.</a:t>
            </a:r>
            <a:endParaRPr lang="en-US" sz="12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60" name="Shape 58"/>
          <p:cNvSpPr/>
          <p:nvPr/>
        </p:nvSpPr>
        <p:spPr>
          <a:xfrm>
            <a:off x="658368" y="6473952"/>
            <a:ext cx="10881360" cy="0"/>
          </a:xfrm>
          <a:prstGeom prst="line">
            <a:avLst/>
          </a:prstGeom>
          <a:noFill/>
          <a:ln w="10160">
            <a:solidFill>
              <a:srgbClr val="E9EEF2"/>
            </a:solidFill>
            <a:prstDash val="solid"/>
          </a:ln>
        </p:spPr>
      </p:sp>
      <p:sp>
        <p:nvSpPr>
          <p:cNvPr id="61" name="Text 59"/>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پایان‌نامه کارشناسی مهندسی مکانیک</a:t>
            </a:r>
            <a:endParaRPr lang="en-US" sz="120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62" name="Text 60"/>
          <p:cNvSpPr/>
          <p:nvPr/>
        </p:nvSpPr>
        <p:spPr>
          <a:xfrm>
            <a:off x="3442716" y="6526609"/>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نتایج</a:t>
            </a:r>
            <a:r>
              <a:rPr lang="en-US" sz="1200" dirty="0">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 و بحث | ۴ اسلاید تا پایان</a:t>
            </a:r>
            <a:endParaRPr lang="en-US" sz="120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63" name="Text 61"/>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۱۰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64" name="Shape 62"/>
          <p:cNvSpPr/>
          <p:nvPr/>
        </p:nvSpPr>
        <p:spPr>
          <a:xfrm>
            <a:off x="2560320" y="6766560"/>
            <a:ext cx="4702629" cy="41148"/>
          </a:xfrm>
          <a:prstGeom prst="rect">
            <a:avLst/>
          </a:prstGeom>
          <a:solidFill>
            <a:srgbClr val="0B6E99"/>
          </a:solidFill>
          <a:ln w="12700">
            <a:solidFill>
              <a:srgbClr val="0B6E99"/>
            </a:solidFill>
            <a:prstDash val="solid"/>
          </a:ln>
        </p:spPr>
      </p:sp>
      <p:sp>
        <p:nvSpPr>
          <p:cNvPr id="65" name="Shape 63"/>
          <p:cNvSpPr/>
          <p:nvPr/>
        </p:nvSpPr>
        <p:spPr>
          <a:xfrm>
            <a:off x="7262949" y="6766560"/>
            <a:ext cx="1881051" cy="41148"/>
          </a:xfrm>
          <a:prstGeom prst="rect">
            <a:avLst/>
          </a:prstGeom>
          <a:solidFill>
            <a:srgbClr val="E6EDF2"/>
          </a:solidFill>
          <a:ln w="12700">
            <a:solidFill>
              <a:srgbClr val="E6EDF2"/>
            </a:solidFill>
            <a:prstDash val="solid"/>
          </a:ln>
        </p:spPr>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تفسیر فعالیت‌محور نتایج</a:t>
            </a:r>
            <a:endParaRPr lang="en-US" sz="2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7" name="Text 5"/>
          <p:cNvSpPr/>
          <p:nvPr/>
        </p:nvSpPr>
        <p:spPr>
          <a:xfrm>
            <a:off x="5010912" y="1444752"/>
            <a:ext cx="6108192" cy="384048"/>
          </a:xfrm>
          <a:prstGeom prst="rect">
            <a:avLst/>
          </a:prstGeom>
          <a:noFill/>
          <a:ln/>
        </p:spPr>
        <p:txBody>
          <a:bodyPr wrap="square" lIns="0" tIns="0" rIns="0" bIns="0" rtlCol="0" anchor="ctr">
            <a:normAutofit/>
          </a:bodyPr>
          <a:lstStyle/>
          <a:p>
            <a:pPr marL="0" indent="0" algn="r" rtl="1">
              <a:buNone/>
            </a:pPr>
            <a:r>
              <a:rPr lang="en-US" sz="18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اطلاعات تفکیک‌کننده برای هر حرکت یکسان نیست</a:t>
            </a:r>
            <a:endParaRPr lang="en-US" sz="18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8" name="Shape 6"/>
          <p:cNvSpPr/>
          <p:nvPr/>
        </p:nvSpPr>
        <p:spPr>
          <a:xfrm>
            <a:off x="768096" y="199339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9" name="Shape 7"/>
          <p:cNvSpPr/>
          <p:nvPr/>
        </p:nvSpPr>
        <p:spPr>
          <a:xfrm>
            <a:off x="5751576" y="1993392"/>
            <a:ext cx="173736" cy="1170432"/>
          </a:xfrm>
          <a:prstGeom prst="rect">
            <a:avLst/>
          </a:prstGeom>
          <a:solidFill>
            <a:srgbClr val="0B6E99"/>
          </a:solidFill>
          <a:ln w="12700">
            <a:solidFill>
              <a:srgbClr val="0B6E99"/>
            </a:solidFill>
            <a:prstDash val="solid"/>
          </a:ln>
        </p:spPr>
      </p:sp>
      <p:sp>
        <p:nvSpPr>
          <p:cNvPr id="10" name="Text 8"/>
          <p:cNvSpPr/>
          <p:nvPr/>
        </p:nvSpPr>
        <p:spPr>
          <a:xfrm>
            <a:off x="3621024" y="215798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ایستادن</a:t>
            </a:r>
            <a:endParaRPr lang="en-US" sz="16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1" name="Shape 9"/>
          <p:cNvSpPr/>
          <p:nvPr/>
        </p:nvSpPr>
        <p:spPr>
          <a:xfrm>
            <a:off x="1042416" y="2157984"/>
            <a:ext cx="1417320" cy="310896"/>
          </a:xfrm>
          <a:prstGeom prst="roundRect">
            <a:avLst>
              <a:gd name="adj" fmla="val 52941"/>
            </a:avLst>
          </a:prstGeom>
          <a:solidFill>
            <a:srgbClr val="EEF4F8"/>
          </a:solidFill>
          <a:ln w="12700">
            <a:solidFill>
              <a:srgbClr val="EEF4F8"/>
            </a:solidFill>
            <a:prstDash val="solid"/>
          </a:ln>
        </p:spPr>
      </p:sp>
      <p:sp>
        <p:nvSpPr>
          <p:cNvPr id="12" name="Text 10"/>
          <p:cNvSpPr/>
          <p:nvPr/>
        </p:nvSpPr>
        <p:spPr>
          <a:xfrm>
            <a:off x="1152144" y="217627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تعادل</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3" name="Text 11"/>
          <p:cNvSpPr/>
          <p:nvPr/>
        </p:nvSpPr>
        <p:spPr>
          <a:xfrm>
            <a:off x="1060704" y="255117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نوسان‌های کم‌دامنه و حرکت جبرانی دست‌ها و سر اهمیت بیشتری داشت.</a:t>
            </a:r>
            <a:endParaRPr lang="en-US" sz="121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4" name="Shape 12"/>
          <p:cNvSpPr/>
          <p:nvPr/>
        </p:nvSpPr>
        <p:spPr>
          <a:xfrm>
            <a:off x="768096" y="331927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15" name="Shape 13"/>
          <p:cNvSpPr/>
          <p:nvPr/>
        </p:nvSpPr>
        <p:spPr>
          <a:xfrm>
            <a:off x="5751576" y="3319272"/>
            <a:ext cx="173736" cy="1170432"/>
          </a:xfrm>
          <a:prstGeom prst="rect">
            <a:avLst/>
          </a:prstGeom>
          <a:solidFill>
            <a:srgbClr val="0B7A75"/>
          </a:solidFill>
          <a:ln w="12700">
            <a:solidFill>
              <a:srgbClr val="0B7A75"/>
            </a:solidFill>
            <a:prstDash val="solid"/>
          </a:ln>
        </p:spPr>
      </p:sp>
      <p:sp>
        <p:nvSpPr>
          <p:cNvPr id="16" name="Text 14"/>
          <p:cNvSpPr/>
          <p:nvPr/>
        </p:nvSpPr>
        <p:spPr>
          <a:xfrm>
            <a:off x="3621024" y="348386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برخاستن</a:t>
            </a:r>
            <a:endParaRPr lang="en-US" sz="16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7" name="Shape 15"/>
          <p:cNvSpPr/>
          <p:nvPr/>
        </p:nvSpPr>
        <p:spPr>
          <a:xfrm>
            <a:off x="1042416" y="3483864"/>
            <a:ext cx="1417320" cy="310896"/>
          </a:xfrm>
          <a:prstGeom prst="roundRect">
            <a:avLst>
              <a:gd name="adj" fmla="val 52941"/>
            </a:avLst>
          </a:prstGeom>
          <a:solidFill>
            <a:srgbClr val="EEF4F8"/>
          </a:solidFill>
          <a:ln w="12700">
            <a:solidFill>
              <a:srgbClr val="EEF4F8"/>
            </a:solidFill>
            <a:prstDash val="solid"/>
          </a:ln>
        </p:spPr>
      </p:sp>
      <p:sp>
        <p:nvSpPr>
          <p:cNvPr id="18" name="Text 16"/>
          <p:cNvSpPr/>
          <p:nvPr/>
        </p:nvSpPr>
        <p:spPr>
          <a:xfrm>
            <a:off x="1152144" y="350215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0B7A75"/>
                </a:solidFill>
                <a:latin typeface="Sharif 1.2 ExtraLight" panose="020B0000040000000000" pitchFamily="34" charset="-78"/>
                <a:ea typeface="Sharif 1.2 ExtraLight" panose="020B0000040000000000" pitchFamily="34" charset="-78"/>
                <a:cs typeface="Sharif 1.2 ExtraLight" panose="020B0000040000000000" pitchFamily="34" charset="-78"/>
              </a:rPr>
              <a:t>هماهنگی</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9" name="Text 17"/>
          <p:cNvSpPr/>
          <p:nvPr/>
        </p:nvSpPr>
        <p:spPr>
          <a:xfrm>
            <a:off x="1060704" y="387705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ترتیب حرکت تنه، بازشدن مفاصل و استفاده از دست‌ها تعیین‌کننده بود.</a:t>
            </a:r>
            <a:endParaRPr lang="en-US" sz="121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0" name="Shape 18"/>
          <p:cNvSpPr/>
          <p:nvPr/>
        </p:nvSpPr>
        <p:spPr>
          <a:xfrm>
            <a:off x="768096" y="464515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1" name="Shape 19"/>
          <p:cNvSpPr/>
          <p:nvPr/>
        </p:nvSpPr>
        <p:spPr>
          <a:xfrm>
            <a:off x="5751576" y="4645152"/>
            <a:ext cx="173736" cy="1170432"/>
          </a:xfrm>
          <a:prstGeom prst="rect">
            <a:avLst/>
          </a:prstGeom>
          <a:solidFill>
            <a:srgbClr val="E69F00"/>
          </a:solidFill>
          <a:ln w="12700">
            <a:solidFill>
              <a:srgbClr val="E69F00"/>
            </a:solidFill>
            <a:prstDash val="solid"/>
          </a:ln>
        </p:spPr>
      </p:sp>
      <p:sp>
        <p:nvSpPr>
          <p:cNvPr id="22" name="Text 20"/>
          <p:cNvSpPr/>
          <p:nvPr/>
        </p:nvSpPr>
        <p:spPr>
          <a:xfrm>
            <a:off x="3621024" y="480974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پریدن</a:t>
            </a:r>
            <a:endParaRPr lang="en-US" sz="16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3" name="Shape 21"/>
          <p:cNvSpPr/>
          <p:nvPr/>
        </p:nvSpPr>
        <p:spPr>
          <a:xfrm>
            <a:off x="1042416" y="4809744"/>
            <a:ext cx="1417320" cy="310896"/>
          </a:xfrm>
          <a:prstGeom prst="roundRect">
            <a:avLst>
              <a:gd name="adj" fmla="val 52941"/>
            </a:avLst>
          </a:prstGeom>
          <a:solidFill>
            <a:srgbClr val="FFF5D8"/>
          </a:solidFill>
          <a:ln w="12700">
            <a:solidFill>
              <a:srgbClr val="FFF5D8"/>
            </a:solidFill>
            <a:prstDash val="solid"/>
          </a:ln>
        </p:spPr>
      </p:sp>
      <p:sp>
        <p:nvSpPr>
          <p:cNvPr id="24" name="Text 22"/>
          <p:cNvSpPr/>
          <p:nvPr/>
        </p:nvSpPr>
        <p:spPr>
          <a:xfrm>
            <a:off x="1152144" y="482803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E69F00"/>
                </a:solidFill>
                <a:latin typeface="Sharif 1.2 ExtraLight" panose="020B0000040000000000" pitchFamily="34" charset="-78"/>
                <a:ea typeface="Sharif 1.2 ExtraLight" panose="020B0000040000000000" pitchFamily="34" charset="-78"/>
                <a:cs typeface="Sharif 1.2 ExtraLight" panose="020B0000040000000000" pitchFamily="34" charset="-78"/>
              </a:rPr>
              <a:t>انرژی و فرود</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5" name="Text 23"/>
          <p:cNvSpPr/>
          <p:nvPr/>
        </p:nvSpPr>
        <p:spPr>
          <a:xfrm>
            <a:off x="1060704" y="520293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دامنه شتاب، انرژی سیگنال و پایداری پس از فرود شاخص‌تر بودند.</a:t>
            </a:r>
            <a:endParaRPr lang="en-US" sz="121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6" name="Shape 24"/>
          <p:cNvSpPr/>
          <p:nvPr/>
        </p:nvSpPr>
        <p:spPr>
          <a:xfrm>
            <a:off x="6245352" y="199339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7" name="Shape 25"/>
          <p:cNvSpPr/>
          <p:nvPr/>
        </p:nvSpPr>
        <p:spPr>
          <a:xfrm>
            <a:off x="11228832" y="1993392"/>
            <a:ext cx="173736" cy="1170432"/>
          </a:xfrm>
          <a:prstGeom prst="rect">
            <a:avLst/>
          </a:prstGeom>
          <a:solidFill>
            <a:srgbClr val="2F855A"/>
          </a:solidFill>
          <a:ln w="12700">
            <a:solidFill>
              <a:srgbClr val="2F855A"/>
            </a:solidFill>
            <a:prstDash val="solid"/>
          </a:ln>
        </p:spPr>
      </p:sp>
      <p:sp>
        <p:nvSpPr>
          <p:cNvPr id="28" name="Text 26"/>
          <p:cNvSpPr/>
          <p:nvPr/>
        </p:nvSpPr>
        <p:spPr>
          <a:xfrm>
            <a:off x="9098280" y="215798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بالا آوردن سر</a:t>
            </a:r>
            <a:endParaRPr lang="en-US" sz="16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9" name="Shape 27"/>
          <p:cNvSpPr/>
          <p:nvPr/>
        </p:nvSpPr>
        <p:spPr>
          <a:xfrm>
            <a:off x="6519672" y="2157984"/>
            <a:ext cx="1417320" cy="310896"/>
          </a:xfrm>
          <a:prstGeom prst="roundRect">
            <a:avLst>
              <a:gd name="adj" fmla="val 52941"/>
            </a:avLst>
          </a:prstGeom>
          <a:solidFill>
            <a:srgbClr val="EEF4F8"/>
          </a:solidFill>
          <a:ln w="12700">
            <a:solidFill>
              <a:srgbClr val="EEF4F8"/>
            </a:solidFill>
            <a:prstDash val="solid"/>
          </a:ln>
        </p:spPr>
      </p:sp>
      <p:sp>
        <p:nvSpPr>
          <p:cNvPr id="30" name="Text 28"/>
          <p:cNvSpPr/>
          <p:nvPr/>
        </p:nvSpPr>
        <p:spPr>
          <a:xfrm>
            <a:off x="6629400" y="217627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2F855A"/>
                </a:solidFill>
                <a:latin typeface="Sharif 1.2 ExtraLight" panose="020B0000040000000000" pitchFamily="34" charset="-78"/>
                <a:ea typeface="Sharif 1.2 ExtraLight" panose="020B0000040000000000" pitchFamily="34" charset="-78"/>
                <a:cs typeface="Sharif 1.2 ExtraLight" panose="020B0000040000000000" pitchFamily="34" charset="-78"/>
              </a:rPr>
              <a:t>حسگر پیشانی</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1" name="Text 29"/>
          <p:cNvSpPr/>
          <p:nvPr/>
        </p:nvSpPr>
        <p:spPr>
          <a:xfrm>
            <a:off x="6537960" y="255117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دامنه و سرعت حرکت سر، همراه با حرکات جبرانی اندام‌ها، اهمیت داشت.</a:t>
            </a:r>
            <a:endParaRPr lang="en-US" sz="121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2" name="Shape 30"/>
          <p:cNvSpPr/>
          <p:nvPr/>
        </p:nvSpPr>
        <p:spPr>
          <a:xfrm>
            <a:off x="6245352" y="331927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33" name="Shape 31"/>
          <p:cNvSpPr/>
          <p:nvPr/>
        </p:nvSpPr>
        <p:spPr>
          <a:xfrm>
            <a:off x="11228832" y="3319272"/>
            <a:ext cx="173736" cy="1170432"/>
          </a:xfrm>
          <a:prstGeom prst="rect">
            <a:avLst/>
          </a:prstGeom>
          <a:solidFill>
            <a:srgbClr val="C0392B"/>
          </a:solidFill>
          <a:ln w="12700">
            <a:solidFill>
              <a:srgbClr val="C0392B"/>
            </a:solidFill>
            <a:prstDash val="solid"/>
          </a:ln>
        </p:spPr>
      </p:sp>
      <p:sp>
        <p:nvSpPr>
          <p:cNvPr id="34" name="Text 32"/>
          <p:cNvSpPr/>
          <p:nvPr/>
        </p:nvSpPr>
        <p:spPr>
          <a:xfrm>
            <a:off x="9098280" y="348386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بالا رفتن از جعبه</a:t>
            </a:r>
            <a:endParaRPr lang="en-US" sz="16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5" name="Shape 33"/>
          <p:cNvSpPr/>
          <p:nvPr/>
        </p:nvSpPr>
        <p:spPr>
          <a:xfrm>
            <a:off x="6519672" y="3483864"/>
            <a:ext cx="1417320" cy="310896"/>
          </a:xfrm>
          <a:prstGeom prst="roundRect">
            <a:avLst>
              <a:gd name="adj" fmla="val 52941"/>
            </a:avLst>
          </a:prstGeom>
          <a:solidFill>
            <a:srgbClr val="FDECEA"/>
          </a:solidFill>
          <a:ln w="12700">
            <a:solidFill>
              <a:srgbClr val="FDECEA"/>
            </a:solidFill>
            <a:prstDash val="solid"/>
          </a:ln>
        </p:spPr>
      </p:sp>
      <p:sp>
        <p:nvSpPr>
          <p:cNvPr id="36" name="Text 34"/>
          <p:cNvSpPr/>
          <p:nvPr/>
        </p:nvSpPr>
        <p:spPr>
          <a:xfrm>
            <a:off x="6629400" y="350215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C0392B"/>
                </a:solidFill>
                <a:latin typeface="Sharif 1.2 ExtraLight" panose="020B0000040000000000" pitchFamily="34" charset="-78"/>
                <a:ea typeface="Sharif 1.2 ExtraLight" panose="020B0000040000000000" pitchFamily="34" charset="-78"/>
                <a:cs typeface="Sharif 1.2 ExtraLight" panose="020B0000040000000000" pitchFamily="34" charset="-78"/>
              </a:rPr>
              <a:t>انتقال وزن</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7" name="Text 35"/>
          <p:cNvSpPr/>
          <p:nvPr/>
        </p:nvSpPr>
        <p:spPr>
          <a:xfrm>
            <a:off x="6537960" y="387705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حسگرهای پا و نحوه کشیدن بدن به بالا بیشترین اطلاعات را فراهم کردند.</a:t>
            </a:r>
            <a:endParaRPr lang="en-US" sz="121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8" name="Shape 36"/>
          <p:cNvSpPr/>
          <p:nvPr/>
        </p:nvSpPr>
        <p:spPr>
          <a:xfrm>
            <a:off x="6245352" y="4645152"/>
            <a:ext cx="5157216" cy="1316736"/>
          </a:xfrm>
          <a:prstGeom prst="roundRect">
            <a:avLst>
              <a:gd name="adj" fmla="val 5556"/>
            </a:avLst>
          </a:prstGeom>
          <a:solidFill>
            <a:srgbClr val="102A43"/>
          </a:solidFill>
          <a:ln w="12700">
            <a:solidFill>
              <a:srgbClr val="102A43"/>
            </a:solidFill>
            <a:prstDash val="solid"/>
          </a:ln>
        </p:spPr>
      </p:sp>
      <p:sp>
        <p:nvSpPr>
          <p:cNvPr id="39" name="Text 37"/>
          <p:cNvSpPr/>
          <p:nvPr/>
        </p:nvSpPr>
        <p:spPr>
          <a:xfrm>
            <a:off x="9509760" y="4846320"/>
            <a:ext cx="1508760" cy="274320"/>
          </a:xfrm>
          <a:prstGeom prst="rect">
            <a:avLst/>
          </a:prstGeom>
          <a:noFill/>
          <a:ln/>
        </p:spPr>
        <p:txBody>
          <a:bodyPr wrap="square" lIns="0" tIns="0" rIns="0" bIns="0" rtlCol="0" anchor="ctr">
            <a:normAutofit/>
          </a:bodyPr>
          <a:lstStyle/>
          <a:p>
            <a:pPr marL="0" indent="0" algn="r" rtl="1">
              <a:buNone/>
            </a:pPr>
            <a:r>
              <a:rPr lang="en-US" sz="1300" b="1" dirty="0">
                <a:solidFill>
                  <a:srgbClr val="A9D7E8"/>
                </a:solidFill>
                <a:latin typeface="Sharif 1.2 ExtraLight" panose="020B0000040000000000" pitchFamily="34" charset="-78"/>
                <a:ea typeface="Sharif 1.2 ExtraLight" panose="020B0000040000000000" pitchFamily="34" charset="-78"/>
                <a:cs typeface="Sharif 1.2 ExtraLight" panose="020B0000040000000000" pitchFamily="34" charset="-78"/>
              </a:rPr>
              <a:t>نتیجه روش‌شناختی</a:t>
            </a:r>
            <a:endParaRPr lang="en-US" sz="13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0" name="Text 38"/>
          <p:cNvSpPr/>
          <p:nvPr/>
        </p:nvSpPr>
        <p:spPr>
          <a:xfrm>
            <a:off x="6565392" y="5239512"/>
            <a:ext cx="4434840" cy="457200"/>
          </a:xfrm>
          <a:prstGeom prst="rect">
            <a:avLst/>
          </a:prstGeom>
          <a:noFill/>
          <a:ln/>
        </p:spPr>
        <p:txBody>
          <a:bodyPr wrap="square" lIns="0" tIns="0" rIns="0" bIns="0" rtlCol="0" anchor="ctr">
            <a:normAutofit lnSpcReduction="10000"/>
          </a:bodyPr>
          <a:lstStyle/>
          <a:p>
            <a:pPr marL="0" indent="0" algn="ctr" rtl="1">
              <a:buNone/>
            </a:pPr>
            <a:r>
              <a:rPr lang="en-US" sz="162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بهتر است هر فعالیت به‌صورت مستقل تحلیل و مدل مناسب همان حرکت انتخاب شود.</a:t>
            </a:r>
            <a:endParaRPr lang="en-US" sz="16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1" name="Shape 39"/>
          <p:cNvSpPr/>
          <p:nvPr/>
        </p:nvSpPr>
        <p:spPr>
          <a:xfrm>
            <a:off x="658368" y="6473952"/>
            <a:ext cx="10881360" cy="0"/>
          </a:xfrm>
          <a:prstGeom prst="line">
            <a:avLst/>
          </a:prstGeom>
          <a:noFill/>
          <a:ln w="10160">
            <a:solidFill>
              <a:srgbClr val="E9EEF2"/>
            </a:solidFill>
            <a:prstDash val="solid"/>
          </a:ln>
        </p:spPr>
      </p:sp>
      <p:sp>
        <p:nvSpPr>
          <p:cNvPr id="42" name="Text 40"/>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پایان‌نامه کارشناسی مهندسی مکانیک</a:t>
            </a:r>
            <a:endParaRPr lang="en-US" sz="120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43" name="Text 41"/>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نتایج</a:t>
            </a:r>
            <a:r>
              <a:rPr lang="en-US" sz="1200" dirty="0">
                <a:solidFill>
                  <a:srgbClr val="94A3B8"/>
                </a:solidFill>
                <a:latin typeface="Sharif 1.2 Light" panose="020B0000040000000000" pitchFamily="34" charset="-78"/>
                <a:ea typeface="Sharif 1.2 Light" panose="020B0000040000000000" pitchFamily="34" charset="-78"/>
                <a:cs typeface="Sharif 1.2 Light" panose="020B0000040000000000" pitchFamily="34" charset="-78"/>
              </a:rPr>
              <a:t> و بحث | ۳ اسلاید تا پایان</a:t>
            </a:r>
            <a:endParaRPr lang="en-US" sz="1200" dirty="0">
              <a:latin typeface="Sharif 1.2 Light" panose="020B0000040000000000" pitchFamily="34" charset="-78"/>
              <a:ea typeface="Sharif 1.2 Light" panose="020B0000040000000000" pitchFamily="34" charset="-78"/>
              <a:cs typeface="Sharif 1.2 Light" panose="020B0000040000000000" pitchFamily="34" charset="-78"/>
            </a:endParaRPr>
          </a:p>
        </p:txBody>
      </p:sp>
      <p:sp>
        <p:nvSpPr>
          <p:cNvPr id="44" name="Text 42"/>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۱۱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5" name="Shape 43"/>
          <p:cNvSpPr/>
          <p:nvPr/>
        </p:nvSpPr>
        <p:spPr>
          <a:xfrm>
            <a:off x="2560320" y="6766560"/>
            <a:ext cx="5172891" cy="41148"/>
          </a:xfrm>
          <a:prstGeom prst="rect">
            <a:avLst/>
          </a:prstGeom>
          <a:solidFill>
            <a:srgbClr val="0B6E99"/>
          </a:solidFill>
          <a:ln w="12700">
            <a:solidFill>
              <a:srgbClr val="0B6E99"/>
            </a:solidFill>
            <a:prstDash val="solid"/>
          </a:ln>
        </p:spPr>
      </p:sp>
      <p:sp>
        <p:nvSpPr>
          <p:cNvPr id="46" name="Shape 44"/>
          <p:cNvSpPr/>
          <p:nvPr/>
        </p:nvSpPr>
        <p:spPr>
          <a:xfrm>
            <a:off x="7733211" y="6766560"/>
            <a:ext cx="1410789" cy="41148"/>
          </a:xfrm>
          <a:prstGeom prst="rect">
            <a:avLst/>
          </a:prstGeom>
          <a:solidFill>
            <a:srgbClr val="E6EDF2"/>
          </a:solidFill>
          <a:ln w="12700">
            <a:solidFill>
              <a:srgbClr val="E6EDF2"/>
            </a:solidFill>
            <a:prstDash val="solid"/>
          </a:ln>
        </p:spPr>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محدودیت‌های پژوهش</a:t>
            </a:r>
            <a:endParaRPr lang="en-US" sz="2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7" name="Shape 5"/>
          <p:cNvSpPr/>
          <p:nvPr/>
        </p:nvSpPr>
        <p:spPr>
          <a:xfrm>
            <a:off x="749808" y="1755648"/>
            <a:ext cx="3456432" cy="3401568"/>
          </a:xfrm>
          <a:prstGeom prst="roundRect">
            <a:avLst>
              <a:gd name="adj" fmla="val 2151"/>
            </a:avLst>
          </a:prstGeom>
          <a:solidFill>
            <a:srgbClr val="FFFFFF"/>
          </a:solidFill>
          <a:ln w="17145">
            <a:solidFill>
              <a:srgbClr val="C0392B"/>
            </a:solidFill>
            <a:prstDash val="solid"/>
          </a:ln>
          <a:effectLst>
            <a:outerShdw blurRad="12700" dist="50800" dir="2700000" algn="bl" rotWithShape="0">
              <a:srgbClr val="B0BEC5">
                <a:alpha val="12000"/>
              </a:srgbClr>
            </a:outerShdw>
          </a:effectLst>
        </p:spPr>
      </p:sp>
      <p:sp>
        <p:nvSpPr>
          <p:cNvPr id="8" name="Shape 6"/>
          <p:cNvSpPr/>
          <p:nvPr/>
        </p:nvSpPr>
        <p:spPr>
          <a:xfrm>
            <a:off x="2057400" y="2057400"/>
            <a:ext cx="841248" cy="841248"/>
          </a:xfrm>
          <a:prstGeom prst="ellipse">
            <a:avLst/>
          </a:prstGeom>
          <a:solidFill>
            <a:srgbClr val="C0392B"/>
          </a:solidFill>
          <a:ln w="12700">
            <a:solidFill>
              <a:srgbClr val="C0392B"/>
            </a:solidFill>
            <a:prstDash val="solid"/>
          </a:ln>
        </p:spPr>
      </p:sp>
      <p:sp>
        <p:nvSpPr>
          <p:cNvPr id="9" name="Text 7"/>
          <p:cNvSpPr/>
          <p:nvPr/>
        </p:nvSpPr>
        <p:spPr>
          <a:xfrm>
            <a:off x="2057400" y="2112264"/>
            <a:ext cx="841248" cy="566928"/>
          </a:xfrm>
          <a:prstGeom prst="rect">
            <a:avLst/>
          </a:prstGeom>
          <a:noFill/>
          <a:ln/>
        </p:spPr>
        <p:txBody>
          <a:bodyPr wrap="square" lIns="0" tIns="0" rIns="0" bIns="0" rtlCol="0" anchor="ctr">
            <a:normAutofit/>
          </a:bodyPr>
          <a:lstStyle/>
          <a:p>
            <a:pPr marL="0" indent="0" algn="ctr" rtl="1">
              <a:buNone/>
            </a:pPr>
            <a:r>
              <a:rPr lang="en-US" sz="28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۱</a:t>
            </a:r>
            <a:endParaRPr lang="en-US" sz="28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0" name="Text 8"/>
          <p:cNvSpPr/>
          <p:nvPr/>
        </p:nvSpPr>
        <p:spPr>
          <a:xfrm>
            <a:off x="1069848" y="3127248"/>
            <a:ext cx="2816352"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داده از یک فرد سالم</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1" name="Text 9"/>
          <p:cNvSpPr/>
          <p:nvPr/>
        </p:nvSpPr>
        <p:spPr>
          <a:xfrm>
            <a:off x="1097280" y="3730752"/>
            <a:ext cx="2761488" cy="1024128"/>
          </a:xfrm>
          <a:prstGeom prst="rect">
            <a:avLst/>
          </a:prstGeom>
          <a:noFill/>
          <a:ln/>
        </p:spPr>
        <p:txBody>
          <a:bodyPr wrap="square" lIns="0" tIns="0" rIns="0" bIns="0" rtlCol="0" anchor="t">
            <a:normAutofit/>
          </a:bodyPr>
          <a:lstStyle/>
          <a:p>
            <a:pPr marL="0" indent="0" algn="ctr" rtl="1">
              <a:buNone/>
            </a:pPr>
            <a:r>
              <a:rPr lang="en-US" sz="127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الگوهای واقعی بیماران تحت تأثیر شدت بیماری، خستگی، کوتاهی عضلات و راهبردهای جبرانی فردی هستند.</a:t>
            </a:r>
            <a:endParaRPr lang="en-US" sz="12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2" name="Shape 10"/>
          <p:cNvSpPr/>
          <p:nvPr/>
        </p:nvSpPr>
        <p:spPr>
          <a:xfrm>
            <a:off x="4562856" y="1755648"/>
            <a:ext cx="3456432" cy="3401568"/>
          </a:xfrm>
          <a:prstGeom prst="roundRect">
            <a:avLst>
              <a:gd name="adj" fmla="val 2151"/>
            </a:avLst>
          </a:prstGeom>
          <a:solidFill>
            <a:srgbClr val="FFFFFF"/>
          </a:solidFill>
          <a:ln w="17145">
            <a:solidFill>
              <a:srgbClr val="E69F00"/>
            </a:solidFill>
            <a:prstDash val="solid"/>
          </a:ln>
          <a:effectLst>
            <a:outerShdw blurRad="12700" dist="50800" dir="2700000" algn="bl" rotWithShape="0">
              <a:srgbClr val="B0BEC5">
                <a:alpha val="12000"/>
              </a:srgbClr>
            </a:outerShdw>
          </a:effectLst>
        </p:spPr>
      </p:sp>
      <p:sp>
        <p:nvSpPr>
          <p:cNvPr id="13" name="Shape 11"/>
          <p:cNvSpPr/>
          <p:nvPr/>
        </p:nvSpPr>
        <p:spPr>
          <a:xfrm>
            <a:off x="5870448" y="2057400"/>
            <a:ext cx="841248" cy="841248"/>
          </a:xfrm>
          <a:prstGeom prst="ellipse">
            <a:avLst/>
          </a:prstGeom>
          <a:solidFill>
            <a:srgbClr val="E69F00"/>
          </a:solidFill>
          <a:ln w="12700">
            <a:solidFill>
              <a:srgbClr val="E69F00"/>
            </a:solidFill>
            <a:prstDash val="solid"/>
          </a:ln>
        </p:spPr>
      </p:sp>
      <p:sp>
        <p:nvSpPr>
          <p:cNvPr id="14" name="Text 12"/>
          <p:cNvSpPr/>
          <p:nvPr/>
        </p:nvSpPr>
        <p:spPr>
          <a:xfrm>
            <a:off x="5870448" y="2112264"/>
            <a:ext cx="841248" cy="566928"/>
          </a:xfrm>
          <a:prstGeom prst="rect">
            <a:avLst/>
          </a:prstGeom>
          <a:noFill/>
          <a:ln/>
        </p:spPr>
        <p:txBody>
          <a:bodyPr wrap="square" lIns="0" tIns="0" rIns="0" bIns="0" rtlCol="0" anchor="ctr">
            <a:normAutofit/>
          </a:bodyPr>
          <a:lstStyle/>
          <a:p>
            <a:pPr marL="0" indent="0" algn="ctr" rtl="1">
              <a:buNone/>
            </a:pPr>
            <a:r>
              <a:rPr lang="en-US" sz="28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۲</a:t>
            </a:r>
            <a:endParaRPr lang="en-US" sz="28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5" name="Text 13"/>
          <p:cNvSpPr/>
          <p:nvPr/>
        </p:nvSpPr>
        <p:spPr>
          <a:xfrm>
            <a:off x="4882896" y="3127248"/>
            <a:ext cx="2816352"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تعداد نمونه محدود</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6" name="Text 14"/>
          <p:cNvSpPr/>
          <p:nvPr/>
        </p:nvSpPr>
        <p:spPr>
          <a:xfrm>
            <a:off x="4910328" y="3730752"/>
            <a:ext cx="2761488" cy="1024128"/>
          </a:xfrm>
          <a:prstGeom prst="rect">
            <a:avLst/>
          </a:prstGeom>
          <a:noFill/>
          <a:ln/>
        </p:spPr>
        <p:txBody>
          <a:bodyPr wrap="square" lIns="0" tIns="0" rIns="0" bIns="0" rtlCol="0" anchor="t">
            <a:normAutofit/>
          </a:bodyPr>
          <a:lstStyle/>
          <a:p>
            <a:pPr marL="0" indent="0" algn="ctr" rtl="1">
              <a:buNone/>
            </a:pPr>
            <a:r>
              <a:rPr lang="en-US" sz="127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اعتبارسنجی متقاطع، پایداری میان تکرارهای همان فرد را می‌سنجد؛ نه تعمیم به افراد جدید.</a:t>
            </a:r>
            <a:endParaRPr lang="en-US" sz="12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7" name="Shape 15"/>
          <p:cNvSpPr/>
          <p:nvPr/>
        </p:nvSpPr>
        <p:spPr>
          <a:xfrm>
            <a:off x="8375904" y="1755648"/>
            <a:ext cx="3456432" cy="3401568"/>
          </a:xfrm>
          <a:prstGeom prst="roundRect">
            <a:avLst>
              <a:gd name="adj" fmla="val 2151"/>
            </a:avLst>
          </a:prstGeom>
          <a:solidFill>
            <a:srgbClr val="FFFFFF"/>
          </a:solidFill>
          <a:ln w="17145">
            <a:solidFill>
              <a:srgbClr val="0B6E99"/>
            </a:solidFill>
            <a:prstDash val="solid"/>
          </a:ln>
          <a:effectLst>
            <a:outerShdw blurRad="12700" dist="50800" dir="2700000" algn="bl" rotWithShape="0">
              <a:srgbClr val="B0BEC5">
                <a:alpha val="12000"/>
              </a:srgbClr>
            </a:outerShdw>
          </a:effectLst>
        </p:spPr>
      </p:sp>
      <p:sp>
        <p:nvSpPr>
          <p:cNvPr id="18" name="Shape 16"/>
          <p:cNvSpPr/>
          <p:nvPr/>
        </p:nvSpPr>
        <p:spPr>
          <a:xfrm>
            <a:off x="9683496" y="2057400"/>
            <a:ext cx="841248" cy="841248"/>
          </a:xfrm>
          <a:prstGeom prst="ellipse">
            <a:avLst/>
          </a:prstGeom>
          <a:solidFill>
            <a:srgbClr val="0B6E99"/>
          </a:solidFill>
          <a:ln w="12700">
            <a:solidFill>
              <a:srgbClr val="0B6E99"/>
            </a:solidFill>
            <a:prstDash val="solid"/>
          </a:ln>
        </p:spPr>
      </p:sp>
      <p:sp>
        <p:nvSpPr>
          <p:cNvPr id="19" name="Text 17"/>
          <p:cNvSpPr/>
          <p:nvPr/>
        </p:nvSpPr>
        <p:spPr>
          <a:xfrm>
            <a:off x="9683496" y="2112264"/>
            <a:ext cx="841248" cy="566928"/>
          </a:xfrm>
          <a:prstGeom prst="rect">
            <a:avLst/>
          </a:prstGeom>
          <a:noFill/>
          <a:ln/>
        </p:spPr>
        <p:txBody>
          <a:bodyPr wrap="square" lIns="0" tIns="0" rIns="0" bIns="0" rtlCol="0" anchor="ctr">
            <a:normAutofit/>
          </a:bodyPr>
          <a:lstStyle/>
          <a:p>
            <a:pPr marL="0" indent="0" algn="ctr" rtl="1">
              <a:buNone/>
            </a:pPr>
            <a:r>
              <a:rPr lang="en-US" sz="28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۳</a:t>
            </a:r>
            <a:endParaRPr lang="en-US" sz="28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0" name="Text 18"/>
          <p:cNvSpPr/>
          <p:nvPr/>
        </p:nvSpPr>
        <p:spPr>
          <a:xfrm>
            <a:off x="8695944" y="3127248"/>
            <a:ext cx="2816352"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وابستگی به شرایط ثبت</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1" name="Text 19"/>
          <p:cNvSpPr/>
          <p:nvPr/>
        </p:nvSpPr>
        <p:spPr>
          <a:xfrm>
            <a:off x="8723376" y="3730752"/>
            <a:ext cx="2761488" cy="1024128"/>
          </a:xfrm>
          <a:prstGeom prst="rect">
            <a:avLst/>
          </a:prstGeom>
          <a:noFill/>
          <a:ln/>
        </p:spPr>
        <p:txBody>
          <a:bodyPr wrap="square" lIns="0" tIns="0" rIns="0" bIns="0" rtlCol="0" anchor="t">
            <a:normAutofit/>
          </a:bodyPr>
          <a:lstStyle/>
          <a:p>
            <a:pPr marL="0" indent="0" algn="ctr" rtl="1">
              <a:buNone/>
            </a:pPr>
            <a:r>
              <a:rPr lang="en-US" sz="127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محل و زاویه نصب حسگر، نرخ نمونه‌برداری و پنجره زمانی می‌توانند ویژگی‌ها را تغییر دهند.</a:t>
            </a:r>
            <a:endParaRPr lang="en-US" sz="12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2" name="Shape 20"/>
          <p:cNvSpPr/>
          <p:nvPr/>
        </p:nvSpPr>
        <p:spPr>
          <a:xfrm>
            <a:off x="1051560" y="5468112"/>
            <a:ext cx="10085832" cy="694944"/>
          </a:xfrm>
          <a:prstGeom prst="roundRect">
            <a:avLst>
              <a:gd name="adj" fmla="val 15789"/>
            </a:avLst>
          </a:prstGeom>
          <a:solidFill>
            <a:srgbClr val="FDECEA"/>
          </a:solidFill>
          <a:ln w="12700">
            <a:solidFill>
              <a:srgbClr val="F0C8C2"/>
            </a:solidFill>
            <a:prstDash val="solid"/>
          </a:ln>
        </p:spPr>
      </p:sp>
      <p:sp>
        <p:nvSpPr>
          <p:cNvPr id="23" name="Text 21"/>
          <p:cNvSpPr/>
          <p:nvPr/>
        </p:nvSpPr>
        <p:spPr>
          <a:xfrm>
            <a:off x="1353312" y="5614416"/>
            <a:ext cx="9464040" cy="384048"/>
          </a:xfrm>
          <a:prstGeom prst="rect">
            <a:avLst/>
          </a:prstGeom>
          <a:noFill/>
          <a:ln/>
        </p:spPr>
        <p:txBody>
          <a:bodyPr wrap="square" lIns="0" tIns="0" rIns="0" bIns="0" rtlCol="0" anchor="ctr">
            <a:normAutofit/>
          </a:bodyPr>
          <a:lstStyle/>
          <a:p>
            <a:pPr marL="0" indent="0" algn="ctr" rtl="1">
              <a:buNone/>
            </a:pPr>
            <a:r>
              <a:rPr lang="en-US" sz="1600" b="1" dirty="0">
                <a:solidFill>
                  <a:srgbClr val="C0392B"/>
                </a:solidFill>
                <a:latin typeface="Sharif 1.2 ExtraLight" panose="020B0000040000000000" pitchFamily="34" charset="-78"/>
                <a:ea typeface="Sharif 1.2 ExtraLight" panose="020B0000040000000000" pitchFamily="34" charset="-78"/>
                <a:cs typeface="Sharif 1.2 ExtraLight" panose="020B0000040000000000" pitchFamily="34" charset="-78"/>
              </a:rPr>
              <a:t>نتیجه‌های فعلی قابل تعمیم مستقیم به بیماران نیستند و جایگزین ارزیابی بالینی NSAA محسوب نمی‌شوند.</a:t>
            </a:r>
            <a:endParaRPr lang="en-US" sz="16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4" name="Shape 22"/>
          <p:cNvSpPr/>
          <p:nvPr/>
        </p:nvSpPr>
        <p:spPr>
          <a:xfrm>
            <a:off x="658368" y="6473952"/>
            <a:ext cx="10881360" cy="0"/>
          </a:xfrm>
          <a:prstGeom prst="line">
            <a:avLst/>
          </a:prstGeom>
          <a:noFill/>
          <a:ln w="10160">
            <a:solidFill>
              <a:srgbClr val="E9EEF2"/>
            </a:solidFill>
            <a:prstDash val="solid"/>
          </a:ln>
        </p:spPr>
      </p:sp>
      <p:sp>
        <p:nvSpPr>
          <p:cNvPr id="25" name="Text 23"/>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پایان‌نامه کارشناسی مهندسی مکانیک</a:t>
            </a:r>
            <a:endParaRPr lang="en-US" sz="12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6" name="Text 24"/>
          <p:cNvSpPr/>
          <p:nvPr/>
        </p:nvSpPr>
        <p:spPr>
          <a:xfrm>
            <a:off x="3442716"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محدودیت‌ها</a:t>
            </a:r>
            <a:r>
              <a:rPr lang="en-US" sz="120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 و مسیر آینده | ۲ اسلاید تا پایان</a:t>
            </a:r>
            <a:endParaRPr lang="en-US" sz="12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7" name="Text 25"/>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۱۲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8" name="Shape 26"/>
          <p:cNvSpPr/>
          <p:nvPr/>
        </p:nvSpPr>
        <p:spPr>
          <a:xfrm>
            <a:off x="2560320" y="6766560"/>
            <a:ext cx="5643154" cy="41148"/>
          </a:xfrm>
          <a:prstGeom prst="rect">
            <a:avLst/>
          </a:prstGeom>
          <a:solidFill>
            <a:srgbClr val="0B6E99"/>
          </a:solidFill>
          <a:ln w="12700">
            <a:solidFill>
              <a:srgbClr val="0B6E99"/>
            </a:solidFill>
            <a:prstDash val="solid"/>
          </a:ln>
        </p:spPr>
      </p:sp>
      <p:sp>
        <p:nvSpPr>
          <p:cNvPr id="29" name="Shape 27"/>
          <p:cNvSpPr/>
          <p:nvPr/>
        </p:nvSpPr>
        <p:spPr>
          <a:xfrm>
            <a:off x="8203474" y="6766560"/>
            <a:ext cx="940526" cy="41148"/>
          </a:xfrm>
          <a:prstGeom prst="rect">
            <a:avLst/>
          </a:prstGeom>
          <a:solidFill>
            <a:srgbClr val="E6EDF2"/>
          </a:solidFill>
          <a:ln w="12700">
            <a:solidFill>
              <a:srgbClr val="E6EDF2"/>
            </a:solidFill>
            <a:prstDash val="solid"/>
          </a:ln>
        </p:spPr>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مسیر پیشنهادی تا کاربرد بالینی</a:t>
            </a:r>
            <a:endParaRPr lang="en-US" sz="2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7" name="Text 5"/>
          <p:cNvSpPr/>
          <p:nvPr/>
        </p:nvSpPr>
        <p:spPr>
          <a:xfrm>
            <a:off x="3858768" y="1444752"/>
            <a:ext cx="7223760" cy="384048"/>
          </a:xfrm>
          <a:prstGeom prst="rect">
            <a:avLst/>
          </a:prstGeom>
          <a:noFill/>
          <a:ln/>
        </p:spPr>
        <p:txBody>
          <a:bodyPr wrap="square" lIns="0" tIns="0" rIns="0" bIns="0" rtlCol="0" anchor="ctr">
            <a:normAutofit/>
          </a:bodyPr>
          <a:lstStyle/>
          <a:p>
            <a:pPr marL="0" indent="0" algn="r" rtl="1">
              <a:buNone/>
            </a:pPr>
            <a:r>
              <a:rPr lang="en-US" sz="18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گام بعدی، تبدیل امکان‌سنجی فنی به یک مطالعه بالینی معتبر است</a:t>
            </a:r>
            <a:endParaRPr lang="en-US" sz="18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8" name="Shape 6"/>
          <p:cNvSpPr/>
          <p:nvPr/>
        </p:nvSpPr>
        <p:spPr>
          <a:xfrm>
            <a:off x="8677656" y="2889504"/>
            <a:ext cx="0" cy="0"/>
          </a:xfrm>
          <a:prstGeom prst="line">
            <a:avLst/>
          </a:prstGeom>
          <a:noFill/>
          <a:ln w="25400">
            <a:solidFill>
              <a:srgbClr val="94A3B8"/>
            </a:solidFill>
            <a:prstDash val="solid"/>
            <a:headEnd type="none"/>
            <a:tailEnd type="triangle"/>
          </a:ln>
        </p:spPr>
      </p:sp>
      <p:sp>
        <p:nvSpPr>
          <p:cNvPr id="9" name="Shape 7"/>
          <p:cNvSpPr/>
          <p:nvPr/>
        </p:nvSpPr>
        <p:spPr>
          <a:xfrm>
            <a:off x="9674352" y="2350008"/>
            <a:ext cx="786384" cy="786384"/>
          </a:xfrm>
          <a:prstGeom prst="ellipse">
            <a:avLst/>
          </a:prstGeom>
          <a:solidFill>
            <a:srgbClr val="0B6E99"/>
          </a:solidFill>
          <a:ln w="12700">
            <a:solidFill>
              <a:srgbClr val="0B6E99"/>
            </a:solidFill>
            <a:prstDash val="solid"/>
          </a:ln>
        </p:spPr>
        <p:txBody>
          <a:bodyPr/>
          <a:lstStyle/>
          <a:p>
            <a:pPr marL="0" algn="r" defTabSz="914400" rtl="1" eaLnBrk="1" latinLnBrk="0" hangingPunct="1"/>
            <a:endParaRPr lang="en-US" dirty="0"/>
          </a:p>
        </p:txBody>
      </p:sp>
      <p:sp>
        <p:nvSpPr>
          <p:cNvPr id="10" name="Text 8"/>
          <p:cNvSpPr/>
          <p:nvPr/>
        </p:nvSpPr>
        <p:spPr>
          <a:xfrm>
            <a:off x="9674352" y="2441448"/>
            <a:ext cx="786384" cy="475488"/>
          </a:xfrm>
          <a:prstGeom prst="rect">
            <a:avLst/>
          </a:prstGeom>
          <a:noFill/>
          <a:ln/>
        </p:spPr>
        <p:txBody>
          <a:bodyPr wrap="square" lIns="0" tIns="0" rIns="0" bIns="0" rtlCol="0" anchor="ctr">
            <a:normAutofit/>
          </a:bodyPr>
          <a:lstStyle/>
          <a:p>
            <a:pPr marL="0" indent="0" algn="ctr">
              <a:buNone/>
            </a:pPr>
            <a:r>
              <a:rPr lang="fa-IR" sz="22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2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1" name="Shape 9"/>
          <p:cNvSpPr/>
          <p:nvPr/>
        </p:nvSpPr>
        <p:spPr>
          <a:xfrm>
            <a:off x="8997696" y="3401568"/>
            <a:ext cx="2139696" cy="1627632"/>
          </a:xfrm>
          <a:prstGeom prst="roundRect">
            <a:avLst>
              <a:gd name="adj" fmla="val 4494"/>
            </a:avLst>
          </a:prstGeom>
          <a:solidFill>
            <a:srgbClr val="FFFFFF"/>
          </a:solidFill>
          <a:ln w="16510">
            <a:solidFill>
              <a:srgbClr val="0B6E99"/>
            </a:solidFill>
            <a:prstDash val="solid"/>
          </a:ln>
        </p:spPr>
      </p:sp>
      <p:sp>
        <p:nvSpPr>
          <p:cNvPr id="12" name="Text 10"/>
          <p:cNvSpPr/>
          <p:nvPr/>
        </p:nvSpPr>
        <p:spPr>
          <a:xfrm>
            <a:off x="9144000" y="3639312"/>
            <a:ext cx="1847088" cy="384048"/>
          </a:xfrm>
          <a:prstGeom prst="rect">
            <a:avLst/>
          </a:prstGeom>
          <a:noFill/>
          <a:ln/>
        </p:spPr>
        <p:txBody>
          <a:bodyPr wrap="square" lIns="0" tIns="0" rIns="0" bIns="0" rtlCol="0" anchor="ctr">
            <a:normAutofit/>
          </a:bodyPr>
          <a:lstStyle/>
          <a:p>
            <a:pPr marL="0" indent="0" algn="ctr" rtl="1">
              <a:buNone/>
            </a:pPr>
            <a:r>
              <a:rPr lang="en-US" sz="153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داده‌برداری از بیماران</a:t>
            </a:r>
            <a:endParaRPr lang="en-US" sz="153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3" name="Text 11"/>
          <p:cNvSpPr/>
          <p:nvPr/>
        </p:nvSpPr>
        <p:spPr>
          <a:xfrm>
            <a:off x="9171432" y="4178808"/>
            <a:ext cx="1792224" cy="566928"/>
          </a:xfrm>
          <a:prstGeom prst="rect">
            <a:avLst/>
          </a:prstGeom>
          <a:noFill/>
          <a:ln/>
        </p:spPr>
        <p:txBody>
          <a:bodyPr wrap="square" lIns="0" tIns="0" rIns="0" bIns="0" rtlCol="0" anchor="t">
            <a:normAutofit/>
          </a:bodyPr>
          <a:lstStyle/>
          <a:p>
            <a:pPr marL="0" indent="0" algn="ctr" rtl="1">
              <a:buNone/>
            </a:pPr>
            <a:r>
              <a:rPr lang="en-US" sz="114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اجرای رسمی NSAA با حضور متخصص</a:t>
            </a:r>
            <a:endParaRPr lang="en-US" sz="114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4" name="Shape 12"/>
          <p:cNvSpPr/>
          <p:nvPr/>
        </p:nvSpPr>
        <p:spPr>
          <a:xfrm>
            <a:off x="6062472" y="2889504"/>
            <a:ext cx="0" cy="0"/>
          </a:xfrm>
          <a:prstGeom prst="line">
            <a:avLst/>
          </a:prstGeom>
          <a:noFill/>
          <a:ln w="25400">
            <a:solidFill>
              <a:srgbClr val="94A3B8"/>
            </a:solidFill>
            <a:prstDash val="solid"/>
            <a:headEnd type="none"/>
            <a:tailEnd type="triangle"/>
          </a:ln>
        </p:spPr>
      </p:sp>
      <p:sp>
        <p:nvSpPr>
          <p:cNvPr id="15" name="Shape 13"/>
          <p:cNvSpPr/>
          <p:nvPr/>
        </p:nvSpPr>
        <p:spPr>
          <a:xfrm>
            <a:off x="7059168" y="2350008"/>
            <a:ext cx="786384" cy="786384"/>
          </a:xfrm>
          <a:prstGeom prst="ellipse">
            <a:avLst/>
          </a:prstGeom>
          <a:solidFill>
            <a:srgbClr val="0B7A75"/>
          </a:solidFill>
          <a:ln w="12700">
            <a:solidFill>
              <a:srgbClr val="0B7A75"/>
            </a:solidFill>
            <a:prstDash val="solid"/>
          </a:ln>
        </p:spPr>
        <p:txBody>
          <a:bodyPr/>
          <a:lstStyle/>
          <a:p>
            <a:pPr marL="0" algn="r" defTabSz="914400" rtl="1" eaLnBrk="1" latinLnBrk="0" hangingPunct="1"/>
            <a:endParaRPr lang="en-US" dirty="0"/>
          </a:p>
        </p:txBody>
      </p:sp>
      <p:sp>
        <p:nvSpPr>
          <p:cNvPr id="16" name="Text 14"/>
          <p:cNvSpPr/>
          <p:nvPr/>
        </p:nvSpPr>
        <p:spPr>
          <a:xfrm>
            <a:off x="7059168" y="2441448"/>
            <a:ext cx="786384" cy="475488"/>
          </a:xfrm>
          <a:prstGeom prst="rect">
            <a:avLst/>
          </a:prstGeom>
          <a:noFill/>
          <a:ln/>
        </p:spPr>
        <p:txBody>
          <a:bodyPr wrap="square" lIns="0" tIns="0" rIns="0" bIns="0" rtlCol="0" anchor="ctr">
            <a:normAutofit/>
          </a:bodyPr>
          <a:lstStyle/>
          <a:p>
            <a:pPr marL="0" indent="0" algn="ctr">
              <a:buNone/>
            </a:pPr>
            <a:r>
              <a:rPr lang="fa-IR" sz="22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۲</a:t>
            </a:r>
            <a:endParaRPr lang="en-US" sz="22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7" name="Shape 15"/>
          <p:cNvSpPr/>
          <p:nvPr/>
        </p:nvSpPr>
        <p:spPr>
          <a:xfrm>
            <a:off x="6382512" y="3401568"/>
            <a:ext cx="2139696" cy="1627632"/>
          </a:xfrm>
          <a:prstGeom prst="roundRect">
            <a:avLst>
              <a:gd name="adj" fmla="val 4494"/>
            </a:avLst>
          </a:prstGeom>
          <a:solidFill>
            <a:srgbClr val="FFFFFF"/>
          </a:solidFill>
          <a:ln w="16510">
            <a:solidFill>
              <a:srgbClr val="0B7A75"/>
            </a:solidFill>
            <a:prstDash val="solid"/>
          </a:ln>
        </p:spPr>
      </p:sp>
      <p:sp>
        <p:nvSpPr>
          <p:cNvPr id="18" name="Text 16"/>
          <p:cNvSpPr/>
          <p:nvPr/>
        </p:nvSpPr>
        <p:spPr>
          <a:xfrm>
            <a:off x="6528816" y="3639312"/>
            <a:ext cx="1847088" cy="384048"/>
          </a:xfrm>
          <a:prstGeom prst="rect">
            <a:avLst/>
          </a:prstGeom>
          <a:noFill/>
          <a:ln/>
        </p:spPr>
        <p:txBody>
          <a:bodyPr wrap="square" lIns="0" tIns="0" rIns="0" bIns="0" rtlCol="0" anchor="ctr">
            <a:normAutofit/>
          </a:bodyPr>
          <a:lstStyle/>
          <a:p>
            <a:pPr marL="0" indent="0" algn="ctr" rtl="1">
              <a:buNone/>
            </a:pPr>
            <a:r>
              <a:rPr lang="en-US" sz="153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اعتبارسنجی مستقل از آزمودنی</a:t>
            </a:r>
            <a:endParaRPr lang="en-US" sz="153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9" name="Text 17"/>
          <p:cNvSpPr/>
          <p:nvPr/>
        </p:nvSpPr>
        <p:spPr>
          <a:xfrm>
            <a:off x="6556248" y="4178808"/>
            <a:ext cx="1792224" cy="566928"/>
          </a:xfrm>
          <a:prstGeom prst="rect">
            <a:avLst/>
          </a:prstGeom>
          <a:noFill/>
          <a:ln/>
        </p:spPr>
        <p:txBody>
          <a:bodyPr wrap="square" lIns="0" tIns="0" rIns="0" bIns="0" rtlCol="0" anchor="t">
            <a:normAutofit/>
          </a:bodyPr>
          <a:lstStyle/>
          <a:p>
            <a:pPr marL="0" indent="0" algn="ctr" rtl="1">
              <a:buNone/>
            </a:pPr>
            <a:r>
              <a:rPr lang="en-US" sz="114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کنار گذاشتن کامل داده یک فرد در آزمون</a:t>
            </a:r>
            <a:endParaRPr lang="en-US" sz="114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0" name="Shape 18"/>
          <p:cNvSpPr/>
          <p:nvPr/>
        </p:nvSpPr>
        <p:spPr>
          <a:xfrm>
            <a:off x="3447288" y="2889504"/>
            <a:ext cx="0" cy="0"/>
          </a:xfrm>
          <a:prstGeom prst="line">
            <a:avLst/>
          </a:prstGeom>
          <a:noFill/>
          <a:ln w="25400">
            <a:solidFill>
              <a:srgbClr val="94A3B8"/>
            </a:solidFill>
            <a:prstDash val="solid"/>
            <a:headEnd type="none"/>
            <a:tailEnd type="triangle"/>
          </a:ln>
        </p:spPr>
      </p:sp>
      <p:sp>
        <p:nvSpPr>
          <p:cNvPr id="21" name="Shape 19"/>
          <p:cNvSpPr/>
          <p:nvPr/>
        </p:nvSpPr>
        <p:spPr>
          <a:xfrm>
            <a:off x="4443984" y="2350008"/>
            <a:ext cx="786384" cy="786384"/>
          </a:xfrm>
          <a:prstGeom prst="ellipse">
            <a:avLst/>
          </a:prstGeom>
          <a:solidFill>
            <a:srgbClr val="6B5BA6"/>
          </a:solidFill>
          <a:ln w="12700">
            <a:solidFill>
              <a:srgbClr val="6B5BA6"/>
            </a:solidFill>
            <a:prstDash val="solid"/>
          </a:ln>
        </p:spPr>
      </p:sp>
      <p:sp>
        <p:nvSpPr>
          <p:cNvPr id="22" name="Text 20"/>
          <p:cNvSpPr/>
          <p:nvPr/>
        </p:nvSpPr>
        <p:spPr>
          <a:xfrm>
            <a:off x="4443984" y="2441448"/>
            <a:ext cx="786384" cy="475488"/>
          </a:xfrm>
          <a:prstGeom prst="rect">
            <a:avLst/>
          </a:prstGeom>
          <a:noFill/>
          <a:ln/>
        </p:spPr>
        <p:txBody>
          <a:bodyPr wrap="square" lIns="0" tIns="0" rIns="0" bIns="0" rtlCol="0" anchor="ctr">
            <a:normAutofit/>
          </a:bodyPr>
          <a:lstStyle/>
          <a:p>
            <a:pPr marL="0" indent="0" algn="ctr">
              <a:buNone/>
            </a:pPr>
            <a:r>
              <a:rPr lang="fa-IR" sz="22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۳</a:t>
            </a:r>
            <a:endParaRPr lang="en-US" sz="22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3" name="Shape 21"/>
          <p:cNvSpPr/>
          <p:nvPr/>
        </p:nvSpPr>
        <p:spPr>
          <a:xfrm>
            <a:off x="3767328" y="3401568"/>
            <a:ext cx="2139696" cy="1627632"/>
          </a:xfrm>
          <a:prstGeom prst="roundRect">
            <a:avLst>
              <a:gd name="adj" fmla="val 4494"/>
            </a:avLst>
          </a:prstGeom>
          <a:solidFill>
            <a:srgbClr val="FFFFFF"/>
          </a:solidFill>
          <a:ln w="16510">
            <a:solidFill>
              <a:srgbClr val="6B5BA6"/>
            </a:solidFill>
            <a:prstDash val="solid"/>
          </a:ln>
        </p:spPr>
      </p:sp>
      <p:sp>
        <p:nvSpPr>
          <p:cNvPr id="24" name="Text 22"/>
          <p:cNvSpPr/>
          <p:nvPr/>
        </p:nvSpPr>
        <p:spPr>
          <a:xfrm>
            <a:off x="3913632" y="3639312"/>
            <a:ext cx="1847088" cy="384048"/>
          </a:xfrm>
          <a:prstGeom prst="rect">
            <a:avLst/>
          </a:prstGeom>
          <a:noFill/>
          <a:ln/>
        </p:spPr>
        <p:txBody>
          <a:bodyPr wrap="square" lIns="0" tIns="0" rIns="0" bIns="0" rtlCol="0" anchor="ctr">
            <a:normAutofit/>
          </a:bodyPr>
          <a:lstStyle/>
          <a:p>
            <a:pPr marL="0" indent="0" algn="ctr" rtl="1">
              <a:buNone/>
            </a:pPr>
            <a:r>
              <a:rPr lang="en-US" sz="153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بهینه‌سازی مدل و ویژگی</a:t>
            </a:r>
            <a:endParaRPr lang="en-US" sz="153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5" name="Text 23"/>
          <p:cNvSpPr/>
          <p:nvPr/>
        </p:nvSpPr>
        <p:spPr>
          <a:xfrm>
            <a:off x="3941064" y="4178808"/>
            <a:ext cx="1792224" cy="566928"/>
          </a:xfrm>
          <a:prstGeom prst="rect">
            <a:avLst/>
          </a:prstGeom>
          <a:noFill/>
          <a:ln/>
        </p:spPr>
        <p:txBody>
          <a:bodyPr wrap="square" lIns="0" tIns="0" rIns="0" bIns="0" rtlCol="0" anchor="t">
            <a:normAutofit/>
          </a:bodyPr>
          <a:lstStyle/>
          <a:p>
            <a:pPr marL="0" indent="0" algn="ctr" rtl="1">
              <a:buNone/>
            </a:pPr>
            <a:r>
              <a:rPr lang="en-US" sz="114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Nested CV، ویژگی‌های فرکانسی و مدل‌های زمانی</a:t>
            </a:r>
            <a:endParaRPr lang="en-US" sz="114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6" name="Shape 24"/>
          <p:cNvSpPr/>
          <p:nvPr/>
        </p:nvSpPr>
        <p:spPr>
          <a:xfrm>
            <a:off x="1828800" y="2350008"/>
            <a:ext cx="786384" cy="786384"/>
          </a:xfrm>
          <a:prstGeom prst="ellipse">
            <a:avLst/>
          </a:prstGeom>
          <a:solidFill>
            <a:srgbClr val="2F855A"/>
          </a:solidFill>
          <a:ln w="12700">
            <a:solidFill>
              <a:srgbClr val="2F855A"/>
            </a:solidFill>
            <a:prstDash val="solid"/>
          </a:ln>
        </p:spPr>
      </p:sp>
      <p:sp>
        <p:nvSpPr>
          <p:cNvPr id="27" name="Text 25"/>
          <p:cNvSpPr/>
          <p:nvPr/>
        </p:nvSpPr>
        <p:spPr>
          <a:xfrm>
            <a:off x="1828800" y="2441448"/>
            <a:ext cx="786384" cy="475488"/>
          </a:xfrm>
          <a:prstGeom prst="rect">
            <a:avLst/>
          </a:prstGeom>
          <a:noFill/>
          <a:ln/>
        </p:spPr>
        <p:txBody>
          <a:bodyPr wrap="square" lIns="0" tIns="0" rIns="0" bIns="0" rtlCol="0" anchor="ctr">
            <a:normAutofit/>
          </a:bodyPr>
          <a:lstStyle/>
          <a:p>
            <a:pPr marL="0" indent="0" algn="ctr">
              <a:buNone/>
            </a:pPr>
            <a:r>
              <a:rPr lang="fa-IR" sz="22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۴</a:t>
            </a:r>
            <a:endParaRPr lang="en-US" sz="22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8" name="Shape 26"/>
          <p:cNvSpPr/>
          <p:nvPr/>
        </p:nvSpPr>
        <p:spPr>
          <a:xfrm>
            <a:off x="1152144" y="3401568"/>
            <a:ext cx="2139696" cy="1627632"/>
          </a:xfrm>
          <a:prstGeom prst="roundRect">
            <a:avLst>
              <a:gd name="adj" fmla="val 4494"/>
            </a:avLst>
          </a:prstGeom>
          <a:solidFill>
            <a:srgbClr val="FFFFFF"/>
          </a:solidFill>
          <a:ln w="16510">
            <a:solidFill>
              <a:srgbClr val="2F855A"/>
            </a:solidFill>
            <a:prstDash val="solid"/>
          </a:ln>
        </p:spPr>
      </p:sp>
      <p:sp>
        <p:nvSpPr>
          <p:cNvPr id="29" name="Text 27"/>
          <p:cNvSpPr/>
          <p:nvPr/>
        </p:nvSpPr>
        <p:spPr>
          <a:xfrm>
            <a:off x="1298448" y="3639312"/>
            <a:ext cx="1847088" cy="384048"/>
          </a:xfrm>
          <a:prstGeom prst="rect">
            <a:avLst/>
          </a:prstGeom>
          <a:noFill/>
          <a:ln/>
        </p:spPr>
        <p:txBody>
          <a:bodyPr wrap="square" lIns="0" tIns="0" rIns="0" bIns="0" rtlCol="0" anchor="ctr">
            <a:normAutofit/>
          </a:bodyPr>
          <a:lstStyle/>
          <a:p>
            <a:pPr marL="0" indent="0" algn="ctr" rtl="1">
              <a:buNone/>
            </a:pPr>
            <a:r>
              <a:rPr lang="en-US" sz="153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ساده‌سازی و توسعه سامانه</a:t>
            </a:r>
            <a:endParaRPr lang="en-US" sz="153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0" name="Text 28"/>
          <p:cNvSpPr/>
          <p:nvPr/>
        </p:nvSpPr>
        <p:spPr>
          <a:xfrm>
            <a:off x="1325880" y="4178808"/>
            <a:ext cx="1792224" cy="566928"/>
          </a:xfrm>
          <a:prstGeom prst="rect">
            <a:avLst/>
          </a:prstGeom>
          <a:noFill/>
          <a:ln/>
        </p:spPr>
        <p:txBody>
          <a:bodyPr wrap="square" lIns="0" tIns="0" rIns="0" bIns="0" rtlCol="0" anchor="t">
            <a:normAutofit/>
          </a:bodyPr>
          <a:lstStyle/>
          <a:p>
            <a:pPr marL="0" indent="0" algn="ctr" rtl="1">
              <a:buNone/>
            </a:pPr>
            <a:r>
              <a:rPr lang="en-US" sz="114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حذف مرحله‌ای حسگرها و رابط یکپارچه بالینی</a:t>
            </a:r>
            <a:endParaRPr lang="en-US" sz="114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1" name="Shape 29"/>
          <p:cNvSpPr/>
          <p:nvPr/>
        </p:nvSpPr>
        <p:spPr>
          <a:xfrm>
            <a:off x="1234440" y="5422392"/>
            <a:ext cx="9784080" cy="667512"/>
          </a:xfrm>
          <a:prstGeom prst="roundRect">
            <a:avLst>
              <a:gd name="adj" fmla="val 10959"/>
            </a:avLst>
          </a:prstGeom>
          <a:solidFill>
            <a:srgbClr val="102A43"/>
          </a:solidFill>
          <a:ln w="12700">
            <a:solidFill>
              <a:srgbClr val="102A43"/>
            </a:solidFill>
            <a:prstDash val="solid"/>
          </a:ln>
        </p:spPr>
      </p:sp>
      <p:sp>
        <p:nvSpPr>
          <p:cNvPr id="32" name="Text 30"/>
          <p:cNvSpPr/>
          <p:nvPr/>
        </p:nvSpPr>
        <p:spPr>
          <a:xfrm>
            <a:off x="1536192" y="5559552"/>
            <a:ext cx="9171432" cy="365760"/>
          </a:xfrm>
          <a:prstGeom prst="rect">
            <a:avLst/>
          </a:prstGeom>
          <a:noFill/>
          <a:ln/>
        </p:spPr>
        <p:txBody>
          <a:bodyPr wrap="square" lIns="0" tIns="0" rIns="0" bIns="0" rtlCol="0" anchor="ctr">
            <a:normAutofit/>
          </a:bodyPr>
          <a:lstStyle/>
          <a:p>
            <a:pPr marL="0" indent="0" algn="ctr" rtl="1">
              <a:buNone/>
            </a:pPr>
            <a:r>
              <a:rPr lang="en-US" sz="16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خروجی نهایی مورد انتظار: ابزار مکمل برای ارزیابی عینی‌تر، تکرارپذیرتر و پایش طولی عملکرد حرکتی</a:t>
            </a:r>
            <a:endParaRPr lang="en-US" sz="16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3" name="Shape 31"/>
          <p:cNvSpPr/>
          <p:nvPr/>
        </p:nvSpPr>
        <p:spPr>
          <a:xfrm>
            <a:off x="658368" y="6473952"/>
            <a:ext cx="10881360" cy="0"/>
          </a:xfrm>
          <a:prstGeom prst="line">
            <a:avLst/>
          </a:prstGeom>
          <a:noFill/>
          <a:ln w="10160">
            <a:solidFill>
              <a:srgbClr val="E9EEF2"/>
            </a:solidFill>
            <a:prstDash val="solid"/>
          </a:ln>
        </p:spPr>
      </p:sp>
      <p:sp>
        <p:nvSpPr>
          <p:cNvPr id="34" name="Text 32"/>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پایان‌نامه کارشناسی مهندسی مکانیک</a:t>
            </a:r>
            <a:endParaRPr lang="en-US" sz="12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5" name="Text 33"/>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محدودیت‌ها</a:t>
            </a:r>
            <a:r>
              <a:rPr lang="en-US" sz="120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 و مسیر آینده | ۱ اسلاید تا پایان</a:t>
            </a:r>
            <a:endParaRPr lang="en-US" sz="12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6" name="Text 34"/>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۱۳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7" name="Shape 35"/>
          <p:cNvSpPr/>
          <p:nvPr/>
        </p:nvSpPr>
        <p:spPr>
          <a:xfrm>
            <a:off x="2560320" y="6766560"/>
            <a:ext cx="6113417" cy="41148"/>
          </a:xfrm>
          <a:prstGeom prst="rect">
            <a:avLst/>
          </a:prstGeom>
          <a:solidFill>
            <a:srgbClr val="0B6E99"/>
          </a:solidFill>
          <a:ln w="12700">
            <a:solidFill>
              <a:srgbClr val="0B6E99"/>
            </a:solidFill>
            <a:prstDash val="solid"/>
          </a:ln>
        </p:spPr>
      </p:sp>
      <p:sp>
        <p:nvSpPr>
          <p:cNvPr id="38" name="Shape 36"/>
          <p:cNvSpPr/>
          <p:nvPr/>
        </p:nvSpPr>
        <p:spPr>
          <a:xfrm>
            <a:off x="8673737" y="6766560"/>
            <a:ext cx="470263" cy="41148"/>
          </a:xfrm>
          <a:prstGeom prst="rect">
            <a:avLst/>
          </a:prstGeom>
          <a:solidFill>
            <a:srgbClr val="E6EDF2"/>
          </a:solidFill>
          <a:ln w="12700">
            <a:solidFill>
              <a:srgbClr val="E6EDF2"/>
            </a:solidFill>
            <a:prstDash val="solid"/>
          </a:ln>
        </p:spPr>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2A43"/>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8AB5"/>
          </a:solidFill>
          <a:ln w="12700">
            <a:solidFill>
              <a:srgbClr val="1D8AB5"/>
            </a:solidFill>
            <a:prstDash val="solid"/>
          </a:ln>
        </p:spPr>
      </p:sp>
      <p:sp>
        <p:nvSpPr>
          <p:cNvPr id="4" name="Text 1"/>
          <p:cNvSpPr/>
          <p:nvPr/>
        </p:nvSpPr>
        <p:spPr>
          <a:xfrm>
            <a:off x="7772400" y="932688"/>
            <a:ext cx="2834640" cy="502920"/>
          </a:xfrm>
          <a:prstGeom prst="rect">
            <a:avLst/>
          </a:prstGeom>
          <a:noFill/>
          <a:ln/>
        </p:spPr>
        <p:txBody>
          <a:bodyPr wrap="square" lIns="0" tIns="0" rIns="0" bIns="0" rtlCol="0" anchor="ctr">
            <a:normAutofit/>
          </a:bodyPr>
          <a:lstStyle/>
          <a:p>
            <a:pPr marL="0" indent="0" algn="r" rtl="1">
              <a:buNone/>
            </a:pPr>
            <a:r>
              <a:rPr lang="en-US" sz="31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جمع‌بندی</a:t>
            </a:r>
            <a:endParaRPr lang="en-US" sz="31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2"/>
          <p:cNvSpPr/>
          <p:nvPr/>
        </p:nvSpPr>
        <p:spPr>
          <a:xfrm>
            <a:off x="10378440" y="1828800"/>
            <a:ext cx="512064" cy="512064"/>
          </a:xfrm>
          <a:prstGeom prst="ellipse">
            <a:avLst/>
          </a:prstGeom>
          <a:solidFill>
            <a:srgbClr val="1D8AB5"/>
          </a:solidFill>
          <a:ln w="12700">
            <a:solidFill>
              <a:srgbClr val="1D8AB5"/>
            </a:solidFill>
            <a:prstDash val="solid"/>
          </a:ln>
        </p:spPr>
      </p:sp>
      <p:sp>
        <p:nvSpPr>
          <p:cNvPr id="6" name="Text 3"/>
          <p:cNvSpPr/>
          <p:nvPr/>
        </p:nvSpPr>
        <p:spPr>
          <a:xfrm>
            <a:off x="10378440" y="1856232"/>
            <a:ext cx="512064" cy="393192"/>
          </a:xfrm>
          <a:prstGeom prst="rect">
            <a:avLst/>
          </a:prstGeom>
          <a:noFill/>
          <a:ln/>
        </p:spPr>
        <p:txBody>
          <a:bodyPr wrap="square" lIns="0" tIns="0" rIns="0" bIns="0" rtlCol="0" anchor="ctr">
            <a:normAutofit/>
          </a:bodyPr>
          <a:lstStyle/>
          <a:p>
            <a:pPr marL="0" indent="0" algn="ctr" rtl="1">
              <a:buNone/>
            </a:pPr>
            <a:r>
              <a:rPr lang="en-US" sz="18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۱</a:t>
            </a:r>
            <a:endParaRPr lang="en-US" sz="18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7" name="Text 4"/>
          <p:cNvSpPr/>
          <p:nvPr/>
        </p:nvSpPr>
        <p:spPr>
          <a:xfrm>
            <a:off x="2788920" y="1801368"/>
            <a:ext cx="7360920" cy="585216"/>
          </a:xfrm>
          <a:prstGeom prst="rect">
            <a:avLst/>
          </a:prstGeom>
          <a:noFill/>
          <a:ln/>
        </p:spPr>
        <p:txBody>
          <a:bodyPr wrap="square" lIns="0" tIns="0" rIns="0" bIns="0" rtlCol="0" anchor="ctr">
            <a:normAutofit/>
          </a:bodyPr>
          <a:lstStyle/>
          <a:p>
            <a:pPr marL="0" indent="0" algn="r" rtl="1">
              <a:buNone/>
            </a:pPr>
            <a:r>
              <a:rPr lang="en-US" sz="182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سامانه کامل ثبت، پردازش و طبقه‌بندی طراحی و پیاده‌سازی شد.</a:t>
            </a:r>
            <a:endParaRPr lang="en-US" sz="18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8" name="Shape 5"/>
          <p:cNvSpPr/>
          <p:nvPr/>
        </p:nvSpPr>
        <p:spPr>
          <a:xfrm>
            <a:off x="10378440" y="2761488"/>
            <a:ext cx="512064" cy="512064"/>
          </a:xfrm>
          <a:prstGeom prst="ellipse">
            <a:avLst/>
          </a:prstGeom>
          <a:solidFill>
            <a:srgbClr val="1D8AB5"/>
          </a:solidFill>
          <a:ln w="12700">
            <a:solidFill>
              <a:srgbClr val="1D8AB5"/>
            </a:solidFill>
            <a:prstDash val="solid"/>
          </a:ln>
        </p:spPr>
      </p:sp>
      <p:sp>
        <p:nvSpPr>
          <p:cNvPr id="9" name="Text 6"/>
          <p:cNvSpPr/>
          <p:nvPr/>
        </p:nvSpPr>
        <p:spPr>
          <a:xfrm>
            <a:off x="10378440" y="2788920"/>
            <a:ext cx="512064" cy="393192"/>
          </a:xfrm>
          <a:prstGeom prst="rect">
            <a:avLst/>
          </a:prstGeom>
          <a:noFill/>
          <a:ln/>
        </p:spPr>
        <p:txBody>
          <a:bodyPr wrap="square" lIns="0" tIns="0" rIns="0" bIns="0" rtlCol="0" anchor="ctr">
            <a:normAutofit/>
          </a:bodyPr>
          <a:lstStyle/>
          <a:p>
            <a:pPr marL="0" indent="0" algn="ctr" rtl="1">
              <a:buNone/>
            </a:pPr>
            <a:r>
              <a:rPr lang="en-US" sz="18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۲</a:t>
            </a:r>
            <a:endParaRPr lang="en-US" sz="18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0" name="Text 7"/>
          <p:cNvSpPr/>
          <p:nvPr/>
        </p:nvSpPr>
        <p:spPr>
          <a:xfrm>
            <a:off x="2788920" y="2734056"/>
            <a:ext cx="7360920" cy="585216"/>
          </a:xfrm>
          <a:prstGeom prst="rect">
            <a:avLst/>
          </a:prstGeom>
          <a:noFill/>
          <a:ln/>
        </p:spPr>
        <p:txBody>
          <a:bodyPr wrap="square" lIns="0" tIns="0" rIns="0" bIns="0" rtlCol="0" anchor="ctr">
            <a:normAutofit/>
          </a:bodyPr>
          <a:lstStyle/>
          <a:p>
            <a:pPr marL="0" indent="0" algn="r" rtl="1">
              <a:buNone/>
            </a:pPr>
            <a:r>
              <a:rPr lang="en-US" sz="182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بردار ۶۹۰ ویژگی با PCA به فضایی شامل ۱۰ تا ۱۵ مؤلفه کاهش یافت.</a:t>
            </a:r>
            <a:endParaRPr lang="en-US" sz="18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1" name="Shape 8"/>
          <p:cNvSpPr/>
          <p:nvPr/>
        </p:nvSpPr>
        <p:spPr>
          <a:xfrm>
            <a:off x="10378440" y="3694176"/>
            <a:ext cx="512064" cy="512064"/>
          </a:xfrm>
          <a:prstGeom prst="ellipse">
            <a:avLst/>
          </a:prstGeom>
          <a:solidFill>
            <a:srgbClr val="1D8AB5"/>
          </a:solidFill>
          <a:ln w="12700">
            <a:solidFill>
              <a:srgbClr val="1D8AB5"/>
            </a:solidFill>
            <a:prstDash val="solid"/>
          </a:ln>
        </p:spPr>
      </p:sp>
      <p:sp>
        <p:nvSpPr>
          <p:cNvPr id="12" name="Text 9"/>
          <p:cNvSpPr/>
          <p:nvPr/>
        </p:nvSpPr>
        <p:spPr>
          <a:xfrm>
            <a:off x="10378440" y="3721608"/>
            <a:ext cx="512064" cy="393192"/>
          </a:xfrm>
          <a:prstGeom prst="rect">
            <a:avLst/>
          </a:prstGeom>
          <a:noFill/>
          <a:ln/>
        </p:spPr>
        <p:txBody>
          <a:bodyPr wrap="square" lIns="0" tIns="0" rIns="0" bIns="0" rtlCol="0" anchor="ctr">
            <a:normAutofit/>
          </a:bodyPr>
          <a:lstStyle/>
          <a:p>
            <a:pPr marL="0" indent="0" algn="ctr" rtl="1">
              <a:buNone/>
            </a:pPr>
            <a:r>
              <a:rPr lang="en-US" sz="18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۳</a:t>
            </a:r>
            <a:endParaRPr lang="en-US" sz="18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3" name="Text 10"/>
          <p:cNvSpPr/>
          <p:nvPr/>
        </p:nvSpPr>
        <p:spPr>
          <a:xfrm>
            <a:off x="2788920" y="3666744"/>
            <a:ext cx="7360920" cy="585216"/>
          </a:xfrm>
          <a:prstGeom prst="rect">
            <a:avLst/>
          </a:prstGeom>
          <a:noFill/>
          <a:ln/>
        </p:spPr>
        <p:txBody>
          <a:bodyPr wrap="square" lIns="0" tIns="0" rIns="0" bIns="0" rtlCol="0" anchor="ctr">
            <a:normAutofit/>
          </a:bodyPr>
          <a:lstStyle/>
          <a:p>
            <a:pPr marL="0" indent="0" algn="r" rtl="1">
              <a:buNone/>
            </a:pPr>
            <a:r>
              <a:rPr lang="en-US" sz="182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سطوح عملکردی شبیه‌سازی‌شده در پنج فعالیت قابل تفکیک بودند.</a:t>
            </a:r>
            <a:endParaRPr lang="en-US" sz="18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4" name="Shape 11"/>
          <p:cNvSpPr/>
          <p:nvPr/>
        </p:nvSpPr>
        <p:spPr>
          <a:xfrm>
            <a:off x="1874520" y="4736592"/>
            <a:ext cx="8549640" cy="841248"/>
          </a:xfrm>
          <a:prstGeom prst="roundRect">
            <a:avLst>
              <a:gd name="adj" fmla="val 15217"/>
            </a:avLst>
          </a:prstGeom>
          <a:solidFill>
            <a:srgbClr val="183B56"/>
          </a:solidFill>
          <a:ln w="15240">
            <a:solidFill>
              <a:srgbClr val="335A75"/>
            </a:solidFill>
            <a:prstDash val="solid"/>
          </a:ln>
        </p:spPr>
      </p:sp>
      <p:sp>
        <p:nvSpPr>
          <p:cNvPr id="15" name="Text 12"/>
          <p:cNvSpPr/>
          <p:nvPr/>
        </p:nvSpPr>
        <p:spPr>
          <a:xfrm>
            <a:off x="2176272" y="4919472"/>
            <a:ext cx="7955280" cy="420624"/>
          </a:xfrm>
          <a:prstGeom prst="rect">
            <a:avLst/>
          </a:prstGeom>
          <a:noFill/>
          <a:ln/>
        </p:spPr>
        <p:txBody>
          <a:bodyPr wrap="square" lIns="0" tIns="0" rIns="0" bIns="0" rtlCol="0" anchor="ctr">
            <a:normAutofit/>
          </a:bodyPr>
          <a:lstStyle/>
          <a:p>
            <a:pPr marL="0" indent="0" algn="ctr" rtl="1">
              <a:buNone/>
            </a:pPr>
            <a:r>
              <a:rPr lang="en-US" sz="1800" b="1" dirty="0">
                <a:solidFill>
                  <a:srgbClr val="66E0D0"/>
                </a:solidFill>
                <a:latin typeface="Sharif 1.2 ExtraLight" panose="020B0000040000000000" pitchFamily="34" charset="-78"/>
                <a:ea typeface="Sharif 1.2 ExtraLight" panose="020B0000040000000000" pitchFamily="34" charset="-78"/>
                <a:cs typeface="Sharif 1.2 ExtraLight" panose="020B0000040000000000" pitchFamily="34" charset="-78"/>
              </a:rPr>
              <a:t>دستاورد اصلی: اثبات امکان‌پذیری فنی چارچوب — نه اثبات کاربرد بالینی</a:t>
            </a:r>
            <a:endParaRPr lang="en-US" sz="18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6" name="Text 13"/>
          <p:cNvSpPr/>
          <p:nvPr/>
        </p:nvSpPr>
        <p:spPr>
          <a:xfrm>
            <a:off x="4626864" y="5596128"/>
            <a:ext cx="2926080" cy="384048"/>
          </a:xfrm>
          <a:prstGeom prst="rect">
            <a:avLst/>
          </a:prstGeom>
          <a:noFill/>
          <a:ln/>
        </p:spPr>
        <p:txBody>
          <a:bodyPr wrap="square" lIns="0" tIns="0" rIns="0" bIns="0" rtlCol="0" anchor="ctr">
            <a:normAutofit/>
          </a:bodyPr>
          <a:lstStyle/>
          <a:p>
            <a:pPr marL="0" indent="0" algn="ctr" rtl="1">
              <a:buNone/>
            </a:pPr>
            <a:r>
              <a:rPr lang="en-US" sz="24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سپاسگزارم</a:t>
            </a:r>
            <a:endParaRPr lang="en-US" sz="24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8" name="Shape 15"/>
          <p:cNvSpPr/>
          <p:nvPr/>
        </p:nvSpPr>
        <p:spPr>
          <a:xfrm>
            <a:off x="658368" y="6473952"/>
            <a:ext cx="10881360" cy="0"/>
          </a:xfrm>
          <a:prstGeom prst="line">
            <a:avLst/>
          </a:prstGeom>
          <a:noFill/>
          <a:ln w="10160">
            <a:solidFill>
              <a:srgbClr val="335A75"/>
            </a:solidFill>
            <a:prstDash val="solid"/>
          </a:ln>
        </p:spPr>
      </p:sp>
      <p:sp>
        <p:nvSpPr>
          <p:cNvPr id="19" name="Text 16"/>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0" name="Text 17"/>
          <p:cNvSpPr/>
          <p:nvPr/>
        </p:nvSpPr>
        <p:spPr>
          <a:xfrm>
            <a:off x="3438144" y="6538138"/>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جمع‌بندی</a:t>
            </a:r>
            <a:r>
              <a:rPr lang="en-US" sz="1200" dirty="0">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 | </a:t>
            </a:r>
            <a:r>
              <a:rPr lang="en-US" sz="1200" dirty="0" err="1">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اسلاید</a:t>
            </a:r>
            <a:r>
              <a:rPr lang="en-US" sz="1200" dirty="0">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 </a:t>
            </a:r>
            <a:r>
              <a:rPr lang="en-US" sz="1200" dirty="0" err="1">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پایان</a:t>
            </a:r>
            <a:r>
              <a:rPr lang="fa-IR" sz="1200" dirty="0" err="1">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ی</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1" name="Text 18"/>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66E0D0"/>
                </a:solidFill>
                <a:latin typeface="Sharif 1.2 Thin" panose="020B0000040000000000" pitchFamily="34" charset="-78"/>
                <a:ea typeface="Sharif 1.2 Thin" panose="020B0000040000000000" pitchFamily="34" charset="-78"/>
                <a:cs typeface="Sharif 1.2 Thin" panose="020B0000040000000000" pitchFamily="34" charset="-78"/>
              </a:rPr>
              <a:t>۱۴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2" name="Shape 19"/>
          <p:cNvSpPr/>
          <p:nvPr/>
        </p:nvSpPr>
        <p:spPr>
          <a:xfrm>
            <a:off x="2560320" y="6766560"/>
            <a:ext cx="6583680" cy="41148"/>
          </a:xfrm>
          <a:prstGeom prst="rect">
            <a:avLst/>
          </a:prstGeom>
          <a:solidFill>
            <a:srgbClr val="66E0D0"/>
          </a:solidFill>
          <a:ln w="12700">
            <a:solidFill>
              <a:srgbClr val="66E0D0"/>
            </a:solidFill>
            <a:prstDash val="solid"/>
          </a:ln>
        </p:spPr>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177</TotalTime>
  <Words>2214</Words>
  <Application>Microsoft Macintosh PowerPoint</Application>
  <PresentationFormat>Widescreen</PresentationFormat>
  <Paragraphs>333</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Sharif 1.2</vt:lpstr>
      <vt:lpstr>Sharif 1.2 Light</vt:lpstr>
      <vt:lpstr>Sharif 1.2 Medium</vt:lpstr>
      <vt:lpstr>Sharif 1.2 SemiBold</vt:lpstr>
      <vt:lpstr>Sharif 1.2 Thin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Sharif University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ارزیابی شاخص‌های عملکرد موتوری در بیماران دوشن به کمک حسگرهای اینرسیایی</dc:title>
  <dc:subject>Bachelor Thesis Defense - DMD motor performance assessment using inertial sensors</dc:subject>
  <dc:creator>Mohammad Rahmanitalab</dc:creator>
  <cp:lastModifiedBy>mohammad rahmanitalab</cp:lastModifiedBy>
  <cp:revision>14</cp:revision>
  <dcterms:created xsi:type="dcterms:W3CDTF">2026-07-19T14:42:07Z</dcterms:created>
  <dcterms:modified xsi:type="dcterms:W3CDTF">2026-07-20T21:25:52Z</dcterms:modified>
</cp:coreProperties>
</file>