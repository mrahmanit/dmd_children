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2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0288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25 ثانیه
در این ارائه، ابتدا مسئله و ایده اصلی پروژه را معرفی می‌کنم، سپس سامانه داده‌برداری و مسیر پردازش را توضیح می‌دهم و در پایان، نتایج پنج فعالیت، محدودیت‌ها و گام بعدی برای اعتبارسنجی بالینی را مرور می‌کنم.</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55 ثانیه
دوشن یک بیماری پیشرونده است و تغییرات عملکرد حرکتی برای تصمیم‌گیری درمانی اهمیت زیادی دارد. NSAA یک ابزار معتبر و رایج است، اما امتیازدهی آن بر مشاهده درمانگر استوار است. پرسش پروژه این بود که آیا داده‌های شتاب و سرعت زاویه‌ای می‌توانند سطوح صفر، یک و دو را از هم تفکیک کنند.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50 ثانیه
برای پوشش حرکات با ماهیت‌های مختلف، پنج فعالیت انتخاب شد: یک فعالیت تقریباً ایستا، یک حرکت چندمرحله‌ای، یک حرکت انفجاری، یک حرکت متمرکز بر سر و یک حرکت انتقال وزن. دستاورد پروژه فقط آموزش مدل نبود؛ سامانه سخت‌افزاری، نرم‌افزار دریافت و کل زنجیره پردازش نیز توسعه یافت.</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55 ثانیه
این مهم‌ترین نکته تفسیری پروژه است. داده‌ها از بیمار واقعی جمع‌آوری نشدند. یک فرد سالم که با بیماری و معیار امتیازدهی آشنا بود، الگوهای حرکتی را در شرایط کنترل‌شده شبیه‌سازی کرد. بنابراین اعداد گزارش‌شده، توان تفکیک الگوهای شبیه‌سازی‌شده را نشان می‌دهند و نباید به‌عنوان دقت بالینی سامانه بیان شوند.</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65 ثانیه
سامانه از پنج واحد T-Wristband استفاده می‌کند. یک حسگر روی پیشانی، دو حسگر روی پشت مچ دست‌ها و دو حسگر بالای قوزک خارجی پاها نصب شدند. هر واحد سه محور شتاب و سه محور سرعت زاویه‌ای را با نرخ حدود ۹۰ تا ۱۰۰ هرتز ثبت و از طریق بلوتوث ارسال می‌کرد. این چیدمان به‌طور هم‌زمان حرکت اصلی و الگوهای جبرانی را پوشش می‌دهد.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65 ثانیه
جریان داده از اجرای فعالیت شروع می‌شود. حسگرها داده را ثبت می‌کنند و نرم‌افزار متلب آن را هم‌زمان دریافت و ذخیره می‌کند. سپس در پایتون پیش‌پردازش، استخراج ویژگی، کاهش ابعاد و مقایسه مدل‌ها انجام می‌شود. معماری به‌صورت ماژولار طراحی شد تا هر بخش مستقل قابل توسعه باشد.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65 ثانیه
داده خام ابتدا از نظر بایاس ژیروسکوپ اصلاح شد و فیلتر باترورث مرتبه چهارم با فرکانس قطع چهار هرتز به‌صورت دوطرفه اعمال شد. سپس از هر یک از شش کانال هر حسگر، ۲۳ ویژگی زمانی و آماری استخراج شد. حاصل پنج حسگر ضربدر شش سیگنال ضربدر ۲۳ ویژگی، یک بردار ۶۹۰ بعدی برای هر نمونه بود.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65 ثانیه
برای جلوگیری از نشت اطلاعات، تمام تبدیل‌ها داخل یک Pipeline قرار گرفتند. در هر تکرار اعتبارسنجی، استانداردسازی و PCA فقط بر داده آموزش برازش شدند. سه مدل SVM، KNN و جنگل تصادفی مقایسه شدند. ارزیابی اصلی با اعتبارسنجی متقاطع طبقه‌بندی‌شده پنج‌بخشی و پنج تکرار و چند معیار مکمل انجام شد.</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70 ثانیه
ایستادن به‌عنوان فعالیت مرجع برای توسعه روند تحلیل انتخاب شد. با وجود دامنه حرکت کم، ویژگی‌های آماری نوسان بدن و حرکت جبرانی دست‌ها و سر اطلاعات تفکیک‌کننده داشتند. SVM با ۱۳ مؤلفه اصلی به دقت ۹۶ درصد رسید و از KNN و جنگل تصادفی بهتر بود. در ماتریس درهم‌ریختگی، سطح یک دشوارترین کلاس بود.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60 ثانیه
در هر پنج فعالیت، SVM همراه با PCA مدل منتخب شد، اما تعداد مؤلفه مناسب متفاوت بود و بین ۱۰ تا ۱۵ قرار گرفت. این تفاوت نشان می‌دهد که ماهیت هر فعالیت بر حجم اطلاعات موردنیاز اثر دارد. حد نصاب‌های ۸۰ و ۹۰ درصد صرفاً برای انتخاب داخلی مدل‌ها تعریف شدند و معادل دقت بالینی نیستند.</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60 ثانیه
مقایسه فعالیت‌ها نشان داد که یک مجموعه ویژگی یا تعداد مؤلفه ثابت برای همه حرکات مناسب نیست. در ایستادن، نوسان‌های ظریف مهم‌اند؛ در برخاستن هماهنگی چند اندام؛ در پریدن انرژی و فرود؛ در بالا آوردن سر، حسگر پیشانی؛ و در بالا رفتن از جعبه، انتقال وزن و حسگرهای پا. بنابراین تحلیل فعالیت‌محور منطقی‌تر است.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50 ثانیه
سه محدودیت اصلی وجود دارد: اول، همه داده‌ها از یک فرد سالم گرفته شده‌اند؛ دوم، تعداد نمونه نسبت به فضای اولیه ویژگی‌ها محدود است؛ و سوم، نتیجه به شرایط نصب و ثبت وابسته است. بنابراین اعتبارسنجی متقاطع فعلی تعمیم به بیمار یا حتی فرد سالم جدید را اثبات نمی‌کند.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50 ثانیه
مهم‌ترین گام بعدی، جمع‌آوری داده از بیماران با امتیازدهی هم‌زمان متخصص است. پس از آن باید ارزیابی مستقل از آزمودنی انجام شود. در مرحله مدل‌سازی نیز تنظیم ابرپارامترها، ویژگی‌های فرکانسی و مدل‌های زمانی قابل بررسی‌اند. در نهایت باید تعداد حسگرها و نرم‌افزار برای کاربرد بالینی ساده‌تر شوند.</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زمان پیشنهادی: 35 ثانیه
در جمع‌بندی، یک سامانه کامل از ثبت داده تا طبقه‌بندی ساخته شد. کاهش ابعاد نشان داد بخش عمده اطلاعات موردنیاز در فضای بسیار کوچک‌تری از ۶۹۰ ویژگی قرار دارد و سطوح شبیه‌سازی‌شده قابل تفکیک‌اند. با این حال، دستاورد اصلی پروژه یک چارچوب فنی و روش‌مند است و اعتبار بالینی آن باید در مطالعه بعدی بررسی شود.</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3886200" cy="6858000"/>
          </a:xfrm>
          <a:prstGeom prst="rect">
            <a:avLst/>
          </a:prstGeom>
          <a:solidFill>
            <a:srgbClr val="102A43"/>
          </a:solidFill>
          <a:ln w="12700">
            <a:solidFill>
              <a:srgbClr val="102A43"/>
            </a:solidFill>
            <a:prstDash val="solid"/>
          </a:ln>
        </p:spPr>
      </p:sp>
      <p:sp>
        <p:nvSpPr>
          <p:cNvPr id="3" name="Shape 1"/>
          <p:cNvSpPr/>
          <p:nvPr/>
        </p:nvSpPr>
        <p:spPr>
          <a:xfrm>
            <a:off x="3886200" y="0"/>
            <a:ext cx="118872" cy="6858000"/>
          </a:xfrm>
          <a:prstGeom prst="rect">
            <a:avLst/>
          </a:prstGeom>
          <a:solidFill>
            <a:srgbClr val="1D8AB5"/>
          </a:solidFill>
          <a:ln w="12700">
            <a:solidFill>
              <a:srgbClr val="1D8AB5"/>
            </a:solidFill>
            <a:prstDash val="solid"/>
          </a:ln>
        </p:spPr>
      </p:sp>
      <p:sp>
        <p:nvSpPr>
          <p:cNvPr id="4" name="Shape 2"/>
          <p:cNvSpPr/>
          <p:nvPr/>
        </p:nvSpPr>
        <p:spPr>
          <a:xfrm>
            <a:off x="420624" y="1417320"/>
            <a:ext cx="3017520" cy="2084832"/>
          </a:xfrm>
          <a:prstGeom prst="roundRect">
            <a:avLst>
              <a:gd name="adj" fmla="val 5263"/>
            </a:avLst>
          </a:prstGeom>
          <a:solidFill>
            <a:srgbClr val="FFFFFF"/>
          </a:solidFill>
          <a:ln w="12700">
            <a:solidFill>
              <a:srgbClr val="4B6A85">
                <a:alpha val="40000"/>
              </a:srgbClr>
            </a:solidFill>
            <a:prstDash val="solid"/>
          </a:ln>
        </p:spPr>
      </p:sp>
      <p:pic>
        <p:nvPicPr>
          <p:cNvPr id="5" name="Image 0" descr="/mnt/data/dmd_assets/crops/sensor_photos.png"/>
          <p:cNvPicPr>
            <a:picLocks noChangeAspect="1"/>
          </p:cNvPicPr>
          <p:nvPr/>
        </p:nvPicPr>
        <p:blipFill>
          <a:blip r:embed="rId3"/>
          <a:srcRect l="4080" r="4080"/>
          <a:stretch/>
        </p:blipFill>
        <p:spPr>
          <a:xfrm>
            <a:off x="484632" y="1481328"/>
            <a:ext cx="2889504" cy="1956816"/>
          </a:xfrm>
          <a:prstGeom prst="rect">
            <a:avLst/>
          </a:prstGeom>
        </p:spPr>
      </p:pic>
      <p:sp>
        <p:nvSpPr>
          <p:cNvPr id="6" name="Shape 3"/>
          <p:cNvSpPr/>
          <p:nvPr/>
        </p:nvSpPr>
        <p:spPr>
          <a:xfrm>
            <a:off x="768096" y="3813048"/>
            <a:ext cx="2267712" cy="420624"/>
          </a:xfrm>
          <a:prstGeom prst="roundRect">
            <a:avLst>
              <a:gd name="adj" fmla="val 39130"/>
            </a:avLst>
          </a:prstGeom>
          <a:solidFill>
            <a:srgbClr val="183B56"/>
          </a:solidFill>
          <a:ln w="12700">
            <a:solidFill>
              <a:srgbClr val="335A75"/>
            </a:solidFill>
            <a:prstDash val="solid"/>
          </a:ln>
        </p:spPr>
      </p:sp>
      <p:sp>
        <p:nvSpPr>
          <p:cNvPr id="7" name="Text 4"/>
          <p:cNvSpPr/>
          <p:nvPr/>
        </p:nvSpPr>
        <p:spPr>
          <a:xfrm>
            <a:off x="877824" y="3831336"/>
            <a:ext cx="2048256" cy="384048"/>
          </a:xfrm>
          <a:prstGeom prst="rect">
            <a:avLst/>
          </a:prstGeom>
          <a:noFill/>
          <a:ln/>
        </p:spPr>
        <p:txBody>
          <a:bodyPr wrap="square" lIns="0" tIns="0" rIns="0" bIns="0" rtlCol="0" anchor="ctr">
            <a:normAutofit/>
          </a:bodyPr>
          <a:lstStyle/>
          <a:p>
            <a:pPr marL="0" indent="0" algn="ctr" rtl="1">
              <a:buNone/>
            </a:pPr>
            <a:r>
              <a:rPr lang="en-US" sz="1350" b="1" dirty="0">
                <a:solidFill>
                  <a:srgbClr val="E9F5FB"/>
                </a:solidFill>
                <a:latin typeface="Noto Sans Arabic" pitchFamily="34" charset="0"/>
                <a:ea typeface="Noto Sans Arabic" pitchFamily="34" charset="-122"/>
                <a:cs typeface="Noto Sans Arabic" pitchFamily="34" charset="-120"/>
              </a:rPr>
              <a:t>۵ حسگر پوشیدنی</a:t>
            </a:r>
            <a:endParaRPr lang="en-US" sz="1350" dirty="0"/>
          </a:p>
        </p:txBody>
      </p:sp>
      <p:sp>
        <p:nvSpPr>
          <p:cNvPr id="8" name="Shape 5"/>
          <p:cNvSpPr/>
          <p:nvPr/>
        </p:nvSpPr>
        <p:spPr>
          <a:xfrm>
            <a:off x="768096" y="4334256"/>
            <a:ext cx="2267712" cy="420624"/>
          </a:xfrm>
          <a:prstGeom prst="roundRect">
            <a:avLst>
              <a:gd name="adj" fmla="val 39130"/>
            </a:avLst>
          </a:prstGeom>
          <a:solidFill>
            <a:srgbClr val="183B56"/>
          </a:solidFill>
          <a:ln w="12700">
            <a:solidFill>
              <a:srgbClr val="335A75"/>
            </a:solidFill>
            <a:prstDash val="solid"/>
          </a:ln>
        </p:spPr>
      </p:sp>
      <p:sp>
        <p:nvSpPr>
          <p:cNvPr id="9" name="Text 6"/>
          <p:cNvSpPr/>
          <p:nvPr/>
        </p:nvSpPr>
        <p:spPr>
          <a:xfrm>
            <a:off x="877824" y="4352544"/>
            <a:ext cx="2048256" cy="384048"/>
          </a:xfrm>
          <a:prstGeom prst="rect">
            <a:avLst/>
          </a:prstGeom>
          <a:noFill/>
          <a:ln/>
        </p:spPr>
        <p:txBody>
          <a:bodyPr wrap="square" lIns="0" tIns="0" rIns="0" bIns="0" rtlCol="0" anchor="ctr">
            <a:normAutofit/>
          </a:bodyPr>
          <a:lstStyle/>
          <a:p>
            <a:pPr marL="0" indent="0" algn="ctr" rtl="1">
              <a:buNone/>
            </a:pPr>
            <a:r>
              <a:rPr lang="en-US" sz="1350" b="1" dirty="0">
                <a:solidFill>
                  <a:srgbClr val="E9F5FB"/>
                </a:solidFill>
                <a:latin typeface="Noto Sans Arabic" pitchFamily="34" charset="0"/>
                <a:ea typeface="Noto Sans Arabic" pitchFamily="34" charset="-122"/>
                <a:cs typeface="Noto Sans Arabic" pitchFamily="34" charset="-120"/>
              </a:rPr>
              <a:t>یادگیری ماشین</a:t>
            </a:r>
            <a:endParaRPr lang="en-US" sz="1350" dirty="0"/>
          </a:p>
        </p:txBody>
      </p:sp>
      <p:sp>
        <p:nvSpPr>
          <p:cNvPr id="10" name="Shape 7"/>
          <p:cNvSpPr/>
          <p:nvPr/>
        </p:nvSpPr>
        <p:spPr>
          <a:xfrm>
            <a:off x="768096" y="4855464"/>
            <a:ext cx="2267712" cy="420624"/>
          </a:xfrm>
          <a:prstGeom prst="roundRect">
            <a:avLst>
              <a:gd name="adj" fmla="val 39130"/>
            </a:avLst>
          </a:prstGeom>
          <a:solidFill>
            <a:srgbClr val="183B56"/>
          </a:solidFill>
          <a:ln w="12700">
            <a:solidFill>
              <a:srgbClr val="335A75"/>
            </a:solidFill>
            <a:prstDash val="solid"/>
          </a:ln>
        </p:spPr>
      </p:sp>
      <p:sp>
        <p:nvSpPr>
          <p:cNvPr id="11" name="Text 8"/>
          <p:cNvSpPr/>
          <p:nvPr/>
        </p:nvSpPr>
        <p:spPr>
          <a:xfrm>
            <a:off x="877824" y="4873752"/>
            <a:ext cx="2048256" cy="384048"/>
          </a:xfrm>
          <a:prstGeom prst="rect">
            <a:avLst/>
          </a:prstGeom>
          <a:noFill/>
          <a:ln/>
        </p:spPr>
        <p:txBody>
          <a:bodyPr wrap="square" lIns="0" tIns="0" rIns="0" bIns="0" rtlCol="0" anchor="ctr">
            <a:normAutofit/>
          </a:bodyPr>
          <a:lstStyle/>
          <a:p>
            <a:pPr marL="0" indent="0" algn="ctr" rtl="1">
              <a:buNone/>
            </a:pPr>
            <a:r>
              <a:rPr lang="en-US" sz="1350" b="1" dirty="0">
                <a:solidFill>
                  <a:srgbClr val="E9F5FB"/>
                </a:solidFill>
                <a:latin typeface="Noto Sans Arabic" pitchFamily="34" charset="0"/>
                <a:ea typeface="Noto Sans Arabic" pitchFamily="34" charset="-122"/>
                <a:cs typeface="Noto Sans Arabic" pitchFamily="34" charset="-120"/>
              </a:rPr>
              <a:t>مقیاس NSAA</a:t>
            </a:r>
            <a:endParaRPr lang="en-US" sz="1350" dirty="0"/>
          </a:p>
        </p:txBody>
      </p:sp>
      <p:pic>
        <p:nvPicPr>
          <p:cNvPr id="12" name="Image 1" descr="/mnt/data/dmd_assets/crops/sharif_logo.png"/>
          <p:cNvPicPr>
            <a:picLocks noChangeAspect="1"/>
          </p:cNvPicPr>
          <p:nvPr/>
        </p:nvPicPr>
        <p:blipFill>
          <a:blip r:embed="rId4"/>
          <a:stretch>
            <a:fillRect/>
          </a:stretch>
        </p:blipFill>
        <p:spPr>
          <a:xfrm>
            <a:off x="10235930" y="329184"/>
            <a:ext cx="1062260" cy="960120"/>
          </a:xfrm>
          <a:prstGeom prst="rect">
            <a:avLst/>
          </a:prstGeom>
        </p:spPr>
      </p:pic>
      <p:sp>
        <p:nvSpPr>
          <p:cNvPr id="13" name="Text 9"/>
          <p:cNvSpPr/>
          <p:nvPr/>
        </p:nvSpPr>
        <p:spPr>
          <a:xfrm>
            <a:off x="4526280" y="1417320"/>
            <a:ext cx="6583680" cy="1847088"/>
          </a:xfrm>
          <a:prstGeom prst="rect">
            <a:avLst/>
          </a:prstGeom>
          <a:noFill/>
          <a:ln/>
        </p:spPr>
        <p:txBody>
          <a:bodyPr wrap="square" lIns="0" tIns="0" rIns="0" bIns="0" rtlCol="0" anchor="ctr">
            <a:normAutofit/>
          </a:bodyPr>
          <a:lstStyle/>
          <a:p>
            <a:pPr marL="0" indent="0" algn="r" rtl="1">
              <a:buNone/>
            </a:pPr>
            <a:r>
              <a:rPr lang="en-US" sz="3000" b="1" dirty="0">
                <a:solidFill>
                  <a:srgbClr val="102A43"/>
                </a:solidFill>
                <a:latin typeface="Noto Sans Arabic" pitchFamily="34" charset="0"/>
                <a:ea typeface="Noto Sans Arabic" pitchFamily="34" charset="-122"/>
                <a:cs typeface="Noto Sans Arabic" pitchFamily="34" charset="-120"/>
              </a:rPr>
              <a:t>ارزیابی شاخص‌های عملکرد موتوری</a:t>
            </a:r>
            <a:endParaRPr lang="en-US" sz="3000" dirty="0"/>
          </a:p>
          <a:p>
            <a:pPr marL="0" indent="0" algn="r" rtl="1">
              <a:buNone/>
            </a:pPr>
            <a:r>
              <a:rPr lang="en-US" sz="3000" b="1" dirty="0">
                <a:solidFill>
                  <a:srgbClr val="102A43"/>
                </a:solidFill>
                <a:latin typeface="Noto Sans Arabic" pitchFamily="34" charset="0"/>
                <a:ea typeface="Noto Sans Arabic" pitchFamily="34" charset="-122"/>
                <a:cs typeface="Noto Sans Arabic" pitchFamily="34" charset="-120"/>
              </a:rPr>
              <a:t>در بیماران دوشن به کمک</a:t>
            </a:r>
            <a:endParaRPr lang="en-US" sz="3000" dirty="0"/>
          </a:p>
          <a:p>
            <a:pPr marL="0" indent="0" algn="r" rtl="1">
              <a:buNone/>
            </a:pPr>
            <a:r>
              <a:rPr lang="en-US" sz="3000" b="1" dirty="0">
                <a:solidFill>
                  <a:srgbClr val="102A43"/>
                </a:solidFill>
                <a:latin typeface="Noto Sans Arabic" pitchFamily="34" charset="0"/>
                <a:ea typeface="Noto Sans Arabic" pitchFamily="34" charset="-122"/>
                <a:cs typeface="Noto Sans Arabic" pitchFamily="34" charset="-120"/>
              </a:rPr>
              <a:t>حسگرهای اینرسیایی</a:t>
            </a:r>
            <a:endParaRPr lang="en-US" sz="3000" dirty="0"/>
          </a:p>
        </p:txBody>
      </p:sp>
      <p:sp>
        <p:nvSpPr>
          <p:cNvPr id="14" name="Shape 10"/>
          <p:cNvSpPr/>
          <p:nvPr/>
        </p:nvSpPr>
        <p:spPr>
          <a:xfrm>
            <a:off x="4892040" y="3520440"/>
            <a:ext cx="6108192" cy="0"/>
          </a:xfrm>
          <a:prstGeom prst="line">
            <a:avLst/>
          </a:prstGeom>
          <a:noFill/>
          <a:ln w="38100">
            <a:solidFill>
              <a:srgbClr val="0B6E99"/>
            </a:solidFill>
            <a:prstDash val="solid"/>
          </a:ln>
        </p:spPr>
      </p:sp>
      <p:sp>
        <p:nvSpPr>
          <p:cNvPr id="15" name="Text 11"/>
          <p:cNvSpPr/>
          <p:nvPr/>
        </p:nvSpPr>
        <p:spPr>
          <a:xfrm>
            <a:off x="6126480" y="3794760"/>
            <a:ext cx="4892040" cy="402336"/>
          </a:xfrm>
          <a:prstGeom prst="rect">
            <a:avLst/>
          </a:prstGeom>
          <a:noFill/>
          <a:ln/>
        </p:spPr>
        <p:txBody>
          <a:bodyPr wrap="square" lIns="0" tIns="0" rIns="0" bIns="0" rtlCol="0" anchor="ctr">
            <a:normAutofit/>
          </a:bodyPr>
          <a:lstStyle/>
          <a:p>
            <a:pPr marL="0" indent="0" algn="r" rtl="1">
              <a:buNone/>
            </a:pPr>
            <a:r>
              <a:rPr lang="en-US" sz="1600" b="1" dirty="0">
                <a:solidFill>
                  <a:srgbClr val="0B6E99"/>
                </a:solidFill>
                <a:latin typeface="Noto Sans Arabic" pitchFamily="34" charset="0"/>
                <a:ea typeface="Noto Sans Arabic" pitchFamily="34" charset="-122"/>
                <a:cs typeface="Noto Sans Arabic" pitchFamily="34" charset="-120"/>
              </a:rPr>
              <a:t>ارائه دفاع کارشناسی مهندسی مکانیک</a:t>
            </a:r>
            <a:endParaRPr lang="en-US" sz="1600" dirty="0"/>
          </a:p>
        </p:txBody>
      </p:sp>
      <p:sp>
        <p:nvSpPr>
          <p:cNvPr id="16" name="Text 12"/>
          <p:cNvSpPr/>
          <p:nvPr/>
        </p:nvSpPr>
        <p:spPr>
          <a:xfrm>
            <a:off x="7360920" y="4590288"/>
            <a:ext cx="3657600" cy="384048"/>
          </a:xfrm>
          <a:prstGeom prst="rect">
            <a:avLst/>
          </a:prstGeom>
          <a:noFill/>
          <a:ln/>
        </p:spPr>
        <p:txBody>
          <a:bodyPr wrap="square" lIns="0" tIns="0" rIns="0" bIns="0" rtlCol="0" anchor="ctr">
            <a:normAutofit/>
          </a:bodyPr>
          <a:lstStyle/>
          <a:p>
            <a:pPr marL="0" indent="0" algn="r" rtl="1">
              <a:buNone/>
            </a:pPr>
            <a:r>
              <a:rPr lang="en-US" sz="1900" b="1" dirty="0">
                <a:solidFill>
                  <a:srgbClr val="1F2937"/>
                </a:solidFill>
                <a:latin typeface="Noto Sans Arabic" pitchFamily="34" charset="0"/>
                <a:ea typeface="Noto Sans Arabic" pitchFamily="34" charset="-122"/>
                <a:cs typeface="Noto Sans Arabic" pitchFamily="34" charset="-120"/>
              </a:rPr>
              <a:t>محمد رحمانی‌طلب</a:t>
            </a:r>
            <a:endParaRPr lang="en-US" sz="1900" dirty="0"/>
          </a:p>
        </p:txBody>
      </p:sp>
      <p:sp>
        <p:nvSpPr>
          <p:cNvPr id="17" name="Text 13"/>
          <p:cNvSpPr/>
          <p:nvPr/>
        </p:nvSpPr>
        <p:spPr>
          <a:xfrm>
            <a:off x="6263640" y="5065776"/>
            <a:ext cx="4754880" cy="329184"/>
          </a:xfrm>
          <a:prstGeom prst="rect">
            <a:avLst/>
          </a:prstGeom>
          <a:noFill/>
          <a:ln/>
        </p:spPr>
        <p:txBody>
          <a:bodyPr wrap="square" lIns="0" tIns="0" rIns="0" bIns="0" rtlCol="0" anchor="ctr">
            <a:normAutofit/>
          </a:bodyPr>
          <a:lstStyle/>
          <a:p>
            <a:pPr marL="0" indent="0" algn="r" rtl="1">
              <a:buNone/>
            </a:pPr>
            <a:r>
              <a:rPr lang="en-US" sz="1400" dirty="0">
                <a:solidFill>
                  <a:srgbClr val="64748B"/>
                </a:solidFill>
                <a:latin typeface="Noto Sans Arabic" pitchFamily="34" charset="0"/>
                <a:ea typeface="Noto Sans Arabic" pitchFamily="34" charset="-122"/>
                <a:cs typeface="Noto Sans Arabic" pitchFamily="34" charset="-120"/>
              </a:rPr>
              <a:t>استاد راهنما: دکتر سعید بهزادی‌پور</a:t>
            </a:r>
            <a:endParaRPr lang="en-US" sz="1400" dirty="0"/>
          </a:p>
        </p:txBody>
      </p:sp>
      <p:sp>
        <p:nvSpPr>
          <p:cNvPr id="18" name="Text 14"/>
          <p:cNvSpPr/>
          <p:nvPr/>
        </p:nvSpPr>
        <p:spPr>
          <a:xfrm>
            <a:off x="6263640" y="5440680"/>
            <a:ext cx="4754880" cy="329184"/>
          </a:xfrm>
          <a:prstGeom prst="rect">
            <a:avLst/>
          </a:prstGeom>
          <a:noFill/>
          <a:ln/>
        </p:spPr>
        <p:txBody>
          <a:bodyPr wrap="square" lIns="0" tIns="0" rIns="0" bIns="0" rtlCol="0" anchor="ctr">
            <a:normAutofit/>
          </a:bodyPr>
          <a:lstStyle/>
          <a:p>
            <a:pPr marL="0" indent="0" algn="r" rtl="1">
              <a:buNone/>
            </a:pPr>
            <a:r>
              <a:rPr lang="en-US" sz="1400" dirty="0">
                <a:solidFill>
                  <a:srgbClr val="64748B"/>
                </a:solidFill>
                <a:latin typeface="Noto Sans Arabic" pitchFamily="34" charset="0"/>
                <a:ea typeface="Noto Sans Arabic" pitchFamily="34" charset="-122"/>
                <a:cs typeface="Noto Sans Arabic" pitchFamily="34" charset="-120"/>
              </a:rPr>
              <a:t>استاد مشاور: دکتر مرضیه بابایی</a:t>
            </a:r>
            <a:endParaRPr lang="en-US" sz="1400" dirty="0"/>
          </a:p>
        </p:txBody>
      </p:sp>
      <p:sp>
        <p:nvSpPr>
          <p:cNvPr id="19" name="Text 15"/>
          <p:cNvSpPr/>
          <p:nvPr/>
        </p:nvSpPr>
        <p:spPr>
          <a:xfrm>
            <a:off x="8869680" y="6053328"/>
            <a:ext cx="2148840" cy="292608"/>
          </a:xfrm>
          <a:prstGeom prst="rect">
            <a:avLst/>
          </a:prstGeom>
          <a:noFill/>
          <a:ln/>
        </p:spPr>
        <p:txBody>
          <a:bodyPr wrap="square" lIns="0" tIns="0" rIns="0" bIns="0" rtlCol="0" anchor="ctr">
            <a:normAutofit/>
          </a:bodyPr>
          <a:lstStyle/>
          <a:p>
            <a:pPr marL="0" indent="0" algn="r" rtl="1">
              <a:buNone/>
            </a:pPr>
            <a:r>
              <a:rPr lang="en-US" sz="1250" dirty="0">
                <a:solidFill>
                  <a:srgbClr val="94A3B8"/>
                </a:solidFill>
                <a:latin typeface="Noto Sans Arabic" pitchFamily="34" charset="0"/>
                <a:ea typeface="Noto Sans Arabic" pitchFamily="34" charset="-122"/>
                <a:cs typeface="Noto Sans Arabic" pitchFamily="34" charset="-120"/>
              </a:rPr>
              <a:t>تیر ۱۴۰۵</a:t>
            </a:r>
            <a:endParaRPr lang="en-US" sz="1250" dirty="0"/>
          </a:p>
        </p:txBody>
      </p:sp>
      <p:sp>
        <p:nvSpPr>
          <p:cNvPr id="20" name="Text 16"/>
          <p:cNvSpPr/>
          <p:nvPr/>
        </p:nvSpPr>
        <p:spPr>
          <a:xfrm>
            <a:off x="5230368" y="6519672"/>
            <a:ext cx="4315968"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۱ از ۶: شروع | ۱۳ اسلاید تا پایان</a:t>
            </a:r>
            <a:endParaRPr lang="en-US" sz="920" dirty="0"/>
          </a:p>
        </p:txBody>
      </p:sp>
      <p:sp>
        <p:nvSpPr>
          <p:cNvPr id="21" name="Text 17"/>
          <p:cNvSpPr/>
          <p:nvPr/>
        </p:nvSpPr>
        <p:spPr>
          <a:xfrm>
            <a:off x="9948672" y="6519672"/>
            <a:ext cx="868680" cy="219456"/>
          </a:xfrm>
          <a:prstGeom prst="rect">
            <a:avLst/>
          </a:prstGeom>
          <a:noFill/>
          <a:ln/>
        </p:spPr>
        <p:txBody>
          <a:bodyPr wrap="square" lIns="0" tIns="0" rIns="0" bIns="0" rtlCol="0" anchor="ctr">
            <a:normAutofit/>
          </a:bodyPr>
          <a:lstStyle/>
          <a:p>
            <a:pPr marL="0" indent="0" algn="ctr" rtl="1">
              <a:buNone/>
            </a:pPr>
            <a:r>
              <a:rPr lang="en-US" sz="1020" b="1" dirty="0">
                <a:solidFill>
                  <a:srgbClr val="0B6E99"/>
                </a:solidFill>
                <a:latin typeface="Noto Sans Arabic" pitchFamily="34" charset="0"/>
                <a:ea typeface="Noto Sans Arabic" pitchFamily="34" charset="-122"/>
                <a:cs typeface="Noto Sans Arabic" pitchFamily="34" charset="-120"/>
              </a:rPr>
              <a:t>۱ / ۱۴</a:t>
            </a:r>
            <a:endParaRPr lang="en-US" sz="102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زمینه و مسئله</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مسئله پژوهش چیست؟</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۲ / ۱۴</a:t>
            </a:r>
            <a:endParaRPr lang="en-US" sz="1080" dirty="0"/>
          </a:p>
        </p:txBody>
      </p:sp>
      <p:sp>
        <p:nvSpPr>
          <p:cNvPr id="7" name="Shape 5"/>
          <p:cNvSpPr/>
          <p:nvPr/>
        </p:nvSpPr>
        <p:spPr>
          <a:xfrm>
            <a:off x="658368" y="1508760"/>
            <a:ext cx="5029200" cy="3931920"/>
          </a:xfrm>
          <a:prstGeom prst="roundRect">
            <a:avLst>
              <a:gd name="adj" fmla="val 1860"/>
            </a:avLst>
          </a:prstGeom>
          <a:solidFill>
            <a:srgbClr val="FFFFFF"/>
          </a:solidFill>
          <a:ln w="12700">
            <a:solidFill>
              <a:srgbClr val="D9E2EC"/>
            </a:solidFill>
            <a:prstDash val="solid"/>
          </a:ln>
          <a:effectLst>
            <a:outerShdw blurRad="12700" dist="50800" dir="2700000" algn="bl" rotWithShape="0">
              <a:srgbClr val="B0BEC5">
                <a:alpha val="12000"/>
              </a:srgbClr>
            </a:outerShdw>
          </a:effectLst>
        </p:spPr>
      </p:sp>
      <p:sp>
        <p:nvSpPr>
          <p:cNvPr id="8" name="Shape 6"/>
          <p:cNvSpPr/>
          <p:nvPr/>
        </p:nvSpPr>
        <p:spPr>
          <a:xfrm>
            <a:off x="3822192" y="1755648"/>
            <a:ext cx="1572768" cy="347472"/>
          </a:xfrm>
          <a:prstGeom prst="roundRect">
            <a:avLst>
              <a:gd name="adj" fmla="val 47368"/>
            </a:avLst>
          </a:prstGeom>
          <a:solidFill>
            <a:srgbClr val="FDECEA"/>
          </a:solidFill>
          <a:ln w="12700">
            <a:solidFill>
              <a:srgbClr val="FDECEA"/>
            </a:solidFill>
            <a:prstDash val="solid"/>
          </a:ln>
        </p:spPr>
      </p:sp>
      <p:sp>
        <p:nvSpPr>
          <p:cNvPr id="9" name="Text 7"/>
          <p:cNvSpPr/>
          <p:nvPr/>
        </p:nvSpPr>
        <p:spPr>
          <a:xfrm>
            <a:off x="3931920" y="1773936"/>
            <a:ext cx="1353312" cy="310896"/>
          </a:xfrm>
          <a:prstGeom prst="rect">
            <a:avLst/>
          </a:prstGeom>
          <a:noFill/>
          <a:ln/>
        </p:spPr>
        <p:txBody>
          <a:bodyPr wrap="square" lIns="0" tIns="0" rIns="0" bIns="0" rtlCol="0" anchor="ctr">
            <a:normAutofit/>
          </a:bodyPr>
          <a:lstStyle/>
          <a:p>
            <a:pPr marL="0" indent="0" algn="ctr" rtl="1">
              <a:buNone/>
            </a:pPr>
            <a:r>
              <a:rPr lang="en-US" sz="1350" b="1" dirty="0">
                <a:solidFill>
                  <a:srgbClr val="C0392B"/>
                </a:solidFill>
                <a:latin typeface="Noto Sans Arabic" pitchFamily="34" charset="0"/>
                <a:ea typeface="Noto Sans Arabic" pitchFamily="34" charset="-122"/>
                <a:cs typeface="Noto Sans Arabic" pitchFamily="34" charset="-120"/>
              </a:rPr>
              <a:t>چالش بالینی</a:t>
            </a:r>
            <a:endParaRPr lang="en-US" sz="1350" dirty="0"/>
          </a:p>
        </p:txBody>
      </p:sp>
      <p:sp>
        <p:nvSpPr>
          <p:cNvPr id="10" name="Text 8"/>
          <p:cNvSpPr/>
          <p:nvPr/>
        </p:nvSpPr>
        <p:spPr>
          <a:xfrm>
            <a:off x="987552" y="2304288"/>
            <a:ext cx="4343400" cy="804672"/>
          </a:xfrm>
          <a:prstGeom prst="rect">
            <a:avLst/>
          </a:prstGeom>
          <a:noFill/>
          <a:ln/>
        </p:spPr>
        <p:txBody>
          <a:bodyPr wrap="square" lIns="0" tIns="0" rIns="0" bIns="0" rtlCol="0" anchor="t">
            <a:normAutofit/>
          </a:bodyPr>
          <a:lstStyle/>
          <a:p>
            <a:pPr marL="0" indent="0" algn="r" rtl="1">
              <a:buNone/>
            </a:pPr>
            <a:r>
              <a:rPr lang="en-US" sz="1850" b="1" dirty="0">
                <a:solidFill>
                  <a:srgbClr val="102A43"/>
                </a:solidFill>
                <a:latin typeface="Noto Sans Arabic" pitchFamily="34" charset="0"/>
                <a:ea typeface="Noto Sans Arabic" pitchFamily="34" charset="-122"/>
                <a:cs typeface="Noto Sans Arabic" pitchFamily="34" charset="-120"/>
              </a:rPr>
              <a:t>دیستروفی عضلانی دوشن با ضعف پیشرونده عضلات و کاهش تدریجی توانایی‌های حرکتی همراه است.</a:t>
            </a:r>
            <a:endParaRPr lang="en-US" sz="1850" dirty="0"/>
          </a:p>
        </p:txBody>
      </p:sp>
      <p:sp>
        <p:nvSpPr>
          <p:cNvPr id="11" name="Shape 9"/>
          <p:cNvSpPr/>
          <p:nvPr/>
        </p:nvSpPr>
        <p:spPr>
          <a:xfrm>
            <a:off x="5074920" y="3273552"/>
            <a:ext cx="118872" cy="118872"/>
          </a:xfrm>
          <a:prstGeom prst="ellipse">
            <a:avLst/>
          </a:prstGeom>
          <a:solidFill>
            <a:srgbClr val="0B6E99"/>
          </a:solidFill>
          <a:ln w="12700">
            <a:solidFill>
              <a:srgbClr val="0B6E99"/>
            </a:solidFill>
            <a:prstDash val="solid"/>
          </a:ln>
        </p:spPr>
      </p:sp>
      <p:sp>
        <p:nvSpPr>
          <p:cNvPr id="12" name="Text 10"/>
          <p:cNvSpPr/>
          <p:nvPr/>
        </p:nvSpPr>
        <p:spPr>
          <a:xfrm>
            <a:off x="1024128" y="3108960"/>
            <a:ext cx="3886200" cy="438912"/>
          </a:xfrm>
          <a:prstGeom prst="rect">
            <a:avLst/>
          </a:prstGeom>
          <a:noFill/>
          <a:ln/>
        </p:spPr>
        <p:txBody>
          <a:bodyPr wrap="square" lIns="0" tIns="0" rIns="0" bIns="0" rtlCol="0" anchor="t">
            <a:normAutofit/>
          </a:bodyPr>
          <a:lstStyle/>
          <a:p>
            <a:pPr marL="0" indent="0" algn="r" rtl="1">
              <a:buNone/>
            </a:pPr>
            <a:r>
              <a:rPr lang="en-US" sz="1520" dirty="0">
                <a:solidFill>
                  <a:srgbClr val="1F2937"/>
                </a:solidFill>
                <a:latin typeface="Noto Sans Arabic" pitchFamily="34" charset="0"/>
                <a:ea typeface="Noto Sans Arabic" pitchFamily="34" charset="-122"/>
                <a:cs typeface="Noto Sans Arabic" pitchFamily="34" charset="-120"/>
              </a:rPr>
              <a:t>پایش روند بیماری به ارزیابی تکرارپذیر عملکرد حرکتی نیاز دارد.</a:t>
            </a:r>
            <a:endParaRPr lang="en-US" sz="1520" dirty="0"/>
          </a:p>
        </p:txBody>
      </p:sp>
      <p:sp>
        <p:nvSpPr>
          <p:cNvPr id="13" name="Shape 11"/>
          <p:cNvSpPr/>
          <p:nvPr/>
        </p:nvSpPr>
        <p:spPr>
          <a:xfrm>
            <a:off x="5074920" y="3931920"/>
            <a:ext cx="118872" cy="118872"/>
          </a:xfrm>
          <a:prstGeom prst="ellipse">
            <a:avLst/>
          </a:prstGeom>
          <a:solidFill>
            <a:srgbClr val="0B6E99"/>
          </a:solidFill>
          <a:ln w="12700">
            <a:solidFill>
              <a:srgbClr val="0B6E99"/>
            </a:solidFill>
            <a:prstDash val="solid"/>
          </a:ln>
        </p:spPr>
      </p:sp>
      <p:sp>
        <p:nvSpPr>
          <p:cNvPr id="14" name="Text 12"/>
          <p:cNvSpPr/>
          <p:nvPr/>
        </p:nvSpPr>
        <p:spPr>
          <a:xfrm>
            <a:off x="1024128" y="3767328"/>
            <a:ext cx="3886200" cy="438912"/>
          </a:xfrm>
          <a:prstGeom prst="rect">
            <a:avLst/>
          </a:prstGeom>
          <a:noFill/>
          <a:ln/>
        </p:spPr>
        <p:txBody>
          <a:bodyPr wrap="square" lIns="0" tIns="0" rIns="0" bIns="0" rtlCol="0" anchor="t">
            <a:normAutofit/>
          </a:bodyPr>
          <a:lstStyle/>
          <a:p>
            <a:pPr marL="0" indent="0" algn="r" rtl="1">
              <a:buNone/>
            </a:pPr>
            <a:r>
              <a:rPr lang="en-US" sz="1520" dirty="0">
                <a:solidFill>
                  <a:srgbClr val="1F2937"/>
                </a:solidFill>
                <a:latin typeface="Noto Sans Arabic" pitchFamily="34" charset="0"/>
                <a:ea typeface="Noto Sans Arabic" pitchFamily="34" charset="-122"/>
                <a:cs typeface="Noto Sans Arabic" pitchFamily="34" charset="-120"/>
              </a:rPr>
              <a:t>امتیازدهی NSAA تا حدی به مشاهده و قضاوت ارزیاب وابسته است.</a:t>
            </a:r>
            <a:endParaRPr lang="en-US" sz="1520" dirty="0"/>
          </a:p>
        </p:txBody>
      </p:sp>
      <p:sp>
        <p:nvSpPr>
          <p:cNvPr id="15" name="Shape 13"/>
          <p:cNvSpPr/>
          <p:nvPr/>
        </p:nvSpPr>
        <p:spPr>
          <a:xfrm>
            <a:off x="5074920" y="4590288"/>
            <a:ext cx="118872" cy="118872"/>
          </a:xfrm>
          <a:prstGeom prst="ellipse">
            <a:avLst/>
          </a:prstGeom>
          <a:solidFill>
            <a:srgbClr val="2F855A"/>
          </a:solidFill>
          <a:ln w="12700">
            <a:solidFill>
              <a:srgbClr val="2F855A"/>
            </a:solidFill>
            <a:prstDash val="solid"/>
          </a:ln>
        </p:spPr>
      </p:sp>
      <p:sp>
        <p:nvSpPr>
          <p:cNvPr id="16" name="Text 14"/>
          <p:cNvSpPr/>
          <p:nvPr/>
        </p:nvSpPr>
        <p:spPr>
          <a:xfrm>
            <a:off x="1024128" y="4425696"/>
            <a:ext cx="3886200" cy="438912"/>
          </a:xfrm>
          <a:prstGeom prst="rect">
            <a:avLst/>
          </a:prstGeom>
          <a:noFill/>
          <a:ln/>
        </p:spPr>
        <p:txBody>
          <a:bodyPr wrap="square" lIns="0" tIns="0" rIns="0" bIns="0" rtlCol="0" anchor="t">
            <a:normAutofit/>
          </a:bodyPr>
          <a:lstStyle/>
          <a:p>
            <a:pPr marL="0" indent="0" algn="r" rtl="1">
              <a:buNone/>
            </a:pPr>
            <a:r>
              <a:rPr lang="en-US" sz="1520" dirty="0">
                <a:solidFill>
                  <a:srgbClr val="1F2937"/>
                </a:solidFill>
                <a:latin typeface="Noto Sans Arabic" pitchFamily="34" charset="0"/>
                <a:ea typeface="Noto Sans Arabic" pitchFamily="34" charset="-122"/>
                <a:cs typeface="Noto Sans Arabic" pitchFamily="34" charset="-120"/>
              </a:rPr>
              <a:t>داده‌های IMU امکان ثبت کمی شتاب و سرعت زاویه‌ای را فراهم می‌کنند.</a:t>
            </a:r>
            <a:endParaRPr lang="en-US" sz="1520" dirty="0"/>
          </a:p>
        </p:txBody>
      </p:sp>
      <p:sp>
        <p:nvSpPr>
          <p:cNvPr id="17" name="Shape 15"/>
          <p:cNvSpPr/>
          <p:nvPr/>
        </p:nvSpPr>
        <p:spPr>
          <a:xfrm>
            <a:off x="5989320" y="1508760"/>
            <a:ext cx="5532120" cy="3931920"/>
          </a:xfrm>
          <a:prstGeom prst="roundRect">
            <a:avLst>
              <a:gd name="adj" fmla="val 1860"/>
            </a:avLst>
          </a:prstGeom>
          <a:solidFill>
            <a:srgbClr val="F4F8FB"/>
          </a:solidFill>
          <a:ln w="12700">
            <a:solidFill>
              <a:srgbClr val="D9E2EC"/>
            </a:solidFill>
            <a:prstDash val="solid"/>
          </a:ln>
          <a:effectLst>
            <a:outerShdw blurRad="12700" dist="50800" dir="2700000" algn="bl" rotWithShape="0">
              <a:srgbClr val="B0BEC5">
                <a:alpha val="12000"/>
              </a:srgbClr>
            </a:outerShdw>
          </a:effectLst>
        </p:spPr>
      </p:sp>
      <p:sp>
        <p:nvSpPr>
          <p:cNvPr id="18" name="Shape 16"/>
          <p:cNvSpPr/>
          <p:nvPr/>
        </p:nvSpPr>
        <p:spPr>
          <a:xfrm>
            <a:off x="8942832" y="1755648"/>
            <a:ext cx="2240280" cy="347472"/>
          </a:xfrm>
          <a:prstGeom prst="roundRect">
            <a:avLst>
              <a:gd name="adj" fmla="val 47368"/>
            </a:avLst>
          </a:prstGeom>
          <a:solidFill>
            <a:srgbClr val="E7F4F8"/>
          </a:solidFill>
          <a:ln w="12700">
            <a:solidFill>
              <a:srgbClr val="E7F4F8"/>
            </a:solidFill>
            <a:prstDash val="solid"/>
          </a:ln>
        </p:spPr>
      </p:sp>
      <p:sp>
        <p:nvSpPr>
          <p:cNvPr id="19" name="Text 17"/>
          <p:cNvSpPr/>
          <p:nvPr/>
        </p:nvSpPr>
        <p:spPr>
          <a:xfrm>
            <a:off x="9052560" y="1773936"/>
            <a:ext cx="2020824" cy="310896"/>
          </a:xfrm>
          <a:prstGeom prst="rect">
            <a:avLst/>
          </a:prstGeom>
          <a:noFill/>
          <a:ln/>
        </p:spPr>
        <p:txBody>
          <a:bodyPr wrap="square" lIns="0" tIns="0" rIns="0" bIns="0" rtlCol="0" anchor="ctr">
            <a:normAutofit/>
          </a:bodyPr>
          <a:lstStyle/>
          <a:p>
            <a:pPr marL="0" indent="0" algn="ctr" rtl="1">
              <a:buNone/>
            </a:pPr>
            <a:r>
              <a:rPr lang="en-US" sz="1320" b="1" dirty="0">
                <a:solidFill>
                  <a:srgbClr val="0B6E99"/>
                </a:solidFill>
                <a:latin typeface="Noto Sans Arabic" pitchFamily="34" charset="0"/>
                <a:ea typeface="Noto Sans Arabic" pitchFamily="34" charset="-122"/>
                <a:cs typeface="Noto Sans Arabic" pitchFamily="34" charset="-120"/>
              </a:rPr>
              <a:t>مرجع ارزیابی: NSAA</a:t>
            </a:r>
            <a:endParaRPr lang="en-US" sz="1320" dirty="0"/>
          </a:p>
        </p:txBody>
      </p:sp>
      <p:sp>
        <p:nvSpPr>
          <p:cNvPr id="20" name="Text 18"/>
          <p:cNvSpPr/>
          <p:nvPr/>
        </p:nvSpPr>
        <p:spPr>
          <a:xfrm>
            <a:off x="6446520" y="2267712"/>
            <a:ext cx="4663440" cy="411480"/>
          </a:xfrm>
          <a:prstGeom prst="rect">
            <a:avLst/>
          </a:prstGeom>
          <a:noFill/>
          <a:ln/>
        </p:spPr>
        <p:txBody>
          <a:bodyPr wrap="square" lIns="0" tIns="0" rIns="0" bIns="0" rtlCol="0" anchor="ctr">
            <a:normAutofit/>
          </a:bodyPr>
          <a:lstStyle/>
          <a:p>
            <a:pPr marL="0" indent="0" algn="ctr" rtl="1">
              <a:buNone/>
            </a:pPr>
            <a:r>
              <a:rPr lang="en-US" sz="1650" b="1" dirty="0">
                <a:solidFill>
                  <a:srgbClr val="102A43"/>
                </a:solidFill>
                <a:latin typeface="Noto Sans Arabic" pitchFamily="34" charset="0"/>
                <a:ea typeface="Noto Sans Arabic" pitchFamily="34" charset="-122"/>
                <a:cs typeface="Noto Sans Arabic" pitchFamily="34" charset="-120"/>
              </a:rPr>
              <a:t>هر فعالیت با یک نمره گسسته ارزیابی می‌شود</a:t>
            </a:r>
            <a:endParaRPr lang="en-US" sz="1650" dirty="0"/>
          </a:p>
        </p:txBody>
      </p:sp>
      <p:sp>
        <p:nvSpPr>
          <p:cNvPr id="21" name="Shape 19"/>
          <p:cNvSpPr/>
          <p:nvPr/>
        </p:nvSpPr>
        <p:spPr>
          <a:xfrm>
            <a:off x="6492240" y="2816352"/>
            <a:ext cx="4498848" cy="658368"/>
          </a:xfrm>
          <a:prstGeom prst="roundRect">
            <a:avLst>
              <a:gd name="adj" fmla="val 11111"/>
            </a:avLst>
          </a:prstGeom>
          <a:solidFill>
            <a:srgbClr val="E8F5EE"/>
          </a:solidFill>
          <a:ln w="15240">
            <a:solidFill>
              <a:srgbClr val="2F855A"/>
            </a:solidFill>
            <a:prstDash val="solid"/>
          </a:ln>
        </p:spPr>
      </p:sp>
      <p:sp>
        <p:nvSpPr>
          <p:cNvPr id="22" name="Shape 20"/>
          <p:cNvSpPr/>
          <p:nvPr/>
        </p:nvSpPr>
        <p:spPr>
          <a:xfrm>
            <a:off x="10314432" y="2907792"/>
            <a:ext cx="457200" cy="457200"/>
          </a:xfrm>
          <a:prstGeom prst="ellipse">
            <a:avLst/>
          </a:prstGeom>
          <a:solidFill>
            <a:srgbClr val="2F855A"/>
          </a:solidFill>
          <a:ln w="12700">
            <a:solidFill>
              <a:srgbClr val="2F855A"/>
            </a:solidFill>
            <a:prstDash val="solid"/>
          </a:ln>
        </p:spPr>
      </p:sp>
      <p:sp>
        <p:nvSpPr>
          <p:cNvPr id="23" name="Text 21"/>
          <p:cNvSpPr/>
          <p:nvPr/>
        </p:nvSpPr>
        <p:spPr>
          <a:xfrm>
            <a:off x="10314432" y="2907792"/>
            <a:ext cx="457200" cy="402336"/>
          </a:xfrm>
          <a:prstGeom prst="rect">
            <a:avLst/>
          </a:prstGeom>
          <a:noFill/>
          <a:ln/>
        </p:spPr>
        <p:txBody>
          <a:bodyPr wrap="square" lIns="0" tIns="0" rIns="0" bIns="0" rtlCol="0" anchor="ctr">
            <a:normAutofit/>
          </a:bodyPr>
          <a:lstStyle/>
          <a:p>
            <a:pPr marL="0" indent="0" algn="ctr" rtl="1">
              <a:buNone/>
            </a:pPr>
            <a:r>
              <a:rPr lang="en-US" sz="1900" b="1" dirty="0">
                <a:solidFill>
                  <a:srgbClr val="FFFFFF"/>
                </a:solidFill>
                <a:latin typeface="Noto Sans Arabic" pitchFamily="34" charset="0"/>
                <a:ea typeface="Noto Sans Arabic" pitchFamily="34" charset="-122"/>
                <a:cs typeface="Noto Sans Arabic" pitchFamily="34" charset="-120"/>
              </a:rPr>
              <a:t>۲</a:t>
            </a:r>
            <a:endParaRPr lang="en-US" sz="1900" dirty="0"/>
          </a:p>
        </p:txBody>
      </p:sp>
      <p:sp>
        <p:nvSpPr>
          <p:cNvPr id="24" name="Text 22"/>
          <p:cNvSpPr/>
          <p:nvPr/>
        </p:nvSpPr>
        <p:spPr>
          <a:xfrm>
            <a:off x="7360920" y="2880360"/>
            <a:ext cx="2761488" cy="256032"/>
          </a:xfrm>
          <a:prstGeom prst="rect">
            <a:avLst/>
          </a:prstGeom>
          <a:noFill/>
          <a:ln/>
        </p:spPr>
        <p:txBody>
          <a:bodyPr wrap="square" lIns="0" tIns="0" rIns="0" bIns="0" rtlCol="0" anchor="ctr">
            <a:normAutofit/>
          </a:bodyPr>
          <a:lstStyle/>
          <a:p>
            <a:pPr marL="0" indent="0" algn="r" rtl="1">
              <a:buNone/>
            </a:pPr>
            <a:r>
              <a:rPr lang="en-US" sz="1420" b="1" dirty="0">
                <a:solidFill>
                  <a:srgbClr val="1F2937"/>
                </a:solidFill>
                <a:latin typeface="Noto Sans Arabic" pitchFamily="34" charset="0"/>
                <a:ea typeface="Noto Sans Arabic" pitchFamily="34" charset="-122"/>
                <a:cs typeface="Noto Sans Arabic" pitchFamily="34" charset="-120"/>
              </a:rPr>
              <a:t>اجرای طبیعی و مستقل</a:t>
            </a:r>
            <a:endParaRPr lang="en-US" sz="1420" dirty="0"/>
          </a:p>
        </p:txBody>
      </p:sp>
      <p:sp>
        <p:nvSpPr>
          <p:cNvPr id="25" name="Text 23"/>
          <p:cNvSpPr/>
          <p:nvPr/>
        </p:nvSpPr>
        <p:spPr>
          <a:xfrm>
            <a:off x="6711696" y="3145536"/>
            <a:ext cx="3410712" cy="219456"/>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بدون الگوی جبرانی</a:t>
            </a:r>
            <a:endParaRPr lang="en-US" sz="1120" dirty="0"/>
          </a:p>
        </p:txBody>
      </p:sp>
      <p:sp>
        <p:nvSpPr>
          <p:cNvPr id="26" name="Shape 24"/>
          <p:cNvSpPr/>
          <p:nvPr/>
        </p:nvSpPr>
        <p:spPr>
          <a:xfrm>
            <a:off x="6492240" y="3657600"/>
            <a:ext cx="4498848" cy="658368"/>
          </a:xfrm>
          <a:prstGeom prst="roundRect">
            <a:avLst>
              <a:gd name="adj" fmla="val 11111"/>
            </a:avLst>
          </a:prstGeom>
          <a:solidFill>
            <a:srgbClr val="FFF5D8"/>
          </a:solidFill>
          <a:ln w="15240">
            <a:solidFill>
              <a:srgbClr val="E69F00"/>
            </a:solidFill>
            <a:prstDash val="solid"/>
          </a:ln>
        </p:spPr>
      </p:sp>
      <p:sp>
        <p:nvSpPr>
          <p:cNvPr id="27" name="Shape 25"/>
          <p:cNvSpPr/>
          <p:nvPr/>
        </p:nvSpPr>
        <p:spPr>
          <a:xfrm>
            <a:off x="10314432" y="3749040"/>
            <a:ext cx="457200" cy="457200"/>
          </a:xfrm>
          <a:prstGeom prst="ellipse">
            <a:avLst/>
          </a:prstGeom>
          <a:solidFill>
            <a:srgbClr val="E69F00"/>
          </a:solidFill>
          <a:ln w="12700">
            <a:solidFill>
              <a:srgbClr val="E69F00"/>
            </a:solidFill>
            <a:prstDash val="solid"/>
          </a:ln>
        </p:spPr>
      </p:sp>
      <p:sp>
        <p:nvSpPr>
          <p:cNvPr id="28" name="Text 26"/>
          <p:cNvSpPr/>
          <p:nvPr/>
        </p:nvSpPr>
        <p:spPr>
          <a:xfrm>
            <a:off x="10314432" y="3749040"/>
            <a:ext cx="457200" cy="402336"/>
          </a:xfrm>
          <a:prstGeom prst="rect">
            <a:avLst/>
          </a:prstGeom>
          <a:noFill/>
          <a:ln/>
        </p:spPr>
        <p:txBody>
          <a:bodyPr wrap="square" lIns="0" tIns="0" rIns="0" bIns="0" rtlCol="0" anchor="ctr">
            <a:normAutofit/>
          </a:bodyPr>
          <a:lstStyle/>
          <a:p>
            <a:pPr marL="0" indent="0" algn="ctr" rtl="1">
              <a:buNone/>
            </a:pPr>
            <a:r>
              <a:rPr lang="en-US" sz="1900" b="1" dirty="0">
                <a:solidFill>
                  <a:srgbClr val="FFFFFF"/>
                </a:solidFill>
                <a:latin typeface="Noto Sans Arabic" pitchFamily="34" charset="0"/>
                <a:ea typeface="Noto Sans Arabic" pitchFamily="34" charset="-122"/>
                <a:cs typeface="Noto Sans Arabic" pitchFamily="34" charset="-120"/>
              </a:rPr>
              <a:t>۱</a:t>
            </a:r>
            <a:endParaRPr lang="en-US" sz="1900" dirty="0"/>
          </a:p>
        </p:txBody>
      </p:sp>
      <p:sp>
        <p:nvSpPr>
          <p:cNvPr id="29" name="Text 27"/>
          <p:cNvSpPr/>
          <p:nvPr/>
        </p:nvSpPr>
        <p:spPr>
          <a:xfrm>
            <a:off x="7360920" y="3721608"/>
            <a:ext cx="2761488" cy="256032"/>
          </a:xfrm>
          <a:prstGeom prst="rect">
            <a:avLst/>
          </a:prstGeom>
          <a:noFill/>
          <a:ln/>
        </p:spPr>
        <p:txBody>
          <a:bodyPr wrap="square" lIns="0" tIns="0" rIns="0" bIns="0" rtlCol="0" anchor="ctr">
            <a:normAutofit/>
          </a:bodyPr>
          <a:lstStyle/>
          <a:p>
            <a:pPr marL="0" indent="0" algn="r" rtl="1">
              <a:buNone/>
            </a:pPr>
            <a:r>
              <a:rPr lang="en-US" sz="1420" b="1" dirty="0">
                <a:solidFill>
                  <a:srgbClr val="1F2937"/>
                </a:solidFill>
                <a:latin typeface="Noto Sans Arabic" pitchFamily="34" charset="0"/>
                <a:ea typeface="Noto Sans Arabic" pitchFamily="34" charset="-122"/>
                <a:cs typeface="Noto Sans Arabic" pitchFamily="34" charset="-120"/>
              </a:rPr>
              <a:t>اجرای مستقل با جبران</a:t>
            </a:r>
            <a:endParaRPr lang="en-US" sz="1420" dirty="0"/>
          </a:p>
        </p:txBody>
      </p:sp>
      <p:sp>
        <p:nvSpPr>
          <p:cNvPr id="30" name="Text 28"/>
          <p:cNvSpPr/>
          <p:nvPr/>
        </p:nvSpPr>
        <p:spPr>
          <a:xfrm>
            <a:off x="6711696" y="3986784"/>
            <a:ext cx="3410712" cy="219456"/>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تغییر الگوی حرکت یا استفاده جبرانی</a:t>
            </a:r>
            <a:endParaRPr lang="en-US" sz="1120" dirty="0"/>
          </a:p>
        </p:txBody>
      </p:sp>
      <p:sp>
        <p:nvSpPr>
          <p:cNvPr id="31" name="Shape 29"/>
          <p:cNvSpPr/>
          <p:nvPr/>
        </p:nvSpPr>
        <p:spPr>
          <a:xfrm>
            <a:off x="6492240" y="4498848"/>
            <a:ext cx="4498848" cy="658368"/>
          </a:xfrm>
          <a:prstGeom prst="roundRect">
            <a:avLst>
              <a:gd name="adj" fmla="val 11111"/>
            </a:avLst>
          </a:prstGeom>
          <a:solidFill>
            <a:srgbClr val="FDECEA"/>
          </a:solidFill>
          <a:ln w="15240">
            <a:solidFill>
              <a:srgbClr val="C0392B"/>
            </a:solidFill>
            <a:prstDash val="solid"/>
          </a:ln>
        </p:spPr>
      </p:sp>
      <p:sp>
        <p:nvSpPr>
          <p:cNvPr id="32" name="Shape 30"/>
          <p:cNvSpPr/>
          <p:nvPr/>
        </p:nvSpPr>
        <p:spPr>
          <a:xfrm>
            <a:off x="10314432" y="4590288"/>
            <a:ext cx="457200" cy="457200"/>
          </a:xfrm>
          <a:prstGeom prst="ellipse">
            <a:avLst/>
          </a:prstGeom>
          <a:solidFill>
            <a:srgbClr val="C0392B"/>
          </a:solidFill>
          <a:ln w="12700">
            <a:solidFill>
              <a:srgbClr val="C0392B"/>
            </a:solidFill>
            <a:prstDash val="solid"/>
          </a:ln>
        </p:spPr>
      </p:sp>
      <p:sp>
        <p:nvSpPr>
          <p:cNvPr id="33" name="Text 31"/>
          <p:cNvSpPr/>
          <p:nvPr/>
        </p:nvSpPr>
        <p:spPr>
          <a:xfrm>
            <a:off x="10314432" y="4590288"/>
            <a:ext cx="457200" cy="402336"/>
          </a:xfrm>
          <a:prstGeom prst="rect">
            <a:avLst/>
          </a:prstGeom>
          <a:noFill/>
          <a:ln/>
        </p:spPr>
        <p:txBody>
          <a:bodyPr wrap="square" lIns="0" tIns="0" rIns="0" bIns="0" rtlCol="0" anchor="ctr">
            <a:normAutofit/>
          </a:bodyPr>
          <a:lstStyle/>
          <a:p>
            <a:pPr marL="0" indent="0" algn="ctr" rtl="1">
              <a:buNone/>
            </a:pPr>
            <a:r>
              <a:rPr lang="en-US" sz="1900" b="1" dirty="0">
                <a:solidFill>
                  <a:srgbClr val="FFFFFF"/>
                </a:solidFill>
                <a:latin typeface="Noto Sans Arabic" pitchFamily="34" charset="0"/>
                <a:ea typeface="Noto Sans Arabic" pitchFamily="34" charset="-122"/>
                <a:cs typeface="Noto Sans Arabic" pitchFamily="34" charset="-120"/>
              </a:rPr>
              <a:t>۰</a:t>
            </a:r>
            <a:endParaRPr lang="en-US" sz="1900" dirty="0"/>
          </a:p>
        </p:txBody>
      </p:sp>
      <p:sp>
        <p:nvSpPr>
          <p:cNvPr id="34" name="Text 32"/>
          <p:cNvSpPr/>
          <p:nvPr/>
        </p:nvSpPr>
        <p:spPr>
          <a:xfrm>
            <a:off x="7360920" y="4562856"/>
            <a:ext cx="2761488" cy="256032"/>
          </a:xfrm>
          <a:prstGeom prst="rect">
            <a:avLst/>
          </a:prstGeom>
          <a:noFill/>
          <a:ln/>
        </p:spPr>
        <p:txBody>
          <a:bodyPr wrap="square" lIns="0" tIns="0" rIns="0" bIns="0" rtlCol="0" anchor="ctr">
            <a:normAutofit/>
          </a:bodyPr>
          <a:lstStyle/>
          <a:p>
            <a:pPr marL="0" indent="0" algn="r" rtl="1">
              <a:buNone/>
            </a:pPr>
            <a:r>
              <a:rPr lang="en-US" sz="1420" b="1" dirty="0">
                <a:solidFill>
                  <a:srgbClr val="1F2937"/>
                </a:solidFill>
                <a:latin typeface="Noto Sans Arabic" pitchFamily="34" charset="0"/>
                <a:ea typeface="Noto Sans Arabic" pitchFamily="34" charset="-122"/>
                <a:cs typeface="Noto Sans Arabic" pitchFamily="34" charset="-120"/>
              </a:rPr>
              <a:t>ناتوانی در اجرای مستقل</a:t>
            </a:r>
            <a:endParaRPr lang="en-US" sz="1420" dirty="0"/>
          </a:p>
        </p:txBody>
      </p:sp>
      <p:sp>
        <p:nvSpPr>
          <p:cNvPr id="35" name="Text 33"/>
          <p:cNvSpPr/>
          <p:nvPr/>
        </p:nvSpPr>
        <p:spPr>
          <a:xfrm>
            <a:off x="6711696" y="4828032"/>
            <a:ext cx="3410712" cy="219456"/>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فعالیت به‌طور مستقل کامل نمی‌شود</a:t>
            </a:r>
            <a:endParaRPr lang="en-US" sz="1120" dirty="0"/>
          </a:p>
        </p:txBody>
      </p:sp>
      <p:sp>
        <p:nvSpPr>
          <p:cNvPr id="36" name="Shape 34"/>
          <p:cNvSpPr/>
          <p:nvPr/>
        </p:nvSpPr>
        <p:spPr>
          <a:xfrm>
            <a:off x="1874520" y="5577840"/>
            <a:ext cx="8458200" cy="530352"/>
          </a:xfrm>
          <a:prstGeom prst="roundRect">
            <a:avLst>
              <a:gd name="adj" fmla="val 20690"/>
            </a:avLst>
          </a:prstGeom>
          <a:solidFill>
            <a:srgbClr val="102A43"/>
          </a:solidFill>
          <a:ln w="12700">
            <a:solidFill>
              <a:srgbClr val="102A43"/>
            </a:solidFill>
            <a:prstDash val="solid"/>
          </a:ln>
        </p:spPr>
      </p:sp>
      <p:sp>
        <p:nvSpPr>
          <p:cNvPr id="37" name="Text 35"/>
          <p:cNvSpPr/>
          <p:nvPr/>
        </p:nvSpPr>
        <p:spPr>
          <a:xfrm>
            <a:off x="2103120" y="5650992"/>
            <a:ext cx="8001000" cy="329184"/>
          </a:xfrm>
          <a:prstGeom prst="rect">
            <a:avLst/>
          </a:prstGeom>
          <a:noFill/>
          <a:ln/>
        </p:spPr>
        <p:txBody>
          <a:bodyPr wrap="square" lIns="0" tIns="0" rIns="0" bIns="0" rtlCol="0" anchor="ctr">
            <a:normAutofit/>
          </a:bodyPr>
          <a:lstStyle/>
          <a:p>
            <a:pPr marL="0" indent="0" algn="ctr" rtl="1">
              <a:buNone/>
            </a:pPr>
            <a:r>
              <a:rPr lang="en-US" sz="1720" b="1" dirty="0">
                <a:solidFill>
                  <a:srgbClr val="FFFFFF"/>
                </a:solidFill>
                <a:latin typeface="Noto Sans Arabic" pitchFamily="34" charset="0"/>
                <a:ea typeface="Noto Sans Arabic" pitchFamily="34" charset="-122"/>
                <a:cs typeface="Noto Sans Arabic" pitchFamily="34" charset="-120"/>
              </a:rPr>
              <a:t>پرسش اصلی: آیا می‌توان سطوح عملکردی تعریف‌شده را از داده‌های حسگرهای اینرسیایی تفکیک کرد؟</a:t>
            </a:r>
            <a:endParaRPr lang="en-US" sz="1720" dirty="0"/>
          </a:p>
        </p:txBody>
      </p:sp>
      <p:sp>
        <p:nvSpPr>
          <p:cNvPr id="38" name="Shape 36"/>
          <p:cNvSpPr/>
          <p:nvPr/>
        </p:nvSpPr>
        <p:spPr>
          <a:xfrm>
            <a:off x="658368" y="6473952"/>
            <a:ext cx="10881360" cy="0"/>
          </a:xfrm>
          <a:prstGeom prst="line">
            <a:avLst/>
          </a:prstGeom>
          <a:noFill/>
          <a:ln w="10160">
            <a:solidFill>
              <a:srgbClr val="E9EEF2"/>
            </a:solidFill>
            <a:prstDash val="solid"/>
          </a:ln>
        </p:spPr>
      </p:sp>
      <p:sp>
        <p:nvSpPr>
          <p:cNvPr id="39" name="Text 37"/>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0" name="Text 38"/>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۲ از ۶: مقدمه و تعریف مسئله | ۱۲ اسلاید تا پایان</a:t>
            </a:r>
            <a:endParaRPr lang="en-US" sz="920" dirty="0"/>
          </a:p>
        </p:txBody>
      </p:sp>
      <p:sp>
        <p:nvSpPr>
          <p:cNvPr id="41" name="Text 39"/>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۲ / ۱۴</a:t>
            </a:r>
            <a:endParaRPr lang="en-US" sz="1020" dirty="0"/>
          </a:p>
        </p:txBody>
      </p:sp>
      <p:sp>
        <p:nvSpPr>
          <p:cNvPr id="42" name="Shape 40"/>
          <p:cNvSpPr/>
          <p:nvPr/>
        </p:nvSpPr>
        <p:spPr>
          <a:xfrm>
            <a:off x="2560320" y="6766560"/>
            <a:ext cx="940526" cy="41148"/>
          </a:xfrm>
          <a:prstGeom prst="rect">
            <a:avLst/>
          </a:prstGeom>
          <a:solidFill>
            <a:srgbClr val="0B6E99"/>
          </a:solidFill>
          <a:ln w="12700">
            <a:solidFill>
              <a:srgbClr val="0B6E99"/>
            </a:solidFill>
            <a:prstDash val="solid"/>
          </a:ln>
        </p:spPr>
      </p:sp>
      <p:sp>
        <p:nvSpPr>
          <p:cNvPr id="43" name="Shape 41"/>
          <p:cNvSpPr/>
          <p:nvPr/>
        </p:nvSpPr>
        <p:spPr>
          <a:xfrm>
            <a:off x="3500846" y="6766560"/>
            <a:ext cx="5643154"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9"/>
                            </p:tgtEl>
                          </p:cBhvr>
                        </p:animEffect>
                      </p:childTnLst>
                    </p:cTn>
                  </p:par>
                  <p:par>
                    <p:cTn id="9" fill="hold">
                      <p:stCondLst>
                        <p:cond delay="0"/>
                      </p:stCondLst>
                      <p:childTnLst>
                        <p:animEffect transition="in" filter="fade">
                          <p:cBhvr>
                            <p:cTn id="10" dur="350" fill="hold"/>
                            <p:tgtEl>
                              <p:spTgt spid="10"/>
                            </p:tgtEl>
                          </p:cBhvr>
                        </p:animEffect>
                      </p:childTnLst>
                    </p:cTn>
                  </p:par>
                  <p:par>
                    <p:cTn id="11" fill="hold">
                      <p:stCondLst>
                        <p:cond delay="0"/>
                      </p:stCondLst>
                      <p:childTnLst>
                        <p:animEffect transition="in" filter="fade">
                          <p:cBhvr>
                            <p:cTn id="12" dur="350" fill="hold"/>
                            <p:tgtEl>
                              <p:spTgt spid="12"/>
                            </p:tgtEl>
                          </p:cBhvr>
                        </p:animEffect>
                      </p:childTnLst>
                    </p:cTn>
                  </p:par>
                </p:childTnLst>
              </p:cTn>
            </p:seq>
          </p:childTnLst>
        </p:cTn>
      </p:par>
    </p:tnLst>
    <p:bldLst>
      <p:bldP spid="3" grpId="0"/>
      <p:bldP spid="4" grpId="0"/>
      <p:bldP spid="9" grpId="0"/>
      <p:bldP spid="10"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تعریف پروژه</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دامنه و دستاوردهای پروژه</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۳ / ۱۴</a:t>
            </a:r>
            <a:endParaRPr lang="en-US" sz="1080" dirty="0"/>
          </a:p>
        </p:txBody>
      </p:sp>
      <p:sp>
        <p:nvSpPr>
          <p:cNvPr id="7" name="Text 5"/>
          <p:cNvSpPr/>
          <p:nvPr/>
        </p:nvSpPr>
        <p:spPr>
          <a:xfrm>
            <a:off x="3794760" y="1481328"/>
            <a:ext cx="7360920" cy="457200"/>
          </a:xfrm>
          <a:prstGeom prst="rect">
            <a:avLst/>
          </a:prstGeom>
          <a:noFill/>
          <a:ln/>
        </p:spPr>
        <p:txBody>
          <a:bodyPr wrap="square" lIns="0" tIns="0" rIns="0" bIns="0" rtlCol="0" anchor="ctr">
            <a:normAutofit/>
          </a:bodyPr>
          <a:lstStyle/>
          <a:p>
            <a:pPr marL="0" indent="0" algn="r" rtl="1">
              <a:buNone/>
            </a:pPr>
            <a:r>
              <a:rPr lang="en-US" sz="1900" b="1" dirty="0">
                <a:solidFill>
                  <a:srgbClr val="102A43"/>
                </a:solidFill>
                <a:latin typeface="Noto Sans Arabic" pitchFamily="34" charset="0"/>
                <a:ea typeface="Noto Sans Arabic" pitchFamily="34" charset="-122"/>
                <a:cs typeface="Noto Sans Arabic" pitchFamily="34" charset="-120"/>
              </a:rPr>
              <a:t>از ۱۷ فعالیت NSAA، پنج فعالیت با ماهیت حرکتی متفاوت انتخاب شد</a:t>
            </a:r>
            <a:endParaRPr lang="en-US" sz="1900" dirty="0"/>
          </a:p>
        </p:txBody>
      </p:sp>
      <p:sp>
        <p:nvSpPr>
          <p:cNvPr id="8" name="Shape 6"/>
          <p:cNvSpPr/>
          <p:nvPr/>
        </p:nvSpPr>
        <p:spPr>
          <a:xfrm>
            <a:off x="713232" y="2971800"/>
            <a:ext cx="2029968" cy="1965960"/>
          </a:xfrm>
          <a:prstGeom prst="roundRect">
            <a:avLst>
              <a:gd name="adj" fmla="val 3721"/>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9" name="Shape 7"/>
          <p:cNvSpPr/>
          <p:nvPr/>
        </p:nvSpPr>
        <p:spPr>
          <a:xfrm>
            <a:off x="1389888" y="3182112"/>
            <a:ext cx="658368" cy="658368"/>
          </a:xfrm>
          <a:prstGeom prst="ellipse">
            <a:avLst/>
          </a:prstGeom>
          <a:solidFill>
            <a:srgbClr val="0B6E99"/>
          </a:solidFill>
          <a:ln w="12700">
            <a:solidFill>
              <a:srgbClr val="0B6E99"/>
            </a:solidFill>
            <a:prstDash val="solid"/>
          </a:ln>
        </p:spPr>
      </p:sp>
      <p:sp>
        <p:nvSpPr>
          <p:cNvPr id="10" name="Text 8"/>
          <p:cNvSpPr/>
          <p:nvPr/>
        </p:nvSpPr>
        <p:spPr>
          <a:xfrm>
            <a:off x="1389888" y="3246120"/>
            <a:ext cx="658368" cy="45720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11" name="Text 9"/>
          <p:cNvSpPr/>
          <p:nvPr/>
        </p:nvSpPr>
        <p:spPr>
          <a:xfrm>
            <a:off x="877824" y="3977640"/>
            <a:ext cx="1700784"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ایستادن</a:t>
            </a:r>
            <a:endParaRPr lang="en-US" sz="1700" dirty="0"/>
          </a:p>
        </p:txBody>
      </p:sp>
      <p:sp>
        <p:nvSpPr>
          <p:cNvPr id="12" name="Text 10"/>
          <p:cNvSpPr/>
          <p:nvPr/>
        </p:nvSpPr>
        <p:spPr>
          <a:xfrm>
            <a:off x="877824" y="4407408"/>
            <a:ext cx="1700784" cy="493776"/>
          </a:xfrm>
          <a:prstGeom prst="rect">
            <a:avLst/>
          </a:prstGeom>
          <a:noFill/>
          <a:ln/>
        </p:spPr>
        <p:txBody>
          <a:bodyPr wrap="square" lIns="0" tIns="0" rIns="0" bIns="0" rtlCol="0" anchor="t">
            <a:normAutofit/>
          </a:bodyPr>
          <a:lstStyle/>
          <a:p>
            <a:pPr marL="0" indent="0" algn="ctr" rtl="1">
              <a:buNone/>
            </a:pPr>
            <a:r>
              <a:rPr lang="en-US" sz="1150" dirty="0">
                <a:solidFill>
                  <a:srgbClr val="64748B"/>
                </a:solidFill>
                <a:latin typeface="Noto Sans Arabic" pitchFamily="34" charset="0"/>
                <a:ea typeface="Noto Sans Arabic" pitchFamily="34" charset="-122"/>
                <a:cs typeface="Noto Sans Arabic" pitchFamily="34" charset="-120"/>
              </a:rPr>
              <a:t>تعادل و نوسان کم‌دامنه</a:t>
            </a:r>
            <a:endParaRPr lang="en-US" sz="1150" dirty="0"/>
          </a:p>
        </p:txBody>
      </p:sp>
      <p:sp>
        <p:nvSpPr>
          <p:cNvPr id="13" name="Shape 11"/>
          <p:cNvSpPr/>
          <p:nvPr/>
        </p:nvSpPr>
        <p:spPr>
          <a:xfrm>
            <a:off x="2980944" y="2971800"/>
            <a:ext cx="2029968" cy="1965960"/>
          </a:xfrm>
          <a:prstGeom prst="roundRect">
            <a:avLst>
              <a:gd name="adj" fmla="val 3721"/>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14" name="Shape 12"/>
          <p:cNvSpPr/>
          <p:nvPr/>
        </p:nvSpPr>
        <p:spPr>
          <a:xfrm>
            <a:off x="3657600" y="3182112"/>
            <a:ext cx="658368" cy="658368"/>
          </a:xfrm>
          <a:prstGeom prst="ellipse">
            <a:avLst/>
          </a:prstGeom>
          <a:solidFill>
            <a:srgbClr val="0B7A75"/>
          </a:solidFill>
          <a:ln w="12700">
            <a:solidFill>
              <a:srgbClr val="0B7A75"/>
            </a:solidFill>
            <a:prstDash val="solid"/>
          </a:ln>
        </p:spPr>
      </p:sp>
      <p:sp>
        <p:nvSpPr>
          <p:cNvPr id="15" name="Text 13"/>
          <p:cNvSpPr/>
          <p:nvPr/>
        </p:nvSpPr>
        <p:spPr>
          <a:xfrm>
            <a:off x="3657600" y="3246120"/>
            <a:ext cx="658368" cy="45720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6" name="Text 14"/>
          <p:cNvSpPr/>
          <p:nvPr/>
        </p:nvSpPr>
        <p:spPr>
          <a:xfrm>
            <a:off x="3145536" y="3977640"/>
            <a:ext cx="1700784"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برخاستن از صندلی</a:t>
            </a:r>
            <a:endParaRPr lang="en-US" sz="1700" dirty="0"/>
          </a:p>
        </p:txBody>
      </p:sp>
      <p:sp>
        <p:nvSpPr>
          <p:cNvPr id="17" name="Text 15"/>
          <p:cNvSpPr/>
          <p:nvPr/>
        </p:nvSpPr>
        <p:spPr>
          <a:xfrm>
            <a:off x="3145536" y="4407408"/>
            <a:ext cx="1700784" cy="493776"/>
          </a:xfrm>
          <a:prstGeom prst="rect">
            <a:avLst/>
          </a:prstGeom>
          <a:noFill/>
          <a:ln/>
        </p:spPr>
        <p:txBody>
          <a:bodyPr wrap="square" lIns="0" tIns="0" rIns="0" bIns="0" rtlCol="0" anchor="t">
            <a:normAutofit/>
          </a:bodyPr>
          <a:lstStyle/>
          <a:p>
            <a:pPr marL="0" indent="0" algn="ctr" rtl="1">
              <a:buNone/>
            </a:pPr>
            <a:r>
              <a:rPr lang="en-US" sz="1150" dirty="0">
                <a:solidFill>
                  <a:srgbClr val="64748B"/>
                </a:solidFill>
                <a:latin typeface="Noto Sans Arabic" pitchFamily="34" charset="0"/>
                <a:ea typeface="Noto Sans Arabic" pitchFamily="34" charset="-122"/>
                <a:cs typeface="Noto Sans Arabic" pitchFamily="34" charset="-120"/>
              </a:rPr>
              <a:t>هماهنگی تنه، دست و پا</a:t>
            </a:r>
            <a:endParaRPr lang="en-US" sz="1150" dirty="0"/>
          </a:p>
        </p:txBody>
      </p:sp>
      <p:sp>
        <p:nvSpPr>
          <p:cNvPr id="18" name="Shape 16"/>
          <p:cNvSpPr/>
          <p:nvPr/>
        </p:nvSpPr>
        <p:spPr>
          <a:xfrm>
            <a:off x="5248656" y="2971800"/>
            <a:ext cx="2029968" cy="1965960"/>
          </a:xfrm>
          <a:prstGeom prst="roundRect">
            <a:avLst>
              <a:gd name="adj" fmla="val 3721"/>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19" name="Shape 17"/>
          <p:cNvSpPr/>
          <p:nvPr/>
        </p:nvSpPr>
        <p:spPr>
          <a:xfrm>
            <a:off x="5925312" y="3182112"/>
            <a:ext cx="658368" cy="658368"/>
          </a:xfrm>
          <a:prstGeom prst="ellipse">
            <a:avLst/>
          </a:prstGeom>
          <a:solidFill>
            <a:srgbClr val="E69F00"/>
          </a:solidFill>
          <a:ln w="12700">
            <a:solidFill>
              <a:srgbClr val="E69F00"/>
            </a:solidFill>
            <a:prstDash val="solid"/>
          </a:ln>
        </p:spPr>
      </p:sp>
      <p:sp>
        <p:nvSpPr>
          <p:cNvPr id="20" name="Text 18"/>
          <p:cNvSpPr/>
          <p:nvPr/>
        </p:nvSpPr>
        <p:spPr>
          <a:xfrm>
            <a:off x="5925312" y="3246120"/>
            <a:ext cx="658368" cy="45720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5413248" y="3977640"/>
            <a:ext cx="1700784"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پریدن</a:t>
            </a:r>
            <a:endParaRPr lang="en-US" sz="1700" dirty="0"/>
          </a:p>
        </p:txBody>
      </p:sp>
      <p:sp>
        <p:nvSpPr>
          <p:cNvPr id="22" name="Text 20"/>
          <p:cNvSpPr/>
          <p:nvPr/>
        </p:nvSpPr>
        <p:spPr>
          <a:xfrm>
            <a:off x="5413248" y="4407408"/>
            <a:ext cx="1700784" cy="493776"/>
          </a:xfrm>
          <a:prstGeom prst="rect">
            <a:avLst/>
          </a:prstGeom>
          <a:noFill/>
          <a:ln/>
        </p:spPr>
        <p:txBody>
          <a:bodyPr wrap="square" lIns="0" tIns="0" rIns="0" bIns="0" rtlCol="0" anchor="t">
            <a:normAutofit/>
          </a:bodyPr>
          <a:lstStyle/>
          <a:p>
            <a:pPr marL="0" indent="0" algn="ctr" rtl="1">
              <a:buNone/>
            </a:pPr>
            <a:r>
              <a:rPr lang="en-US" sz="1150" dirty="0">
                <a:solidFill>
                  <a:srgbClr val="64748B"/>
                </a:solidFill>
                <a:latin typeface="Noto Sans Arabic" pitchFamily="34" charset="0"/>
                <a:ea typeface="Noto Sans Arabic" pitchFamily="34" charset="-122"/>
                <a:cs typeface="Noto Sans Arabic" pitchFamily="34" charset="-120"/>
              </a:rPr>
              <a:t>حرکت سریع و انفجاری</a:t>
            </a:r>
            <a:endParaRPr lang="en-US" sz="1150" dirty="0"/>
          </a:p>
        </p:txBody>
      </p:sp>
      <p:sp>
        <p:nvSpPr>
          <p:cNvPr id="23" name="Shape 21"/>
          <p:cNvSpPr/>
          <p:nvPr/>
        </p:nvSpPr>
        <p:spPr>
          <a:xfrm>
            <a:off x="7516368" y="2971800"/>
            <a:ext cx="2029968" cy="1965960"/>
          </a:xfrm>
          <a:prstGeom prst="roundRect">
            <a:avLst>
              <a:gd name="adj" fmla="val 3721"/>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24" name="Shape 22"/>
          <p:cNvSpPr/>
          <p:nvPr/>
        </p:nvSpPr>
        <p:spPr>
          <a:xfrm>
            <a:off x="8193024" y="3182112"/>
            <a:ext cx="658368" cy="658368"/>
          </a:xfrm>
          <a:prstGeom prst="ellipse">
            <a:avLst/>
          </a:prstGeom>
          <a:solidFill>
            <a:srgbClr val="2F855A"/>
          </a:solidFill>
          <a:ln w="12700">
            <a:solidFill>
              <a:srgbClr val="2F855A"/>
            </a:solidFill>
            <a:prstDash val="solid"/>
          </a:ln>
        </p:spPr>
      </p:sp>
      <p:sp>
        <p:nvSpPr>
          <p:cNvPr id="25" name="Text 23"/>
          <p:cNvSpPr/>
          <p:nvPr/>
        </p:nvSpPr>
        <p:spPr>
          <a:xfrm>
            <a:off x="8193024" y="3246120"/>
            <a:ext cx="658368" cy="45720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6" name="Text 24"/>
          <p:cNvSpPr/>
          <p:nvPr/>
        </p:nvSpPr>
        <p:spPr>
          <a:xfrm>
            <a:off x="7680960" y="3977640"/>
            <a:ext cx="1700784"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بالا آوردن سر</a:t>
            </a:r>
            <a:endParaRPr lang="en-US" sz="1700" dirty="0"/>
          </a:p>
        </p:txBody>
      </p:sp>
      <p:sp>
        <p:nvSpPr>
          <p:cNvPr id="27" name="Text 25"/>
          <p:cNvSpPr/>
          <p:nvPr/>
        </p:nvSpPr>
        <p:spPr>
          <a:xfrm>
            <a:off x="7680960" y="4407408"/>
            <a:ext cx="1700784" cy="493776"/>
          </a:xfrm>
          <a:prstGeom prst="rect">
            <a:avLst/>
          </a:prstGeom>
          <a:noFill/>
          <a:ln/>
        </p:spPr>
        <p:txBody>
          <a:bodyPr wrap="square" lIns="0" tIns="0" rIns="0" bIns="0" rtlCol="0" anchor="t">
            <a:normAutofit/>
          </a:bodyPr>
          <a:lstStyle/>
          <a:p>
            <a:pPr marL="0" indent="0" algn="ctr" rtl="1">
              <a:buNone/>
            </a:pPr>
            <a:r>
              <a:rPr lang="en-US" sz="1150" dirty="0">
                <a:solidFill>
                  <a:srgbClr val="64748B"/>
                </a:solidFill>
                <a:latin typeface="Noto Sans Arabic" pitchFamily="34" charset="0"/>
                <a:ea typeface="Noto Sans Arabic" pitchFamily="34" charset="-122"/>
                <a:cs typeface="Noto Sans Arabic" pitchFamily="34" charset="-120"/>
              </a:rPr>
              <a:t>حرکت ضدجاذبه گردن</a:t>
            </a:r>
            <a:endParaRPr lang="en-US" sz="1150" dirty="0"/>
          </a:p>
        </p:txBody>
      </p:sp>
      <p:sp>
        <p:nvSpPr>
          <p:cNvPr id="28" name="Shape 26"/>
          <p:cNvSpPr/>
          <p:nvPr/>
        </p:nvSpPr>
        <p:spPr>
          <a:xfrm>
            <a:off x="9784080" y="2971800"/>
            <a:ext cx="2029968" cy="1965960"/>
          </a:xfrm>
          <a:prstGeom prst="roundRect">
            <a:avLst>
              <a:gd name="adj" fmla="val 3721"/>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29" name="Shape 27"/>
          <p:cNvSpPr/>
          <p:nvPr/>
        </p:nvSpPr>
        <p:spPr>
          <a:xfrm>
            <a:off x="10460736" y="3182112"/>
            <a:ext cx="658368" cy="658368"/>
          </a:xfrm>
          <a:prstGeom prst="ellipse">
            <a:avLst/>
          </a:prstGeom>
          <a:solidFill>
            <a:srgbClr val="C0392B"/>
          </a:solidFill>
          <a:ln w="12700">
            <a:solidFill>
              <a:srgbClr val="C0392B"/>
            </a:solidFill>
            <a:prstDash val="solid"/>
          </a:ln>
        </p:spPr>
      </p:sp>
      <p:sp>
        <p:nvSpPr>
          <p:cNvPr id="30" name="Text 28"/>
          <p:cNvSpPr/>
          <p:nvPr/>
        </p:nvSpPr>
        <p:spPr>
          <a:xfrm>
            <a:off x="10460736" y="3246120"/>
            <a:ext cx="658368" cy="45720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1" name="Text 29"/>
          <p:cNvSpPr/>
          <p:nvPr/>
        </p:nvSpPr>
        <p:spPr>
          <a:xfrm>
            <a:off x="9948672" y="3977640"/>
            <a:ext cx="1700784"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بالا رفتن از جعبه</a:t>
            </a:r>
            <a:endParaRPr lang="en-US" sz="1700" dirty="0"/>
          </a:p>
        </p:txBody>
      </p:sp>
      <p:sp>
        <p:nvSpPr>
          <p:cNvPr id="32" name="Text 30"/>
          <p:cNvSpPr/>
          <p:nvPr/>
        </p:nvSpPr>
        <p:spPr>
          <a:xfrm>
            <a:off x="9948672" y="4407408"/>
            <a:ext cx="1700784" cy="493776"/>
          </a:xfrm>
          <a:prstGeom prst="rect">
            <a:avLst/>
          </a:prstGeom>
          <a:noFill/>
          <a:ln/>
        </p:spPr>
        <p:txBody>
          <a:bodyPr wrap="square" lIns="0" tIns="0" rIns="0" bIns="0" rtlCol="0" anchor="t">
            <a:normAutofit/>
          </a:bodyPr>
          <a:lstStyle/>
          <a:p>
            <a:pPr marL="0" indent="0" algn="ctr" rtl="1">
              <a:buNone/>
            </a:pPr>
            <a:r>
              <a:rPr lang="en-US" sz="1150" dirty="0">
                <a:solidFill>
                  <a:srgbClr val="64748B"/>
                </a:solidFill>
                <a:latin typeface="Noto Sans Arabic" pitchFamily="34" charset="0"/>
                <a:ea typeface="Noto Sans Arabic" pitchFamily="34" charset="-122"/>
                <a:cs typeface="Noto Sans Arabic" pitchFamily="34" charset="-120"/>
              </a:rPr>
              <a:t>انتقال وزن و تعادل</a:t>
            </a:r>
            <a:endParaRPr lang="en-US" sz="1150" dirty="0"/>
          </a:p>
        </p:txBody>
      </p:sp>
      <p:sp>
        <p:nvSpPr>
          <p:cNvPr id="33" name="Shape 31"/>
          <p:cNvSpPr/>
          <p:nvPr/>
        </p:nvSpPr>
        <p:spPr>
          <a:xfrm>
            <a:off x="713232" y="5303520"/>
            <a:ext cx="10771632" cy="859536"/>
          </a:xfrm>
          <a:prstGeom prst="roundRect">
            <a:avLst>
              <a:gd name="adj" fmla="val 8511"/>
            </a:avLst>
          </a:prstGeom>
          <a:solidFill>
            <a:srgbClr val="102A43"/>
          </a:solidFill>
          <a:ln w="12700">
            <a:solidFill>
              <a:srgbClr val="102A43"/>
            </a:solidFill>
            <a:prstDash val="solid"/>
          </a:ln>
        </p:spPr>
      </p:sp>
      <p:sp>
        <p:nvSpPr>
          <p:cNvPr id="34" name="Shape 32"/>
          <p:cNvSpPr/>
          <p:nvPr/>
        </p:nvSpPr>
        <p:spPr>
          <a:xfrm>
            <a:off x="3703320" y="5504688"/>
            <a:ext cx="438912" cy="438912"/>
          </a:xfrm>
          <a:prstGeom prst="ellipse">
            <a:avLst/>
          </a:prstGeom>
          <a:solidFill>
            <a:srgbClr val="1D8AB5"/>
          </a:solidFill>
          <a:ln w="12700">
            <a:solidFill>
              <a:srgbClr val="1D8AB5"/>
            </a:solidFill>
            <a:prstDash val="solid"/>
          </a:ln>
        </p:spPr>
      </p:sp>
      <p:sp>
        <p:nvSpPr>
          <p:cNvPr id="35" name="Text 33"/>
          <p:cNvSpPr/>
          <p:nvPr/>
        </p:nvSpPr>
        <p:spPr>
          <a:xfrm>
            <a:off x="3703320" y="5513832"/>
            <a:ext cx="438912"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36" name="Text 34"/>
          <p:cNvSpPr/>
          <p:nvPr/>
        </p:nvSpPr>
        <p:spPr>
          <a:xfrm>
            <a:off x="868680" y="5422392"/>
            <a:ext cx="2670048" cy="256032"/>
          </a:xfrm>
          <a:prstGeom prst="rect">
            <a:avLst/>
          </a:prstGeom>
          <a:noFill/>
          <a:ln/>
        </p:spPr>
        <p:txBody>
          <a:bodyPr wrap="square" lIns="0" tIns="0" rIns="0" bIns="0" rtlCol="0" anchor="ctr">
            <a:normAutofit/>
          </a:bodyPr>
          <a:lstStyle/>
          <a:p>
            <a:pPr marL="0" indent="0" algn="r" rtl="1">
              <a:buNone/>
            </a:pPr>
            <a:r>
              <a:rPr lang="en-US" sz="1350" b="1" dirty="0">
                <a:solidFill>
                  <a:srgbClr val="FFFFFF"/>
                </a:solidFill>
                <a:latin typeface="Noto Sans Arabic" pitchFamily="34" charset="0"/>
                <a:ea typeface="Noto Sans Arabic" pitchFamily="34" charset="-122"/>
                <a:cs typeface="Noto Sans Arabic" pitchFamily="34" charset="-120"/>
              </a:rPr>
              <a:t>سامانه پوشیدنی پنج‌حسگری</a:t>
            </a:r>
            <a:endParaRPr lang="en-US" sz="1350" dirty="0"/>
          </a:p>
        </p:txBody>
      </p:sp>
      <p:sp>
        <p:nvSpPr>
          <p:cNvPr id="37" name="Text 35"/>
          <p:cNvSpPr/>
          <p:nvPr/>
        </p:nvSpPr>
        <p:spPr>
          <a:xfrm>
            <a:off x="868680" y="5715000"/>
            <a:ext cx="2670048" cy="292608"/>
          </a:xfrm>
          <a:prstGeom prst="rect">
            <a:avLst/>
          </a:prstGeom>
          <a:noFill/>
          <a:ln/>
        </p:spPr>
        <p:txBody>
          <a:bodyPr wrap="square" lIns="0" tIns="0" rIns="0" bIns="0" rtlCol="0" anchor="ctr">
            <a:normAutofit/>
          </a:bodyPr>
          <a:lstStyle/>
          <a:p>
            <a:pPr marL="0" indent="0" algn="r" rtl="1">
              <a:buNone/>
            </a:pPr>
            <a:r>
              <a:rPr lang="en-US" sz="1050" dirty="0">
                <a:solidFill>
                  <a:srgbClr val="D8EAF2"/>
                </a:solidFill>
                <a:latin typeface="Noto Sans Arabic" pitchFamily="34" charset="0"/>
                <a:ea typeface="Noto Sans Arabic" pitchFamily="34" charset="-122"/>
                <a:cs typeface="Noto Sans Arabic" pitchFamily="34" charset="-120"/>
              </a:rPr>
              <a:t>ثبت هم‌زمان حرکات سر، دست‌ها و پاها</a:t>
            </a:r>
            <a:endParaRPr lang="en-US" sz="1050" dirty="0"/>
          </a:p>
        </p:txBody>
      </p:sp>
      <p:sp>
        <p:nvSpPr>
          <p:cNvPr id="38" name="Shape 36"/>
          <p:cNvSpPr/>
          <p:nvPr/>
        </p:nvSpPr>
        <p:spPr>
          <a:xfrm>
            <a:off x="7260336" y="5504688"/>
            <a:ext cx="438912" cy="438912"/>
          </a:xfrm>
          <a:prstGeom prst="ellipse">
            <a:avLst/>
          </a:prstGeom>
          <a:solidFill>
            <a:srgbClr val="1D8AB5"/>
          </a:solidFill>
          <a:ln w="12700">
            <a:solidFill>
              <a:srgbClr val="1D8AB5"/>
            </a:solidFill>
            <a:prstDash val="solid"/>
          </a:ln>
        </p:spPr>
      </p:sp>
      <p:sp>
        <p:nvSpPr>
          <p:cNvPr id="39" name="Text 37"/>
          <p:cNvSpPr/>
          <p:nvPr/>
        </p:nvSpPr>
        <p:spPr>
          <a:xfrm>
            <a:off x="7260336" y="5513832"/>
            <a:ext cx="438912"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40" name="Text 38"/>
          <p:cNvSpPr/>
          <p:nvPr/>
        </p:nvSpPr>
        <p:spPr>
          <a:xfrm>
            <a:off x="4425696" y="5422392"/>
            <a:ext cx="2670048" cy="256032"/>
          </a:xfrm>
          <a:prstGeom prst="rect">
            <a:avLst/>
          </a:prstGeom>
          <a:noFill/>
          <a:ln/>
        </p:spPr>
        <p:txBody>
          <a:bodyPr wrap="square" lIns="0" tIns="0" rIns="0" bIns="0" rtlCol="0" anchor="ctr">
            <a:normAutofit/>
          </a:bodyPr>
          <a:lstStyle/>
          <a:p>
            <a:pPr marL="0" indent="0" algn="r" rtl="1">
              <a:buNone/>
            </a:pPr>
            <a:r>
              <a:rPr lang="en-US" sz="1350" b="1" dirty="0">
                <a:solidFill>
                  <a:srgbClr val="FFFFFF"/>
                </a:solidFill>
                <a:latin typeface="Noto Sans Arabic" pitchFamily="34" charset="0"/>
                <a:ea typeface="Noto Sans Arabic" pitchFamily="34" charset="-122"/>
                <a:cs typeface="Noto Sans Arabic" pitchFamily="34" charset="-120"/>
              </a:rPr>
              <a:t>زنجیره کامل پردازش</a:t>
            </a:r>
            <a:endParaRPr lang="en-US" sz="1350" dirty="0"/>
          </a:p>
        </p:txBody>
      </p:sp>
      <p:sp>
        <p:nvSpPr>
          <p:cNvPr id="41" name="Text 39"/>
          <p:cNvSpPr/>
          <p:nvPr/>
        </p:nvSpPr>
        <p:spPr>
          <a:xfrm>
            <a:off x="4425696" y="5715000"/>
            <a:ext cx="2670048" cy="292608"/>
          </a:xfrm>
          <a:prstGeom prst="rect">
            <a:avLst/>
          </a:prstGeom>
          <a:noFill/>
          <a:ln/>
        </p:spPr>
        <p:txBody>
          <a:bodyPr wrap="square" lIns="0" tIns="0" rIns="0" bIns="0" rtlCol="0" anchor="ctr">
            <a:normAutofit/>
          </a:bodyPr>
          <a:lstStyle/>
          <a:p>
            <a:pPr marL="0" indent="0" algn="r" rtl="1">
              <a:buNone/>
            </a:pPr>
            <a:r>
              <a:rPr lang="en-US" sz="1050" dirty="0">
                <a:solidFill>
                  <a:srgbClr val="D8EAF2"/>
                </a:solidFill>
                <a:latin typeface="Noto Sans Arabic" pitchFamily="34" charset="0"/>
                <a:ea typeface="Noto Sans Arabic" pitchFamily="34" charset="-122"/>
                <a:cs typeface="Noto Sans Arabic" pitchFamily="34" charset="-120"/>
              </a:rPr>
              <a:t>از سیگنال خام تا بردار ویژگی و مدل طبقه‌بند</a:t>
            </a:r>
            <a:endParaRPr lang="en-US" sz="1050" dirty="0"/>
          </a:p>
        </p:txBody>
      </p:sp>
      <p:sp>
        <p:nvSpPr>
          <p:cNvPr id="42" name="Shape 40"/>
          <p:cNvSpPr/>
          <p:nvPr/>
        </p:nvSpPr>
        <p:spPr>
          <a:xfrm>
            <a:off x="10817352" y="5504688"/>
            <a:ext cx="438912" cy="438912"/>
          </a:xfrm>
          <a:prstGeom prst="ellipse">
            <a:avLst/>
          </a:prstGeom>
          <a:solidFill>
            <a:srgbClr val="1D8AB5"/>
          </a:solidFill>
          <a:ln w="12700">
            <a:solidFill>
              <a:srgbClr val="1D8AB5"/>
            </a:solidFill>
            <a:prstDash val="solid"/>
          </a:ln>
        </p:spPr>
      </p:sp>
      <p:sp>
        <p:nvSpPr>
          <p:cNvPr id="43" name="Text 41"/>
          <p:cNvSpPr/>
          <p:nvPr/>
        </p:nvSpPr>
        <p:spPr>
          <a:xfrm>
            <a:off x="10817352" y="5513832"/>
            <a:ext cx="438912"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44" name="Text 42"/>
          <p:cNvSpPr/>
          <p:nvPr/>
        </p:nvSpPr>
        <p:spPr>
          <a:xfrm>
            <a:off x="7982712" y="5422392"/>
            <a:ext cx="2670048" cy="256032"/>
          </a:xfrm>
          <a:prstGeom prst="rect">
            <a:avLst/>
          </a:prstGeom>
          <a:noFill/>
          <a:ln/>
        </p:spPr>
        <p:txBody>
          <a:bodyPr wrap="square" lIns="0" tIns="0" rIns="0" bIns="0" rtlCol="0" anchor="ctr">
            <a:normAutofit/>
          </a:bodyPr>
          <a:lstStyle/>
          <a:p>
            <a:pPr marL="0" indent="0" algn="r" rtl="1">
              <a:buNone/>
            </a:pPr>
            <a:r>
              <a:rPr lang="en-US" sz="1350" b="1" dirty="0">
                <a:solidFill>
                  <a:srgbClr val="FFFFFF"/>
                </a:solidFill>
                <a:latin typeface="Noto Sans Arabic" pitchFamily="34" charset="0"/>
                <a:ea typeface="Noto Sans Arabic" pitchFamily="34" charset="-122"/>
                <a:cs typeface="Noto Sans Arabic" pitchFamily="34" charset="-120"/>
              </a:rPr>
              <a:t>مدل‌سازی مستقل هر فعالیت</a:t>
            </a:r>
            <a:endParaRPr lang="en-US" sz="1350" dirty="0"/>
          </a:p>
        </p:txBody>
      </p:sp>
      <p:sp>
        <p:nvSpPr>
          <p:cNvPr id="45" name="Text 43"/>
          <p:cNvSpPr/>
          <p:nvPr/>
        </p:nvSpPr>
        <p:spPr>
          <a:xfrm>
            <a:off x="7982712" y="5715000"/>
            <a:ext cx="2670048" cy="292608"/>
          </a:xfrm>
          <a:prstGeom prst="rect">
            <a:avLst/>
          </a:prstGeom>
          <a:noFill/>
          <a:ln/>
        </p:spPr>
        <p:txBody>
          <a:bodyPr wrap="square" lIns="0" tIns="0" rIns="0" bIns="0" rtlCol="0" anchor="ctr">
            <a:normAutofit/>
          </a:bodyPr>
          <a:lstStyle/>
          <a:p>
            <a:pPr marL="0" indent="0" algn="r" rtl="1">
              <a:buNone/>
            </a:pPr>
            <a:r>
              <a:rPr lang="en-US" sz="1050" dirty="0">
                <a:solidFill>
                  <a:srgbClr val="D8EAF2"/>
                </a:solidFill>
                <a:latin typeface="Noto Sans Arabic" pitchFamily="34" charset="0"/>
                <a:ea typeface="Noto Sans Arabic" pitchFamily="34" charset="-122"/>
                <a:cs typeface="Noto Sans Arabic" pitchFamily="34" charset="-120"/>
              </a:rPr>
              <a:t>انتخاب تعداد مؤلفه و مدل مناسب برای هر حرکت</a:t>
            </a:r>
            <a:endParaRPr lang="en-US" sz="1050" dirty="0"/>
          </a:p>
        </p:txBody>
      </p:sp>
      <p:sp>
        <p:nvSpPr>
          <p:cNvPr id="46" name="Shape 44"/>
          <p:cNvSpPr/>
          <p:nvPr/>
        </p:nvSpPr>
        <p:spPr>
          <a:xfrm>
            <a:off x="658368" y="6473952"/>
            <a:ext cx="10881360" cy="0"/>
          </a:xfrm>
          <a:prstGeom prst="line">
            <a:avLst/>
          </a:prstGeom>
          <a:noFill/>
          <a:ln w="10160">
            <a:solidFill>
              <a:srgbClr val="E9EEF2"/>
            </a:solidFill>
            <a:prstDash val="solid"/>
          </a:ln>
        </p:spPr>
      </p:sp>
      <p:sp>
        <p:nvSpPr>
          <p:cNvPr id="47" name="Text 45"/>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8" name="Text 46"/>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۲ از ۶: مقدمه و تعریف مسئله | ۱۱ اسلاید تا پایان</a:t>
            </a:r>
            <a:endParaRPr lang="en-US" sz="920" dirty="0"/>
          </a:p>
        </p:txBody>
      </p:sp>
      <p:sp>
        <p:nvSpPr>
          <p:cNvPr id="49" name="Text 47"/>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۳ / ۱۴</a:t>
            </a:r>
            <a:endParaRPr lang="en-US" sz="1020" dirty="0"/>
          </a:p>
        </p:txBody>
      </p:sp>
      <p:sp>
        <p:nvSpPr>
          <p:cNvPr id="50" name="Shape 48"/>
          <p:cNvSpPr/>
          <p:nvPr/>
        </p:nvSpPr>
        <p:spPr>
          <a:xfrm>
            <a:off x="2560320" y="6766560"/>
            <a:ext cx="1410789" cy="41148"/>
          </a:xfrm>
          <a:prstGeom prst="rect">
            <a:avLst/>
          </a:prstGeom>
          <a:solidFill>
            <a:srgbClr val="0B6E99"/>
          </a:solidFill>
          <a:ln w="12700">
            <a:solidFill>
              <a:srgbClr val="0B6E99"/>
            </a:solidFill>
            <a:prstDash val="solid"/>
          </a:ln>
        </p:spPr>
      </p:sp>
      <p:sp>
        <p:nvSpPr>
          <p:cNvPr id="51" name="Shape 49"/>
          <p:cNvSpPr/>
          <p:nvPr/>
        </p:nvSpPr>
        <p:spPr>
          <a:xfrm>
            <a:off x="3971109" y="6766560"/>
            <a:ext cx="5172891"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7"/>
                            </p:tgtEl>
                          </p:cBhvr>
                        </p:animEffect>
                      </p:childTnLst>
                    </p:cTn>
                  </p:par>
                  <p:par>
                    <p:cTn id="9" fill="hold">
                      <p:stCondLst>
                        <p:cond delay="0"/>
                      </p:stCondLst>
                      <p:childTnLst>
                        <p:animEffect transition="in" filter="fade">
                          <p:cBhvr>
                            <p:cTn id="10" dur="350" fill="hold"/>
                            <p:tgtEl>
                              <p:spTgt spid="10"/>
                            </p:tgtEl>
                          </p:cBhvr>
                        </p:animEffect>
                      </p:childTnLst>
                    </p:cTn>
                  </p:par>
                  <p:par>
                    <p:cTn id="11" fill="hold">
                      <p:stCondLst>
                        <p:cond delay="0"/>
                      </p:stCondLst>
                      <p:childTnLst>
                        <p:animEffect transition="in" filter="fade">
                          <p:cBhvr>
                            <p:cTn id="12" dur="350" fill="hold"/>
                            <p:tgtEl>
                              <p:spTgt spid="11"/>
                            </p:tgtEl>
                          </p:cBhvr>
                        </p:animEffect>
                      </p:childTnLst>
                    </p:cTn>
                  </p:par>
                </p:childTnLst>
              </p:cTn>
            </p:seq>
          </p:childTnLst>
        </p:cTn>
      </p:par>
    </p:tnLst>
    <p:bldLst>
      <p:bldP spid="3" grpId="0"/>
      <p:bldP spid="4" grpId="0"/>
      <p:bldP spid="7" grpId="0"/>
      <p:bldP spid="10" grpId="0"/>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روش‌شناسی و تفسیر</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نکته کلیدی درباره داده‌ها</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۴ / ۱۴</a:t>
            </a:r>
            <a:endParaRPr lang="en-US" sz="1080" dirty="0"/>
          </a:p>
        </p:txBody>
      </p:sp>
      <p:sp>
        <p:nvSpPr>
          <p:cNvPr id="7" name="Shape 5"/>
          <p:cNvSpPr/>
          <p:nvPr/>
        </p:nvSpPr>
        <p:spPr>
          <a:xfrm>
            <a:off x="777240" y="1572768"/>
            <a:ext cx="10652760" cy="4526280"/>
          </a:xfrm>
          <a:prstGeom prst="roundRect">
            <a:avLst>
              <a:gd name="adj" fmla="val 1616"/>
            </a:avLst>
          </a:prstGeom>
          <a:solidFill>
            <a:srgbClr val="FFF5D8"/>
          </a:solidFill>
          <a:ln w="17780">
            <a:solidFill>
              <a:srgbClr val="F2C15C"/>
            </a:solidFill>
            <a:prstDash val="solid"/>
          </a:ln>
          <a:effectLst>
            <a:outerShdw blurRad="12700" dist="50800" dir="2700000" algn="bl" rotWithShape="0">
              <a:srgbClr val="B0BEC5">
                <a:alpha val="12000"/>
              </a:srgbClr>
            </a:outerShdw>
          </a:effectLst>
        </p:spPr>
      </p:sp>
      <p:sp>
        <p:nvSpPr>
          <p:cNvPr id="8" name="Shape 6"/>
          <p:cNvSpPr/>
          <p:nvPr/>
        </p:nvSpPr>
        <p:spPr>
          <a:xfrm>
            <a:off x="8924544" y="1810512"/>
            <a:ext cx="2103120" cy="347472"/>
          </a:xfrm>
          <a:prstGeom prst="roundRect">
            <a:avLst>
              <a:gd name="adj" fmla="val 47368"/>
            </a:avLst>
          </a:prstGeom>
          <a:solidFill>
            <a:srgbClr val="FFE6A6"/>
          </a:solidFill>
          <a:ln w="12700">
            <a:solidFill>
              <a:srgbClr val="FFE6A6"/>
            </a:solidFill>
            <a:prstDash val="solid"/>
          </a:ln>
        </p:spPr>
      </p:sp>
      <p:sp>
        <p:nvSpPr>
          <p:cNvPr id="9" name="Text 7"/>
          <p:cNvSpPr/>
          <p:nvPr/>
        </p:nvSpPr>
        <p:spPr>
          <a:xfrm>
            <a:off x="9034272" y="1828800"/>
            <a:ext cx="1883664" cy="310896"/>
          </a:xfrm>
          <a:prstGeom prst="rect">
            <a:avLst/>
          </a:prstGeom>
          <a:noFill/>
          <a:ln/>
        </p:spPr>
        <p:txBody>
          <a:bodyPr wrap="square" lIns="0" tIns="0" rIns="0" bIns="0" rtlCol="0" anchor="ctr">
            <a:normAutofit/>
          </a:bodyPr>
          <a:lstStyle/>
          <a:p>
            <a:pPr marL="0" indent="0" algn="ctr" rtl="1">
              <a:buNone/>
            </a:pPr>
            <a:r>
              <a:rPr lang="en-US" sz="1400" b="1" dirty="0">
                <a:solidFill>
                  <a:srgbClr val="8A5A00"/>
                </a:solidFill>
                <a:latin typeface="Noto Sans Arabic" pitchFamily="34" charset="0"/>
                <a:ea typeface="Noto Sans Arabic" pitchFamily="34" charset="-122"/>
                <a:cs typeface="Noto Sans Arabic" pitchFamily="34" charset="-120"/>
              </a:rPr>
              <a:t>شفاف‌سازی ضروری</a:t>
            </a:r>
            <a:endParaRPr lang="en-US" sz="1400" dirty="0"/>
          </a:p>
        </p:txBody>
      </p:sp>
      <p:sp>
        <p:nvSpPr>
          <p:cNvPr id="10" name="Shape 8"/>
          <p:cNvSpPr/>
          <p:nvPr/>
        </p:nvSpPr>
        <p:spPr>
          <a:xfrm>
            <a:off x="8778240" y="2423160"/>
            <a:ext cx="1965960" cy="1389888"/>
          </a:xfrm>
          <a:prstGeom prst="roundRect">
            <a:avLst>
              <a:gd name="adj" fmla="val 5263"/>
            </a:avLst>
          </a:prstGeom>
          <a:solidFill>
            <a:srgbClr val="FFFFFF"/>
          </a:solidFill>
          <a:ln w="19050">
            <a:solidFill>
              <a:srgbClr val="0B6E99"/>
            </a:solidFill>
            <a:prstDash val="solid"/>
          </a:ln>
        </p:spPr>
      </p:sp>
      <p:sp>
        <p:nvSpPr>
          <p:cNvPr id="11" name="Shape 9"/>
          <p:cNvSpPr/>
          <p:nvPr/>
        </p:nvSpPr>
        <p:spPr>
          <a:xfrm>
            <a:off x="9482328" y="2624328"/>
            <a:ext cx="548640" cy="548640"/>
          </a:xfrm>
          <a:prstGeom prst="ellipse">
            <a:avLst/>
          </a:prstGeom>
          <a:solidFill>
            <a:srgbClr val="0B6E99"/>
          </a:solidFill>
          <a:ln w="12700">
            <a:solidFill>
              <a:srgbClr val="0B6E99"/>
            </a:solidFill>
            <a:prstDash val="solid"/>
          </a:ln>
        </p:spPr>
      </p:sp>
      <p:sp>
        <p:nvSpPr>
          <p:cNvPr id="12" name="Text 10"/>
          <p:cNvSpPr/>
          <p:nvPr/>
        </p:nvSpPr>
        <p:spPr>
          <a:xfrm>
            <a:off x="9482328" y="2697480"/>
            <a:ext cx="548640" cy="347472"/>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13" name="Text 11"/>
          <p:cNvSpPr/>
          <p:nvPr/>
        </p:nvSpPr>
        <p:spPr>
          <a:xfrm>
            <a:off x="8915400" y="3227832"/>
            <a:ext cx="1691640" cy="256032"/>
          </a:xfrm>
          <a:prstGeom prst="rect">
            <a:avLst/>
          </a:prstGeom>
          <a:noFill/>
          <a:ln/>
        </p:spPr>
        <p:txBody>
          <a:bodyPr wrap="square" lIns="0" tIns="0" rIns="0" bIns="0" rtlCol="0" anchor="ctr">
            <a:normAutofit/>
          </a:bodyPr>
          <a:lstStyle/>
          <a:p>
            <a:pPr marL="0" indent="0" algn="ctr" rtl="1">
              <a:buNone/>
            </a:pPr>
            <a:r>
              <a:rPr lang="en-US" sz="1450" b="1" dirty="0">
                <a:solidFill>
                  <a:srgbClr val="102A43"/>
                </a:solidFill>
                <a:latin typeface="Noto Sans Arabic" pitchFamily="34" charset="0"/>
                <a:ea typeface="Noto Sans Arabic" pitchFamily="34" charset="-122"/>
                <a:cs typeface="Noto Sans Arabic" pitchFamily="34" charset="-120"/>
              </a:rPr>
              <a:t>فرد سالم</a:t>
            </a:r>
            <a:endParaRPr lang="en-US" sz="1450" dirty="0"/>
          </a:p>
        </p:txBody>
      </p:sp>
      <p:sp>
        <p:nvSpPr>
          <p:cNvPr id="14" name="Text 12"/>
          <p:cNvSpPr/>
          <p:nvPr/>
        </p:nvSpPr>
        <p:spPr>
          <a:xfrm>
            <a:off x="8915400" y="3493008"/>
            <a:ext cx="1691640" cy="256032"/>
          </a:xfrm>
          <a:prstGeom prst="rect">
            <a:avLst/>
          </a:prstGeom>
          <a:noFill/>
          <a:ln/>
        </p:spPr>
        <p:txBody>
          <a:bodyPr wrap="square" lIns="0" tIns="0" rIns="0" bIns="0" rtlCol="0" anchor="t">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آشنا با دوشن و معیار NSAA</a:t>
            </a:r>
            <a:endParaRPr lang="en-US" sz="1050" dirty="0"/>
          </a:p>
        </p:txBody>
      </p:sp>
      <p:sp>
        <p:nvSpPr>
          <p:cNvPr id="15" name="Shape 13"/>
          <p:cNvSpPr/>
          <p:nvPr/>
        </p:nvSpPr>
        <p:spPr>
          <a:xfrm>
            <a:off x="8595360" y="3127248"/>
            <a:ext cx="0" cy="0"/>
          </a:xfrm>
          <a:prstGeom prst="line">
            <a:avLst/>
          </a:prstGeom>
          <a:noFill/>
          <a:ln w="27940">
            <a:solidFill>
              <a:srgbClr val="E69F00"/>
            </a:solidFill>
            <a:prstDash val="solid"/>
            <a:headEnd type="none"/>
            <a:tailEnd type="triangle"/>
          </a:ln>
        </p:spPr>
      </p:sp>
      <p:sp>
        <p:nvSpPr>
          <p:cNvPr id="16" name="Shape 14"/>
          <p:cNvSpPr/>
          <p:nvPr/>
        </p:nvSpPr>
        <p:spPr>
          <a:xfrm>
            <a:off x="6199632" y="2423160"/>
            <a:ext cx="1965960" cy="1389888"/>
          </a:xfrm>
          <a:prstGeom prst="roundRect">
            <a:avLst>
              <a:gd name="adj" fmla="val 5263"/>
            </a:avLst>
          </a:prstGeom>
          <a:solidFill>
            <a:srgbClr val="FFFFFF"/>
          </a:solidFill>
          <a:ln w="19050">
            <a:solidFill>
              <a:srgbClr val="E69F00"/>
            </a:solidFill>
            <a:prstDash val="solid"/>
          </a:ln>
        </p:spPr>
      </p:sp>
      <p:sp>
        <p:nvSpPr>
          <p:cNvPr id="17" name="Shape 15"/>
          <p:cNvSpPr/>
          <p:nvPr/>
        </p:nvSpPr>
        <p:spPr>
          <a:xfrm>
            <a:off x="6903720" y="2624328"/>
            <a:ext cx="548640" cy="548640"/>
          </a:xfrm>
          <a:prstGeom prst="ellipse">
            <a:avLst/>
          </a:prstGeom>
          <a:solidFill>
            <a:srgbClr val="E69F00"/>
          </a:solidFill>
          <a:ln w="12700">
            <a:solidFill>
              <a:srgbClr val="E69F00"/>
            </a:solidFill>
            <a:prstDash val="solid"/>
          </a:ln>
        </p:spPr>
      </p:sp>
      <p:sp>
        <p:nvSpPr>
          <p:cNvPr id="18" name="Text 16"/>
          <p:cNvSpPr/>
          <p:nvPr/>
        </p:nvSpPr>
        <p:spPr>
          <a:xfrm>
            <a:off x="6903720" y="2697480"/>
            <a:ext cx="548640" cy="347472"/>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19" name="Text 17"/>
          <p:cNvSpPr/>
          <p:nvPr/>
        </p:nvSpPr>
        <p:spPr>
          <a:xfrm>
            <a:off x="6336792" y="3227832"/>
            <a:ext cx="1691640" cy="256032"/>
          </a:xfrm>
          <a:prstGeom prst="rect">
            <a:avLst/>
          </a:prstGeom>
          <a:noFill/>
          <a:ln/>
        </p:spPr>
        <p:txBody>
          <a:bodyPr wrap="square" lIns="0" tIns="0" rIns="0" bIns="0" rtlCol="0" anchor="ctr">
            <a:normAutofit/>
          </a:bodyPr>
          <a:lstStyle/>
          <a:p>
            <a:pPr marL="0" indent="0" algn="ctr" rtl="1">
              <a:buNone/>
            </a:pPr>
            <a:r>
              <a:rPr lang="en-US" sz="1450" b="1" dirty="0">
                <a:solidFill>
                  <a:srgbClr val="102A43"/>
                </a:solidFill>
                <a:latin typeface="Noto Sans Arabic" pitchFamily="34" charset="0"/>
                <a:ea typeface="Noto Sans Arabic" pitchFamily="34" charset="-122"/>
                <a:cs typeface="Noto Sans Arabic" pitchFamily="34" charset="-120"/>
              </a:rPr>
              <a:t>شبیه‌سازی کنترل‌شده</a:t>
            </a:r>
            <a:endParaRPr lang="en-US" sz="1450" dirty="0"/>
          </a:p>
        </p:txBody>
      </p:sp>
      <p:sp>
        <p:nvSpPr>
          <p:cNvPr id="20" name="Text 18"/>
          <p:cNvSpPr/>
          <p:nvPr/>
        </p:nvSpPr>
        <p:spPr>
          <a:xfrm>
            <a:off x="6336792" y="3493008"/>
            <a:ext cx="1691640" cy="256032"/>
          </a:xfrm>
          <a:prstGeom prst="rect">
            <a:avLst/>
          </a:prstGeom>
          <a:noFill/>
          <a:ln/>
        </p:spPr>
        <p:txBody>
          <a:bodyPr wrap="square" lIns="0" tIns="0" rIns="0" bIns="0" rtlCol="0" anchor="t">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اجرای الگوهای متناظر با نمره‌های ۰، ۱ و ۲</a:t>
            </a:r>
            <a:endParaRPr lang="en-US" sz="1050" dirty="0"/>
          </a:p>
        </p:txBody>
      </p:sp>
      <p:sp>
        <p:nvSpPr>
          <p:cNvPr id="21" name="Shape 19"/>
          <p:cNvSpPr/>
          <p:nvPr/>
        </p:nvSpPr>
        <p:spPr>
          <a:xfrm>
            <a:off x="6016752" y="3127248"/>
            <a:ext cx="0" cy="0"/>
          </a:xfrm>
          <a:prstGeom prst="line">
            <a:avLst/>
          </a:prstGeom>
          <a:noFill/>
          <a:ln w="27940">
            <a:solidFill>
              <a:srgbClr val="E69F00"/>
            </a:solidFill>
            <a:prstDash val="solid"/>
            <a:headEnd type="none"/>
            <a:tailEnd type="triangle"/>
          </a:ln>
        </p:spPr>
      </p:sp>
      <p:sp>
        <p:nvSpPr>
          <p:cNvPr id="22" name="Shape 20"/>
          <p:cNvSpPr/>
          <p:nvPr/>
        </p:nvSpPr>
        <p:spPr>
          <a:xfrm>
            <a:off x="3621024" y="2423160"/>
            <a:ext cx="1965960" cy="1389888"/>
          </a:xfrm>
          <a:prstGeom prst="roundRect">
            <a:avLst>
              <a:gd name="adj" fmla="val 5263"/>
            </a:avLst>
          </a:prstGeom>
          <a:solidFill>
            <a:srgbClr val="FFFFFF"/>
          </a:solidFill>
          <a:ln w="19050">
            <a:solidFill>
              <a:srgbClr val="0B7A75"/>
            </a:solidFill>
            <a:prstDash val="solid"/>
          </a:ln>
        </p:spPr>
      </p:sp>
      <p:sp>
        <p:nvSpPr>
          <p:cNvPr id="23" name="Shape 21"/>
          <p:cNvSpPr/>
          <p:nvPr/>
        </p:nvSpPr>
        <p:spPr>
          <a:xfrm>
            <a:off x="4325112" y="2624328"/>
            <a:ext cx="548640" cy="548640"/>
          </a:xfrm>
          <a:prstGeom prst="ellipse">
            <a:avLst/>
          </a:prstGeom>
          <a:solidFill>
            <a:srgbClr val="0B7A75"/>
          </a:solidFill>
          <a:ln w="12700">
            <a:solidFill>
              <a:srgbClr val="0B7A75"/>
            </a:solidFill>
            <a:prstDash val="solid"/>
          </a:ln>
        </p:spPr>
      </p:sp>
      <p:sp>
        <p:nvSpPr>
          <p:cNvPr id="24" name="Text 22"/>
          <p:cNvSpPr/>
          <p:nvPr/>
        </p:nvSpPr>
        <p:spPr>
          <a:xfrm>
            <a:off x="4325112" y="2697480"/>
            <a:ext cx="548640" cy="347472"/>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25" name="Text 23"/>
          <p:cNvSpPr/>
          <p:nvPr/>
        </p:nvSpPr>
        <p:spPr>
          <a:xfrm>
            <a:off x="3758184" y="3227832"/>
            <a:ext cx="1691640" cy="256032"/>
          </a:xfrm>
          <a:prstGeom prst="rect">
            <a:avLst/>
          </a:prstGeom>
          <a:noFill/>
          <a:ln/>
        </p:spPr>
        <p:txBody>
          <a:bodyPr wrap="square" lIns="0" tIns="0" rIns="0" bIns="0" rtlCol="0" anchor="ctr">
            <a:normAutofit/>
          </a:bodyPr>
          <a:lstStyle/>
          <a:p>
            <a:pPr marL="0" indent="0" algn="ctr" rtl="1">
              <a:buNone/>
            </a:pPr>
            <a:r>
              <a:rPr lang="en-US" sz="1450" b="1" dirty="0">
                <a:solidFill>
                  <a:srgbClr val="102A43"/>
                </a:solidFill>
                <a:latin typeface="Noto Sans Arabic" pitchFamily="34" charset="0"/>
                <a:ea typeface="Noto Sans Arabic" pitchFamily="34" charset="-122"/>
                <a:cs typeface="Noto Sans Arabic" pitchFamily="34" charset="-120"/>
              </a:rPr>
              <a:t>ثبت با پنج حسگر</a:t>
            </a:r>
            <a:endParaRPr lang="en-US" sz="1450" dirty="0"/>
          </a:p>
        </p:txBody>
      </p:sp>
      <p:sp>
        <p:nvSpPr>
          <p:cNvPr id="26" name="Text 24"/>
          <p:cNvSpPr/>
          <p:nvPr/>
        </p:nvSpPr>
        <p:spPr>
          <a:xfrm>
            <a:off x="3758184" y="3493008"/>
            <a:ext cx="1691640" cy="256032"/>
          </a:xfrm>
          <a:prstGeom prst="rect">
            <a:avLst/>
          </a:prstGeom>
          <a:noFill/>
          <a:ln/>
        </p:spPr>
        <p:txBody>
          <a:bodyPr wrap="square" lIns="0" tIns="0" rIns="0" bIns="0" rtlCol="0" anchor="t">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داده‌های شتاب و سرعت زاویه‌ای</a:t>
            </a:r>
            <a:endParaRPr lang="en-US" sz="1050" dirty="0"/>
          </a:p>
        </p:txBody>
      </p:sp>
      <p:sp>
        <p:nvSpPr>
          <p:cNvPr id="27" name="Shape 25"/>
          <p:cNvSpPr/>
          <p:nvPr/>
        </p:nvSpPr>
        <p:spPr>
          <a:xfrm>
            <a:off x="3438144" y="3127248"/>
            <a:ext cx="0" cy="0"/>
          </a:xfrm>
          <a:prstGeom prst="line">
            <a:avLst/>
          </a:prstGeom>
          <a:noFill/>
          <a:ln w="27940">
            <a:solidFill>
              <a:srgbClr val="E69F00"/>
            </a:solidFill>
            <a:prstDash val="solid"/>
            <a:headEnd type="none"/>
            <a:tailEnd type="triangle"/>
          </a:ln>
        </p:spPr>
      </p:sp>
      <p:sp>
        <p:nvSpPr>
          <p:cNvPr id="28" name="Shape 26"/>
          <p:cNvSpPr/>
          <p:nvPr/>
        </p:nvSpPr>
        <p:spPr>
          <a:xfrm>
            <a:off x="1042416" y="2423160"/>
            <a:ext cx="1965960" cy="1389888"/>
          </a:xfrm>
          <a:prstGeom prst="roundRect">
            <a:avLst>
              <a:gd name="adj" fmla="val 5263"/>
            </a:avLst>
          </a:prstGeom>
          <a:solidFill>
            <a:srgbClr val="FFFFFF"/>
          </a:solidFill>
          <a:ln w="19050">
            <a:solidFill>
              <a:srgbClr val="2F855A"/>
            </a:solidFill>
            <a:prstDash val="solid"/>
          </a:ln>
        </p:spPr>
      </p:sp>
      <p:sp>
        <p:nvSpPr>
          <p:cNvPr id="29" name="Shape 27"/>
          <p:cNvSpPr/>
          <p:nvPr/>
        </p:nvSpPr>
        <p:spPr>
          <a:xfrm>
            <a:off x="1746504" y="2624328"/>
            <a:ext cx="548640" cy="548640"/>
          </a:xfrm>
          <a:prstGeom prst="ellipse">
            <a:avLst/>
          </a:prstGeom>
          <a:solidFill>
            <a:srgbClr val="2F855A"/>
          </a:solidFill>
          <a:ln w="12700">
            <a:solidFill>
              <a:srgbClr val="2F855A"/>
            </a:solidFill>
            <a:prstDash val="solid"/>
          </a:ln>
        </p:spPr>
      </p:sp>
      <p:sp>
        <p:nvSpPr>
          <p:cNvPr id="30" name="Text 28"/>
          <p:cNvSpPr/>
          <p:nvPr/>
        </p:nvSpPr>
        <p:spPr>
          <a:xfrm>
            <a:off x="1746504" y="2697480"/>
            <a:ext cx="548640" cy="347472"/>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31" name="Text 29"/>
          <p:cNvSpPr/>
          <p:nvPr/>
        </p:nvSpPr>
        <p:spPr>
          <a:xfrm>
            <a:off x="1179576" y="3227832"/>
            <a:ext cx="1691640" cy="256032"/>
          </a:xfrm>
          <a:prstGeom prst="rect">
            <a:avLst/>
          </a:prstGeom>
          <a:noFill/>
          <a:ln/>
        </p:spPr>
        <p:txBody>
          <a:bodyPr wrap="square" lIns="0" tIns="0" rIns="0" bIns="0" rtlCol="0" anchor="ctr">
            <a:normAutofit/>
          </a:bodyPr>
          <a:lstStyle/>
          <a:p>
            <a:pPr marL="0" indent="0" algn="ctr" rtl="1">
              <a:buNone/>
            </a:pPr>
            <a:r>
              <a:rPr lang="en-US" sz="1450" b="1" dirty="0">
                <a:solidFill>
                  <a:srgbClr val="102A43"/>
                </a:solidFill>
                <a:latin typeface="Noto Sans Arabic" pitchFamily="34" charset="0"/>
                <a:ea typeface="Noto Sans Arabic" pitchFamily="34" charset="-122"/>
                <a:cs typeface="Noto Sans Arabic" pitchFamily="34" charset="-120"/>
              </a:rPr>
              <a:t>توسعه مدل</a:t>
            </a:r>
            <a:endParaRPr lang="en-US" sz="1450" dirty="0"/>
          </a:p>
        </p:txBody>
      </p:sp>
      <p:sp>
        <p:nvSpPr>
          <p:cNvPr id="32" name="Text 30"/>
          <p:cNvSpPr/>
          <p:nvPr/>
        </p:nvSpPr>
        <p:spPr>
          <a:xfrm>
            <a:off x="1179576" y="3493008"/>
            <a:ext cx="1691640" cy="256032"/>
          </a:xfrm>
          <a:prstGeom prst="rect">
            <a:avLst/>
          </a:prstGeom>
          <a:noFill/>
          <a:ln/>
        </p:spPr>
        <p:txBody>
          <a:bodyPr wrap="square" lIns="0" tIns="0" rIns="0" bIns="0" rtlCol="0" anchor="t">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امکان‌سنجی تفکیک سطوح</a:t>
            </a:r>
            <a:endParaRPr lang="en-US" sz="1050" dirty="0"/>
          </a:p>
        </p:txBody>
      </p:sp>
      <p:sp>
        <p:nvSpPr>
          <p:cNvPr id="33" name="Shape 31"/>
          <p:cNvSpPr/>
          <p:nvPr/>
        </p:nvSpPr>
        <p:spPr>
          <a:xfrm>
            <a:off x="1051560" y="4297680"/>
            <a:ext cx="9189720" cy="1024128"/>
          </a:xfrm>
          <a:prstGeom prst="roundRect">
            <a:avLst>
              <a:gd name="adj" fmla="val 10714"/>
            </a:avLst>
          </a:prstGeom>
          <a:solidFill>
            <a:srgbClr val="FFFFFF"/>
          </a:solidFill>
          <a:ln w="20320">
            <a:solidFill>
              <a:srgbClr val="C0392B"/>
            </a:solidFill>
            <a:prstDash val="solid"/>
          </a:ln>
        </p:spPr>
      </p:sp>
      <p:sp>
        <p:nvSpPr>
          <p:cNvPr id="34" name="Shape 32"/>
          <p:cNvSpPr/>
          <p:nvPr/>
        </p:nvSpPr>
        <p:spPr>
          <a:xfrm>
            <a:off x="9665208" y="4553712"/>
            <a:ext cx="438912" cy="438912"/>
          </a:xfrm>
          <a:prstGeom prst="ellipse">
            <a:avLst/>
          </a:prstGeom>
          <a:solidFill>
            <a:srgbClr val="C0392B"/>
          </a:solidFill>
          <a:ln w="12700">
            <a:solidFill>
              <a:srgbClr val="C0392B"/>
            </a:solidFill>
            <a:prstDash val="solid"/>
          </a:ln>
        </p:spPr>
      </p:sp>
      <p:sp>
        <p:nvSpPr>
          <p:cNvPr id="35" name="Text 33"/>
          <p:cNvSpPr/>
          <p:nvPr/>
        </p:nvSpPr>
        <p:spPr>
          <a:xfrm>
            <a:off x="9665208" y="4572000"/>
            <a:ext cx="438912" cy="310896"/>
          </a:xfrm>
          <a:prstGeom prst="rect">
            <a:avLst/>
          </a:prstGeom>
          <a:noFill/>
          <a:ln/>
        </p:spPr>
        <p:txBody>
          <a:bodyPr wrap="square" lIns="0" tIns="0" rIns="0" bIns="0" rtlCol="0" anchor="ctr">
            <a:normAutofit/>
          </a:bodyPr>
          <a:lstStyle/>
          <a:p>
            <a:pPr marL="0" indent="0" algn="ctr" rtl="1">
              <a:buNone/>
            </a:pPr>
            <a:r>
              <a:rPr lang="en-US" sz="1900" b="1" dirty="0">
                <a:solidFill>
                  <a:srgbClr val="FFFFFF"/>
                </a:solidFill>
                <a:latin typeface="Noto Sans Arabic" pitchFamily="34" charset="0"/>
                <a:ea typeface="Noto Sans Arabic" pitchFamily="34" charset="-122"/>
                <a:cs typeface="Noto Sans Arabic" pitchFamily="34" charset="-120"/>
              </a:rPr>
              <a:t>!</a:t>
            </a:r>
            <a:endParaRPr lang="en-US" sz="1900" dirty="0"/>
          </a:p>
        </p:txBody>
      </p:sp>
      <p:sp>
        <p:nvSpPr>
          <p:cNvPr id="36" name="Text 34"/>
          <p:cNvSpPr/>
          <p:nvPr/>
        </p:nvSpPr>
        <p:spPr>
          <a:xfrm>
            <a:off x="2103120" y="4443984"/>
            <a:ext cx="7360920" cy="347472"/>
          </a:xfrm>
          <a:prstGeom prst="rect">
            <a:avLst/>
          </a:prstGeom>
          <a:noFill/>
          <a:ln/>
        </p:spPr>
        <p:txBody>
          <a:bodyPr wrap="square" lIns="0" tIns="0" rIns="0" bIns="0" rtlCol="0" anchor="ctr">
            <a:normAutofit/>
          </a:bodyPr>
          <a:lstStyle/>
          <a:p>
            <a:pPr marL="0" indent="0" algn="ctr" rtl="1">
              <a:buNone/>
            </a:pPr>
            <a:r>
              <a:rPr lang="en-US" sz="2000" b="1" dirty="0">
                <a:solidFill>
                  <a:srgbClr val="C0392B"/>
                </a:solidFill>
                <a:latin typeface="Noto Sans Arabic" pitchFamily="34" charset="0"/>
                <a:ea typeface="Noto Sans Arabic" pitchFamily="34" charset="-122"/>
                <a:cs typeface="Noto Sans Arabic" pitchFamily="34" charset="-120"/>
              </a:rPr>
              <a:t>هیچ داده‌ای از بیمار مبتلا به دوشن برای آموزش مدل‌ها استفاده نشده است.</a:t>
            </a:r>
            <a:endParaRPr lang="en-US" sz="2000" dirty="0"/>
          </a:p>
        </p:txBody>
      </p:sp>
      <p:sp>
        <p:nvSpPr>
          <p:cNvPr id="37" name="Text 35"/>
          <p:cNvSpPr/>
          <p:nvPr/>
        </p:nvSpPr>
        <p:spPr>
          <a:xfrm>
            <a:off x="2103120" y="4828032"/>
            <a:ext cx="7360920" cy="274320"/>
          </a:xfrm>
          <a:prstGeom prst="rect">
            <a:avLst/>
          </a:prstGeom>
          <a:noFill/>
          <a:ln/>
        </p:spPr>
        <p:txBody>
          <a:bodyPr wrap="square" lIns="0" tIns="0" rIns="0" bIns="0" rtlCol="0" anchor="ctr">
            <a:normAutofit/>
          </a:bodyPr>
          <a:lstStyle/>
          <a:p>
            <a:pPr marL="0" indent="0" algn="ctr" rtl="1">
              <a:buNone/>
            </a:pPr>
            <a:r>
              <a:rPr lang="en-US" sz="1350" dirty="0">
                <a:solidFill>
                  <a:srgbClr val="1F2937"/>
                </a:solidFill>
                <a:latin typeface="Noto Sans Arabic" pitchFamily="34" charset="0"/>
                <a:ea typeface="Noto Sans Arabic" pitchFamily="34" charset="-122"/>
                <a:cs typeface="Noto Sans Arabic" pitchFamily="34" charset="-120"/>
              </a:rPr>
              <a:t>نتایج این پژوهش باید به‌عنوان امکان‌سنجی فنی تفسیر شوند، نه اثبات کاربرد بالینی.</a:t>
            </a:r>
            <a:endParaRPr lang="en-US" sz="1350" dirty="0"/>
          </a:p>
        </p:txBody>
      </p:sp>
      <p:sp>
        <p:nvSpPr>
          <p:cNvPr id="38" name="Shape 36"/>
          <p:cNvSpPr/>
          <p:nvPr/>
        </p:nvSpPr>
        <p:spPr>
          <a:xfrm>
            <a:off x="658368" y="6473952"/>
            <a:ext cx="10881360" cy="0"/>
          </a:xfrm>
          <a:prstGeom prst="line">
            <a:avLst/>
          </a:prstGeom>
          <a:noFill/>
          <a:ln w="10160">
            <a:solidFill>
              <a:srgbClr val="E9EEF2"/>
            </a:solidFill>
            <a:prstDash val="solid"/>
          </a:ln>
        </p:spPr>
      </p:sp>
      <p:sp>
        <p:nvSpPr>
          <p:cNvPr id="39" name="Text 37"/>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0" name="Text 38"/>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۲ از ۶: مقدمه و تعریف مسئله | ۱۰ اسلاید تا پایان</a:t>
            </a:r>
            <a:endParaRPr lang="en-US" sz="920" dirty="0"/>
          </a:p>
        </p:txBody>
      </p:sp>
      <p:sp>
        <p:nvSpPr>
          <p:cNvPr id="41" name="Text 39"/>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۴ / ۱۴</a:t>
            </a:r>
            <a:endParaRPr lang="en-US" sz="1020" dirty="0"/>
          </a:p>
        </p:txBody>
      </p:sp>
      <p:sp>
        <p:nvSpPr>
          <p:cNvPr id="42" name="Shape 40"/>
          <p:cNvSpPr/>
          <p:nvPr/>
        </p:nvSpPr>
        <p:spPr>
          <a:xfrm>
            <a:off x="2560320" y="6766560"/>
            <a:ext cx="1881051" cy="41148"/>
          </a:xfrm>
          <a:prstGeom prst="rect">
            <a:avLst/>
          </a:prstGeom>
          <a:solidFill>
            <a:srgbClr val="0B6E99"/>
          </a:solidFill>
          <a:ln w="12700">
            <a:solidFill>
              <a:srgbClr val="0B6E99"/>
            </a:solidFill>
            <a:prstDash val="solid"/>
          </a:ln>
        </p:spPr>
      </p:sp>
      <p:sp>
        <p:nvSpPr>
          <p:cNvPr id="43" name="Shape 41"/>
          <p:cNvSpPr/>
          <p:nvPr/>
        </p:nvSpPr>
        <p:spPr>
          <a:xfrm>
            <a:off x="4441371" y="6766560"/>
            <a:ext cx="4702629"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9"/>
                            </p:tgtEl>
                          </p:cBhvr>
                        </p:animEffect>
                      </p:childTnLst>
                    </p:cTn>
                  </p:par>
                  <p:par>
                    <p:cTn id="9" fill="hold">
                      <p:stCondLst>
                        <p:cond delay="0"/>
                      </p:stCondLst>
                      <p:childTnLst>
                        <p:animEffect transition="in" filter="fade">
                          <p:cBhvr>
                            <p:cTn id="10" dur="350" fill="hold"/>
                            <p:tgtEl>
                              <p:spTgt spid="12"/>
                            </p:tgtEl>
                          </p:cBhvr>
                        </p:animEffect>
                      </p:childTnLst>
                    </p:cTn>
                  </p:par>
                  <p:par>
                    <p:cTn id="11" fill="hold">
                      <p:stCondLst>
                        <p:cond delay="0"/>
                      </p:stCondLst>
                      <p:childTnLst>
                        <p:animEffect transition="in" filter="fade">
                          <p:cBhvr>
                            <p:cTn id="12" dur="350" fill="hold"/>
                            <p:tgtEl>
                              <p:spTgt spid="13"/>
                            </p:tgtEl>
                          </p:cBhvr>
                        </p:animEffect>
                      </p:childTnLst>
                    </p:cTn>
                  </p:par>
                </p:childTnLst>
              </p:cTn>
            </p:seq>
          </p:childTnLst>
        </p:cTn>
      </p:par>
    </p:tnLst>
    <p:bldLst>
      <p:bldP spid="3" grpId="0"/>
      <p:bldP spid="4" grpId="0"/>
      <p:bldP spid="9" grpId="0"/>
      <p:bldP spid="12"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پیاده‌سازی سخت‌افزار</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سامانه داده‌برداری و محل نصب حسگرها</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۵ / ۱۴</a:t>
            </a:r>
            <a:endParaRPr lang="en-US" sz="1080" dirty="0"/>
          </a:p>
        </p:txBody>
      </p:sp>
      <p:sp>
        <p:nvSpPr>
          <p:cNvPr id="7" name="Shape 5"/>
          <p:cNvSpPr/>
          <p:nvPr/>
        </p:nvSpPr>
        <p:spPr>
          <a:xfrm>
            <a:off x="658368" y="1463040"/>
            <a:ext cx="5166360" cy="4681728"/>
          </a:xfrm>
          <a:prstGeom prst="roundRect">
            <a:avLst>
              <a:gd name="adj" fmla="val 1563"/>
            </a:avLst>
          </a:prstGeom>
          <a:solidFill>
            <a:srgbClr val="FFFFFF"/>
          </a:solidFill>
          <a:ln w="12700">
            <a:solidFill>
              <a:srgbClr val="D9E2EC"/>
            </a:solidFill>
            <a:prstDash val="solid"/>
          </a:ln>
          <a:effectLst>
            <a:outerShdw blurRad="12700" dist="50800" dir="2700000" algn="bl" rotWithShape="0">
              <a:srgbClr val="B0BEC5">
                <a:alpha val="12000"/>
              </a:srgbClr>
            </a:outerShdw>
          </a:effectLst>
        </p:spPr>
      </p:sp>
      <p:pic>
        <p:nvPicPr>
          <p:cNvPr id="8" name="Image 0" descr="/mnt/data/dmd_assets/crops/sensor_photos.png"/>
          <p:cNvPicPr>
            <a:picLocks noChangeAspect="1"/>
          </p:cNvPicPr>
          <p:nvPr/>
        </p:nvPicPr>
        <p:blipFill>
          <a:blip r:embed="rId3"/>
          <a:srcRect t="12484" b="12484"/>
          <a:stretch/>
        </p:blipFill>
        <p:spPr>
          <a:xfrm>
            <a:off x="841248" y="1691640"/>
            <a:ext cx="4800600" cy="2240280"/>
          </a:xfrm>
          <a:prstGeom prst="rect">
            <a:avLst/>
          </a:prstGeom>
        </p:spPr>
      </p:pic>
      <p:sp>
        <p:nvSpPr>
          <p:cNvPr id="9" name="Text 6"/>
          <p:cNvSpPr/>
          <p:nvPr/>
        </p:nvSpPr>
        <p:spPr>
          <a:xfrm>
            <a:off x="932688" y="4023360"/>
            <a:ext cx="4617720" cy="329184"/>
          </a:xfrm>
          <a:prstGeom prst="rect">
            <a:avLst/>
          </a:prstGeom>
          <a:noFill/>
          <a:ln/>
        </p:spPr>
        <p:txBody>
          <a:bodyPr wrap="square" lIns="0" tIns="0" rIns="0" bIns="0" rtlCol="0" anchor="ctr">
            <a:normAutofit/>
          </a:bodyPr>
          <a:lstStyle/>
          <a:p>
            <a:pPr marL="0" indent="0" algn="ctr" rtl="1">
              <a:buNone/>
            </a:pPr>
            <a:r>
              <a:rPr lang="en-US" sz="1220" dirty="0">
                <a:solidFill>
                  <a:srgbClr val="64748B"/>
                </a:solidFill>
                <a:latin typeface="Noto Sans Arabic" pitchFamily="34" charset="0"/>
                <a:ea typeface="Noto Sans Arabic" pitchFamily="34" charset="-122"/>
                <a:cs typeface="Noto Sans Arabic" pitchFamily="34" charset="-120"/>
              </a:rPr>
              <a:t>نمونه نصب حسگر روی مچ دست و بالای قوزک خارجی</a:t>
            </a:r>
            <a:endParaRPr lang="en-US" sz="1220" dirty="0"/>
          </a:p>
        </p:txBody>
      </p:sp>
      <p:sp>
        <p:nvSpPr>
          <p:cNvPr id="10" name="Shape 7"/>
          <p:cNvSpPr/>
          <p:nvPr/>
        </p:nvSpPr>
        <p:spPr>
          <a:xfrm>
            <a:off x="896112" y="4617720"/>
            <a:ext cx="1051560" cy="1005840"/>
          </a:xfrm>
          <a:prstGeom prst="roundRect">
            <a:avLst>
              <a:gd name="adj" fmla="val 7273"/>
            </a:avLst>
          </a:prstGeom>
          <a:solidFill>
            <a:srgbClr val="EEF4F8"/>
          </a:solidFill>
          <a:ln w="12700">
            <a:solidFill>
              <a:srgbClr val="D8E5EC"/>
            </a:solidFill>
            <a:prstDash val="solid"/>
          </a:ln>
        </p:spPr>
      </p:sp>
      <p:sp>
        <p:nvSpPr>
          <p:cNvPr id="11" name="Text 8"/>
          <p:cNvSpPr/>
          <p:nvPr/>
        </p:nvSpPr>
        <p:spPr>
          <a:xfrm>
            <a:off x="950976" y="4736592"/>
            <a:ext cx="941832" cy="292608"/>
          </a:xfrm>
          <a:prstGeom prst="rect">
            <a:avLst/>
          </a:prstGeom>
          <a:noFill/>
          <a:ln/>
        </p:spPr>
        <p:txBody>
          <a:bodyPr wrap="square" lIns="0" tIns="0" rIns="0" bIns="0" rtlCol="0" anchor="ctr">
            <a:normAutofit/>
          </a:bodyPr>
          <a:lstStyle/>
          <a:p>
            <a:pPr marL="0" indent="0" algn="ctr" rtl="1">
              <a:buNone/>
            </a:pPr>
            <a:r>
              <a:rPr lang="en-US" sz="1900" b="1" dirty="0">
                <a:solidFill>
                  <a:srgbClr val="0B6E99"/>
                </a:solidFill>
                <a:latin typeface="Noto Sans Arabic" pitchFamily="34" charset="0"/>
                <a:ea typeface="Noto Sans Arabic" pitchFamily="34" charset="-122"/>
                <a:cs typeface="Noto Sans Arabic" pitchFamily="34" charset="-120"/>
              </a:rPr>
              <a:t>۵</a:t>
            </a:r>
            <a:endParaRPr lang="en-US" sz="1900" dirty="0"/>
          </a:p>
        </p:txBody>
      </p:sp>
      <p:sp>
        <p:nvSpPr>
          <p:cNvPr id="12" name="Text 9"/>
          <p:cNvSpPr/>
          <p:nvPr/>
        </p:nvSpPr>
        <p:spPr>
          <a:xfrm>
            <a:off x="950976" y="5102352"/>
            <a:ext cx="941832" cy="256032"/>
          </a:xfrm>
          <a:prstGeom prst="rect">
            <a:avLst/>
          </a:prstGeom>
          <a:noFill/>
          <a:ln/>
        </p:spPr>
        <p:txBody>
          <a:bodyPr wrap="square" lIns="0" tIns="0" rIns="0" bIns="0" rtlCol="0" anchor="ctr">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حسگر</a:t>
            </a:r>
            <a:endParaRPr lang="en-US" sz="1050" dirty="0"/>
          </a:p>
        </p:txBody>
      </p:sp>
      <p:sp>
        <p:nvSpPr>
          <p:cNvPr id="13" name="Shape 10"/>
          <p:cNvSpPr/>
          <p:nvPr/>
        </p:nvSpPr>
        <p:spPr>
          <a:xfrm>
            <a:off x="2084832" y="4617720"/>
            <a:ext cx="1051560" cy="1005840"/>
          </a:xfrm>
          <a:prstGeom prst="roundRect">
            <a:avLst>
              <a:gd name="adj" fmla="val 7273"/>
            </a:avLst>
          </a:prstGeom>
          <a:solidFill>
            <a:srgbClr val="EEF4F8"/>
          </a:solidFill>
          <a:ln w="12700">
            <a:solidFill>
              <a:srgbClr val="D8E5EC"/>
            </a:solidFill>
            <a:prstDash val="solid"/>
          </a:ln>
        </p:spPr>
      </p:sp>
      <p:sp>
        <p:nvSpPr>
          <p:cNvPr id="14" name="Text 11"/>
          <p:cNvSpPr/>
          <p:nvPr/>
        </p:nvSpPr>
        <p:spPr>
          <a:xfrm>
            <a:off x="2139696" y="4736592"/>
            <a:ext cx="941832" cy="292608"/>
          </a:xfrm>
          <a:prstGeom prst="rect">
            <a:avLst/>
          </a:prstGeom>
          <a:noFill/>
          <a:ln/>
        </p:spPr>
        <p:txBody>
          <a:bodyPr wrap="square" lIns="0" tIns="0" rIns="0" bIns="0" rtlCol="0" anchor="ctr">
            <a:normAutofit/>
          </a:bodyPr>
          <a:lstStyle/>
          <a:p>
            <a:pPr marL="0" indent="0" algn="ctr" rtl="1">
              <a:buNone/>
            </a:pPr>
            <a:r>
              <a:rPr lang="en-US" sz="1900" b="1" dirty="0">
                <a:solidFill>
                  <a:srgbClr val="0B6E99"/>
                </a:solidFill>
                <a:latin typeface="Noto Sans Arabic" pitchFamily="34" charset="0"/>
                <a:ea typeface="Noto Sans Arabic" pitchFamily="34" charset="-122"/>
                <a:cs typeface="Noto Sans Arabic" pitchFamily="34" charset="-120"/>
              </a:rPr>
              <a:t>۹۰–۱۰۰</a:t>
            </a:r>
            <a:endParaRPr lang="en-US" sz="1900" dirty="0"/>
          </a:p>
        </p:txBody>
      </p:sp>
      <p:sp>
        <p:nvSpPr>
          <p:cNvPr id="15" name="Text 12"/>
          <p:cNvSpPr/>
          <p:nvPr/>
        </p:nvSpPr>
        <p:spPr>
          <a:xfrm>
            <a:off x="2139696" y="5102352"/>
            <a:ext cx="941832" cy="256032"/>
          </a:xfrm>
          <a:prstGeom prst="rect">
            <a:avLst/>
          </a:prstGeom>
          <a:noFill/>
          <a:ln/>
        </p:spPr>
        <p:txBody>
          <a:bodyPr wrap="square" lIns="0" tIns="0" rIns="0" bIns="0" rtlCol="0" anchor="ctr">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هرتز</a:t>
            </a:r>
            <a:endParaRPr lang="en-US" sz="1050" dirty="0"/>
          </a:p>
        </p:txBody>
      </p:sp>
      <p:sp>
        <p:nvSpPr>
          <p:cNvPr id="16" name="Shape 13"/>
          <p:cNvSpPr/>
          <p:nvPr/>
        </p:nvSpPr>
        <p:spPr>
          <a:xfrm>
            <a:off x="3273552" y="4617720"/>
            <a:ext cx="1051560" cy="1005840"/>
          </a:xfrm>
          <a:prstGeom prst="roundRect">
            <a:avLst>
              <a:gd name="adj" fmla="val 7273"/>
            </a:avLst>
          </a:prstGeom>
          <a:solidFill>
            <a:srgbClr val="EEF4F8"/>
          </a:solidFill>
          <a:ln w="12700">
            <a:solidFill>
              <a:srgbClr val="D8E5EC"/>
            </a:solidFill>
            <a:prstDash val="solid"/>
          </a:ln>
        </p:spPr>
      </p:sp>
      <p:sp>
        <p:nvSpPr>
          <p:cNvPr id="17" name="Text 14"/>
          <p:cNvSpPr/>
          <p:nvPr/>
        </p:nvSpPr>
        <p:spPr>
          <a:xfrm>
            <a:off x="3328416" y="4736592"/>
            <a:ext cx="941832" cy="292608"/>
          </a:xfrm>
          <a:prstGeom prst="rect">
            <a:avLst/>
          </a:prstGeom>
          <a:noFill/>
          <a:ln/>
        </p:spPr>
        <p:txBody>
          <a:bodyPr wrap="square" lIns="0" tIns="0" rIns="0" bIns="0" rtlCol="0" anchor="ctr">
            <a:normAutofit/>
          </a:bodyPr>
          <a:lstStyle/>
          <a:p>
            <a:pPr marL="0" indent="0" algn="ctr" rtl="1">
              <a:buNone/>
            </a:pPr>
            <a:r>
              <a:rPr lang="en-US" sz="1900" b="1" dirty="0">
                <a:solidFill>
                  <a:srgbClr val="0B6E99"/>
                </a:solidFill>
                <a:latin typeface="Noto Sans Arabic" pitchFamily="34" charset="0"/>
                <a:ea typeface="Noto Sans Arabic" pitchFamily="34" charset="-122"/>
                <a:cs typeface="Noto Sans Arabic" pitchFamily="34" charset="-120"/>
              </a:rPr>
              <a:t>۶</a:t>
            </a:r>
            <a:endParaRPr lang="en-US" sz="1900" dirty="0"/>
          </a:p>
        </p:txBody>
      </p:sp>
      <p:sp>
        <p:nvSpPr>
          <p:cNvPr id="18" name="Text 15"/>
          <p:cNvSpPr/>
          <p:nvPr/>
        </p:nvSpPr>
        <p:spPr>
          <a:xfrm>
            <a:off x="3328416" y="5102352"/>
            <a:ext cx="941832" cy="256032"/>
          </a:xfrm>
          <a:prstGeom prst="rect">
            <a:avLst/>
          </a:prstGeom>
          <a:noFill/>
          <a:ln/>
        </p:spPr>
        <p:txBody>
          <a:bodyPr wrap="square" lIns="0" tIns="0" rIns="0" bIns="0" rtlCol="0" anchor="ctr">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سیگنال/حسگر</a:t>
            </a:r>
            <a:endParaRPr lang="en-US" sz="1050" dirty="0"/>
          </a:p>
        </p:txBody>
      </p:sp>
      <p:sp>
        <p:nvSpPr>
          <p:cNvPr id="19" name="Shape 16"/>
          <p:cNvSpPr/>
          <p:nvPr/>
        </p:nvSpPr>
        <p:spPr>
          <a:xfrm>
            <a:off x="4462272" y="4617720"/>
            <a:ext cx="1051560" cy="1005840"/>
          </a:xfrm>
          <a:prstGeom prst="roundRect">
            <a:avLst>
              <a:gd name="adj" fmla="val 7273"/>
            </a:avLst>
          </a:prstGeom>
          <a:solidFill>
            <a:srgbClr val="E7F4F8"/>
          </a:solidFill>
          <a:ln w="12700">
            <a:solidFill>
              <a:srgbClr val="D8E5EC"/>
            </a:solidFill>
            <a:prstDash val="solid"/>
          </a:ln>
        </p:spPr>
      </p:sp>
      <p:sp>
        <p:nvSpPr>
          <p:cNvPr id="20" name="Text 17"/>
          <p:cNvSpPr/>
          <p:nvPr/>
        </p:nvSpPr>
        <p:spPr>
          <a:xfrm>
            <a:off x="4507992" y="4773168"/>
            <a:ext cx="960120" cy="256032"/>
          </a:xfrm>
          <a:prstGeom prst="rect">
            <a:avLst/>
          </a:prstGeom>
          <a:noFill/>
          <a:ln/>
        </p:spPr>
        <p:txBody>
          <a:bodyPr wrap="square" lIns="0" tIns="0" rIns="0" bIns="0" rtlCol="0" anchor="ctr">
            <a:normAutofit/>
          </a:bodyPr>
          <a:lstStyle/>
          <a:p>
            <a:pPr marL="0" indent="0" algn="ctr">
              <a:buNone/>
            </a:pPr>
            <a:r>
              <a:rPr lang="en-US" sz="1150" b="1" dirty="0">
                <a:solidFill>
                  <a:srgbClr val="0B6E99"/>
                </a:solidFill>
                <a:latin typeface="Aptos" pitchFamily="34" charset="0"/>
                <a:ea typeface="Aptos" pitchFamily="34" charset="-122"/>
                <a:cs typeface="Aptos" pitchFamily="34" charset="-120"/>
              </a:rPr>
              <a:t>Bluetooth</a:t>
            </a:r>
            <a:endParaRPr lang="en-US" sz="1150" dirty="0"/>
          </a:p>
        </p:txBody>
      </p:sp>
      <p:sp>
        <p:nvSpPr>
          <p:cNvPr id="21" name="Text 18"/>
          <p:cNvSpPr/>
          <p:nvPr/>
        </p:nvSpPr>
        <p:spPr>
          <a:xfrm>
            <a:off x="4517136" y="5102352"/>
            <a:ext cx="941832" cy="256032"/>
          </a:xfrm>
          <a:prstGeom prst="rect">
            <a:avLst/>
          </a:prstGeom>
          <a:noFill/>
          <a:ln/>
        </p:spPr>
        <p:txBody>
          <a:bodyPr wrap="square" lIns="0" tIns="0" rIns="0" bIns="0" rtlCol="0" anchor="ctr">
            <a:normAutofit/>
          </a:bodyPr>
          <a:lstStyle/>
          <a:p>
            <a:pPr marL="0" indent="0" algn="ctr" rtl="1">
              <a:buNone/>
            </a:pPr>
            <a:r>
              <a:rPr lang="en-US" sz="1050" dirty="0">
                <a:solidFill>
                  <a:srgbClr val="64748B"/>
                </a:solidFill>
                <a:latin typeface="Noto Sans Arabic" pitchFamily="34" charset="0"/>
                <a:ea typeface="Noto Sans Arabic" pitchFamily="34" charset="-122"/>
                <a:cs typeface="Noto Sans Arabic" pitchFamily="34" charset="-120"/>
              </a:rPr>
              <a:t>ارتباط</a:t>
            </a:r>
            <a:endParaRPr lang="en-US" sz="1050" dirty="0"/>
          </a:p>
        </p:txBody>
      </p:sp>
      <p:sp>
        <p:nvSpPr>
          <p:cNvPr id="22" name="Shape 19"/>
          <p:cNvSpPr/>
          <p:nvPr/>
        </p:nvSpPr>
        <p:spPr>
          <a:xfrm>
            <a:off x="6080760" y="1463040"/>
            <a:ext cx="5440680" cy="4681728"/>
          </a:xfrm>
          <a:prstGeom prst="roundRect">
            <a:avLst>
              <a:gd name="adj" fmla="val 1563"/>
            </a:avLst>
          </a:prstGeom>
          <a:solidFill>
            <a:srgbClr val="F4F8FB"/>
          </a:solidFill>
          <a:ln w="12700">
            <a:solidFill>
              <a:srgbClr val="D9E2EC"/>
            </a:solidFill>
            <a:prstDash val="solid"/>
          </a:ln>
          <a:effectLst>
            <a:outerShdw blurRad="12700" dist="50800" dir="2700000" algn="bl" rotWithShape="0">
              <a:srgbClr val="B0BEC5">
                <a:alpha val="12000"/>
              </a:srgbClr>
            </a:outerShdw>
          </a:effectLst>
        </p:spPr>
      </p:sp>
      <p:pic>
        <p:nvPicPr>
          <p:cNvPr id="23" name="Image 1" descr="/mnt/data/dmd_assets/crops/sensor_body.png"/>
          <p:cNvPicPr>
            <a:picLocks noChangeAspect="1"/>
          </p:cNvPicPr>
          <p:nvPr/>
        </p:nvPicPr>
        <p:blipFill>
          <a:blip r:embed="rId4"/>
          <a:stretch>
            <a:fillRect/>
          </a:stretch>
        </p:blipFill>
        <p:spPr>
          <a:xfrm>
            <a:off x="6565392" y="2218073"/>
            <a:ext cx="2194560" cy="2037806"/>
          </a:xfrm>
          <a:prstGeom prst="rect">
            <a:avLst/>
          </a:prstGeom>
        </p:spPr>
      </p:pic>
      <p:sp>
        <p:nvSpPr>
          <p:cNvPr id="24" name="Shape 20"/>
          <p:cNvSpPr/>
          <p:nvPr/>
        </p:nvSpPr>
        <p:spPr>
          <a:xfrm>
            <a:off x="8851392" y="1847088"/>
            <a:ext cx="2331720" cy="804672"/>
          </a:xfrm>
          <a:prstGeom prst="roundRect">
            <a:avLst>
              <a:gd name="adj" fmla="val 9091"/>
            </a:avLst>
          </a:prstGeom>
          <a:solidFill>
            <a:srgbClr val="FFFFFF"/>
          </a:solidFill>
          <a:ln w="15875">
            <a:solidFill>
              <a:srgbClr val="0B6E99"/>
            </a:solidFill>
            <a:prstDash val="solid"/>
          </a:ln>
        </p:spPr>
      </p:sp>
      <p:sp>
        <p:nvSpPr>
          <p:cNvPr id="25" name="Text 21"/>
          <p:cNvSpPr/>
          <p:nvPr/>
        </p:nvSpPr>
        <p:spPr>
          <a:xfrm>
            <a:off x="9052560" y="1938528"/>
            <a:ext cx="1920240" cy="237744"/>
          </a:xfrm>
          <a:prstGeom prst="rect">
            <a:avLst/>
          </a:prstGeom>
          <a:noFill/>
          <a:ln/>
        </p:spPr>
        <p:txBody>
          <a:bodyPr wrap="square" lIns="0" tIns="0" rIns="0" bIns="0" rtlCol="0" anchor="ctr">
            <a:normAutofit/>
          </a:bodyPr>
          <a:lstStyle/>
          <a:p>
            <a:pPr marL="0" indent="0" algn="r" rtl="1">
              <a:buNone/>
            </a:pPr>
            <a:r>
              <a:rPr lang="en-US" sz="1400" b="1" dirty="0">
                <a:solidFill>
                  <a:srgbClr val="102A43"/>
                </a:solidFill>
                <a:latin typeface="Noto Sans Arabic" pitchFamily="34" charset="0"/>
                <a:ea typeface="Noto Sans Arabic" pitchFamily="34" charset="-122"/>
                <a:cs typeface="Noto Sans Arabic" pitchFamily="34" charset="-120"/>
              </a:rPr>
              <a:t>پیشانی</a:t>
            </a:r>
            <a:endParaRPr lang="en-US" sz="1400" dirty="0"/>
          </a:p>
        </p:txBody>
      </p:sp>
      <p:sp>
        <p:nvSpPr>
          <p:cNvPr id="26" name="Text 22"/>
          <p:cNvSpPr/>
          <p:nvPr/>
        </p:nvSpPr>
        <p:spPr>
          <a:xfrm>
            <a:off x="9052560" y="2212848"/>
            <a:ext cx="1920240" cy="256032"/>
          </a:xfrm>
          <a:prstGeom prst="rect">
            <a:avLst/>
          </a:prstGeom>
          <a:noFill/>
          <a:ln/>
        </p:spPr>
        <p:txBody>
          <a:bodyPr wrap="square" lIns="0" tIns="0" rIns="0" bIns="0" rtlCol="0" anchor="t">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حرکت سر و کنترل تنه</a:t>
            </a:r>
            <a:endParaRPr lang="en-US" sz="1070" dirty="0"/>
          </a:p>
        </p:txBody>
      </p:sp>
      <p:sp>
        <p:nvSpPr>
          <p:cNvPr id="27" name="Shape 23"/>
          <p:cNvSpPr/>
          <p:nvPr/>
        </p:nvSpPr>
        <p:spPr>
          <a:xfrm>
            <a:off x="8851392" y="2926080"/>
            <a:ext cx="2331720" cy="804672"/>
          </a:xfrm>
          <a:prstGeom prst="roundRect">
            <a:avLst>
              <a:gd name="adj" fmla="val 9091"/>
            </a:avLst>
          </a:prstGeom>
          <a:solidFill>
            <a:srgbClr val="FFFFFF"/>
          </a:solidFill>
          <a:ln w="15875">
            <a:solidFill>
              <a:srgbClr val="0B7A75"/>
            </a:solidFill>
            <a:prstDash val="solid"/>
          </a:ln>
        </p:spPr>
      </p:sp>
      <p:sp>
        <p:nvSpPr>
          <p:cNvPr id="28" name="Text 24"/>
          <p:cNvSpPr/>
          <p:nvPr/>
        </p:nvSpPr>
        <p:spPr>
          <a:xfrm>
            <a:off x="9052560" y="3017520"/>
            <a:ext cx="1920240" cy="237744"/>
          </a:xfrm>
          <a:prstGeom prst="rect">
            <a:avLst/>
          </a:prstGeom>
          <a:noFill/>
          <a:ln/>
        </p:spPr>
        <p:txBody>
          <a:bodyPr wrap="square" lIns="0" tIns="0" rIns="0" bIns="0" rtlCol="0" anchor="ctr">
            <a:normAutofit/>
          </a:bodyPr>
          <a:lstStyle/>
          <a:p>
            <a:pPr marL="0" indent="0" algn="r" rtl="1">
              <a:buNone/>
            </a:pPr>
            <a:r>
              <a:rPr lang="en-US" sz="1400" b="1" dirty="0">
                <a:solidFill>
                  <a:srgbClr val="102A43"/>
                </a:solidFill>
                <a:latin typeface="Noto Sans Arabic" pitchFamily="34" charset="0"/>
                <a:ea typeface="Noto Sans Arabic" pitchFamily="34" charset="-122"/>
                <a:cs typeface="Noto Sans Arabic" pitchFamily="34" charset="-120"/>
              </a:rPr>
              <a:t>پشت مچ دو دست</a:t>
            </a:r>
            <a:endParaRPr lang="en-US" sz="1400" dirty="0"/>
          </a:p>
        </p:txBody>
      </p:sp>
      <p:sp>
        <p:nvSpPr>
          <p:cNvPr id="29" name="Text 25"/>
          <p:cNvSpPr/>
          <p:nvPr/>
        </p:nvSpPr>
        <p:spPr>
          <a:xfrm>
            <a:off x="9052560" y="3291840"/>
            <a:ext cx="1920240" cy="256032"/>
          </a:xfrm>
          <a:prstGeom prst="rect">
            <a:avLst/>
          </a:prstGeom>
          <a:noFill/>
          <a:ln/>
        </p:spPr>
        <p:txBody>
          <a:bodyPr wrap="square" lIns="0" tIns="0" rIns="0" bIns="0" rtlCol="0" anchor="t">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الگوهای جبرانی اندام فوقانی</a:t>
            </a:r>
            <a:endParaRPr lang="en-US" sz="1070" dirty="0"/>
          </a:p>
        </p:txBody>
      </p:sp>
      <p:sp>
        <p:nvSpPr>
          <p:cNvPr id="30" name="Shape 26"/>
          <p:cNvSpPr/>
          <p:nvPr/>
        </p:nvSpPr>
        <p:spPr>
          <a:xfrm>
            <a:off x="8851392" y="4005072"/>
            <a:ext cx="2331720" cy="804672"/>
          </a:xfrm>
          <a:prstGeom prst="roundRect">
            <a:avLst>
              <a:gd name="adj" fmla="val 9091"/>
            </a:avLst>
          </a:prstGeom>
          <a:solidFill>
            <a:srgbClr val="FFFFFF"/>
          </a:solidFill>
          <a:ln w="15875">
            <a:solidFill>
              <a:srgbClr val="2F855A"/>
            </a:solidFill>
            <a:prstDash val="solid"/>
          </a:ln>
        </p:spPr>
      </p:sp>
      <p:sp>
        <p:nvSpPr>
          <p:cNvPr id="31" name="Text 27"/>
          <p:cNvSpPr/>
          <p:nvPr/>
        </p:nvSpPr>
        <p:spPr>
          <a:xfrm>
            <a:off x="9052560" y="4096512"/>
            <a:ext cx="1920240" cy="237744"/>
          </a:xfrm>
          <a:prstGeom prst="rect">
            <a:avLst/>
          </a:prstGeom>
          <a:noFill/>
          <a:ln/>
        </p:spPr>
        <p:txBody>
          <a:bodyPr wrap="square" lIns="0" tIns="0" rIns="0" bIns="0" rtlCol="0" anchor="ctr">
            <a:normAutofit/>
          </a:bodyPr>
          <a:lstStyle/>
          <a:p>
            <a:pPr marL="0" indent="0" algn="r" rtl="1">
              <a:buNone/>
            </a:pPr>
            <a:r>
              <a:rPr lang="en-US" sz="1400" b="1" dirty="0">
                <a:solidFill>
                  <a:srgbClr val="102A43"/>
                </a:solidFill>
                <a:latin typeface="Noto Sans Arabic" pitchFamily="34" charset="0"/>
                <a:ea typeface="Noto Sans Arabic" pitchFamily="34" charset="-122"/>
                <a:cs typeface="Noto Sans Arabic" pitchFamily="34" charset="-120"/>
              </a:rPr>
              <a:t>بالای قوزک خارجی دو پا</a:t>
            </a:r>
            <a:endParaRPr lang="en-US" sz="1400" dirty="0"/>
          </a:p>
        </p:txBody>
      </p:sp>
      <p:sp>
        <p:nvSpPr>
          <p:cNvPr id="32" name="Text 28"/>
          <p:cNvSpPr/>
          <p:nvPr/>
        </p:nvSpPr>
        <p:spPr>
          <a:xfrm>
            <a:off x="9052560" y="4370832"/>
            <a:ext cx="1920240" cy="256032"/>
          </a:xfrm>
          <a:prstGeom prst="rect">
            <a:avLst/>
          </a:prstGeom>
          <a:noFill/>
          <a:ln/>
        </p:spPr>
        <p:txBody>
          <a:bodyPr wrap="square" lIns="0" tIns="0" rIns="0" bIns="0" rtlCol="0" anchor="t">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حرکت اندام تحتانی و تعادل</a:t>
            </a:r>
            <a:endParaRPr lang="en-US" sz="1070" dirty="0"/>
          </a:p>
        </p:txBody>
      </p:sp>
      <p:sp>
        <p:nvSpPr>
          <p:cNvPr id="33" name="Text 29"/>
          <p:cNvSpPr/>
          <p:nvPr/>
        </p:nvSpPr>
        <p:spPr>
          <a:xfrm>
            <a:off x="6492240" y="5239512"/>
            <a:ext cx="4572000" cy="384048"/>
          </a:xfrm>
          <a:prstGeom prst="rect">
            <a:avLst/>
          </a:prstGeom>
          <a:noFill/>
          <a:ln/>
        </p:spPr>
        <p:txBody>
          <a:bodyPr wrap="square" lIns="0" tIns="0" rIns="0" bIns="0" rtlCol="0" anchor="ctr">
            <a:normAutofit/>
          </a:bodyPr>
          <a:lstStyle/>
          <a:p>
            <a:pPr marL="0" indent="0" algn="ctr" rtl="1">
              <a:buNone/>
            </a:pPr>
            <a:r>
              <a:rPr lang="en-US" sz="1220" dirty="0">
                <a:solidFill>
                  <a:srgbClr val="64748B"/>
                </a:solidFill>
                <a:latin typeface="Noto Sans Arabic" pitchFamily="34" charset="0"/>
                <a:ea typeface="Noto Sans Arabic" pitchFamily="34" charset="-122"/>
                <a:cs typeface="Noto Sans Arabic" pitchFamily="34" charset="-120"/>
              </a:rPr>
              <a:t>برد: LILYGO T-Wristband  |  حسگر: MPU9250  |  پردازنده: ESP32-Pico-D4</a:t>
            </a:r>
            <a:endParaRPr lang="en-US" sz="1220" dirty="0"/>
          </a:p>
        </p:txBody>
      </p:sp>
      <p:sp>
        <p:nvSpPr>
          <p:cNvPr id="34" name="Shape 30"/>
          <p:cNvSpPr/>
          <p:nvPr/>
        </p:nvSpPr>
        <p:spPr>
          <a:xfrm>
            <a:off x="658368" y="6473952"/>
            <a:ext cx="10881360" cy="0"/>
          </a:xfrm>
          <a:prstGeom prst="line">
            <a:avLst/>
          </a:prstGeom>
          <a:noFill/>
          <a:ln w="10160">
            <a:solidFill>
              <a:srgbClr val="E9EEF2"/>
            </a:solidFill>
            <a:prstDash val="solid"/>
          </a:ln>
        </p:spPr>
      </p:sp>
      <p:sp>
        <p:nvSpPr>
          <p:cNvPr id="35" name="Text 31"/>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36" name="Text 32"/>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۳ از ۶: روش و پیاده‌سازی | ۹ اسلاید تا پایان</a:t>
            </a:r>
            <a:endParaRPr lang="en-US" sz="920" dirty="0"/>
          </a:p>
        </p:txBody>
      </p:sp>
      <p:sp>
        <p:nvSpPr>
          <p:cNvPr id="37" name="Text 33"/>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۵ / ۱۴</a:t>
            </a:r>
            <a:endParaRPr lang="en-US" sz="1020" dirty="0"/>
          </a:p>
        </p:txBody>
      </p:sp>
      <p:sp>
        <p:nvSpPr>
          <p:cNvPr id="38" name="Shape 34"/>
          <p:cNvSpPr/>
          <p:nvPr/>
        </p:nvSpPr>
        <p:spPr>
          <a:xfrm>
            <a:off x="2560320" y="6766560"/>
            <a:ext cx="2351314" cy="41148"/>
          </a:xfrm>
          <a:prstGeom prst="rect">
            <a:avLst/>
          </a:prstGeom>
          <a:solidFill>
            <a:srgbClr val="0B6E99"/>
          </a:solidFill>
          <a:ln w="12700">
            <a:solidFill>
              <a:srgbClr val="0B6E99"/>
            </a:solidFill>
            <a:prstDash val="solid"/>
          </a:ln>
        </p:spPr>
      </p:sp>
      <p:sp>
        <p:nvSpPr>
          <p:cNvPr id="39" name="Shape 35"/>
          <p:cNvSpPr/>
          <p:nvPr/>
        </p:nvSpPr>
        <p:spPr>
          <a:xfrm>
            <a:off x="4911634" y="6766560"/>
            <a:ext cx="4232366"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9"/>
                            </p:tgtEl>
                          </p:cBhvr>
                        </p:animEffect>
                      </p:childTnLst>
                    </p:cTn>
                  </p:par>
                  <p:par>
                    <p:cTn id="9" fill="hold">
                      <p:stCondLst>
                        <p:cond delay="0"/>
                      </p:stCondLst>
                      <p:childTnLst>
                        <p:animEffect transition="in" filter="fade">
                          <p:cBhvr>
                            <p:cTn id="10" dur="350" fill="hold"/>
                            <p:tgtEl>
                              <p:spTgt spid="12"/>
                            </p:tgtEl>
                          </p:cBhvr>
                        </p:animEffect>
                      </p:childTnLst>
                    </p:cTn>
                  </p:par>
                  <p:par>
                    <p:cTn id="11" fill="hold">
                      <p:stCondLst>
                        <p:cond delay="0"/>
                      </p:stCondLst>
                      <p:childTnLst>
                        <p:animEffect transition="in" filter="fade">
                          <p:cBhvr>
                            <p:cTn id="12" dur="350" fill="hold"/>
                            <p:tgtEl>
                              <p:spTgt spid="14"/>
                            </p:tgtEl>
                          </p:cBhvr>
                        </p:animEffect>
                      </p:childTnLst>
                    </p:cTn>
                  </p:par>
                </p:childTnLst>
              </p:cTn>
            </p:seq>
          </p:childTnLst>
        </p:cTn>
      </p:par>
    </p:tnLst>
    <p:bldLst>
      <p:bldP spid="3" grpId="0"/>
      <p:bldP spid="4" grpId="0"/>
      <p:bldP spid="9" grpId="0"/>
      <p:bldP spid="12"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معماری سامانه</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مسیر کامل داده تا پیش‌بینی نمره</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۶ / ۱۴</a:t>
            </a:r>
            <a:endParaRPr lang="en-US" sz="1080" dirty="0"/>
          </a:p>
        </p:txBody>
      </p:sp>
      <p:sp>
        <p:nvSpPr>
          <p:cNvPr id="7" name="Text 5"/>
          <p:cNvSpPr/>
          <p:nvPr/>
        </p:nvSpPr>
        <p:spPr>
          <a:xfrm>
            <a:off x="4023360" y="1417320"/>
            <a:ext cx="6995160" cy="384048"/>
          </a:xfrm>
          <a:prstGeom prst="rect">
            <a:avLst/>
          </a:prstGeom>
          <a:noFill/>
          <a:ln/>
        </p:spPr>
        <p:txBody>
          <a:bodyPr wrap="square" lIns="0" tIns="0" rIns="0" bIns="0" rtlCol="0" anchor="ctr">
            <a:normAutofit/>
          </a:bodyPr>
          <a:lstStyle/>
          <a:p>
            <a:pPr marL="0" indent="0" algn="r" rtl="1">
              <a:buNone/>
            </a:pPr>
            <a:r>
              <a:rPr lang="en-US" sz="1850" b="1" dirty="0">
                <a:solidFill>
                  <a:srgbClr val="102A43"/>
                </a:solidFill>
                <a:latin typeface="Noto Sans Arabic" pitchFamily="34" charset="0"/>
                <a:ea typeface="Noto Sans Arabic" pitchFamily="34" charset="-122"/>
                <a:cs typeface="Noto Sans Arabic" pitchFamily="34" charset="-120"/>
              </a:rPr>
              <a:t>یک زنجیره یکپارچه از ثبت حرکت تا انتخاب مدل نهایی</a:t>
            </a:r>
            <a:endParaRPr lang="en-US" sz="1850" dirty="0"/>
          </a:p>
        </p:txBody>
      </p:sp>
      <p:sp>
        <p:nvSpPr>
          <p:cNvPr id="8" name="Shape 6"/>
          <p:cNvSpPr/>
          <p:nvPr/>
        </p:nvSpPr>
        <p:spPr>
          <a:xfrm>
            <a:off x="530352" y="2267712"/>
            <a:ext cx="1563624" cy="2148840"/>
          </a:xfrm>
          <a:prstGeom prst="roundRect">
            <a:avLst>
              <a:gd name="adj" fmla="val 4678"/>
            </a:avLst>
          </a:prstGeom>
          <a:solidFill>
            <a:srgbClr val="FFFFFF"/>
          </a:solidFill>
          <a:ln w="17780">
            <a:solidFill>
              <a:srgbClr val="0B6E99"/>
            </a:solidFill>
            <a:prstDash val="solid"/>
          </a:ln>
        </p:spPr>
      </p:sp>
      <p:sp>
        <p:nvSpPr>
          <p:cNvPr id="9" name="Shape 7"/>
          <p:cNvSpPr/>
          <p:nvPr/>
        </p:nvSpPr>
        <p:spPr>
          <a:xfrm>
            <a:off x="1024128" y="2523744"/>
            <a:ext cx="576072" cy="576072"/>
          </a:xfrm>
          <a:prstGeom prst="ellipse">
            <a:avLst/>
          </a:prstGeom>
          <a:solidFill>
            <a:srgbClr val="0B6E99"/>
          </a:solidFill>
          <a:ln w="12700">
            <a:solidFill>
              <a:srgbClr val="0B6E99"/>
            </a:solidFill>
            <a:prstDash val="solid"/>
          </a:ln>
        </p:spPr>
      </p:sp>
      <p:sp>
        <p:nvSpPr>
          <p:cNvPr id="10" name="Text 8"/>
          <p:cNvSpPr/>
          <p:nvPr/>
        </p:nvSpPr>
        <p:spPr>
          <a:xfrm>
            <a:off x="1024128"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1</a:t>
            </a:r>
            <a:endParaRPr lang="en-US" sz="1700" dirty="0"/>
          </a:p>
        </p:txBody>
      </p:sp>
      <p:sp>
        <p:nvSpPr>
          <p:cNvPr id="11" name="Text 9"/>
          <p:cNvSpPr/>
          <p:nvPr/>
        </p:nvSpPr>
        <p:spPr>
          <a:xfrm>
            <a:off x="649224"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اجرای فعالیت</a:t>
            </a:r>
            <a:endParaRPr lang="en-US" sz="1420" dirty="0"/>
          </a:p>
        </p:txBody>
      </p:sp>
      <p:sp>
        <p:nvSpPr>
          <p:cNvPr id="12" name="Text 10"/>
          <p:cNvSpPr/>
          <p:nvPr/>
        </p:nvSpPr>
        <p:spPr>
          <a:xfrm>
            <a:off x="649224"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سطح ۰، ۱ یا ۲</a:t>
            </a:r>
            <a:endParaRPr lang="en-US" sz="1080" dirty="0"/>
          </a:p>
        </p:txBody>
      </p:sp>
      <p:sp>
        <p:nvSpPr>
          <p:cNvPr id="13" name="Shape 11"/>
          <p:cNvSpPr/>
          <p:nvPr/>
        </p:nvSpPr>
        <p:spPr>
          <a:xfrm>
            <a:off x="2103120" y="3337560"/>
            <a:ext cx="73152" cy="0"/>
          </a:xfrm>
          <a:prstGeom prst="line">
            <a:avLst/>
          </a:prstGeom>
          <a:noFill/>
          <a:ln w="17780">
            <a:solidFill>
              <a:srgbClr val="94A3B8"/>
            </a:solidFill>
            <a:prstDash val="solid"/>
            <a:headEnd type="none"/>
            <a:tailEnd type="triangle"/>
          </a:ln>
        </p:spPr>
      </p:sp>
      <p:sp>
        <p:nvSpPr>
          <p:cNvPr id="14" name="Shape 12"/>
          <p:cNvSpPr/>
          <p:nvPr/>
        </p:nvSpPr>
        <p:spPr>
          <a:xfrm>
            <a:off x="2185416" y="2267712"/>
            <a:ext cx="1563624" cy="2148840"/>
          </a:xfrm>
          <a:prstGeom prst="roundRect">
            <a:avLst>
              <a:gd name="adj" fmla="val 4678"/>
            </a:avLst>
          </a:prstGeom>
          <a:solidFill>
            <a:srgbClr val="FFFFFF"/>
          </a:solidFill>
          <a:ln w="17780">
            <a:solidFill>
              <a:srgbClr val="1D8AB5"/>
            </a:solidFill>
            <a:prstDash val="solid"/>
          </a:ln>
        </p:spPr>
      </p:sp>
      <p:sp>
        <p:nvSpPr>
          <p:cNvPr id="15" name="Shape 13"/>
          <p:cNvSpPr/>
          <p:nvPr/>
        </p:nvSpPr>
        <p:spPr>
          <a:xfrm>
            <a:off x="2679192" y="2523744"/>
            <a:ext cx="576072" cy="576072"/>
          </a:xfrm>
          <a:prstGeom prst="ellipse">
            <a:avLst/>
          </a:prstGeom>
          <a:solidFill>
            <a:srgbClr val="1D8AB5"/>
          </a:solidFill>
          <a:ln w="12700">
            <a:solidFill>
              <a:srgbClr val="1D8AB5"/>
            </a:solidFill>
            <a:prstDash val="solid"/>
          </a:ln>
        </p:spPr>
      </p:sp>
      <p:sp>
        <p:nvSpPr>
          <p:cNvPr id="16" name="Text 14"/>
          <p:cNvSpPr/>
          <p:nvPr/>
        </p:nvSpPr>
        <p:spPr>
          <a:xfrm>
            <a:off x="2679192"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2</a:t>
            </a:r>
            <a:endParaRPr lang="en-US" sz="1700" dirty="0"/>
          </a:p>
        </p:txBody>
      </p:sp>
      <p:sp>
        <p:nvSpPr>
          <p:cNvPr id="17" name="Text 15"/>
          <p:cNvSpPr/>
          <p:nvPr/>
        </p:nvSpPr>
        <p:spPr>
          <a:xfrm>
            <a:off x="2304288"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ثبت پنج‌حسگری</a:t>
            </a:r>
            <a:endParaRPr lang="en-US" sz="1420" dirty="0"/>
          </a:p>
        </p:txBody>
      </p:sp>
      <p:sp>
        <p:nvSpPr>
          <p:cNvPr id="18" name="Text 16"/>
          <p:cNvSpPr/>
          <p:nvPr/>
        </p:nvSpPr>
        <p:spPr>
          <a:xfrm>
            <a:off x="2304288"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شتاب و ژیروسکوپ</a:t>
            </a:r>
            <a:endParaRPr lang="en-US" sz="1080" dirty="0"/>
          </a:p>
        </p:txBody>
      </p:sp>
      <p:sp>
        <p:nvSpPr>
          <p:cNvPr id="19" name="Shape 17"/>
          <p:cNvSpPr/>
          <p:nvPr/>
        </p:nvSpPr>
        <p:spPr>
          <a:xfrm>
            <a:off x="3758184" y="3337560"/>
            <a:ext cx="73152" cy="0"/>
          </a:xfrm>
          <a:prstGeom prst="line">
            <a:avLst/>
          </a:prstGeom>
          <a:noFill/>
          <a:ln w="17780">
            <a:solidFill>
              <a:srgbClr val="94A3B8"/>
            </a:solidFill>
            <a:prstDash val="solid"/>
            <a:headEnd type="none"/>
            <a:tailEnd type="triangle"/>
          </a:ln>
        </p:spPr>
      </p:sp>
      <p:sp>
        <p:nvSpPr>
          <p:cNvPr id="20" name="Shape 18"/>
          <p:cNvSpPr/>
          <p:nvPr/>
        </p:nvSpPr>
        <p:spPr>
          <a:xfrm>
            <a:off x="3840480" y="2267712"/>
            <a:ext cx="1563624" cy="2148840"/>
          </a:xfrm>
          <a:prstGeom prst="roundRect">
            <a:avLst>
              <a:gd name="adj" fmla="val 4678"/>
            </a:avLst>
          </a:prstGeom>
          <a:solidFill>
            <a:srgbClr val="FFFFFF"/>
          </a:solidFill>
          <a:ln w="17780">
            <a:solidFill>
              <a:srgbClr val="0B7A75"/>
            </a:solidFill>
            <a:prstDash val="solid"/>
          </a:ln>
        </p:spPr>
      </p:sp>
      <p:sp>
        <p:nvSpPr>
          <p:cNvPr id="21" name="Shape 19"/>
          <p:cNvSpPr/>
          <p:nvPr/>
        </p:nvSpPr>
        <p:spPr>
          <a:xfrm>
            <a:off x="4334256" y="2523744"/>
            <a:ext cx="576072" cy="576072"/>
          </a:xfrm>
          <a:prstGeom prst="ellipse">
            <a:avLst/>
          </a:prstGeom>
          <a:solidFill>
            <a:srgbClr val="0B7A75"/>
          </a:solidFill>
          <a:ln w="12700">
            <a:solidFill>
              <a:srgbClr val="0B7A75"/>
            </a:solidFill>
            <a:prstDash val="solid"/>
          </a:ln>
        </p:spPr>
      </p:sp>
      <p:sp>
        <p:nvSpPr>
          <p:cNvPr id="22" name="Text 20"/>
          <p:cNvSpPr/>
          <p:nvPr/>
        </p:nvSpPr>
        <p:spPr>
          <a:xfrm>
            <a:off x="4334256"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3</a:t>
            </a:r>
            <a:endParaRPr lang="en-US" sz="1700" dirty="0"/>
          </a:p>
        </p:txBody>
      </p:sp>
      <p:sp>
        <p:nvSpPr>
          <p:cNvPr id="23" name="Text 21"/>
          <p:cNvSpPr/>
          <p:nvPr/>
        </p:nvSpPr>
        <p:spPr>
          <a:xfrm>
            <a:off x="3959352"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دریافت در MATLAB</a:t>
            </a:r>
            <a:endParaRPr lang="en-US" sz="1420" dirty="0"/>
          </a:p>
        </p:txBody>
      </p:sp>
      <p:sp>
        <p:nvSpPr>
          <p:cNvPr id="24" name="Text 22"/>
          <p:cNvSpPr/>
          <p:nvPr/>
        </p:nvSpPr>
        <p:spPr>
          <a:xfrm>
            <a:off x="3959352"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نمایش و ذخیره‌سازی</a:t>
            </a:r>
            <a:endParaRPr lang="en-US" sz="1080" dirty="0"/>
          </a:p>
        </p:txBody>
      </p:sp>
      <p:sp>
        <p:nvSpPr>
          <p:cNvPr id="25" name="Shape 23"/>
          <p:cNvSpPr/>
          <p:nvPr/>
        </p:nvSpPr>
        <p:spPr>
          <a:xfrm>
            <a:off x="5413248" y="3337560"/>
            <a:ext cx="73152" cy="0"/>
          </a:xfrm>
          <a:prstGeom prst="line">
            <a:avLst/>
          </a:prstGeom>
          <a:noFill/>
          <a:ln w="17780">
            <a:solidFill>
              <a:srgbClr val="94A3B8"/>
            </a:solidFill>
            <a:prstDash val="solid"/>
            <a:headEnd type="none"/>
            <a:tailEnd type="triangle"/>
          </a:ln>
        </p:spPr>
      </p:sp>
      <p:sp>
        <p:nvSpPr>
          <p:cNvPr id="26" name="Shape 24"/>
          <p:cNvSpPr/>
          <p:nvPr/>
        </p:nvSpPr>
        <p:spPr>
          <a:xfrm>
            <a:off x="5495544" y="2267712"/>
            <a:ext cx="1563624" cy="2148840"/>
          </a:xfrm>
          <a:prstGeom prst="roundRect">
            <a:avLst>
              <a:gd name="adj" fmla="val 4678"/>
            </a:avLst>
          </a:prstGeom>
          <a:solidFill>
            <a:srgbClr val="FFFFFF"/>
          </a:solidFill>
          <a:ln w="17780">
            <a:solidFill>
              <a:srgbClr val="E69F00"/>
            </a:solidFill>
            <a:prstDash val="solid"/>
          </a:ln>
        </p:spPr>
      </p:sp>
      <p:sp>
        <p:nvSpPr>
          <p:cNvPr id="27" name="Shape 25"/>
          <p:cNvSpPr/>
          <p:nvPr/>
        </p:nvSpPr>
        <p:spPr>
          <a:xfrm>
            <a:off x="5989320" y="2523744"/>
            <a:ext cx="576072" cy="576072"/>
          </a:xfrm>
          <a:prstGeom prst="ellipse">
            <a:avLst/>
          </a:prstGeom>
          <a:solidFill>
            <a:srgbClr val="E69F00"/>
          </a:solidFill>
          <a:ln w="12700">
            <a:solidFill>
              <a:srgbClr val="E69F00"/>
            </a:solidFill>
            <a:prstDash val="solid"/>
          </a:ln>
        </p:spPr>
      </p:sp>
      <p:sp>
        <p:nvSpPr>
          <p:cNvPr id="28" name="Text 26"/>
          <p:cNvSpPr/>
          <p:nvPr/>
        </p:nvSpPr>
        <p:spPr>
          <a:xfrm>
            <a:off x="5989320"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4</a:t>
            </a:r>
            <a:endParaRPr lang="en-US" sz="1700" dirty="0"/>
          </a:p>
        </p:txBody>
      </p:sp>
      <p:sp>
        <p:nvSpPr>
          <p:cNvPr id="29" name="Text 27"/>
          <p:cNvSpPr/>
          <p:nvPr/>
        </p:nvSpPr>
        <p:spPr>
          <a:xfrm>
            <a:off x="5614416"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پیش‌پردازش</a:t>
            </a:r>
            <a:endParaRPr lang="en-US" sz="1420" dirty="0"/>
          </a:p>
        </p:txBody>
      </p:sp>
      <p:sp>
        <p:nvSpPr>
          <p:cNvPr id="30" name="Text 28"/>
          <p:cNvSpPr/>
          <p:nvPr/>
        </p:nvSpPr>
        <p:spPr>
          <a:xfrm>
            <a:off x="5614416"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بایاس، فیلتر و آماده‌سازی</a:t>
            </a:r>
            <a:endParaRPr lang="en-US" sz="1080" dirty="0"/>
          </a:p>
        </p:txBody>
      </p:sp>
      <p:sp>
        <p:nvSpPr>
          <p:cNvPr id="31" name="Shape 29"/>
          <p:cNvSpPr/>
          <p:nvPr/>
        </p:nvSpPr>
        <p:spPr>
          <a:xfrm>
            <a:off x="7068312" y="3337560"/>
            <a:ext cx="73152" cy="0"/>
          </a:xfrm>
          <a:prstGeom prst="line">
            <a:avLst/>
          </a:prstGeom>
          <a:noFill/>
          <a:ln w="17780">
            <a:solidFill>
              <a:srgbClr val="94A3B8"/>
            </a:solidFill>
            <a:prstDash val="solid"/>
            <a:headEnd type="none"/>
            <a:tailEnd type="triangle"/>
          </a:ln>
        </p:spPr>
      </p:sp>
      <p:sp>
        <p:nvSpPr>
          <p:cNvPr id="32" name="Shape 30"/>
          <p:cNvSpPr/>
          <p:nvPr/>
        </p:nvSpPr>
        <p:spPr>
          <a:xfrm>
            <a:off x="7150608" y="2267712"/>
            <a:ext cx="1563624" cy="2148840"/>
          </a:xfrm>
          <a:prstGeom prst="roundRect">
            <a:avLst>
              <a:gd name="adj" fmla="val 4678"/>
            </a:avLst>
          </a:prstGeom>
          <a:solidFill>
            <a:srgbClr val="FFFFFF"/>
          </a:solidFill>
          <a:ln w="17780">
            <a:solidFill>
              <a:srgbClr val="2F855A"/>
            </a:solidFill>
            <a:prstDash val="solid"/>
          </a:ln>
        </p:spPr>
      </p:sp>
      <p:sp>
        <p:nvSpPr>
          <p:cNvPr id="33" name="Shape 31"/>
          <p:cNvSpPr/>
          <p:nvPr/>
        </p:nvSpPr>
        <p:spPr>
          <a:xfrm>
            <a:off x="7644384" y="2523744"/>
            <a:ext cx="576072" cy="576072"/>
          </a:xfrm>
          <a:prstGeom prst="ellipse">
            <a:avLst/>
          </a:prstGeom>
          <a:solidFill>
            <a:srgbClr val="2F855A"/>
          </a:solidFill>
          <a:ln w="12700">
            <a:solidFill>
              <a:srgbClr val="2F855A"/>
            </a:solidFill>
            <a:prstDash val="solid"/>
          </a:ln>
        </p:spPr>
      </p:sp>
      <p:sp>
        <p:nvSpPr>
          <p:cNvPr id="34" name="Text 32"/>
          <p:cNvSpPr/>
          <p:nvPr/>
        </p:nvSpPr>
        <p:spPr>
          <a:xfrm>
            <a:off x="7644384"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5</a:t>
            </a:r>
            <a:endParaRPr lang="en-US" sz="1700" dirty="0"/>
          </a:p>
        </p:txBody>
      </p:sp>
      <p:sp>
        <p:nvSpPr>
          <p:cNvPr id="35" name="Text 33"/>
          <p:cNvSpPr/>
          <p:nvPr/>
        </p:nvSpPr>
        <p:spPr>
          <a:xfrm>
            <a:off x="7269480"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استخراج ویژگی</a:t>
            </a:r>
            <a:endParaRPr lang="en-US" sz="1420" dirty="0"/>
          </a:p>
        </p:txBody>
      </p:sp>
      <p:sp>
        <p:nvSpPr>
          <p:cNvPr id="36" name="Text 34"/>
          <p:cNvSpPr/>
          <p:nvPr/>
        </p:nvSpPr>
        <p:spPr>
          <a:xfrm>
            <a:off x="7269480"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۶۹۰ ویژگی برای هر نمونه</a:t>
            </a:r>
            <a:endParaRPr lang="en-US" sz="1080" dirty="0"/>
          </a:p>
        </p:txBody>
      </p:sp>
      <p:sp>
        <p:nvSpPr>
          <p:cNvPr id="37" name="Shape 35"/>
          <p:cNvSpPr/>
          <p:nvPr/>
        </p:nvSpPr>
        <p:spPr>
          <a:xfrm>
            <a:off x="8723376" y="3337560"/>
            <a:ext cx="73152" cy="0"/>
          </a:xfrm>
          <a:prstGeom prst="line">
            <a:avLst/>
          </a:prstGeom>
          <a:noFill/>
          <a:ln w="17780">
            <a:solidFill>
              <a:srgbClr val="94A3B8"/>
            </a:solidFill>
            <a:prstDash val="solid"/>
            <a:headEnd type="none"/>
            <a:tailEnd type="triangle"/>
          </a:ln>
        </p:spPr>
      </p:sp>
      <p:sp>
        <p:nvSpPr>
          <p:cNvPr id="38" name="Shape 36"/>
          <p:cNvSpPr/>
          <p:nvPr/>
        </p:nvSpPr>
        <p:spPr>
          <a:xfrm>
            <a:off x="8805672" y="2267712"/>
            <a:ext cx="1563624" cy="2148840"/>
          </a:xfrm>
          <a:prstGeom prst="roundRect">
            <a:avLst>
              <a:gd name="adj" fmla="val 4678"/>
            </a:avLst>
          </a:prstGeom>
          <a:solidFill>
            <a:srgbClr val="FFFFFF"/>
          </a:solidFill>
          <a:ln w="17780">
            <a:solidFill>
              <a:srgbClr val="6B5BA6"/>
            </a:solidFill>
            <a:prstDash val="solid"/>
          </a:ln>
        </p:spPr>
      </p:sp>
      <p:sp>
        <p:nvSpPr>
          <p:cNvPr id="39" name="Shape 37"/>
          <p:cNvSpPr/>
          <p:nvPr/>
        </p:nvSpPr>
        <p:spPr>
          <a:xfrm>
            <a:off x="9299448" y="2523744"/>
            <a:ext cx="576072" cy="576072"/>
          </a:xfrm>
          <a:prstGeom prst="ellipse">
            <a:avLst/>
          </a:prstGeom>
          <a:solidFill>
            <a:srgbClr val="6B5BA6"/>
          </a:solidFill>
          <a:ln w="12700">
            <a:solidFill>
              <a:srgbClr val="6B5BA6"/>
            </a:solidFill>
            <a:prstDash val="solid"/>
          </a:ln>
        </p:spPr>
      </p:sp>
      <p:sp>
        <p:nvSpPr>
          <p:cNvPr id="40" name="Text 38"/>
          <p:cNvSpPr/>
          <p:nvPr/>
        </p:nvSpPr>
        <p:spPr>
          <a:xfrm>
            <a:off x="9299448"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6</a:t>
            </a:r>
            <a:endParaRPr lang="en-US" sz="1700" dirty="0"/>
          </a:p>
        </p:txBody>
      </p:sp>
      <p:sp>
        <p:nvSpPr>
          <p:cNvPr id="41" name="Text 39"/>
          <p:cNvSpPr/>
          <p:nvPr/>
        </p:nvSpPr>
        <p:spPr>
          <a:xfrm>
            <a:off x="8924544"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PCA و مدل‌ها</a:t>
            </a:r>
            <a:endParaRPr lang="en-US" sz="1420" dirty="0"/>
          </a:p>
        </p:txBody>
      </p:sp>
      <p:sp>
        <p:nvSpPr>
          <p:cNvPr id="42" name="Text 40"/>
          <p:cNvSpPr/>
          <p:nvPr/>
        </p:nvSpPr>
        <p:spPr>
          <a:xfrm>
            <a:off x="8924544"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SVM / KNN / RF</a:t>
            </a:r>
            <a:endParaRPr lang="en-US" sz="1080" dirty="0"/>
          </a:p>
        </p:txBody>
      </p:sp>
      <p:sp>
        <p:nvSpPr>
          <p:cNvPr id="43" name="Shape 41"/>
          <p:cNvSpPr/>
          <p:nvPr/>
        </p:nvSpPr>
        <p:spPr>
          <a:xfrm>
            <a:off x="10378440" y="3337560"/>
            <a:ext cx="73152" cy="0"/>
          </a:xfrm>
          <a:prstGeom prst="line">
            <a:avLst/>
          </a:prstGeom>
          <a:noFill/>
          <a:ln w="17780">
            <a:solidFill>
              <a:srgbClr val="94A3B8"/>
            </a:solidFill>
            <a:prstDash val="solid"/>
            <a:headEnd type="none"/>
            <a:tailEnd type="triangle"/>
          </a:ln>
        </p:spPr>
      </p:sp>
      <p:sp>
        <p:nvSpPr>
          <p:cNvPr id="44" name="Shape 42"/>
          <p:cNvSpPr/>
          <p:nvPr/>
        </p:nvSpPr>
        <p:spPr>
          <a:xfrm>
            <a:off x="10460736" y="2267712"/>
            <a:ext cx="1563624" cy="2148840"/>
          </a:xfrm>
          <a:prstGeom prst="roundRect">
            <a:avLst>
              <a:gd name="adj" fmla="val 4678"/>
            </a:avLst>
          </a:prstGeom>
          <a:solidFill>
            <a:srgbClr val="FFFFFF"/>
          </a:solidFill>
          <a:ln w="17780">
            <a:solidFill>
              <a:srgbClr val="C0392B"/>
            </a:solidFill>
            <a:prstDash val="solid"/>
          </a:ln>
        </p:spPr>
      </p:sp>
      <p:sp>
        <p:nvSpPr>
          <p:cNvPr id="45" name="Shape 43"/>
          <p:cNvSpPr/>
          <p:nvPr/>
        </p:nvSpPr>
        <p:spPr>
          <a:xfrm>
            <a:off x="10954512" y="2523744"/>
            <a:ext cx="576072" cy="576072"/>
          </a:xfrm>
          <a:prstGeom prst="ellipse">
            <a:avLst/>
          </a:prstGeom>
          <a:solidFill>
            <a:srgbClr val="C0392B"/>
          </a:solidFill>
          <a:ln w="12700">
            <a:solidFill>
              <a:srgbClr val="C0392B"/>
            </a:solidFill>
            <a:prstDash val="solid"/>
          </a:ln>
        </p:spPr>
      </p:sp>
      <p:sp>
        <p:nvSpPr>
          <p:cNvPr id="46" name="Text 44"/>
          <p:cNvSpPr/>
          <p:nvPr/>
        </p:nvSpPr>
        <p:spPr>
          <a:xfrm>
            <a:off x="10954512" y="2596896"/>
            <a:ext cx="576072" cy="36576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pitchFamily="34" charset="0"/>
                <a:ea typeface="Aptos" pitchFamily="34" charset="-122"/>
                <a:cs typeface="Aptos" pitchFamily="34" charset="-120"/>
              </a:rPr>
              <a:t>7</a:t>
            </a:r>
            <a:endParaRPr lang="en-US" sz="1700" dirty="0"/>
          </a:p>
        </p:txBody>
      </p:sp>
      <p:sp>
        <p:nvSpPr>
          <p:cNvPr id="47" name="Text 45"/>
          <p:cNvSpPr/>
          <p:nvPr/>
        </p:nvSpPr>
        <p:spPr>
          <a:xfrm>
            <a:off x="10579608" y="3246120"/>
            <a:ext cx="1325880" cy="365760"/>
          </a:xfrm>
          <a:prstGeom prst="rect">
            <a:avLst/>
          </a:prstGeom>
          <a:noFill/>
          <a:ln/>
        </p:spPr>
        <p:txBody>
          <a:bodyPr wrap="square" lIns="0" tIns="0" rIns="0" bIns="0" rtlCol="0" anchor="ctr">
            <a:normAutofit/>
          </a:bodyPr>
          <a:lstStyle/>
          <a:p>
            <a:pPr marL="0" indent="0" algn="ctr" rtl="1">
              <a:buNone/>
            </a:pPr>
            <a:r>
              <a:rPr lang="en-US" sz="1420" b="1" dirty="0">
                <a:solidFill>
                  <a:srgbClr val="102A43"/>
                </a:solidFill>
                <a:latin typeface="Noto Sans Arabic" pitchFamily="34" charset="0"/>
                <a:ea typeface="Noto Sans Arabic" pitchFamily="34" charset="-122"/>
                <a:cs typeface="Noto Sans Arabic" pitchFamily="34" charset="-120"/>
              </a:rPr>
              <a:t>ارزیابی و انتخاب</a:t>
            </a:r>
            <a:endParaRPr lang="en-US" sz="1420" dirty="0"/>
          </a:p>
        </p:txBody>
      </p:sp>
      <p:sp>
        <p:nvSpPr>
          <p:cNvPr id="48" name="Text 46"/>
          <p:cNvSpPr/>
          <p:nvPr/>
        </p:nvSpPr>
        <p:spPr>
          <a:xfrm>
            <a:off x="10579608" y="3694176"/>
            <a:ext cx="1325880" cy="438912"/>
          </a:xfrm>
          <a:prstGeom prst="rect">
            <a:avLst/>
          </a:prstGeom>
          <a:noFill/>
          <a:ln/>
        </p:spPr>
        <p:txBody>
          <a:bodyPr wrap="square" lIns="0" tIns="0" rIns="0" bIns="0" rtlCol="0" anchor="t">
            <a:normAutofit/>
          </a:bodyPr>
          <a:lstStyle/>
          <a:p>
            <a:pPr marL="0" indent="0" algn="ctr" rtl="1">
              <a:buNone/>
            </a:pPr>
            <a:r>
              <a:rPr lang="en-US" sz="1080" dirty="0">
                <a:solidFill>
                  <a:srgbClr val="64748B"/>
                </a:solidFill>
                <a:latin typeface="Noto Sans Arabic" pitchFamily="34" charset="0"/>
                <a:ea typeface="Noto Sans Arabic" pitchFamily="34" charset="-122"/>
                <a:cs typeface="Noto Sans Arabic" pitchFamily="34" charset="-120"/>
              </a:rPr>
              <a:t>اعتبارسنجی متقاطع</a:t>
            </a:r>
            <a:endParaRPr lang="en-US" sz="1080" dirty="0"/>
          </a:p>
        </p:txBody>
      </p:sp>
      <p:sp>
        <p:nvSpPr>
          <p:cNvPr id="49" name="Shape 47"/>
          <p:cNvSpPr/>
          <p:nvPr/>
        </p:nvSpPr>
        <p:spPr>
          <a:xfrm>
            <a:off x="941832" y="4983480"/>
            <a:ext cx="10241280" cy="841248"/>
          </a:xfrm>
          <a:prstGeom prst="roundRect">
            <a:avLst>
              <a:gd name="adj" fmla="val 8696"/>
            </a:avLst>
          </a:prstGeom>
          <a:solidFill>
            <a:srgbClr val="102A43"/>
          </a:solidFill>
          <a:ln w="12700">
            <a:solidFill>
              <a:srgbClr val="102A43"/>
            </a:solidFill>
            <a:prstDash val="solid"/>
          </a:ln>
        </p:spPr>
      </p:sp>
      <p:sp>
        <p:nvSpPr>
          <p:cNvPr id="50" name="Text 48"/>
          <p:cNvSpPr/>
          <p:nvPr/>
        </p:nvSpPr>
        <p:spPr>
          <a:xfrm>
            <a:off x="1207008" y="5193792"/>
            <a:ext cx="1298448" cy="29260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Arduino</a:t>
            </a:r>
            <a:endParaRPr lang="en-US" sz="1500" dirty="0"/>
          </a:p>
        </p:txBody>
      </p:sp>
      <p:sp>
        <p:nvSpPr>
          <p:cNvPr id="51" name="Text 49"/>
          <p:cNvSpPr/>
          <p:nvPr/>
        </p:nvSpPr>
        <p:spPr>
          <a:xfrm>
            <a:off x="3794760" y="5193792"/>
            <a:ext cx="1298448" cy="29260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MATLAB</a:t>
            </a:r>
            <a:endParaRPr lang="en-US" sz="1500" dirty="0"/>
          </a:p>
        </p:txBody>
      </p:sp>
      <p:sp>
        <p:nvSpPr>
          <p:cNvPr id="52" name="Text 50"/>
          <p:cNvSpPr/>
          <p:nvPr/>
        </p:nvSpPr>
        <p:spPr>
          <a:xfrm>
            <a:off x="6419088" y="5193792"/>
            <a:ext cx="1298448" cy="29260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Python</a:t>
            </a:r>
            <a:endParaRPr lang="en-US" sz="1500" dirty="0"/>
          </a:p>
        </p:txBody>
      </p:sp>
      <p:sp>
        <p:nvSpPr>
          <p:cNvPr id="53" name="Text 51"/>
          <p:cNvSpPr/>
          <p:nvPr/>
        </p:nvSpPr>
        <p:spPr>
          <a:xfrm>
            <a:off x="8906256" y="5193792"/>
            <a:ext cx="1508760" cy="29260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latin typeface="Aptos" pitchFamily="34" charset="0"/>
                <a:ea typeface="Aptos" pitchFamily="34" charset="-122"/>
                <a:cs typeface="Aptos" pitchFamily="34" charset="-120"/>
              </a:rPr>
              <a:t>Scikit-learn</a:t>
            </a:r>
            <a:endParaRPr lang="en-US" sz="1500" dirty="0"/>
          </a:p>
        </p:txBody>
      </p:sp>
      <p:sp>
        <p:nvSpPr>
          <p:cNvPr id="54" name="Text 52"/>
          <p:cNvSpPr/>
          <p:nvPr/>
        </p:nvSpPr>
        <p:spPr>
          <a:xfrm>
            <a:off x="1207008" y="5513832"/>
            <a:ext cx="1298448" cy="201168"/>
          </a:xfrm>
          <a:prstGeom prst="rect">
            <a:avLst/>
          </a:prstGeom>
          <a:noFill/>
          <a:ln/>
        </p:spPr>
        <p:txBody>
          <a:bodyPr wrap="square" lIns="0" tIns="0" rIns="0" bIns="0" rtlCol="0" anchor="ctr">
            <a:normAutofit/>
          </a:bodyPr>
          <a:lstStyle/>
          <a:p>
            <a:pPr marL="0" indent="0" algn="ctr" rtl="1">
              <a:buNone/>
            </a:pPr>
            <a:r>
              <a:rPr lang="en-US" sz="970" dirty="0">
                <a:solidFill>
                  <a:srgbClr val="D8EAF2"/>
                </a:solidFill>
                <a:latin typeface="Noto Sans Arabic" pitchFamily="34" charset="0"/>
                <a:ea typeface="Noto Sans Arabic" pitchFamily="34" charset="-122"/>
                <a:cs typeface="Noto Sans Arabic" pitchFamily="34" charset="-120"/>
              </a:rPr>
              <a:t>نمونه‌برداری</a:t>
            </a:r>
            <a:endParaRPr lang="en-US" sz="970" dirty="0"/>
          </a:p>
        </p:txBody>
      </p:sp>
      <p:sp>
        <p:nvSpPr>
          <p:cNvPr id="55" name="Text 53"/>
          <p:cNvSpPr/>
          <p:nvPr/>
        </p:nvSpPr>
        <p:spPr>
          <a:xfrm>
            <a:off x="3794760" y="5513832"/>
            <a:ext cx="1298448" cy="201168"/>
          </a:xfrm>
          <a:prstGeom prst="rect">
            <a:avLst/>
          </a:prstGeom>
          <a:noFill/>
          <a:ln/>
        </p:spPr>
        <p:txBody>
          <a:bodyPr wrap="square" lIns="0" tIns="0" rIns="0" bIns="0" rtlCol="0" anchor="ctr">
            <a:normAutofit/>
          </a:bodyPr>
          <a:lstStyle/>
          <a:p>
            <a:pPr marL="0" indent="0" algn="ctr" rtl="1">
              <a:buNone/>
            </a:pPr>
            <a:r>
              <a:rPr lang="en-US" sz="970" dirty="0">
                <a:solidFill>
                  <a:srgbClr val="D8EAF2"/>
                </a:solidFill>
                <a:latin typeface="Noto Sans Arabic" pitchFamily="34" charset="0"/>
                <a:ea typeface="Noto Sans Arabic" pitchFamily="34" charset="-122"/>
                <a:cs typeface="Noto Sans Arabic" pitchFamily="34" charset="-120"/>
              </a:rPr>
              <a:t>دریافت و ذخیره</a:t>
            </a:r>
            <a:endParaRPr lang="en-US" sz="970" dirty="0"/>
          </a:p>
        </p:txBody>
      </p:sp>
      <p:sp>
        <p:nvSpPr>
          <p:cNvPr id="56" name="Text 54"/>
          <p:cNvSpPr/>
          <p:nvPr/>
        </p:nvSpPr>
        <p:spPr>
          <a:xfrm>
            <a:off x="6419088" y="5513832"/>
            <a:ext cx="1298448" cy="201168"/>
          </a:xfrm>
          <a:prstGeom prst="rect">
            <a:avLst/>
          </a:prstGeom>
          <a:noFill/>
          <a:ln/>
        </p:spPr>
        <p:txBody>
          <a:bodyPr wrap="square" lIns="0" tIns="0" rIns="0" bIns="0" rtlCol="0" anchor="ctr">
            <a:normAutofit/>
          </a:bodyPr>
          <a:lstStyle/>
          <a:p>
            <a:pPr marL="0" indent="0" algn="ctr" rtl="1">
              <a:buNone/>
            </a:pPr>
            <a:r>
              <a:rPr lang="en-US" sz="970" dirty="0">
                <a:solidFill>
                  <a:srgbClr val="D8EAF2"/>
                </a:solidFill>
                <a:latin typeface="Noto Sans Arabic" pitchFamily="34" charset="0"/>
                <a:ea typeface="Noto Sans Arabic" pitchFamily="34" charset="-122"/>
                <a:cs typeface="Noto Sans Arabic" pitchFamily="34" charset="-120"/>
              </a:rPr>
              <a:t>ویژگی و تحلیل</a:t>
            </a:r>
            <a:endParaRPr lang="en-US" sz="970" dirty="0"/>
          </a:p>
        </p:txBody>
      </p:sp>
      <p:sp>
        <p:nvSpPr>
          <p:cNvPr id="57" name="Text 55"/>
          <p:cNvSpPr/>
          <p:nvPr/>
        </p:nvSpPr>
        <p:spPr>
          <a:xfrm>
            <a:off x="8906256" y="5513832"/>
            <a:ext cx="1508760" cy="201168"/>
          </a:xfrm>
          <a:prstGeom prst="rect">
            <a:avLst/>
          </a:prstGeom>
          <a:noFill/>
          <a:ln/>
        </p:spPr>
        <p:txBody>
          <a:bodyPr wrap="square" lIns="0" tIns="0" rIns="0" bIns="0" rtlCol="0" anchor="ctr">
            <a:normAutofit/>
          </a:bodyPr>
          <a:lstStyle/>
          <a:p>
            <a:pPr marL="0" indent="0" algn="ctr" rtl="1">
              <a:buNone/>
            </a:pPr>
            <a:r>
              <a:rPr lang="en-US" sz="970" dirty="0">
                <a:solidFill>
                  <a:srgbClr val="D8EAF2"/>
                </a:solidFill>
                <a:latin typeface="Noto Sans Arabic" pitchFamily="34" charset="0"/>
                <a:ea typeface="Noto Sans Arabic" pitchFamily="34" charset="-122"/>
                <a:cs typeface="Noto Sans Arabic" pitchFamily="34" charset="-120"/>
              </a:rPr>
              <a:t>مدل‌سازی</a:t>
            </a:r>
            <a:endParaRPr lang="en-US" sz="970" dirty="0"/>
          </a:p>
        </p:txBody>
      </p:sp>
      <p:sp>
        <p:nvSpPr>
          <p:cNvPr id="58" name="Shape 56"/>
          <p:cNvSpPr/>
          <p:nvPr/>
        </p:nvSpPr>
        <p:spPr>
          <a:xfrm>
            <a:off x="658368" y="6473952"/>
            <a:ext cx="10881360" cy="0"/>
          </a:xfrm>
          <a:prstGeom prst="line">
            <a:avLst/>
          </a:prstGeom>
          <a:noFill/>
          <a:ln w="10160">
            <a:solidFill>
              <a:srgbClr val="E9EEF2"/>
            </a:solidFill>
            <a:prstDash val="solid"/>
          </a:ln>
        </p:spPr>
      </p:sp>
      <p:sp>
        <p:nvSpPr>
          <p:cNvPr id="59" name="Text 57"/>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60" name="Text 58"/>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۳ از ۶: روش و پیاده‌سازی | ۸ اسلاید تا پایان</a:t>
            </a:r>
            <a:endParaRPr lang="en-US" sz="920" dirty="0"/>
          </a:p>
        </p:txBody>
      </p:sp>
      <p:sp>
        <p:nvSpPr>
          <p:cNvPr id="61" name="Text 59"/>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۶ / ۱۴</a:t>
            </a:r>
            <a:endParaRPr lang="en-US" sz="1020" dirty="0"/>
          </a:p>
        </p:txBody>
      </p:sp>
      <p:sp>
        <p:nvSpPr>
          <p:cNvPr id="62" name="Shape 60"/>
          <p:cNvSpPr/>
          <p:nvPr/>
        </p:nvSpPr>
        <p:spPr>
          <a:xfrm>
            <a:off x="2560320" y="6766560"/>
            <a:ext cx="2821577" cy="41148"/>
          </a:xfrm>
          <a:prstGeom prst="rect">
            <a:avLst/>
          </a:prstGeom>
          <a:solidFill>
            <a:srgbClr val="0B6E99"/>
          </a:solidFill>
          <a:ln w="12700">
            <a:solidFill>
              <a:srgbClr val="0B6E99"/>
            </a:solidFill>
            <a:prstDash val="solid"/>
          </a:ln>
        </p:spPr>
      </p:sp>
      <p:sp>
        <p:nvSpPr>
          <p:cNvPr id="63" name="Shape 61"/>
          <p:cNvSpPr/>
          <p:nvPr/>
        </p:nvSpPr>
        <p:spPr>
          <a:xfrm>
            <a:off x="5381897" y="6766560"/>
            <a:ext cx="3762103" cy="41148"/>
          </a:xfrm>
          <a:prstGeom prst="rect">
            <a:avLst/>
          </a:prstGeom>
          <a:solidFill>
            <a:srgbClr val="E6EDF2"/>
          </a:solidFill>
          <a:ln w="12700">
            <a:solidFill>
              <a:srgbClr val="E6EDF2"/>
            </a:solidFill>
            <a:prstDash val="solid"/>
          </a:ln>
        </p:spPr>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7"/>
                            </p:tgtEl>
                          </p:cBhvr>
                        </p:animEffect>
                      </p:childTnLst>
                    </p:cTn>
                  </p:par>
                  <p:par>
                    <p:cTn id="9" fill="hold">
                      <p:stCondLst>
                        <p:cond delay="0"/>
                      </p:stCondLst>
                      <p:childTnLst>
                        <p:animEffect transition="in" filter="fade">
                          <p:cBhvr>
                            <p:cTn id="10" dur="350" fill="hold"/>
                            <p:tgtEl>
                              <p:spTgt spid="10"/>
                            </p:tgtEl>
                          </p:cBhvr>
                        </p:animEffect>
                      </p:childTnLst>
                    </p:cTn>
                  </p:par>
                  <p:par>
                    <p:cTn id="11" fill="hold">
                      <p:stCondLst>
                        <p:cond delay="0"/>
                      </p:stCondLst>
                      <p:childTnLst>
                        <p:animEffect transition="in" filter="fade">
                          <p:cBhvr>
                            <p:cTn id="12" dur="350" fill="hold"/>
                            <p:tgtEl>
                              <p:spTgt spid="11"/>
                            </p:tgtEl>
                          </p:cBhvr>
                        </p:animEffect>
                      </p:childTnLst>
                    </p:cTn>
                  </p:par>
                </p:childTnLst>
              </p:cTn>
            </p:seq>
          </p:childTnLst>
        </p:cTn>
      </p:par>
    </p:tnLst>
    <p:bldLst>
      <p:bldP spid="3" grpId="0"/>
      <p:bldP spid="4" grpId="0"/>
      <p:bldP spid="7" grpId="0"/>
      <p:bldP spid="10" grpId="0"/>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پردازش سیگنال و ویژگی‌ها</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از سیگنال خام تا بردار ۶۹۰ ویژگی</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۷ / ۱۴</a:t>
            </a:r>
            <a:endParaRPr lang="en-US" sz="1080" dirty="0"/>
          </a:p>
        </p:txBody>
      </p:sp>
      <p:sp>
        <p:nvSpPr>
          <p:cNvPr id="7" name="Shape 5"/>
          <p:cNvSpPr/>
          <p:nvPr/>
        </p:nvSpPr>
        <p:spPr>
          <a:xfrm>
            <a:off x="658368" y="1481328"/>
            <a:ext cx="5532120" cy="4526280"/>
          </a:xfrm>
          <a:prstGeom prst="roundRect">
            <a:avLst>
              <a:gd name="adj" fmla="val 1616"/>
            </a:avLst>
          </a:prstGeom>
          <a:solidFill>
            <a:srgbClr val="FFFFFF"/>
          </a:solidFill>
          <a:ln w="12700">
            <a:solidFill>
              <a:srgbClr val="D9E2EC"/>
            </a:solidFill>
            <a:prstDash val="solid"/>
          </a:ln>
          <a:effectLst>
            <a:outerShdw blurRad="12700" dist="50800" dir="2700000" algn="bl" rotWithShape="0">
              <a:srgbClr val="B0BEC5">
                <a:alpha val="12000"/>
              </a:srgbClr>
            </a:outerShdw>
          </a:effectLst>
        </p:spPr>
      </p:sp>
      <p:sp>
        <p:nvSpPr>
          <p:cNvPr id="8" name="Shape 6"/>
          <p:cNvSpPr/>
          <p:nvPr/>
        </p:nvSpPr>
        <p:spPr>
          <a:xfrm>
            <a:off x="4370832" y="1737360"/>
            <a:ext cx="1463040" cy="347472"/>
          </a:xfrm>
          <a:prstGeom prst="roundRect">
            <a:avLst>
              <a:gd name="adj" fmla="val 47368"/>
            </a:avLst>
          </a:prstGeom>
          <a:solidFill>
            <a:srgbClr val="E7F4F8"/>
          </a:solidFill>
          <a:ln w="12700">
            <a:solidFill>
              <a:srgbClr val="E7F4F8"/>
            </a:solidFill>
            <a:prstDash val="solid"/>
          </a:ln>
        </p:spPr>
      </p:sp>
      <p:sp>
        <p:nvSpPr>
          <p:cNvPr id="9" name="Text 7"/>
          <p:cNvSpPr/>
          <p:nvPr/>
        </p:nvSpPr>
        <p:spPr>
          <a:xfrm>
            <a:off x="4480560" y="1755648"/>
            <a:ext cx="1243584" cy="310896"/>
          </a:xfrm>
          <a:prstGeom prst="rect">
            <a:avLst/>
          </a:prstGeom>
          <a:noFill/>
          <a:ln/>
        </p:spPr>
        <p:txBody>
          <a:bodyPr wrap="square" lIns="0" tIns="0" rIns="0" bIns="0" rtlCol="0" anchor="ctr">
            <a:normAutofit/>
          </a:bodyPr>
          <a:lstStyle/>
          <a:p>
            <a:pPr marL="0" indent="0" algn="ctr" rtl="1">
              <a:buNone/>
            </a:pPr>
            <a:r>
              <a:rPr lang="en-US" sz="1350" b="1" dirty="0">
                <a:solidFill>
                  <a:srgbClr val="0B6E99"/>
                </a:solidFill>
                <a:latin typeface="Noto Sans Arabic" pitchFamily="34" charset="0"/>
                <a:ea typeface="Noto Sans Arabic" pitchFamily="34" charset="-122"/>
                <a:cs typeface="Noto Sans Arabic" pitchFamily="34" charset="-120"/>
              </a:rPr>
              <a:t>پیش‌پردازش</a:t>
            </a:r>
            <a:endParaRPr lang="en-US" sz="1350" dirty="0"/>
          </a:p>
        </p:txBody>
      </p:sp>
      <p:pic>
        <p:nvPicPr>
          <p:cNvPr id="10" name="Image 0" descr="/mnt/data/dmd_assets/crops/signal_schematic.png"/>
          <p:cNvPicPr>
            <a:picLocks noChangeAspect="1"/>
          </p:cNvPicPr>
          <p:nvPr/>
        </p:nvPicPr>
        <p:blipFill>
          <a:blip r:embed="rId3"/>
          <a:stretch>
            <a:fillRect/>
          </a:stretch>
        </p:blipFill>
        <p:spPr>
          <a:xfrm>
            <a:off x="1071786" y="2130552"/>
            <a:ext cx="4513260" cy="1591056"/>
          </a:xfrm>
          <a:prstGeom prst="rect">
            <a:avLst/>
          </a:prstGeom>
        </p:spPr>
      </p:pic>
      <p:sp>
        <p:nvSpPr>
          <p:cNvPr id="11" name="Text 8"/>
          <p:cNvSpPr/>
          <p:nvPr/>
        </p:nvSpPr>
        <p:spPr>
          <a:xfrm>
            <a:off x="1042416" y="3877056"/>
            <a:ext cx="594360" cy="237744"/>
          </a:xfrm>
          <a:prstGeom prst="rect">
            <a:avLst/>
          </a:prstGeom>
          <a:noFill/>
          <a:ln/>
        </p:spPr>
        <p:txBody>
          <a:bodyPr wrap="square" lIns="0" tIns="0" rIns="0" bIns="0" rtlCol="0" anchor="ctr">
            <a:normAutofit/>
          </a:bodyPr>
          <a:lstStyle/>
          <a:p>
            <a:pPr marL="0" indent="0" algn="l" rtl="1">
              <a:buNone/>
            </a:pPr>
            <a:r>
              <a:rPr lang="en-US" sz="1150" dirty="0">
                <a:solidFill>
                  <a:srgbClr val="94A3B8"/>
                </a:solidFill>
                <a:latin typeface="Noto Sans Arabic" pitchFamily="34" charset="0"/>
                <a:ea typeface="Noto Sans Arabic" pitchFamily="34" charset="-122"/>
                <a:cs typeface="Noto Sans Arabic" pitchFamily="34" charset="-120"/>
              </a:rPr>
              <a:t>خام</a:t>
            </a:r>
            <a:endParaRPr lang="en-US" sz="1150" dirty="0"/>
          </a:p>
        </p:txBody>
      </p:sp>
      <p:sp>
        <p:nvSpPr>
          <p:cNvPr id="12" name="Shape 9"/>
          <p:cNvSpPr/>
          <p:nvPr/>
        </p:nvSpPr>
        <p:spPr>
          <a:xfrm>
            <a:off x="1536192" y="3995928"/>
            <a:ext cx="475488" cy="0"/>
          </a:xfrm>
          <a:prstGeom prst="line">
            <a:avLst/>
          </a:prstGeom>
          <a:noFill/>
          <a:ln w="25400">
            <a:solidFill>
              <a:srgbClr val="94A3B8"/>
            </a:solidFill>
            <a:prstDash val="solid"/>
          </a:ln>
        </p:spPr>
      </p:sp>
      <p:sp>
        <p:nvSpPr>
          <p:cNvPr id="13" name="Text 10"/>
          <p:cNvSpPr/>
          <p:nvPr/>
        </p:nvSpPr>
        <p:spPr>
          <a:xfrm>
            <a:off x="2167128" y="3877056"/>
            <a:ext cx="914400" cy="237744"/>
          </a:xfrm>
          <a:prstGeom prst="rect">
            <a:avLst/>
          </a:prstGeom>
          <a:noFill/>
          <a:ln/>
        </p:spPr>
        <p:txBody>
          <a:bodyPr wrap="square" lIns="0" tIns="0" rIns="0" bIns="0" rtlCol="0" anchor="ctr">
            <a:normAutofit/>
          </a:bodyPr>
          <a:lstStyle/>
          <a:p>
            <a:pPr marL="0" indent="0" algn="l" rtl="1">
              <a:buNone/>
            </a:pPr>
            <a:r>
              <a:rPr lang="en-US" sz="1150" dirty="0">
                <a:solidFill>
                  <a:srgbClr val="0B6E99"/>
                </a:solidFill>
                <a:latin typeface="Noto Sans Arabic" pitchFamily="34" charset="0"/>
                <a:ea typeface="Noto Sans Arabic" pitchFamily="34" charset="-122"/>
                <a:cs typeface="Noto Sans Arabic" pitchFamily="34" charset="-120"/>
              </a:rPr>
              <a:t>فیلترشده</a:t>
            </a:r>
            <a:endParaRPr lang="en-US" sz="1150" dirty="0"/>
          </a:p>
        </p:txBody>
      </p:sp>
      <p:sp>
        <p:nvSpPr>
          <p:cNvPr id="14" name="Shape 11"/>
          <p:cNvSpPr/>
          <p:nvPr/>
        </p:nvSpPr>
        <p:spPr>
          <a:xfrm>
            <a:off x="2980944" y="3995928"/>
            <a:ext cx="475488" cy="0"/>
          </a:xfrm>
          <a:prstGeom prst="line">
            <a:avLst/>
          </a:prstGeom>
          <a:noFill/>
          <a:ln w="25400">
            <a:solidFill>
              <a:srgbClr val="0B6E99"/>
            </a:solidFill>
            <a:prstDash val="solid"/>
          </a:ln>
        </p:spPr>
      </p:sp>
      <p:sp>
        <p:nvSpPr>
          <p:cNvPr id="15" name="Shape 12"/>
          <p:cNvSpPr/>
          <p:nvPr/>
        </p:nvSpPr>
        <p:spPr>
          <a:xfrm>
            <a:off x="5605272" y="4517136"/>
            <a:ext cx="91440" cy="91440"/>
          </a:xfrm>
          <a:prstGeom prst="ellipse">
            <a:avLst/>
          </a:prstGeom>
          <a:solidFill>
            <a:srgbClr val="0B6E99"/>
          </a:solidFill>
          <a:ln w="12700">
            <a:solidFill>
              <a:srgbClr val="0B6E99"/>
            </a:solidFill>
            <a:prstDash val="solid"/>
          </a:ln>
        </p:spPr>
      </p:sp>
      <p:sp>
        <p:nvSpPr>
          <p:cNvPr id="16" name="Text 13"/>
          <p:cNvSpPr/>
          <p:nvPr/>
        </p:nvSpPr>
        <p:spPr>
          <a:xfrm>
            <a:off x="1051560" y="4370832"/>
            <a:ext cx="4407408" cy="256032"/>
          </a:xfrm>
          <a:prstGeom prst="rect">
            <a:avLst/>
          </a:prstGeom>
          <a:noFill/>
          <a:ln/>
        </p:spPr>
        <p:txBody>
          <a:bodyPr wrap="square" lIns="0" tIns="0" rIns="0" bIns="0" rtlCol="0" anchor="ctr">
            <a:normAutofit/>
          </a:bodyPr>
          <a:lstStyle/>
          <a:p>
            <a:pPr marL="0" indent="0" algn="r" rtl="1">
              <a:buNone/>
            </a:pPr>
            <a:r>
              <a:rPr lang="en-US" sz="1250" dirty="0">
                <a:solidFill>
                  <a:srgbClr val="1F2937"/>
                </a:solidFill>
                <a:latin typeface="Noto Sans Arabic" pitchFamily="34" charset="0"/>
                <a:ea typeface="Noto Sans Arabic" pitchFamily="34" charset="-122"/>
                <a:cs typeface="Noto Sans Arabic" pitchFamily="34" charset="-120"/>
              </a:rPr>
              <a:t>حذف خطای پیش‌مقدار ژیروسکوپ</a:t>
            </a:r>
            <a:endParaRPr lang="en-US" sz="1250" dirty="0"/>
          </a:p>
        </p:txBody>
      </p:sp>
      <p:sp>
        <p:nvSpPr>
          <p:cNvPr id="17" name="Shape 14"/>
          <p:cNvSpPr/>
          <p:nvPr/>
        </p:nvSpPr>
        <p:spPr>
          <a:xfrm>
            <a:off x="5605272" y="4901184"/>
            <a:ext cx="91440" cy="91440"/>
          </a:xfrm>
          <a:prstGeom prst="ellipse">
            <a:avLst/>
          </a:prstGeom>
          <a:solidFill>
            <a:srgbClr val="0B6E99"/>
          </a:solidFill>
          <a:ln w="12700">
            <a:solidFill>
              <a:srgbClr val="0B6E99"/>
            </a:solidFill>
            <a:prstDash val="solid"/>
          </a:ln>
        </p:spPr>
      </p:sp>
      <p:sp>
        <p:nvSpPr>
          <p:cNvPr id="18" name="Text 15"/>
          <p:cNvSpPr/>
          <p:nvPr/>
        </p:nvSpPr>
        <p:spPr>
          <a:xfrm>
            <a:off x="1051560" y="4754880"/>
            <a:ext cx="4407408" cy="256032"/>
          </a:xfrm>
          <a:prstGeom prst="rect">
            <a:avLst/>
          </a:prstGeom>
          <a:noFill/>
          <a:ln/>
        </p:spPr>
        <p:txBody>
          <a:bodyPr wrap="square" lIns="0" tIns="0" rIns="0" bIns="0" rtlCol="0" anchor="ctr">
            <a:normAutofit/>
          </a:bodyPr>
          <a:lstStyle/>
          <a:p>
            <a:pPr marL="0" indent="0" algn="r" rtl="1">
              <a:buNone/>
            </a:pPr>
            <a:r>
              <a:rPr lang="en-US" sz="1250" dirty="0">
                <a:solidFill>
                  <a:srgbClr val="1F2937"/>
                </a:solidFill>
                <a:latin typeface="Noto Sans Arabic" pitchFamily="34" charset="0"/>
                <a:ea typeface="Noto Sans Arabic" pitchFamily="34" charset="-122"/>
                <a:cs typeface="Noto Sans Arabic" pitchFamily="34" charset="-120"/>
              </a:rPr>
              <a:t>فیلتر پایین‌گذر باترورث مرتبه ۴، قطع ۴ هرتز</a:t>
            </a:r>
            <a:endParaRPr lang="en-US" sz="1250" dirty="0"/>
          </a:p>
        </p:txBody>
      </p:sp>
      <p:sp>
        <p:nvSpPr>
          <p:cNvPr id="19" name="Shape 16"/>
          <p:cNvSpPr/>
          <p:nvPr/>
        </p:nvSpPr>
        <p:spPr>
          <a:xfrm>
            <a:off x="5605272" y="5285232"/>
            <a:ext cx="91440" cy="91440"/>
          </a:xfrm>
          <a:prstGeom prst="ellipse">
            <a:avLst/>
          </a:prstGeom>
          <a:solidFill>
            <a:srgbClr val="0B6E99"/>
          </a:solidFill>
          <a:ln w="12700">
            <a:solidFill>
              <a:srgbClr val="0B6E99"/>
            </a:solidFill>
            <a:prstDash val="solid"/>
          </a:ln>
        </p:spPr>
      </p:sp>
      <p:sp>
        <p:nvSpPr>
          <p:cNvPr id="20" name="Text 17"/>
          <p:cNvSpPr/>
          <p:nvPr/>
        </p:nvSpPr>
        <p:spPr>
          <a:xfrm>
            <a:off x="1051560" y="5138928"/>
            <a:ext cx="4407408" cy="256032"/>
          </a:xfrm>
          <a:prstGeom prst="rect">
            <a:avLst/>
          </a:prstGeom>
          <a:noFill/>
          <a:ln/>
        </p:spPr>
        <p:txBody>
          <a:bodyPr wrap="square" lIns="0" tIns="0" rIns="0" bIns="0" rtlCol="0" anchor="ctr">
            <a:normAutofit/>
          </a:bodyPr>
          <a:lstStyle/>
          <a:p>
            <a:pPr marL="0" indent="0" algn="r" rtl="1">
              <a:buNone/>
            </a:pPr>
            <a:r>
              <a:rPr lang="en-US" sz="1250" dirty="0">
                <a:solidFill>
                  <a:srgbClr val="1F2937"/>
                </a:solidFill>
                <a:latin typeface="Noto Sans Arabic" pitchFamily="34" charset="0"/>
                <a:ea typeface="Noto Sans Arabic" pitchFamily="34" charset="-122"/>
                <a:cs typeface="Noto Sans Arabic" pitchFamily="34" charset="-120"/>
              </a:rPr>
              <a:t>اعمال دوطرفه برای جلوگیری از تأخیر فازی</a:t>
            </a:r>
            <a:endParaRPr lang="en-US" sz="1250" dirty="0"/>
          </a:p>
        </p:txBody>
      </p:sp>
      <p:sp>
        <p:nvSpPr>
          <p:cNvPr id="21" name="Shape 18"/>
          <p:cNvSpPr/>
          <p:nvPr/>
        </p:nvSpPr>
        <p:spPr>
          <a:xfrm>
            <a:off x="6419088" y="1481328"/>
            <a:ext cx="5102352" cy="4526280"/>
          </a:xfrm>
          <a:prstGeom prst="roundRect">
            <a:avLst>
              <a:gd name="adj" fmla="val 1616"/>
            </a:avLst>
          </a:prstGeom>
          <a:solidFill>
            <a:srgbClr val="F4F8FB"/>
          </a:solidFill>
          <a:ln w="12700">
            <a:solidFill>
              <a:srgbClr val="D9E2EC"/>
            </a:solidFill>
            <a:prstDash val="solid"/>
          </a:ln>
          <a:effectLst>
            <a:outerShdw blurRad="12700" dist="50800" dir="2700000" algn="bl" rotWithShape="0">
              <a:srgbClr val="B0BEC5">
                <a:alpha val="12000"/>
              </a:srgbClr>
            </a:outerShdw>
          </a:effectLst>
        </p:spPr>
      </p:sp>
      <p:sp>
        <p:nvSpPr>
          <p:cNvPr id="22" name="Shape 19"/>
          <p:cNvSpPr/>
          <p:nvPr/>
        </p:nvSpPr>
        <p:spPr>
          <a:xfrm>
            <a:off x="9601200" y="1737360"/>
            <a:ext cx="1572768" cy="347472"/>
          </a:xfrm>
          <a:prstGeom prst="roundRect">
            <a:avLst>
              <a:gd name="adj" fmla="val 47368"/>
            </a:avLst>
          </a:prstGeom>
          <a:solidFill>
            <a:srgbClr val="E8F5EE"/>
          </a:solidFill>
          <a:ln w="12700">
            <a:solidFill>
              <a:srgbClr val="E8F5EE"/>
            </a:solidFill>
            <a:prstDash val="solid"/>
          </a:ln>
        </p:spPr>
      </p:sp>
      <p:sp>
        <p:nvSpPr>
          <p:cNvPr id="23" name="Text 20"/>
          <p:cNvSpPr/>
          <p:nvPr/>
        </p:nvSpPr>
        <p:spPr>
          <a:xfrm>
            <a:off x="9710928" y="1755648"/>
            <a:ext cx="1353312" cy="310896"/>
          </a:xfrm>
          <a:prstGeom prst="rect">
            <a:avLst/>
          </a:prstGeom>
          <a:noFill/>
          <a:ln/>
        </p:spPr>
        <p:txBody>
          <a:bodyPr wrap="square" lIns="0" tIns="0" rIns="0" bIns="0" rtlCol="0" anchor="ctr">
            <a:normAutofit/>
          </a:bodyPr>
          <a:lstStyle/>
          <a:p>
            <a:pPr marL="0" indent="0" algn="ctr" rtl="1">
              <a:buNone/>
            </a:pPr>
            <a:r>
              <a:rPr lang="en-US" sz="1350" b="1" dirty="0">
                <a:solidFill>
                  <a:srgbClr val="2F855A"/>
                </a:solidFill>
                <a:latin typeface="Noto Sans Arabic" pitchFamily="34" charset="0"/>
                <a:ea typeface="Noto Sans Arabic" pitchFamily="34" charset="-122"/>
                <a:cs typeface="Noto Sans Arabic" pitchFamily="34" charset="-120"/>
              </a:rPr>
              <a:t>استخراج ویژگی</a:t>
            </a:r>
            <a:endParaRPr lang="en-US" sz="1350" dirty="0"/>
          </a:p>
        </p:txBody>
      </p:sp>
      <p:sp>
        <p:nvSpPr>
          <p:cNvPr id="24" name="Text 21"/>
          <p:cNvSpPr/>
          <p:nvPr/>
        </p:nvSpPr>
        <p:spPr>
          <a:xfrm>
            <a:off x="9710928" y="2359152"/>
            <a:ext cx="1389888" cy="411480"/>
          </a:xfrm>
          <a:prstGeom prst="rect">
            <a:avLst/>
          </a:prstGeom>
          <a:noFill/>
          <a:ln/>
        </p:spPr>
        <p:txBody>
          <a:bodyPr wrap="square" lIns="0" tIns="0" rIns="0" bIns="0" rtlCol="0" anchor="ctr">
            <a:normAutofit/>
          </a:bodyPr>
          <a:lstStyle/>
          <a:p>
            <a:pPr marL="0" indent="0" algn="ctr" rtl="1">
              <a:buNone/>
            </a:pPr>
            <a:r>
              <a:rPr lang="en-US" sz="2100" b="1" dirty="0">
                <a:solidFill>
                  <a:srgbClr val="0B6E99"/>
                </a:solidFill>
                <a:latin typeface="Noto Sans Arabic" pitchFamily="34" charset="0"/>
                <a:ea typeface="Noto Sans Arabic" pitchFamily="34" charset="-122"/>
                <a:cs typeface="Noto Sans Arabic" pitchFamily="34" charset="-120"/>
              </a:rPr>
              <a:t>۵ حسگر</a:t>
            </a:r>
            <a:endParaRPr lang="en-US" sz="2100" dirty="0"/>
          </a:p>
        </p:txBody>
      </p:sp>
      <p:sp>
        <p:nvSpPr>
          <p:cNvPr id="25" name="Text 22"/>
          <p:cNvSpPr/>
          <p:nvPr/>
        </p:nvSpPr>
        <p:spPr>
          <a:xfrm>
            <a:off x="9217152" y="2377440"/>
            <a:ext cx="347472" cy="347472"/>
          </a:xfrm>
          <a:prstGeom prst="rect">
            <a:avLst/>
          </a:prstGeom>
          <a:noFill/>
          <a:ln/>
        </p:spPr>
        <p:txBody>
          <a:bodyPr wrap="square" lIns="0" tIns="0" rIns="0" bIns="0" rtlCol="0" anchor="ctr">
            <a:normAutofit/>
          </a:bodyPr>
          <a:lstStyle/>
          <a:p>
            <a:pPr marL="0" indent="0" algn="ctr">
              <a:buNone/>
            </a:pPr>
            <a:r>
              <a:rPr lang="en-US" sz="2400" b="1" dirty="0">
                <a:solidFill>
                  <a:srgbClr val="64748B"/>
                </a:solidFill>
                <a:latin typeface="Aptos" pitchFamily="34" charset="0"/>
                <a:ea typeface="Aptos" pitchFamily="34" charset="-122"/>
                <a:cs typeface="Aptos" pitchFamily="34" charset="-120"/>
              </a:rPr>
              <a:t>×</a:t>
            </a:r>
            <a:endParaRPr lang="en-US" sz="2400" dirty="0"/>
          </a:p>
        </p:txBody>
      </p:sp>
      <p:sp>
        <p:nvSpPr>
          <p:cNvPr id="26" name="Text 23"/>
          <p:cNvSpPr/>
          <p:nvPr/>
        </p:nvSpPr>
        <p:spPr>
          <a:xfrm>
            <a:off x="7717536" y="2359152"/>
            <a:ext cx="1353312" cy="411480"/>
          </a:xfrm>
          <a:prstGeom prst="rect">
            <a:avLst/>
          </a:prstGeom>
          <a:noFill/>
          <a:ln/>
        </p:spPr>
        <p:txBody>
          <a:bodyPr wrap="square" lIns="0" tIns="0" rIns="0" bIns="0" rtlCol="0" anchor="ctr">
            <a:normAutofit/>
          </a:bodyPr>
          <a:lstStyle/>
          <a:p>
            <a:pPr marL="0" indent="0" algn="ctr" rtl="1">
              <a:buNone/>
            </a:pPr>
            <a:r>
              <a:rPr lang="en-US" sz="2100" b="1" dirty="0">
                <a:solidFill>
                  <a:srgbClr val="0B7A75"/>
                </a:solidFill>
                <a:latin typeface="Noto Sans Arabic" pitchFamily="34" charset="0"/>
                <a:ea typeface="Noto Sans Arabic" pitchFamily="34" charset="-122"/>
                <a:cs typeface="Noto Sans Arabic" pitchFamily="34" charset="-120"/>
              </a:rPr>
              <a:t>۶ سیگنال</a:t>
            </a:r>
            <a:endParaRPr lang="en-US" sz="2100" dirty="0"/>
          </a:p>
        </p:txBody>
      </p:sp>
      <p:sp>
        <p:nvSpPr>
          <p:cNvPr id="27" name="Text 24"/>
          <p:cNvSpPr/>
          <p:nvPr/>
        </p:nvSpPr>
        <p:spPr>
          <a:xfrm>
            <a:off x="7388352" y="2377440"/>
            <a:ext cx="256032" cy="347472"/>
          </a:xfrm>
          <a:prstGeom prst="rect">
            <a:avLst/>
          </a:prstGeom>
          <a:noFill/>
          <a:ln/>
        </p:spPr>
        <p:txBody>
          <a:bodyPr wrap="square" lIns="0" tIns="0" rIns="0" bIns="0" rtlCol="0" anchor="ctr">
            <a:normAutofit/>
          </a:bodyPr>
          <a:lstStyle/>
          <a:p>
            <a:pPr marL="0" indent="0" algn="ctr">
              <a:buNone/>
            </a:pPr>
            <a:r>
              <a:rPr lang="en-US" sz="2400" b="1" dirty="0">
                <a:solidFill>
                  <a:srgbClr val="64748B"/>
                </a:solidFill>
                <a:latin typeface="Aptos" pitchFamily="34" charset="0"/>
                <a:ea typeface="Aptos" pitchFamily="34" charset="-122"/>
                <a:cs typeface="Aptos" pitchFamily="34" charset="-120"/>
              </a:rPr>
              <a:t>×</a:t>
            </a:r>
            <a:endParaRPr lang="en-US" sz="2400" dirty="0"/>
          </a:p>
        </p:txBody>
      </p:sp>
      <p:sp>
        <p:nvSpPr>
          <p:cNvPr id="28" name="Text 25"/>
          <p:cNvSpPr/>
          <p:nvPr/>
        </p:nvSpPr>
        <p:spPr>
          <a:xfrm>
            <a:off x="6419088" y="2359152"/>
            <a:ext cx="896112" cy="411480"/>
          </a:xfrm>
          <a:prstGeom prst="rect">
            <a:avLst/>
          </a:prstGeom>
          <a:noFill/>
          <a:ln/>
        </p:spPr>
        <p:txBody>
          <a:bodyPr wrap="square" lIns="0" tIns="0" rIns="0" bIns="0" rtlCol="0" anchor="ctr">
            <a:normAutofit/>
          </a:bodyPr>
          <a:lstStyle/>
          <a:p>
            <a:pPr marL="0" indent="0" algn="ctr" rtl="1">
              <a:buNone/>
            </a:pPr>
            <a:r>
              <a:rPr lang="en-US" sz="1850" b="1" dirty="0">
                <a:solidFill>
                  <a:srgbClr val="2F855A"/>
                </a:solidFill>
                <a:latin typeface="Noto Sans Arabic" pitchFamily="34" charset="0"/>
                <a:ea typeface="Noto Sans Arabic" pitchFamily="34" charset="-122"/>
                <a:cs typeface="Noto Sans Arabic" pitchFamily="34" charset="-120"/>
              </a:rPr>
              <a:t>۲۳ ویژگی</a:t>
            </a:r>
            <a:endParaRPr lang="en-US" sz="1850" dirty="0"/>
          </a:p>
        </p:txBody>
      </p:sp>
      <p:sp>
        <p:nvSpPr>
          <p:cNvPr id="29" name="Text 26"/>
          <p:cNvSpPr/>
          <p:nvPr/>
        </p:nvSpPr>
        <p:spPr>
          <a:xfrm>
            <a:off x="9290304" y="2944368"/>
            <a:ext cx="420624" cy="384048"/>
          </a:xfrm>
          <a:prstGeom prst="rect">
            <a:avLst/>
          </a:prstGeom>
          <a:noFill/>
          <a:ln/>
        </p:spPr>
        <p:txBody>
          <a:bodyPr wrap="square" lIns="0" tIns="0" rIns="0" bIns="0" rtlCol="0" anchor="ctr">
            <a:normAutofit/>
          </a:bodyPr>
          <a:lstStyle/>
          <a:p>
            <a:pPr marL="0" indent="0" algn="ctr">
              <a:buNone/>
            </a:pPr>
            <a:r>
              <a:rPr lang="en-US" sz="2700" b="1" dirty="0">
                <a:solidFill>
                  <a:srgbClr val="64748B"/>
                </a:solidFill>
                <a:latin typeface="Aptos" pitchFamily="34" charset="0"/>
                <a:ea typeface="Aptos" pitchFamily="34" charset="-122"/>
                <a:cs typeface="Aptos" pitchFamily="34" charset="-120"/>
              </a:rPr>
              <a:t>=</a:t>
            </a:r>
            <a:endParaRPr lang="en-US" sz="2700" dirty="0"/>
          </a:p>
        </p:txBody>
      </p:sp>
      <p:sp>
        <p:nvSpPr>
          <p:cNvPr id="30" name="Text 27"/>
          <p:cNvSpPr/>
          <p:nvPr/>
        </p:nvSpPr>
        <p:spPr>
          <a:xfrm>
            <a:off x="6766560" y="2880360"/>
            <a:ext cx="2377440" cy="502920"/>
          </a:xfrm>
          <a:prstGeom prst="rect">
            <a:avLst/>
          </a:prstGeom>
          <a:noFill/>
          <a:ln/>
        </p:spPr>
        <p:txBody>
          <a:bodyPr wrap="square" lIns="0" tIns="0" rIns="0" bIns="0" rtlCol="0" anchor="ctr">
            <a:normAutofit/>
          </a:bodyPr>
          <a:lstStyle/>
          <a:p>
            <a:pPr marL="0" indent="0" algn="ctr" rtl="1">
              <a:buNone/>
            </a:pPr>
            <a:r>
              <a:rPr lang="en-US" sz="2300" b="1" dirty="0">
                <a:solidFill>
                  <a:srgbClr val="102A43"/>
                </a:solidFill>
                <a:latin typeface="Noto Sans Arabic" pitchFamily="34" charset="0"/>
                <a:ea typeface="Noto Sans Arabic" pitchFamily="34" charset="-122"/>
                <a:cs typeface="Noto Sans Arabic" pitchFamily="34" charset="-120"/>
              </a:rPr>
              <a:t>۶۹۰ ویژگی برای هر نمونه</a:t>
            </a:r>
            <a:endParaRPr lang="en-US" sz="2300" dirty="0"/>
          </a:p>
        </p:txBody>
      </p:sp>
      <p:sp>
        <p:nvSpPr>
          <p:cNvPr id="31" name="Text 28"/>
          <p:cNvSpPr/>
          <p:nvPr/>
        </p:nvSpPr>
        <p:spPr>
          <a:xfrm>
            <a:off x="9326880" y="3703320"/>
            <a:ext cx="1572768" cy="228600"/>
          </a:xfrm>
          <a:prstGeom prst="rect">
            <a:avLst/>
          </a:prstGeom>
          <a:noFill/>
          <a:ln/>
        </p:spPr>
        <p:txBody>
          <a:bodyPr wrap="square" lIns="0" tIns="0" rIns="0" bIns="0" rtlCol="0" anchor="ctr">
            <a:normAutofit/>
          </a:bodyPr>
          <a:lstStyle/>
          <a:p>
            <a:pPr marL="0" indent="0" algn="r" rtl="1">
              <a:buNone/>
            </a:pPr>
            <a:r>
              <a:rPr lang="en-US" sz="1170" b="1" dirty="0">
                <a:solidFill>
                  <a:srgbClr val="102A43"/>
                </a:solidFill>
                <a:latin typeface="Noto Sans Arabic" pitchFamily="34" charset="0"/>
                <a:ea typeface="Noto Sans Arabic" pitchFamily="34" charset="-122"/>
                <a:cs typeface="Noto Sans Arabic" pitchFamily="34" charset="-120"/>
              </a:rPr>
              <a:t>مرکزی</a:t>
            </a:r>
            <a:endParaRPr lang="en-US" sz="1170" dirty="0"/>
          </a:p>
        </p:txBody>
      </p:sp>
      <p:sp>
        <p:nvSpPr>
          <p:cNvPr id="32" name="Text 29"/>
          <p:cNvSpPr/>
          <p:nvPr/>
        </p:nvSpPr>
        <p:spPr>
          <a:xfrm>
            <a:off x="6812280" y="3703320"/>
            <a:ext cx="2331720" cy="228600"/>
          </a:xfrm>
          <a:prstGeom prst="rect">
            <a:avLst/>
          </a:prstGeom>
          <a:noFill/>
          <a:ln/>
        </p:spPr>
        <p:txBody>
          <a:bodyPr wrap="square" lIns="0" tIns="0" rIns="0" bIns="0" rtlCol="0" anchor="ctr">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میانگین، میانه</a:t>
            </a:r>
            <a:endParaRPr lang="en-US" sz="1070" dirty="0"/>
          </a:p>
        </p:txBody>
      </p:sp>
      <p:sp>
        <p:nvSpPr>
          <p:cNvPr id="33" name="Text 30"/>
          <p:cNvSpPr/>
          <p:nvPr/>
        </p:nvSpPr>
        <p:spPr>
          <a:xfrm>
            <a:off x="9326880" y="4087368"/>
            <a:ext cx="1572768" cy="228600"/>
          </a:xfrm>
          <a:prstGeom prst="rect">
            <a:avLst/>
          </a:prstGeom>
          <a:noFill/>
          <a:ln/>
        </p:spPr>
        <p:txBody>
          <a:bodyPr wrap="square" lIns="0" tIns="0" rIns="0" bIns="0" rtlCol="0" anchor="ctr">
            <a:normAutofit/>
          </a:bodyPr>
          <a:lstStyle/>
          <a:p>
            <a:pPr marL="0" indent="0" algn="r" rtl="1">
              <a:buNone/>
            </a:pPr>
            <a:r>
              <a:rPr lang="en-US" sz="1170" b="1" dirty="0">
                <a:solidFill>
                  <a:srgbClr val="102A43"/>
                </a:solidFill>
                <a:latin typeface="Noto Sans Arabic" pitchFamily="34" charset="0"/>
                <a:ea typeface="Noto Sans Arabic" pitchFamily="34" charset="-122"/>
                <a:cs typeface="Noto Sans Arabic" pitchFamily="34" charset="-120"/>
              </a:rPr>
              <a:t>پراکندگی</a:t>
            </a:r>
            <a:endParaRPr lang="en-US" sz="1170" dirty="0"/>
          </a:p>
        </p:txBody>
      </p:sp>
      <p:sp>
        <p:nvSpPr>
          <p:cNvPr id="34" name="Text 31"/>
          <p:cNvSpPr/>
          <p:nvPr/>
        </p:nvSpPr>
        <p:spPr>
          <a:xfrm>
            <a:off x="6812280" y="4087368"/>
            <a:ext cx="2331720" cy="228600"/>
          </a:xfrm>
          <a:prstGeom prst="rect">
            <a:avLst/>
          </a:prstGeom>
          <a:noFill/>
          <a:ln/>
        </p:spPr>
        <p:txBody>
          <a:bodyPr wrap="square" lIns="0" tIns="0" rIns="0" bIns="0" rtlCol="0" anchor="ctr">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انحراف معیار، IQR، دامنه</a:t>
            </a:r>
            <a:endParaRPr lang="en-US" sz="1070" dirty="0"/>
          </a:p>
        </p:txBody>
      </p:sp>
      <p:sp>
        <p:nvSpPr>
          <p:cNvPr id="35" name="Text 32"/>
          <p:cNvSpPr/>
          <p:nvPr/>
        </p:nvSpPr>
        <p:spPr>
          <a:xfrm>
            <a:off x="9326880" y="4471416"/>
            <a:ext cx="1572768" cy="228600"/>
          </a:xfrm>
          <a:prstGeom prst="rect">
            <a:avLst/>
          </a:prstGeom>
          <a:noFill/>
          <a:ln/>
        </p:spPr>
        <p:txBody>
          <a:bodyPr wrap="square" lIns="0" tIns="0" rIns="0" bIns="0" rtlCol="0" anchor="ctr">
            <a:normAutofit/>
          </a:bodyPr>
          <a:lstStyle/>
          <a:p>
            <a:pPr marL="0" indent="0" algn="r" rtl="1">
              <a:buNone/>
            </a:pPr>
            <a:r>
              <a:rPr lang="en-US" sz="1170" b="1" dirty="0">
                <a:solidFill>
                  <a:srgbClr val="102A43"/>
                </a:solidFill>
                <a:latin typeface="Noto Sans Arabic" pitchFamily="34" charset="0"/>
                <a:ea typeface="Noto Sans Arabic" pitchFamily="34" charset="-122"/>
                <a:cs typeface="Noto Sans Arabic" pitchFamily="34" charset="-120"/>
              </a:rPr>
              <a:t>شدت</a:t>
            </a:r>
            <a:endParaRPr lang="en-US" sz="1170" dirty="0"/>
          </a:p>
        </p:txBody>
      </p:sp>
      <p:sp>
        <p:nvSpPr>
          <p:cNvPr id="36" name="Text 33"/>
          <p:cNvSpPr/>
          <p:nvPr/>
        </p:nvSpPr>
        <p:spPr>
          <a:xfrm>
            <a:off x="6812280" y="4471416"/>
            <a:ext cx="2331720" cy="228600"/>
          </a:xfrm>
          <a:prstGeom prst="rect">
            <a:avLst/>
          </a:prstGeom>
          <a:noFill/>
          <a:ln/>
        </p:spPr>
        <p:txBody>
          <a:bodyPr wrap="square" lIns="0" tIns="0" rIns="0" bIns="0" rtlCol="0" anchor="ctr">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RMS، انرژی، قدر مطلق</a:t>
            </a:r>
            <a:endParaRPr lang="en-US" sz="1070" dirty="0"/>
          </a:p>
        </p:txBody>
      </p:sp>
      <p:sp>
        <p:nvSpPr>
          <p:cNvPr id="37" name="Text 34"/>
          <p:cNvSpPr/>
          <p:nvPr/>
        </p:nvSpPr>
        <p:spPr>
          <a:xfrm>
            <a:off x="9326880" y="4855464"/>
            <a:ext cx="1572768" cy="228600"/>
          </a:xfrm>
          <a:prstGeom prst="rect">
            <a:avLst/>
          </a:prstGeom>
          <a:noFill/>
          <a:ln/>
        </p:spPr>
        <p:txBody>
          <a:bodyPr wrap="square" lIns="0" tIns="0" rIns="0" bIns="0" rtlCol="0" anchor="ctr">
            <a:normAutofit/>
          </a:bodyPr>
          <a:lstStyle/>
          <a:p>
            <a:pPr marL="0" indent="0" algn="r" rtl="1">
              <a:buNone/>
            </a:pPr>
            <a:r>
              <a:rPr lang="en-US" sz="1170" b="1" dirty="0">
                <a:solidFill>
                  <a:srgbClr val="102A43"/>
                </a:solidFill>
                <a:latin typeface="Noto Sans Arabic" pitchFamily="34" charset="0"/>
                <a:ea typeface="Noto Sans Arabic" pitchFamily="34" charset="-122"/>
                <a:cs typeface="Noto Sans Arabic" pitchFamily="34" charset="-120"/>
              </a:rPr>
              <a:t>شکل توزیع</a:t>
            </a:r>
            <a:endParaRPr lang="en-US" sz="1170" dirty="0"/>
          </a:p>
        </p:txBody>
      </p:sp>
      <p:sp>
        <p:nvSpPr>
          <p:cNvPr id="38" name="Text 35"/>
          <p:cNvSpPr/>
          <p:nvPr/>
        </p:nvSpPr>
        <p:spPr>
          <a:xfrm>
            <a:off x="6812280" y="4855464"/>
            <a:ext cx="2331720" cy="228600"/>
          </a:xfrm>
          <a:prstGeom prst="rect">
            <a:avLst/>
          </a:prstGeom>
          <a:noFill/>
          <a:ln/>
        </p:spPr>
        <p:txBody>
          <a:bodyPr wrap="square" lIns="0" tIns="0" rIns="0" bIns="0" rtlCol="0" anchor="ctr">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چولگی، کشیدگی، آنتروپی</a:t>
            </a:r>
            <a:endParaRPr lang="en-US" sz="1070" dirty="0"/>
          </a:p>
        </p:txBody>
      </p:sp>
      <p:sp>
        <p:nvSpPr>
          <p:cNvPr id="39" name="Text 36"/>
          <p:cNvSpPr/>
          <p:nvPr/>
        </p:nvSpPr>
        <p:spPr>
          <a:xfrm>
            <a:off x="9326880" y="5239512"/>
            <a:ext cx="1572768" cy="228600"/>
          </a:xfrm>
          <a:prstGeom prst="rect">
            <a:avLst/>
          </a:prstGeom>
          <a:noFill/>
          <a:ln/>
        </p:spPr>
        <p:txBody>
          <a:bodyPr wrap="square" lIns="0" tIns="0" rIns="0" bIns="0" rtlCol="0" anchor="ctr">
            <a:normAutofit/>
          </a:bodyPr>
          <a:lstStyle/>
          <a:p>
            <a:pPr marL="0" indent="0" algn="r" rtl="1">
              <a:buNone/>
            </a:pPr>
            <a:r>
              <a:rPr lang="en-US" sz="1170" b="1" dirty="0">
                <a:solidFill>
                  <a:srgbClr val="102A43"/>
                </a:solidFill>
                <a:latin typeface="Noto Sans Arabic" pitchFamily="34" charset="0"/>
                <a:ea typeface="Noto Sans Arabic" pitchFamily="34" charset="-122"/>
                <a:cs typeface="Noto Sans Arabic" pitchFamily="34" charset="-120"/>
              </a:rPr>
              <a:t>تغییرات زمانی</a:t>
            </a:r>
            <a:endParaRPr lang="en-US" sz="1170" dirty="0"/>
          </a:p>
        </p:txBody>
      </p:sp>
      <p:sp>
        <p:nvSpPr>
          <p:cNvPr id="40" name="Text 37"/>
          <p:cNvSpPr/>
          <p:nvPr/>
        </p:nvSpPr>
        <p:spPr>
          <a:xfrm>
            <a:off x="6812280" y="5239512"/>
            <a:ext cx="2331720" cy="228600"/>
          </a:xfrm>
          <a:prstGeom prst="rect">
            <a:avLst/>
          </a:prstGeom>
          <a:noFill/>
          <a:ln/>
        </p:spPr>
        <p:txBody>
          <a:bodyPr wrap="square" lIns="0" tIns="0" rIns="0" bIns="0" rtlCol="0" anchor="ctr">
            <a:normAutofit/>
          </a:bodyPr>
          <a:lstStyle/>
          <a:p>
            <a:pPr marL="0" indent="0" algn="r" rtl="1">
              <a:buNone/>
            </a:pPr>
            <a:r>
              <a:rPr lang="en-US" sz="1070" dirty="0">
                <a:solidFill>
                  <a:srgbClr val="64748B"/>
                </a:solidFill>
                <a:latin typeface="Noto Sans Arabic" pitchFamily="34" charset="0"/>
                <a:ea typeface="Noto Sans Arabic" pitchFamily="34" charset="-122"/>
                <a:cs typeface="Noto Sans Arabic" pitchFamily="34" charset="-120"/>
              </a:rPr>
              <a:t>تفاضل‌ها، عبور از صفر، خودهمبستگی</a:t>
            </a:r>
            <a:endParaRPr lang="en-US" sz="1070" dirty="0"/>
          </a:p>
        </p:txBody>
      </p:sp>
      <p:sp>
        <p:nvSpPr>
          <p:cNvPr id="41" name="Shape 38"/>
          <p:cNvSpPr/>
          <p:nvPr/>
        </p:nvSpPr>
        <p:spPr>
          <a:xfrm>
            <a:off x="658368" y="6473952"/>
            <a:ext cx="10881360" cy="0"/>
          </a:xfrm>
          <a:prstGeom prst="line">
            <a:avLst/>
          </a:prstGeom>
          <a:noFill/>
          <a:ln w="10160">
            <a:solidFill>
              <a:srgbClr val="E9EEF2"/>
            </a:solidFill>
            <a:prstDash val="solid"/>
          </a:ln>
        </p:spPr>
      </p:sp>
      <p:sp>
        <p:nvSpPr>
          <p:cNvPr id="42" name="Text 39"/>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3" name="Text 40"/>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۳ از ۶: روش و پیاده‌سازی | ۷ اسلاید تا پایان</a:t>
            </a:r>
            <a:endParaRPr lang="en-US" sz="920" dirty="0"/>
          </a:p>
        </p:txBody>
      </p:sp>
      <p:sp>
        <p:nvSpPr>
          <p:cNvPr id="44" name="Text 41"/>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۷ / ۱۴</a:t>
            </a:r>
            <a:endParaRPr lang="en-US" sz="1020" dirty="0"/>
          </a:p>
        </p:txBody>
      </p:sp>
      <p:sp>
        <p:nvSpPr>
          <p:cNvPr id="45" name="Shape 42"/>
          <p:cNvSpPr/>
          <p:nvPr/>
        </p:nvSpPr>
        <p:spPr>
          <a:xfrm>
            <a:off x="2560320" y="6766560"/>
            <a:ext cx="3291840" cy="41148"/>
          </a:xfrm>
          <a:prstGeom prst="rect">
            <a:avLst/>
          </a:prstGeom>
          <a:solidFill>
            <a:srgbClr val="0B6E99"/>
          </a:solidFill>
          <a:ln w="12700">
            <a:solidFill>
              <a:srgbClr val="0B6E99"/>
            </a:solidFill>
            <a:prstDash val="solid"/>
          </a:ln>
        </p:spPr>
      </p:sp>
      <p:sp>
        <p:nvSpPr>
          <p:cNvPr id="46" name="Shape 43"/>
          <p:cNvSpPr/>
          <p:nvPr/>
        </p:nvSpPr>
        <p:spPr>
          <a:xfrm>
            <a:off x="5852160" y="6766560"/>
            <a:ext cx="3291840"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9"/>
                            </p:tgtEl>
                          </p:cBhvr>
                        </p:animEffect>
                      </p:childTnLst>
                    </p:cTn>
                  </p:par>
                  <p:par>
                    <p:cTn id="9" fill="hold">
                      <p:stCondLst>
                        <p:cond delay="0"/>
                      </p:stCondLst>
                      <p:childTnLst>
                        <p:animEffect transition="in" filter="fade">
                          <p:cBhvr>
                            <p:cTn id="10" dur="350" fill="hold"/>
                            <p:tgtEl>
                              <p:spTgt spid="11"/>
                            </p:tgtEl>
                          </p:cBhvr>
                        </p:animEffect>
                      </p:childTnLst>
                    </p:cTn>
                  </p:par>
                  <p:par>
                    <p:cTn id="11" fill="hold">
                      <p:stCondLst>
                        <p:cond delay="0"/>
                      </p:stCondLst>
                      <p:childTnLst>
                        <p:animEffect transition="in" filter="fade">
                          <p:cBhvr>
                            <p:cTn id="12" dur="350" fill="hold"/>
                            <p:tgtEl>
                              <p:spTgt spid="13"/>
                            </p:tgtEl>
                          </p:cBhvr>
                        </p:animEffect>
                      </p:childTnLst>
                    </p:cTn>
                  </p:par>
                </p:childTnLst>
              </p:cTn>
            </p:seq>
          </p:childTnLst>
        </p:cTn>
      </p:par>
    </p:tnLst>
    <p:bldLst>
      <p:bldP spid="3" grpId="0"/>
      <p:bldP spid="4" grpId="0"/>
      <p:bldP spid="9" grpId="0"/>
      <p:bldP spid="11" grpId="0"/>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یادگیری ماشین و ارزیابی</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مدل‌سازی بدون نشت اطلاعات</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۸ / ۱۴</a:t>
            </a:r>
            <a:endParaRPr lang="en-US" sz="1080" dirty="0"/>
          </a:p>
        </p:txBody>
      </p:sp>
      <p:sp>
        <p:nvSpPr>
          <p:cNvPr id="7" name="Shape 5"/>
          <p:cNvSpPr/>
          <p:nvPr/>
        </p:nvSpPr>
        <p:spPr>
          <a:xfrm>
            <a:off x="685800" y="1481328"/>
            <a:ext cx="7132320" cy="4526280"/>
          </a:xfrm>
          <a:prstGeom prst="roundRect">
            <a:avLst>
              <a:gd name="adj" fmla="val 1616"/>
            </a:avLst>
          </a:prstGeom>
          <a:solidFill>
            <a:srgbClr val="FFFFFF"/>
          </a:solidFill>
          <a:ln w="12700">
            <a:solidFill>
              <a:srgbClr val="D9E2EC"/>
            </a:solidFill>
            <a:prstDash val="solid"/>
          </a:ln>
          <a:effectLst>
            <a:outerShdw blurRad="12700" dist="50800" dir="2700000" algn="bl" rotWithShape="0">
              <a:srgbClr val="B0BEC5">
                <a:alpha val="12000"/>
              </a:srgbClr>
            </a:outerShdw>
          </a:effectLst>
        </p:spPr>
      </p:sp>
      <p:sp>
        <p:nvSpPr>
          <p:cNvPr id="8" name="Shape 6"/>
          <p:cNvSpPr/>
          <p:nvPr/>
        </p:nvSpPr>
        <p:spPr>
          <a:xfrm>
            <a:off x="5806440" y="1746504"/>
            <a:ext cx="1645920" cy="347472"/>
          </a:xfrm>
          <a:prstGeom prst="roundRect">
            <a:avLst>
              <a:gd name="adj" fmla="val 47368"/>
            </a:avLst>
          </a:prstGeom>
          <a:solidFill>
            <a:srgbClr val="E7F4F8"/>
          </a:solidFill>
          <a:ln w="12700">
            <a:solidFill>
              <a:srgbClr val="E7F4F8"/>
            </a:solidFill>
            <a:prstDash val="solid"/>
          </a:ln>
        </p:spPr>
      </p:sp>
      <p:sp>
        <p:nvSpPr>
          <p:cNvPr id="9" name="Text 7"/>
          <p:cNvSpPr/>
          <p:nvPr/>
        </p:nvSpPr>
        <p:spPr>
          <a:xfrm>
            <a:off x="5916168" y="1764792"/>
            <a:ext cx="1426464" cy="310896"/>
          </a:xfrm>
          <a:prstGeom prst="rect">
            <a:avLst/>
          </a:prstGeom>
          <a:noFill/>
          <a:ln/>
        </p:spPr>
        <p:txBody>
          <a:bodyPr wrap="square" lIns="0" tIns="0" rIns="0" bIns="0" rtlCol="0" anchor="ctr">
            <a:normAutofit/>
          </a:bodyPr>
          <a:lstStyle/>
          <a:p>
            <a:pPr marL="0" indent="0" algn="ctr" rtl="1">
              <a:buNone/>
            </a:pPr>
            <a:r>
              <a:rPr lang="en-US" sz="1320" b="1" dirty="0">
                <a:solidFill>
                  <a:srgbClr val="0B6E99"/>
                </a:solidFill>
                <a:latin typeface="Noto Sans Arabic" pitchFamily="34" charset="0"/>
                <a:ea typeface="Noto Sans Arabic" pitchFamily="34" charset="-122"/>
                <a:cs typeface="Noto Sans Arabic" pitchFamily="34" charset="-120"/>
              </a:rPr>
              <a:t>Pipeline پردازش</a:t>
            </a:r>
            <a:endParaRPr lang="en-US" sz="1320" dirty="0"/>
          </a:p>
        </p:txBody>
      </p:sp>
      <p:sp>
        <p:nvSpPr>
          <p:cNvPr id="10" name="Shape 8"/>
          <p:cNvSpPr/>
          <p:nvPr/>
        </p:nvSpPr>
        <p:spPr>
          <a:xfrm>
            <a:off x="6080760" y="2404872"/>
            <a:ext cx="1389888" cy="1353312"/>
          </a:xfrm>
          <a:prstGeom prst="roundRect">
            <a:avLst>
              <a:gd name="adj" fmla="val 5405"/>
            </a:avLst>
          </a:prstGeom>
          <a:solidFill>
            <a:srgbClr val="F8FBFD"/>
          </a:solidFill>
          <a:ln w="17780">
            <a:solidFill>
              <a:srgbClr val="0B6E99"/>
            </a:solidFill>
            <a:prstDash val="solid"/>
          </a:ln>
        </p:spPr>
      </p:sp>
      <p:sp>
        <p:nvSpPr>
          <p:cNvPr id="11" name="Text 9"/>
          <p:cNvSpPr/>
          <p:nvPr/>
        </p:nvSpPr>
        <p:spPr>
          <a:xfrm>
            <a:off x="6153912" y="2596896"/>
            <a:ext cx="1243584" cy="310896"/>
          </a:xfrm>
          <a:prstGeom prst="rect">
            <a:avLst/>
          </a:prstGeom>
          <a:noFill/>
          <a:ln/>
        </p:spPr>
        <p:txBody>
          <a:bodyPr wrap="square" lIns="0" tIns="0" rIns="0" bIns="0" rtlCol="0" anchor="ctr">
            <a:normAutofit/>
          </a:bodyPr>
          <a:lstStyle/>
          <a:p>
            <a:pPr marL="0" indent="0" algn="ctr" rtl="1">
              <a:buNone/>
            </a:pPr>
            <a:r>
              <a:rPr lang="en-US" sz="1420" b="1" dirty="0">
                <a:solidFill>
                  <a:srgbClr val="0B6E99"/>
                </a:solidFill>
                <a:latin typeface="Noto Sans Arabic" pitchFamily="34" charset="0"/>
                <a:ea typeface="Noto Sans Arabic" pitchFamily="34" charset="-122"/>
                <a:cs typeface="Noto Sans Arabic" pitchFamily="34" charset="-120"/>
              </a:rPr>
              <a:t>تقسیم داده</a:t>
            </a:r>
            <a:endParaRPr lang="en-US" sz="1420" dirty="0"/>
          </a:p>
        </p:txBody>
      </p:sp>
      <p:sp>
        <p:nvSpPr>
          <p:cNvPr id="12" name="Text 10"/>
          <p:cNvSpPr/>
          <p:nvPr/>
        </p:nvSpPr>
        <p:spPr>
          <a:xfrm>
            <a:off x="6172200" y="3063240"/>
            <a:ext cx="1207008" cy="384048"/>
          </a:xfrm>
          <a:prstGeom prst="rect">
            <a:avLst/>
          </a:prstGeom>
          <a:noFill/>
          <a:ln/>
        </p:spPr>
        <p:txBody>
          <a:bodyPr wrap="square" lIns="0" tIns="0" rIns="0" bIns="0" rtlCol="0" anchor="t">
            <a:normAutofit/>
          </a:bodyPr>
          <a:lstStyle/>
          <a:p>
            <a:pPr marL="0" indent="0" algn="ctr" rtl="1">
              <a:buNone/>
            </a:pPr>
            <a:r>
              <a:rPr lang="en-US" sz="1020" dirty="0">
                <a:solidFill>
                  <a:srgbClr val="64748B"/>
                </a:solidFill>
                <a:latin typeface="Noto Sans Arabic" pitchFamily="34" charset="0"/>
                <a:ea typeface="Noto Sans Arabic" pitchFamily="34" charset="-122"/>
                <a:cs typeface="Noto Sans Arabic" pitchFamily="34" charset="-120"/>
              </a:rPr>
              <a:t>آموزش / آزمون</a:t>
            </a:r>
            <a:endParaRPr lang="en-US" sz="1020" dirty="0"/>
          </a:p>
        </p:txBody>
      </p:sp>
      <p:sp>
        <p:nvSpPr>
          <p:cNvPr id="13" name="Shape 11"/>
          <p:cNvSpPr/>
          <p:nvPr/>
        </p:nvSpPr>
        <p:spPr>
          <a:xfrm>
            <a:off x="5897880" y="3081528"/>
            <a:ext cx="0" cy="0"/>
          </a:xfrm>
          <a:prstGeom prst="line">
            <a:avLst/>
          </a:prstGeom>
          <a:noFill/>
          <a:ln w="20320">
            <a:solidFill>
              <a:srgbClr val="94A3B8"/>
            </a:solidFill>
            <a:prstDash val="solid"/>
            <a:headEnd type="none"/>
            <a:tailEnd type="triangle"/>
          </a:ln>
        </p:spPr>
      </p:sp>
      <p:sp>
        <p:nvSpPr>
          <p:cNvPr id="14" name="Shape 12"/>
          <p:cNvSpPr/>
          <p:nvPr/>
        </p:nvSpPr>
        <p:spPr>
          <a:xfrm>
            <a:off x="4398264" y="2404872"/>
            <a:ext cx="1389888" cy="1353312"/>
          </a:xfrm>
          <a:prstGeom prst="roundRect">
            <a:avLst>
              <a:gd name="adj" fmla="val 5405"/>
            </a:avLst>
          </a:prstGeom>
          <a:solidFill>
            <a:srgbClr val="F8FBFD"/>
          </a:solidFill>
          <a:ln w="17780">
            <a:solidFill>
              <a:srgbClr val="0B7A75"/>
            </a:solidFill>
            <a:prstDash val="solid"/>
          </a:ln>
        </p:spPr>
      </p:sp>
      <p:sp>
        <p:nvSpPr>
          <p:cNvPr id="15" name="Text 13"/>
          <p:cNvSpPr/>
          <p:nvPr/>
        </p:nvSpPr>
        <p:spPr>
          <a:xfrm>
            <a:off x="4471416" y="2615184"/>
            <a:ext cx="1243584" cy="274320"/>
          </a:xfrm>
          <a:prstGeom prst="rect">
            <a:avLst/>
          </a:prstGeom>
          <a:noFill/>
          <a:ln/>
        </p:spPr>
        <p:txBody>
          <a:bodyPr wrap="square" lIns="0" tIns="0" rIns="0" bIns="0" rtlCol="0" anchor="ctr">
            <a:normAutofit/>
          </a:bodyPr>
          <a:lstStyle/>
          <a:p>
            <a:pPr marL="0" indent="0" algn="ctr">
              <a:buNone/>
            </a:pPr>
            <a:r>
              <a:rPr lang="en-US" sz="1450" b="1" dirty="0">
                <a:solidFill>
                  <a:srgbClr val="0B7A75"/>
                </a:solidFill>
                <a:latin typeface="Aptos" pitchFamily="34" charset="0"/>
                <a:ea typeface="Aptos" pitchFamily="34" charset="-122"/>
                <a:cs typeface="Aptos" pitchFamily="34" charset="-120"/>
              </a:rPr>
              <a:t>StandardScaler</a:t>
            </a:r>
            <a:endParaRPr lang="en-US" sz="1450" dirty="0"/>
          </a:p>
        </p:txBody>
      </p:sp>
      <p:sp>
        <p:nvSpPr>
          <p:cNvPr id="16" name="Text 14"/>
          <p:cNvSpPr/>
          <p:nvPr/>
        </p:nvSpPr>
        <p:spPr>
          <a:xfrm>
            <a:off x="4489704" y="3063240"/>
            <a:ext cx="1207008" cy="384048"/>
          </a:xfrm>
          <a:prstGeom prst="rect">
            <a:avLst/>
          </a:prstGeom>
          <a:noFill/>
          <a:ln/>
        </p:spPr>
        <p:txBody>
          <a:bodyPr wrap="square" lIns="0" tIns="0" rIns="0" bIns="0" rtlCol="0" anchor="t">
            <a:normAutofit/>
          </a:bodyPr>
          <a:lstStyle/>
          <a:p>
            <a:pPr marL="0" indent="0" algn="ctr" rtl="1">
              <a:buNone/>
            </a:pPr>
            <a:r>
              <a:rPr lang="en-US" sz="1020" dirty="0">
                <a:solidFill>
                  <a:srgbClr val="64748B"/>
                </a:solidFill>
                <a:latin typeface="Noto Sans Arabic" pitchFamily="34" charset="0"/>
                <a:ea typeface="Noto Sans Arabic" pitchFamily="34" charset="-122"/>
                <a:cs typeface="Noto Sans Arabic" pitchFamily="34" charset="-120"/>
              </a:rPr>
              <a:t>برازش فقط روی آموزش</a:t>
            </a:r>
            <a:endParaRPr lang="en-US" sz="1020" dirty="0"/>
          </a:p>
        </p:txBody>
      </p:sp>
      <p:sp>
        <p:nvSpPr>
          <p:cNvPr id="17" name="Shape 15"/>
          <p:cNvSpPr/>
          <p:nvPr/>
        </p:nvSpPr>
        <p:spPr>
          <a:xfrm>
            <a:off x="4215384" y="3081528"/>
            <a:ext cx="0" cy="0"/>
          </a:xfrm>
          <a:prstGeom prst="line">
            <a:avLst/>
          </a:prstGeom>
          <a:noFill/>
          <a:ln w="20320">
            <a:solidFill>
              <a:srgbClr val="94A3B8"/>
            </a:solidFill>
            <a:prstDash val="solid"/>
            <a:headEnd type="none"/>
            <a:tailEnd type="triangle"/>
          </a:ln>
        </p:spPr>
      </p:sp>
      <p:sp>
        <p:nvSpPr>
          <p:cNvPr id="18" name="Shape 16"/>
          <p:cNvSpPr/>
          <p:nvPr/>
        </p:nvSpPr>
        <p:spPr>
          <a:xfrm>
            <a:off x="2715768" y="2404872"/>
            <a:ext cx="1389888" cy="1353312"/>
          </a:xfrm>
          <a:prstGeom prst="roundRect">
            <a:avLst>
              <a:gd name="adj" fmla="val 5405"/>
            </a:avLst>
          </a:prstGeom>
          <a:solidFill>
            <a:srgbClr val="F8FBFD"/>
          </a:solidFill>
          <a:ln w="17780">
            <a:solidFill>
              <a:srgbClr val="6B5BA6"/>
            </a:solidFill>
            <a:prstDash val="solid"/>
          </a:ln>
        </p:spPr>
      </p:sp>
      <p:sp>
        <p:nvSpPr>
          <p:cNvPr id="19" name="Text 17"/>
          <p:cNvSpPr/>
          <p:nvPr/>
        </p:nvSpPr>
        <p:spPr>
          <a:xfrm>
            <a:off x="2788920" y="2615184"/>
            <a:ext cx="1243584" cy="274320"/>
          </a:xfrm>
          <a:prstGeom prst="rect">
            <a:avLst/>
          </a:prstGeom>
          <a:noFill/>
          <a:ln/>
        </p:spPr>
        <p:txBody>
          <a:bodyPr wrap="square" lIns="0" tIns="0" rIns="0" bIns="0" rtlCol="0" anchor="ctr">
            <a:normAutofit/>
          </a:bodyPr>
          <a:lstStyle/>
          <a:p>
            <a:pPr marL="0" indent="0" algn="ctr">
              <a:buNone/>
            </a:pPr>
            <a:r>
              <a:rPr lang="en-US" sz="1450" b="1" dirty="0">
                <a:solidFill>
                  <a:srgbClr val="6B5BA6"/>
                </a:solidFill>
                <a:latin typeface="Aptos" pitchFamily="34" charset="0"/>
                <a:ea typeface="Aptos" pitchFamily="34" charset="-122"/>
                <a:cs typeface="Aptos" pitchFamily="34" charset="-120"/>
              </a:rPr>
              <a:t>PCA</a:t>
            </a:r>
            <a:endParaRPr lang="en-US" sz="1450" dirty="0"/>
          </a:p>
        </p:txBody>
      </p:sp>
      <p:sp>
        <p:nvSpPr>
          <p:cNvPr id="20" name="Text 18"/>
          <p:cNvSpPr/>
          <p:nvPr/>
        </p:nvSpPr>
        <p:spPr>
          <a:xfrm>
            <a:off x="2807208" y="3063240"/>
            <a:ext cx="1207008" cy="384048"/>
          </a:xfrm>
          <a:prstGeom prst="rect">
            <a:avLst/>
          </a:prstGeom>
          <a:noFill/>
          <a:ln/>
        </p:spPr>
        <p:txBody>
          <a:bodyPr wrap="square" lIns="0" tIns="0" rIns="0" bIns="0" rtlCol="0" anchor="t">
            <a:normAutofit/>
          </a:bodyPr>
          <a:lstStyle/>
          <a:p>
            <a:pPr marL="0" indent="0" algn="ctr" rtl="1">
              <a:buNone/>
            </a:pPr>
            <a:r>
              <a:rPr lang="en-US" sz="1020" dirty="0">
                <a:solidFill>
                  <a:srgbClr val="64748B"/>
                </a:solidFill>
                <a:latin typeface="Noto Sans Arabic" pitchFamily="34" charset="0"/>
                <a:ea typeface="Noto Sans Arabic" pitchFamily="34" charset="-122"/>
                <a:cs typeface="Noto Sans Arabic" pitchFamily="34" charset="-120"/>
              </a:rPr>
              <a:t>کاهش ابعاد</a:t>
            </a:r>
            <a:endParaRPr lang="en-US" sz="1020" dirty="0"/>
          </a:p>
        </p:txBody>
      </p:sp>
      <p:sp>
        <p:nvSpPr>
          <p:cNvPr id="21" name="Shape 19"/>
          <p:cNvSpPr/>
          <p:nvPr/>
        </p:nvSpPr>
        <p:spPr>
          <a:xfrm>
            <a:off x="2532888" y="3081528"/>
            <a:ext cx="0" cy="0"/>
          </a:xfrm>
          <a:prstGeom prst="line">
            <a:avLst/>
          </a:prstGeom>
          <a:noFill/>
          <a:ln w="20320">
            <a:solidFill>
              <a:srgbClr val="94A3B8"/>
            </a:solidFill>
            <a:prstDash val="solid"/>
            <a:headEnd type="none"/>
            <a:tailEnd type="triangle"/>
          </a:ln>
        </p:spPr>
      </p:sp>
      <p:sp>
        <p:nvSpPr>
          <p:cNvPr id="22" name="Shape 20"/>
          <p:cNvSpPr/>
          <p:nvPr/>
        </p:nvSpPr>
        <p:spPr>
          <a:xfrm>
            <a:off x="1033272" y="2404872"/>
            <a:ext cx="1389888" cy="1353312"/>
          </a:xfrm>
          <a:prstGeom prst="roundRect">
            <a:avLst>
              <a:gd name="adj" fmla="val 5405"/>
            </a:avLst>
          </a:prstGeom>
          <a:solidFill>
            <a:srgbClr val="F8FBFD"/>
          </a:solidFill>
          <a:ln w="17780">
            <a:solidFill>
              <a:srgbClr val="2F855A"/>
            </a:solidFill>
            <a:prstDash val="solid"/>
          </a:ln>
        </p:spPr>
      </p:sp>
      <p:sp>
        <p:nvSpPr>
          <p:cNvPr id="23" name="Text 21"/>
          <p:cNvSpPr/>
          <p:nvPr/>
        </p:nvSpPr>
        <p:spPr>
          <a:xfrm>
            <a:off x="1106424" y="2596896"/>
            <a:ext cx="1243584" cy="310896"/>
          </a:xfrm>
          <a:prstGeom prst="rect">
            <a:avLst/>
          </a:prstGeom>
          <a:noFill/>
          <a:ln/>
        </p:spPr>
        <p:txBody>
          <a:bodyPr wrap="square" lIns="0" tIns="0" rIns="0" bIns="0" rtlCol="0" anchor="ctr">
            <a:normAutofit/>
          </a:bodyPr>
          <a:lstStyle/>
          <a:p>
            <a:pPr marL="0" indent="0" algn="ctr" rtl="1">
              <a:buNone/>
            </a:pPr>
            <a:r>
              <a:rPr lang="en-US" sz="1420" b="1" dirty="0">
                <a:solidFill>
                  <a:srgbClr val="2F855A"/>
                </a:solidFill>
                <a:latin typeface="Noto Sans Arabic" pitchFamily="34" charset="0"/>
                <a:ea typeface="Noto Sans Arabic" pitchFamily="34" charset="-122"/>
                <a:cs typeface="Noto Sans Arabic" pitchFamily="34" charset="-120"/>
              </a:rPr>
              <a:t>طبقه‌بند</a:t>
            </a:r>
            <a:endParaRPr lang="en-US" sz="1420" dirty="0"/>
          </a:p>
        </p:txBody>
      </p:sp>
      <p:sp>
        <p:nvSpPr>
          <p:cNvPr id="24" name="Text 22"/>
          <p:cNvSpPr/>
          <p:nvPr/>
        </p:nvSpPr>
        <p:spPr>
          <a:xfrm>
            <a:off x="1124712" y="3063240"/>
            <a:ext cx="1207008" cy="384048"/>
          </a:xfrm>
          <a:prstGeom prst="rect">
            <a:avLst/>
          </a:prstGeom>
          <a:noFill/>
          <a:ln/>
        </p:spPr>
        <p:txBody>
          <a:bodyPr wrap="square" lIns="0" tIns="0" rIns="0" bIns="0" rtlCol="0" anchor="t">
            <a:normAutofit/>
          </a:bodyPr>
          <a:lstStyle/>
          <a:p>
            <a:pPr marL="0" indent="0" algn="ctr" rtl="1">
              <a:buNone/>
            </a:pPr>
            <a:r>
              <a:rPr lang="en-US" sz="1020" dirty="0">
                <a:solidFill>
                  <a:srgbClr val="64748B"/>
                </a:solidFill>
                <a:latin typeface="Noto Sans Arabic" pitchFamily="34" charset="0"/>
                <a:ea typeface="Noto Sans Arabic" pitchFamily="34" charset="-122"/>
                <a:cs typeface="Noto Sans Arabic" pitchFamily="34" charset="-120"/>
              </a:rPr>
              <a:t>پیش‌بینی سطح عملکرد</a:t>
            </a:r>
            <a:endParaRPr lang="en-US" sz="1020" dirty="0"/>
          </a:p>
        </p:txBody>
      </p:sp>
      <p:sp>
        <p:nvSpPr>
          <p:cNvPr id="25" name="Shape 23"/>
          <p:cNvSpPr/>
          <p:nvPr/>
        </p:nvSpPr>
        <p:spPr>
          <a:xfrm>
            <a:off x="1051560" y="4224528"/>
            <a:ext cx="6355080" cy="1124712"/>
          </a:xfrm>
          <a:prstGeom prst="roundRect">
            <a:avLst>
              <a:gd name="adj" fmla="val 8130"/>
            </a:avLst>
          </a:prstGeom>
          <a:solidFill>
            <a:srgbClr val="EEF4F8"/>
          </a:solidFill>
          <a:ln w="12700">
            <a:solidFill>
              <a:srgbClr val="D9E2EC"/>
            </a:solidFill>
            <a:prstDash val="solid"/>
          </a:ln>
        </p:spPr>
      </p:sp>
      <p:sp>
        <p:nvSpPr>
          <p:cNvPr id="26" name="Text 24"/>
          <p:cNvSpPr/>
          <p:nvPr/>
        </p:nvSpPr>
        <p:spPr>
          <a:xfrm>
            <a:off x="5870448" y="4407408"/>
            <a:ext cx="1234440" cy="237744"/>
          </a:xfrm>
          <a:prstGeom prst="rect">
            <a:avLst/>
          </a:prstGeom>
          <a:noFill/>
          <a:ln/>
        </p:spPr>
        <p:txBody>
          <a:bodyPr wrap="square" lIns="0" tIns="0" rIns="0" bIns="0" rtlCol="0" anchor="ctr">
            <a:normAutofit/>
          </a:bodyPr>
          <a:lstStyle/>
          <a:p>
            <a:pPr marL="0" indent="0" algn="r" rtl="1">
              <a:buNone/>
            </a:pPr>
            <a:r>
              <a:rPr lang="en-US" sz="1250" b="1" dirty="0">
                <a:solidFill>
                  <a:srgbClr val="0B6E99"/>
                </a:solidFill>
                <a:latin typeface="Noto Sans Arabic" pitchFamily="34" charset="0"/>
                <a:ea typeface="Noto Sans Arabic" pitchFamily="34" charset="-122"/>
                <a:cs typeface="Noto Sans Arabic" pitchFamily="34" charset="-120"/>
              </a:rPr>
              <a:t>اصل روش‌شناختی</a:t>
            </a:r>
            <a:endParaRPr lang="en-US" sz="1250" dirty="0"/>
          </a:p>
        </p:txBody>
      </p:sp>
      <p:sp>
        <p:nvSpPr>
          <p:cNvPr id="27" name="Text 25"/>
          <p:cNvSpPr/>
          <p:nvPr/>
        </p:nvSpPr>
        <p:spPr>
          <a:xfrm>
            <a:off x="1325880" y="4681728"/>
            <a:ext cx="5623560" cy="429768"/>
          </a:xfrm>
          <a:prstGeom prst="rect">
            <a:avLst/>
          </a:prstGeom>
          <a:noFill/>
          <a:ln/>
        </p:spPr>
        <p:txBody>
          <a:bodyPr wrap="square" lIns="0" tIns="0" rIns="0" bIns="0" rtlCol="0" anchor="ctr">
            <a:normAutofit/>
          </a:bodyPr>
          <a:lstStyle/>
          <a:p>
            <a:pPr marL="0" indent="0" algn="ctr" rtl="1">
              <a:buNone/>
            </a:pPr>
            <a:r>
              <a:rPr lang="en-US" sz="1320" b="1" dirty="0">
                <a:solidFill>
                  <a:srgbClr val="102A43"/>
                </a:solidFill>
                <a:latin typeface="Noto Sans Arabic" pitchFamily="34" charset="0"/>
                <a:ea typeface="Noto Sans Arabic" pitchFamily="34" charset="-122"/>
                <a:cs typeface="Noto Sans Arabic" pitchFamily="34" charset="-120"/>
              </a:rPr>
              <a:t>استانداردسازی و PCA در هر تکرار فقط روی داده‌های آموزش برازش شدند؛ سپس همان تبدیل‌ها روی داده آزمون اعمال شد.</a:t>
            </a:r>
            <a:endParaRPr lang="en-US" sz="1320" dirty="0"/>
          </a:p>
        </p:txBody>
      </p:sp>
      <p:sp>
        <p:nvSpPr>
          <p:cNvPr id="28" name="Shape 26"/>
          <p:cNvSpPr/>
          <p:nvPr/>
        </p:nvSpPr>
        <p:spPr>
          <a:xfrm>
            <a:off x="8065008" y="1481328"/>
            <a:ext cx="3456432" cy="4526280"/>
          </a:xfrm>
          <a:prstGeom prst="roundRect">
            <a:avLst>
              <a:gd name="adj" fmla="val 2116"/>
            </a:avLst>
          </a:prstGeom>
          <a:solidFill>
            <a:srgbClr val="F4F8FB"/>
          </a:solidFill>
          <a:ln w="12700">
            <a:solidFill>
              <a:srgbClr val="D9E2EC"/>
            </a:solidFill>
            <a:prstDash val="solid"/>
          </a:ln>
          <a:effectLst>
            <a:outerShdw blurRad="12700" dist="50800" dir="2700000" algn="bl" rotWithShape="0">
              <a:srgbClr val="B0BEC5">
                <a:alpha val="12000"/>
              </a:srgbClr>
            </a:outerShdw>
          </a:effectLst>
        </p:spPr>
      </p:sp>
      <p:sp>
        <p:nvSpPr>
          <p:cNvPr id="29" name="Shape 27"/>
          <p:cNvSpPr/>
          <p:nvPr/>
        </p:nvSpPr>
        <p:spPr>
          <a:xfrm>
            <a:off x="9674352" y="1746504"/>
            <a:ext cx="1481328" cy="347472"/>
          </a:xfrm>
          <a:prstGeom prst="roundRect">
            <a:avLst>
              <a:gd name="adj" fmla="val 47368"/>
            </a:avLst>
          </a:prstGeom>
          <a:solidFill>
            <a:srgbClr val="E8F5EE"/>
          </a:solidFill>
          <a:ln w="12700">
            <a:solidFill>
              <a:srgbClr val="E8F5EE"/>
            </a:solidFill>
            <a:prstDash val="solid"/>
          </a:ln>
        </p:spPr>
      </p:sp>
      <p:sp>
        <p:nvSpPr>
          <p:cNvPr id="30" name="Text 28"/>
          <p:cNvSpPr/>
          <p:nvPr/>
        </p:nvSpPr>
        <p:spPr>
          <a:xfrm>
            <a:off x="9784080" y="1764792"/>
            <a:ext cx="1261872" cy="310896"/>
          </a:xfrm>
          <a:prstGeom prst="rect">
            <a:avLst/>
          </a:prstGeom>
          <a:noFill/>
          <a:ln/>
        </p:spPr>
        <p:txBody>
          <a:bodyPr wrap="square" lIns="0" tIns="0" rIns="0" bIns="0" rtlCol="0" anchor="ctr">
            <a:normAutofit/>
          </a:bodyPr>
          <a:lstStyle/>
          <a:p>
            <a:pPr marL="0" indent="0" algn="ctr" rtl="1">
              <a:buNone/>
            </a:pPr>
            <a:r>
              <a:rPr lang="en-US" sz="1300" b="1" dirty="0">
                <a:solidFill>
                  <a:srgbClr val="2F855A"/>
                </a:solidFill>
                <a:latin typeface="Noto Sans Arabic" pitchFamily="34" charset="0"/>
                <a:ea typeface="Noto Sans Arabic" pitchFamily="34" charset="-122"/>
                <a:cs typeface="Noto Sans Arabic" pitchFamily="34" charset="-120"/>
              </a:rPr>
              <a:t>مدل‌ها و ارزیابی</a:t>
            </a:r>
            <a:endParaRPr lang="en-US" sz="1300" dirty="0"/>
          </a:p>
        </p:txBody>
      </p:sp>
      <p:sp>
        <p:nvSpPr>
          <p:cNvPr id="31" name="Shape 29"/>
          <p:cNvSpPr/>
          <p:nvPr/>
        </p:nvSpPr>
        <p:spPr>
          <a:xfrm>
            <a:off x="8366760" y="2404872"/>
            <a:ext cx="2834640" cy="548640"/>
          </a:xfrm>
          <a:prstGeom prst="roundRect">
            <a:avLst>
              <a:gd name="adj" fmla="val 13333"/>
            </a:avLst>
          </a:prstGeom>
          <a:solidFill>
            <a:srgbClr val="FFFFFF"/>
          </a:solidFill>
          <a:ln w="19050">
            <a:solidFill>
              <a:srgbClr val="0B6E99"/>
            </a:solidFill>
            <a:prstDash val="solid"/>
          </a:ln>
        </p:spPr>
      </p:sp>
      <p:sp>
        <p:nvSpPr>
          <p:cNvPr id="32" name="Text 30"/>
          <p:cNvSpPr/>
          <p:nvPr/>
        </p:nvSpPr>
        <p:spPr>
          <a:xfrm>
            <a:off x="8449056" y="2496312"/>
            <a:ext cx="1078992" cy="237744"/>
          </a:xfrm>
          <a:prstGeom prst="rect">
            <a:avLst/>
          </a:prstGeom>
          <a:noFill/>
          <a:ln/>
        </p:spPr>
        <p:txBody>
          <a:bodyPr wrap="square" lIns="0" tIns="0" rIns="0" bIns="0" rtlCol="0" anchor="ctr">
            <a:normAutofit/>
          </a:bodyPr>
          <a:lstStyle/>
          <a:p>
            <a:pPr marL="0" indent="0" algn="l">
              <a:buNone/>
            </a:pPr>
            <a:r>
              <a:rPr lang="en-US" sz="1350" b="1" dirty="0">
                <a:solidFill>
                  <a:srgbClr val="0B6E99"/>
                </a:solidFill>
                <a:latin typeface="Aptos" pitchFamily="34" charset="0"/>
                <a:ea typeface="Aptos" pitchFamily="34" charset="-122"/>
                <a:cs typeface="Aptos" pitchFamily="34" charset="-120"/>
              </a:rPr>
              <a:t>SVM</a:t>
            </a:r>
            <a:endParaRPr lang="en-US" sz="1350" dirty="0"/>
          </a:p>
        </p:txBody>
      </p:sp>
      <p:sp>
        <p:nvSpPr>
          <p:cNvPr id="33" name="Text 31"/>
          <p:cNvSpPr/>
          <p:nvPr/>
        </p:nvSpPr>
        <p:spPr>
          <a:xfrm>
            <a:off x="9710928" y="2496312"/>
            <a:ext cx="1188720" cy="256032"/>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هسته RBF</a:t>
            </a:r>
            <a:endParaRPr lang="en-US" sz="1120" dirty="0"/>
          </a:p>
        </p:txBody>
      </p:sp>
      <p:sp>
        <p:nvSpPr>
          <p:cNvPr id="34" name="Shape 32"/>
          <p:cNvSpPr/>
          <p:nvPr/>
        </p:nvSpPr>
        <p:spPr>
          <a:xfrm>
            <a:off x="8366760" y="3118104"/>
            <a:ext cx="2834640" cy="548640"/>
          </a:xfrm>
          <a:prstGeom prst="roundRect">
            <a:avLst>
              <a:gd name="adj" fmla="val 13333"/>
            </a:avLst>
          </a:prstGeom>
          <a:solidFill>
            <a:srgbClr val="FFFFFF"/>
          </a:solidFill>
          <a:ln w="12700">
            <a:solidFill>
              <a:srgbClr val="D9E2EC"/>
            </a:solidFill>
            <a:prstDash val="solid"/>
          </a:ln>
        </p:spPr>
      </p:sp>
      <p:sp>
        <p:nvSpPr>
          <p:cNvPr id="35" name="Text 33"/>
          <p:cNvSpPr/>
          <p:nvPr/>
        </p:nvSpPr>
        <p:spPr>
          <a:xfrm>
            <a:off x="8449056" y="3209544"/>
            <a:ext cx="1078992" cy="237744"/>
          </a:xfrm>
          <a:prstGeom prst="rect">
            <a:avLst/>
          </a:prstGeom>
          <a:noFill/>
          <a:ln/>
        </p:spPr>
        <p:txBody>
          <a:bodyPr wrap="square" lIns="0" tIns="0" rIns="0" bIns="0" rtlCol="0" anchor="ctr">
            <a:normAutofit/>
          </a:bodyPr>
          <a:lstStyle/>
          <a:p>
            <a:pPr marL="0" indent="0" algn="l">
              <a:buNone/>
            </a:pPr>
            <a:r>
              <a:rPr lang="en-US" sz="1350" b="1" dirty="0">
                <a:solidFill>
                  <a:srgbClr val="102A43"/>
                </a:solidFill>
                <a:latin typeface="Aptos" pitchFamily="34" charset="0"/>
                <a:ea typeface="Aptos" pitchFamily="34" charset="-122"/>
                <a:cs typeface="Aptos" pitchFamily="34" charset="-120"/>
              </a:rPr>
              <a:t>KNN</a:t>
            </a:r>
            <a:endParaRPr lang="en-US" sz="1350" dirty="0"/>
          </a:p>
        </p:txBody>
      </p:sp>
      <p:sp>
        <p:nvSpPr>
          <p:cNvPr id="36" name="Text 34"/>
          <p:cNvSpPr/>
          <p:nvPr/>
        </p:nvSpPr>
        <p:spPr>
          <a:xfrm>
            <a:off x="9710928" y="3209544"/>
            <a:ext cx="1188720" cy="256032"/>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پنج همسایه</a:t>
            </a:r>
            <a:endParaRPr lang="en-US" sz="1120" dirty="0"/>
          </a:p>
        </p:txBody>
      </p:sp>
      <p:sp>
        <p:nvSpPr>
          <p:cNvPr id="37" name="Shape 35"/>
          <p:cNvSpPr/>
          <p:nvPr/>
        </p:nvSpPr>
        <p:spPr>
          <a:xfrm>
            <a:off x="8366760" y="3831336"/>
            <a:ext cx="2834640" cy="548640"/>
          </a:xfrm>
          <a:prstGeom prst="roundRect">
            <a:avLst>
              <a:gd name="adj" fmla="val 13333"/>
            </a:avLst>
          </a:prstGeom>
          <a:solidFill>
            <a:srgbClr val="FFFFFF"/>
          </a:solidFill>
          <a:ln w="12700">
            <a:solidFill>
              <a:srgbClr val="D9E2EC"/>
            </a:solidFill>
            <a:prstDash val="solid"/>
          </a:ln>
        </p:spPr>
      </p:sp>
      <p:sp>
        <p:nvSpPr>
          <p:cNvPr id="38" name="Text 36"/>
          <p:cNvSpPr/>
          <p:nvPr/>
        </p:nvSpPr>
        <p:spPr>
          <a:xfrm>
            <a:off x="8449056" y="3922776"/>
            <a:ext cx="1078992" cy="237744"/>
          </a:xfrm>
          <a:prstGeom prst="rect">
            <a:avLst/>
          </a:prstGeom>
          <a:noFill/>
          <a:ln/>
        </p:spPr>
        <p:txBody>
          <a:bodyPr wrap="square" lIns="0" tIns="0" rIns="0" bIns="0" rtlCol="0" anchor="ctr">
            <a:normAutofit/>
          </a:bodyPr>
          <a:lstStyle/>
          <a:p>
            <a:pPr marL="0" indent="0" algn="l">
              <a:buNone/>
            </a:pPr>
            <a:r>
              <a:rPr lang="en-US" sz="1350" b="1" dirty="0">
                <a:solidFill>
                  <a:srgbClr val="102A43"/>
                </a:solidFill>
                <a:latin typeface="Aptos" pitchFamily="34" charset="0"/>
                <a:ea typeface="Aptos" pitchFamily="34" charset="-122"/>
                <a:cs typeface="Aptos" pitchFamily="34" charset="-120"/>
              </a:rPr>
              <a:t>Random Forest</a:t>
            </a:r>
            <a:endParaRPr lang="en-US" sz="1350" dirty="0"/>
          </a:p>
        </p:txBody>
      </p:sp>
      <p:sp>
        <p:nvSpPr>
          <p:cNvPr id="39" name="Text 37"/>
          <p:cNvSpPr/>
          <p:nvPr/>
        </p:nvSpPr>
        <p:spPr>
          <a:xfrm>
            <a:off x="9710928" y="3922776"/>
            <a:ext cx="1188720" cy="256032"/>
          </a:xfrm>
          <a:prstGeom prst="rect">
            <a:avLst/>
          </a:prstGeom>
          <a:noFill/>
          <a:ln/>
        </p:spPr>
        <p:txBody>
          <a:bodyPr wrap="square" lIns="0" tIns="0" rIns="0" bIns="0" rtlCol="0" anchor="ctr">
            <a:normAutofit/>
          </a:bodyPr>
          <a:lstStyle/>
          <a:p>
            <a:pPr marL="0" indent="0" algn="r" rtl="1">
              <a:buNone/>
            </a:pPr>
            <a:r>
              <a:rPr lang="en-US" sz="1120" dirty="0">
                <a:solidFill>
                  <a:srgbClr val="64748B"/>
                </a:solidFill>
                <a:latin typeface="Noto Sans Arabic" pitchFamily="34" charset="0"/>
                <a:ea typeface="Noto Sans Arabic" pitchFamily="34" charset="-122"/>
                <a:cs typeface="Noto Sans Arabic" pitchFamily="34" charset="-120"/>
              </a:rPr>
              <a:t>۵۰۰ درخت</a:t>
            </a:r>
            <a:endParaRPr lang="en-US" sz="1120" dirty="0"/>
          </a:p>
        </p:txBody>
      </p:sp>
      <p:sp>
        <p:nvSpPr>
          <p:cNvPr id="40" name="Text 38"/>
          <p:cNvSpPr/>
          <p:nvPr/>
        </p:nvSpPr>
        <p:spPr>
          <a:xfrm>
            <a:off x="8357616" y="4626864"/>
            <a:ext cx="2816352" cy="274320"/>
          </a:xfrm>
          <a:prstGeom prst="rect">
            <a:avLst/>
          </a:prstGeom>
          <a:noFill/>
          <a:ln/>
        </p:spPr>
        <p:txBody>
          <a:bodyPr wrap="square" lIns="0" tIns="0" rIns="0" bIns="0" rtlCol="0" anchor="ctr">
            <a:normAutofit/>
          </a:bodyPr>
          <a:lstStyle/>
          <a:p>
            <a:pPr marL="0" indent="0" algn="ctr" rtl="1">
              <a:buNone/>
            </a:pPr>
            <a:r>
              <a:rPr lang="en-US" sz="1300" b="1" dirty="0">
                <a:solidFill>
                  <a:srgbClr val="102A43"/>
                </a:solidFill>
                <a:latin typeface="Noto Sans Arabic" pitchFamily="34" charset="0"/>
                <a:ea typeface="Noto Sans Arabic" pitchFamily="34" charset="-122"/>
                <a:cs typeface="Noto Sans Arabic" pitchFamily="34" charset="-120"/>
              </a:rPr>
              <a:t>اعتبارسنجی متقاطع طبقه‌بندی‌شده</a:t>
            </a:r>
            <a:endParaRPr lang="en-US" sz="1300" dirty="0"/>
          </a:p>
        </p:txBody>
      </p:sp>
      <p:sp>
        <p:nvSpPr>
          <p:cNvPr id="41" name="Text 39"/>
          <p:cNvSpPr/>
          <p:nvPr/>
        </p:nvSpPr>
        <p:spPr>
          <a:xfrm>
            <a:off x="8357616" y="4928616"/>
            <a:ext cx="2816352" cy="256032"/>
          </a:xfrm>
          <a:prstGeom prst="rect">
            <a:avLst/>
          </a:prstGeom>
          <a:noFill/>
          <a:ln/>
        </p:spPr>
        <p:txBody>
          <a:bodyPr wrap="square" lIns="0" tIns="0" rIns="0" bIns="0" rtlCol="0" anchor="ctr">
            <a:normAutofit/>
          </a:bodyPr>
          <a:lstStyle/>
          <a:p>
            <a:pPr marL="0" indent="0" algn="ctr" rtl="1">
              <a:buNone/>
            </a:pPr>
            <a:r>
              <a:rPr lang="en-US" sz="1520" b="1" dirty="0">
                <a:solidFill>
                  <a:srgbClr val="0B6E99"/>
                </a:solidFill>
                <a:latin typeface="Noto Sans Arabic" pitchFamily="34" charset="0"/>
                <a:ea typeface="Noto Sans Arabic" pitchFamily="34" charset="-122"/>
                <a:cs typeface="Noto Sans Arabic" pitchFamily="34" charset="-120"/>
              </a:rPr>
              <a:t>۵ بخش × ۵ تکرار</a:t>
            </a:r>
            <a:endParaRPr lang="en-US" sz="1520" dirty="0"/>
          </a:p>
        </p:txBody>
      </p:sp>
      <p:sp>
        <p:nvSpPr>
          <p:cNvPr id="42" name="Text 40"/>
          <p:cNvSpPr/>
          <p:nvPr/>
        </p:nvSpPr>
        <p:spPr>
          <a:xfrm>
            <a:off x="8302752" y="5340096"/>
            <a:ext cx="2926080" cy="274320"/>
          </a:xfrm>
          <a:prstGeom prst="rect">
            <a:avLst/>
          </a:prstGeom>
          <a:noFill/>
          <a:ln/>
        </p:spPr>
        <p:txBody>
          <a:bodyPr wrap="square" lIns="0" tIns="0" rIns="0" bIns="0" rtlCol="0" anchor="ctr">
            <a:normAutofit/>
          </a:bodyPr>
          <a:lstStyle/>
          <a:p>
            <a:pPr marL="0" indent="0" algn="ctr">
              <a:buNone/>
            </a:pPr>
            <a:r>
              <a:rPr lang="en-US" sz="1050" dirty="0">
                <a:solidFill>
                  <a:srgbClr val="64748B"/>
                </a:solidFill>
                <a:latin typeface="Aptos" pitchFamily="34" charset="0"/>
                <a:ea typeface="Aptos" pitchFamily="34" charset="-122"/>
                <a:cs typeface="Aptos" pitchFamily="34" charset="-120"/>
              </a:rPr>
              <a:t>Accuracy • Precision • Recall • Specificity • F1</a:t>
            </a:r>
            <a:endParaRPr lang="en-US" sz="1050" dirty="0"/>
          </a:p>
        </p:txBody>
      </p:sp>
      <p:sp>
        <p:nvSpPr>
          <p:cNvPr id="43" name="Shape 41"/>
          <p:cNvSpPr/>
          <p:nvPr/>
        </p:nvSpPr>
        <p:spPr>
          <a:xfrm>
            <a:off x="658368" y="6473952"/>
            <a:ext cx="10881360" cy="0"/>
          </a:xfrm>
          <a:prstGeom prst="line">
            <a:avLst/>
          </a:prstGeom>
          <a:noFill/>
          <a:ln w="10160">
            <a:solidFill>
              <a:srgbClr val="E9EEF2"/>
            </a:solidFill>
            <a:prstDash val="solid"/>
          </a:ln>
        </p:spPr>
      </p:sp>
      <p:sp>
        <p:nvSpPr>
          <p:cNvPr id="44" name="Text 42"/>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5" name="Text 43"/>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۳ از ۶: روش و پیاده‌سازی | ۶ اسلاید تا پایان</a:t>
            </a:r>
            <a:endParaRPr lang="en-US" sz="920" dirty="0"/>
          </a:p>
        </p:txBody>
      </p:sp>
      <p:sp>
        <p:nvSpPr>
          <p:cNvPr id="46" name="Text 44"/>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۸ / ۱۴</a:t>
            </a:r>
            <a:endParaRPr lang="en-US" sz="1020" dirty="0"/>
          </a:p>
        </p:txBody>
      </p:sp>
      <p:sp>
        <p:nvSpPr>
          <p:cNvPr id="47" name="Shape 45"/>
          <p:cNvSpPr/>
          <p:nvPr/>
        </p:nvSpPr>
        <p:spPr>
          <a:xfrm>
            <a:off x="2560320" y="6766560"/>
            <a:ext cx="3762103" cy="41148"/>
          </a:xfrm>
          <a:prstGeom prst="rect">
            <a:avLst/>
          </a:prstGeom>
          <a:solidFill>
            <a:srgbClr val="0B6E99"/>
          </a:solidFill>
          <a:ln w="12700">
            <a:solidFill>
              <a:srgbClr val="0B6E99"/>
            </a:solidFill>
            <a:prstDash val="solid"/>
          </a:ln>
        </p:spPr>
      </p:sp>
      <p:sp>
        <p:nvSpPr>
          <p:cNvPr id="48" name="Shape 46"/>
          <p:cNvSpPr/>
          <p:nvPr/>
        </p:nvSpPr>
        <p:spPr>
          <a:xfrm>
            <a:off x="6322423" y="6766560"/>
            <a:ext cx="2821577"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9"/>
                            </p:tgtEl>
                          </p:cBhvr>
                        </p:animEffect>
                      </p:childTnLst>
                    </p:cTn>
                  </p:par>
                  <p:par>
                    <p:cTn id="9" fill="hold">
                      <p:stCondLst>
                        <p:cond delay="0"/>
                      </p:stCondLst>
                      <p:childTnLst>
                        <p:animEffect transition="in" filter="fade">
                          <p:cBhvr>
                            <p:cTn id="10" dur="350" fill="hold"/>
                            <p:tgtEl>
                              <p:spTgt spid="11"/>
                            </p:tgtEl>
                          </p:cBhvr>
                        </p:animEffect>
                      </p:childTnLst>
                    </p:cTn>
                  </p:par>
                  <p:par>
                    <p:cTn id="11" fill="hold">
                      <p:stCondLst>
                        <p:cond delay="0"/>
                      </p:stCondLst>
                      <p:childTnLst>
                        <p:animEffect transition="in" filter="fade">
                          <p:cBhvr>
                            <p:cTn id="12" dur="350" fill="hold"/>
                            <p:tgtEl>
                              <p:spTgt spid="12"/>
                            </p:tgtEl>
                          </p:cBhvr>
                        </p:animEffect>
                      </p:childTnLst>
                    </p:cTn>
                  </p:par>
                </p:childTnLst>
              </p:cTn>
            </p:seq>
          </p:childTnLst>
        </p:cTn>
      </p:par>
    </p:tnLst>
    <p:bldLst>
      <p:bldP spid="3" grpId="0"/>
      <p:bldP spid="4" grpId="0"/>
      <p:bldP spid="9" grpId="0"/>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نتایج</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مطالعه موردی: نتیجه فعالیت ایستادن</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۹ / ۱۴</a:t>
            </a:r>
            <a:endParaRPr lang="en-US" sz="1080" dirty="0"/>
          </a:p>
        </p:txBody>
      </p:sp>
      <p:sp>
        <p:nvSpPr>
          <p:cNvPr id="7" name="Shape 5"/>
          <p:cNvSpPr/>
          <p:nvPr/>
        </p:nvSpPr>
        <p:spPr>
          <a:xfrm>
            <a:off x="658368" y="1481328"/>
            <a:ext cx="3794760" cy="4526280"/>
          </a:xfrm>
          <a:prstGeom prst="roundRect">
            <a:avLst>
              <a:gd name="adj" fmla="val 1928"/>
            </a:avLst>
          </a:prstGeom>
          <a:solidFill>
            <a:srgbClr val="102A43"/>
          </a:solidFill>
          <a:ln w="12700">
            <a:solidFill>
              <a:srgbClr val="102A43"/>
            </a:solidFill>
            <a:prstDash val="solid"/>
          </a:ln>
          <a:effectLst>
            <a:outerShdw blurRad="12700" dist="50800" dir="2700000" algn="bl" rotWithShape="0">
              <a:srgbClr val="B0BEC5">
                <a:alpha val="12000"/>
              </a:srgbClr>
            </a:outerShdw>
          </a:effectLst>
        </p:spPr>
      </p:sp>
      <p:sp>
        <p:nvSpPr>
          <p:cNvPr id="8" name="Text 6"/>
          <p:cNvSpPr/>
          <p:nvPr/>
        </p:nvSpPr>
        <p:spPr>
          <a:xfrm>
            <a:off x="1051560" y="1792224"/>
            <a:ext cx="3017520" cy="310896"/>
          </a:xfrm>
          <a:prstGeom prst="rect">
            <a:avLst/>
          </a:prstGeom>
          <a:noFill/>
          <a:ln/>
        </p:spPr>
        <p:txBody>
          <a:bodyPr wrap="square" lIns="0" tIns="0" rIns="0" bIns="0" rtlCol="0" anchor="ctr">
            <a:normAutofit/>
          </a:bodyPr>
          <a:lstStyle/>
          <a:p>
            <a:pPr marL="0" indent="0" algn="ctr" rtl="1">
              <a:buNone/>
            </a:pPr>
            <a:r>
              <a:rPr lang="en-US" sz="1350" dirty="0">
                <a:solidFill>
                  <a:srgbClr val="B7D5E4"/>
                </a:solidFill>
                <a:latin typeface="Noto Sans Arabic" pitchFamily="34" charset="0"/>
                <a:ea typeface="Noto Sans Arabic" pitchFamily="34" charset="-122"/>
                <a:cs typeface="Noto Sans Arabic" pitchFamily="34" charset="-120"/>
              </a:rPr>
              <a:t>مدل منتخب</a:t>
            </a:r>
            <a:endParaRPr lang="en-US" sz="1350" dirty="0"/>
          </a:p>
        </p:txBody>
      </p:sp>
      <p:sp>
        <p:nvSpPr>
          <p:cNvPr id="9" name="Text 7"/>
          <p:cNvSpPr/>
          <p:nvPr/>
        </p:nvSpPr>
        <p:spPr>
          <a:xfrm>
            <a:off x="960120" y="2148840"/>
            <a:ext cx="3200400" cy="502920"/>
          </a:xfrm>
          <a:prstGeom prst="rect">
            <a:avLst/>
          </a:prstGeom>
          <a:noFill/>
          <a:ln/>
        </p:spPr>
        <p:txBody>
          <a:bodyPr wrap="square" lIns="0" tIns="0" rIns="0" bIns="0" rtlCol="0" anchor="ctr">
            <a:normAutofit/>
          </a:bodyPr>
          <a:lstStyle/>
          <a:p>
            <a:pPr marL="0" indent="0" algn="ctr">
              <a:buNone/>
            </a:pPr>
            <a:r>
              <a:rPr lang="en-US" sz="2900" b="1" dirty="0">
                <a:solidFill>
                  <a:srgbClr val="FFFFFF"/>
                </a:solidFill>
                <a:latin typeface="Aptos" pitchFamily="34" charset="0"/>
                <a:ea typeface="Aptos" pitchFamily="34" charset="-122"/>
                <a:cs typeface="Aptos" pitchFamily="34" charset="-120"/>
              </a:rPr>
              <a:t>SVM + PCA</a:t>
            </a:r>
            <a:endParaRPr lang="en-US" sz="2900" dirty="0"/>
          </a:p>
        </p:txBody>
      </p:sp>
      <p:sp>
        <p:nvSpPr>
          <p:cNvPr id="10" name="Text 8"/>
          <p:cNvSpPr/>
          <p:nvPr/>
        </p:nvSpPr>
        <p:spPr>
          <a:xfrm>
            <a:off x="1051560" y="2880360"/>
            <a:ext cx="3017520" cy="274320"/>
          </a:xfrm>
          <a:prstGeom prst="rect">
            <a:avLst/>
          </a:prstGeom>
          <a:noFill/>
          <a:ln/>
        </p:spPr>
        <p:txBody>
          <a:bodyPr wrap="square" lIns="0" tIns="0" rIns="0" bIns="0" rtlCol="0" anchor="ctr">
            <a:normAutofit/>
          </a:bodyPr>
          <a:lstStyle/>
          <a:p>
            <a:pPr marL="0" indent="0" algn="ctr" rtl="1">
              <a:buNone/>
            </a:pPr>
            <a:r>
              <a:rPr lang="en-US" sz="1350" dirty="0">
                <a:solidFill>
                  <a:srgbClr val="B7D5E4"/>
                </a:solidFill>
                <a:latin typeface="Noto Sans Arabic" pitchFamily="34" charset="0"/>
                <a:ea typeface="Noto Sans Arabic" pitchFamily="34" charset="-122"/>
                <a:cs typeface="Noto Sans Arabic" pitchFamily="34" charset="-120"/>
              </a:rPr>
              <a:t>دقت</a:t>
            </a:r>
            <a:endParaRPr lang="en-US" sz="1350" dirty="0"/>
          </a:p>
        </p:txBody>
      </p:sp>
      <p:sp>
        <p:nvSpPr>
          <p:cNvPr id="11" name="Text 9"/>
          <p:cNvSpPr/>
          <p:nvPr/>
        </p:nvSpPr>
        <p:spPr>
          <a:xfrm>
            <a:off x="1097280" y="3163824"/>
            <a:ext cx="2926080" cy="786384"/>
          </a:xfrm>
          <a:prstGeom prst="rect">
            <a:avLst/>
          </a:prstGeom>
          <a:noFill/>
          <a:ln/>
        </p:spPr>
        <p:txBody>
          <a:bodyPr wrap="square" lIns="0" tIns="0" rIns="0" bIns="0" rtlCol="0" anchor="ctr">
            <a:normAutofit/>
          </a:bodyPr>
          <a:lstStyle/>
          <a:p>
            <a:pPr marL="0" indent="0" algn="ctr" rtl="1">
              <a:buNone/>
            </a:pPr>
            <a:r>
              <a:rPr lang="en-US" sz="4800" b="1" dirty="0">
                <a:solidFill>
                  <a:srgbClr val="57D6C6"/>
                </a:solidFill>
                <a:latin typeface="Noto Sans Arabic" pitchFamily="34" charset="0"/>
                <a:ea typeface="Noto Sans Arabic" pitchFamily="34" charset="-122"/>
                <a:cs typeface="Noto Sans Arabic" pitchFamily="34" charset="-120"/>
              </a:rPr>
              <a:t>۹۶٪</a:t>
            </a:r>
            <a:endParaRPr lang="en-US" sz="4800" dirty="0"/>
          </a:p>
        </p:txBody>
      </p:sp>
      <p:sp>
        <p:nvSpPr>
          <p:cNvPr id="12" name="Shape 10"/>
          <p:cNvSpPr/>
          <p:nvPr/>
        </p:nvSpPr>
        <p:spPr>
          <a:xfrm>
            <a:off x="1207008" y="4169664"/>
            <a:ext cx="2606040" cy="0"/>
          </a:xfrm>
          <a:prstGeom prst="line">
            <a:avLst/>
          </a:prstGeom>
          <a:noFill/>
          <a:ln w="12700">
            <a:solidFill>
              <a:srgbClr val="335A75"/>
            </a:solidFill>
            <a:prstDash val="solid"/>
          </a:ln>
        </p:spPr>
      </p:sp>
      <p:sp>
        <p:nvSpPr>
          <p:cNvPr id="13" name="Text 11"/>
          <p:cNvSpPr/>
          <p:nvPr/>
        </p:nvSpPr>
        <p:spPr>
          <a:xfrm>
            <a:off x="1143000" y="4370832"/>
            <a:ext cx="2788920" cy="347472"/>
          </a:xfrm>
          <a:prstGeom prst="rect">
            <a:avLst/>
          </a:prstGeom>
          <a:noFill/>
          <a:ln/>
        </p:spPr>
        <p:txBody>
          <a:bodyPr wrap="square" lIns="0" tIns="0" rIns="0" bIns="0" rtlCol="0" anchor="ctr">
            <a:normAutofit/>
          </a:bodyPr>
          <a:lstStyle/>
          <a:p>
            <a:pPr marL="0" indent="0" algn="ctr" rtl="1">
              <a:buNone/>
            </a:pPr>
            <a:r>
              <a:rPr lang="en-US" sz="1900" b="1" dirty="0">
                <a:solidFill>
                  <a:srgbClr val="FFFFFF"/>
                </a:solidFill>
                <a:latin typeface="Noto Sans Arabic" pitchFamily="34" charset="0"/>
                <a:ea typeface="Noto Sans Arabic" pitchFamily="34" charset="-122"/>
                <a:cs typeface="Noto Sans Arabic" pitchFamily="34" charset="-120"/>
              </a:rPr>
              <a:t>۱۳ مؤلفه اصلی</a:t>
            </a:r>
            <a:endParaRPr lang="en-US" sz="1900" dirty="0"/>
          </a:p>
        </p:txBody>
      </p:sp>
      <p:sp>
        <p:nvSpPr>
          <p:cNvPr id="14" name="Text 12"/>
          <p:cNvSpPr/>
          <p:nvPr/>
        </p:nvSpPr>
        <p:spPr>
          <a:xfrm>
            <a:off x="1143000" y="4782312"/>
            <a:ext cx="2788920" cy="274320"/>
          </a:xfrm>
          <a:prstGeom prst="rect">
            <a:avLst/>
          </a:prstGeom>
          <a:noFill/>
          <a:ln/>
        </p:spPr>
        <p:txBody>
          <a:bodyPr wrap="square" lIns="0" tIns="0" rIns="0" bIns="0" rtlCol="0" anchor="ctr">
            <a:normAutofit/>
          </a:bodyPr>
          <a:lstStyle/>
          <a:p>
            <a:pPr marL="0" indent="0" algn="ctr" rtl="1">
              <a:buNone/>
            </a:pPr>
            <a:r>
              <a:rPr lang="en-US" sz="1250" dirty="0">
                <a:solidFill>
                  <a:srgbClr val="B7D5E4"/>
                </a:solidFill>
                <a:latin typeface="Noto Sans Arabic" pitchFamily="34" charset="0"/>
                <a:ea typeface="Noto Sans Arabic" pitchFamily="34" charset="-122"/>
                <a:cs typeface="Noto Sans Arabic" pitchFamily="34" charset="-120"/>
              </a:rPr>
              <a:t>حدود ۷۰٪ واریانس داده</a:t>
            </a:r>
            <a:endParaRPr lang="en-US" sz="1250" dirty="0"/>
          </a:p>
        </p:txBody>
      </p:sp>
      <p:sp>
        <p:nvSpPr>
          <p:cNvPr id="15" name="Text 13"/>
          <p:cNvSpPr/>
          <p:nvPr/>
        </p:nvSpPr>
        <p:spPr>
          <a:xfrm>
            <a:off x="1143000" y="5230368"/>
            <a:ext cx="2788920" cy="292608"/>
          </a:xfrm>
          <a:prstGeom prst="rect">
            <a:avLst/>
          </a:prstGeom>
          <a:noFill/>
          <a:ln/>
        </p:spPr>
        <p:txBody>
          <a:bodyPr wrap="square" lIns="0" tIns="0" rIns="0" bIns="0" rtlCol="0" anchor="ctr">
            <a:normAutofit/>
          </a:bodyPr>
          <a:lstStyle/>
          <a:p>
            <a:pPr marL="0" indent="0" algn="ctr" rtl="1">
              <a:buNone/>
            </a:pPr>
            <a:r>
              <a:rPr lang="en-US" sz="1250" dirty="0">
                <a:solidFill>
                  <a:srgbClr val="D8EAF2"/>
                </a:solidFill>
                <a:latin typeface="Noto Sans Arabic" pitchFamily="34" charset="0"/>
                <a:ea typeface="Noto Sans Arabic" pitchFamily="34" charset="-122"/>
                <a:cs typeface="Noto Sans Arabic" pitchFamily="34" charset="-120"/>
              </a:rPr>
              <a:t>تفکیک سه سطح شبیه‌سازی‌شده</a:t>
            </a:r>
            <a:endParaRPr lang="en-US" sz="1250" dirty="0"/>
          </a:p>
        </p:txBody>
      </p:sp>
      <p:sp>
        <p:nvSpPr>
          <p:cNvPr id="16" name="Shape 14"/>
          <p:cNvSpPr/>
          <p:nvPr/>
        </p:nvSpPr>
        <p:spPr>
          <a:xfrm>
            <a:off x="4709160" y="1481328"/>
            <a:ext cx="6812280" cy="4526280"/>
          </a:xfrm>
          <a:prstGeom prst="roundRect">
            <a:avLst>
              <a:gd name="adj" fmla="val 1616"/>
            </a:avLst>
          </a:prstGeom>
          <a:solidFill>
            <a:srgbClr val="FFFFFF"/>
          </a:solidFill>
          <a:ln w="12700">
            <a:solidFill>
              <a:srgbClr val="D9E2EC"/>
            </a:solidFill>
            <a:prstDash val="solid"/>
          </a:ln>
          <a:effectLst>
            <a:outerShdw blurRad="12700" dist="50800" dir="2700000" algn="bl" rotWithShape="0">
              <a:srgbClr val="B0BEC5">
                <a:alpha val="12000"/>
              </a:srgbClr>
            </a:outerShdw>
          </a:effectLst>
        </p:spPr>
      </p:sp>
      <p:sp>
        <p:nvSpPr>
          <p:cNvPr id="17" name="Shape 15"/>
          <p:cNvSpPr/>
          <p:nvPr/>
        </p:nvSpPr>
        <p:spPr>
          <a:xfrm>
            <a:off x="9738360" y="1746504"/>
            <a:ext cx="1444752" cy="347472"/>
          </a:xfrm>
          <a:prstGeom prst="roundRect">
            <a:avLst>
              <a:gd name="adj" fmla="val 47368"/>
            </a:avLst>
          </a:prstGeom>
          <a:solidFill>
            <a:srgbClr val="E7F4F8"/>
          </a:solidFill>
          <a:ln w="12700">
            <a:solidFill>
              <a:srgbClr val="E7F4F8"/>
            </a:solidFill>
            <a:prstDash val="solid"/>
          </a:ln>
        </p:spPr>
      </p:sp>
      <p:sp>
        <p:nvSpPr>
          <p:cNvPr id="18" name="Text 16"/>
          <p:cNvSpPr/>
          <p:nvPr/>
        </p:nvSpPr>
        <p:spPr>
          <a:xfrm>
            <a:off x="9848088" y="1764792"/>
            <a:ext cx="1225296" cy="310896"/>
          </a:xfrm>
          <a:prstGeom prst="rect">
            <a:avLst/>
          </a:prstGeom>
          <a:noFill/>
          <a:ln/>
        </p:spPr>
        <p:txBody>
          <a:bodyPr wrap="square" lIns="0" tIns="0" rIns="0" bIns="0" rtlCol="0" anchor="ctr">
            <a:normAutofit/>
          </a:bodyPr>
          <a:lstStyle/>
          <a:p>
            <a:pPr marL="0" indent="0" algn="ctr" rtl="1">
              <a:buNone/>
            </a:pPr>
            <a:r>
              <a:rPr lang="en-US" sz="1300" b="1" dirty="0">
                <a:solidFill>
                  <a:srgbClr val="0B6E99"/>
                </a:solidFill>
                <a:latin typeface="Noto Sans Arabic" pitchFamily="34" charset="0"/>
                <a:ea typeface="Noto Sans Arabic" pitchFamily="34" charset="-122"/>
                <a:cs typeface="Noto Sans Arabic" pitchFamily="34" charset="-120"/>
              </a:rPr>
              <a:t>مقایسه مدل‌ها</a:t>
            </a:r>
            <a:endParaRPr lang="en-US" sz="1300" dirty="0"/>
          </a:p>
        </p:txBody>
      </p:sp>
      <p:sp>
        <p:nvSpPr>
          <p:cNvPr id="19" name="Text 17"/>
          <p:cNvSpPr/>
          <p:nvPr/>
        </p:nvSpPr>
        <p:spPr>
          <a:xfrm>
            <a:off x="5102352" y="2532888"/>
            <a:ext cx="1508760" cy="228600"/>
          </a:xfrm>
          <a:prstGeom prst="rect">
            <a:avLst/>
          </a:prstGeom>
          <a:noFill/>
          <a:ln/>
        </p:spPr>
        <p:txBody>
          <a:bodyPr wrap="square" lIns="0" tIns="0" rIns="0" bIns="0" rtlCol="0" anchor="ctr">
            <a:normAutofit/>
          </a:bodyPr>
          <a:lstStyle/>
          <a:p>
            <a:pPr marL="0" indent="0" algn="l">
              <a:buNone/>
            </a:pPr>
            <a:r>
              <a:rPr lang="en-US" sz="1350" b="1" dirty="0">
                <a:solidFill>
                  <a:srgbClr val="102A43"/>
                </a:solidFill>
                <a:latin typeface="Aptos" pitchFamily="34" charset="0"/>
                <a:ea typeface="Aptos" pitchFamily="34" charset="-122"/>
                <a:cs typeface="Aptos" pitchFamily="34" charset="-120"/>
              </a:rPr>
              <a:t>SVM</a:t>
            </a:r>
            <a:endParaRPr lang="en-US" sz="1350" dirty="0"/>
          </a:p>
        </p:txBody>
      </p:sp>
      <p:sp>
        <p:nvSpPr>
          <p:cNvPr id="20" name="Shape 18"/>
          <p:cNvSpPr/>
          <p:nvPr/>
        </p:nvSpPr>
        <p:spPr>
          <a:xfrm>
            <a:off x="6720840" y="2423160"/>
            <a:ext cx="4069080" cy="475488"/>
          </a:xfrm>
          <a:prstGeom prst="roundRect">
            <a:avLst>
              <a:gd name="adj" fmla="val 17308"/>
            </a:avLst>
          </a:prstGeom>
          <a:solidFill>
            <a:srgbClr val="EEF4F8"/>
          </a:solidFill>
          <a:ln w="12700">
            <a:solidFill>
              <a:srgbClr val="EEF4F8"/>
            </a:solidFill>
            <a:prstDash val="solid"/>
          </a:ln>
        </p:spPr>
      </p:sp>
      <p:sp>
        <p:nvSpPr>
          <p:cNvPr id="21" name="Shape 19"/>
          <p:cNvSpPr/>
          <p:nvPr/>
        </p:nvSpPr>
        <p:spPr>
          <a:xfrm>
            <a:off x="6720840" y="2423160"/>
            <a:ext cx="3906317" cy="475488"/>
          </a:xfrm>
          <a:prstGeom prst="roundRect">
            <a:avLst>
              <a:gd name="adj" fmla="val 17308"/>
            </a:avLst>
          </a:prstGeom>
          <a:solidFill>
            <a:srgbClr val="0B6E99"/>
          </a:solidFill>
          <a:ln w="12700">
            <a:solidFill>
              <a:srgbClr val="0B6E99"/>
            </a:solidFill>
            <a:prstDash val="solid"/>
          </a:ln>
        </p:spPr>
      </p:sp>
      <p:sp>
        <p:nvSpPr>
          <p:cNvPr id="22" name="Text 20"/>
          <p:cNvSpPr/>
          <p:nvPr/>
        </p:nvSpPr>
        <p:spPr>
          <a:xfrm>
            <a:off x="10890504" y="2478024"/>
            <a:ext cx="438912" cy="292608"/>
          </a:xfrm>
          <a:prstGeom prst="rect">
            <a:avLst/>
          </a:prstGeom>
          <a:noFill/>
          <a:ln/>
        </p:spPr>
        <p:txBody>
          <a:bodyPr wrap="square" lIns="0" tIns="0" rIns="0" bIns="0" rtlCol="0" anchor="ctr">
            <a:normAutofit/>
          </a:bodyPr>
          <a:lstStyle/>
          <a:p>
            <a:pPr marL="0" indent="0" algn="ctr" rtl="1">
              <a:buNone/>
            </a:pPr>
            <a:r>
              <a:rPr lang="en-US" sz="1300" b="1" dirty="0">
                <a:solidFill>
                  <a:srgbClr val="0B6E99"/>
                </a:solidFill>
                <a:latin typeface="Noto Sans Arabic" pitchFamily="34" charset="0"/>
                <a:ea typeface="Noto Sans Arabic" pitchFamily="34" charset="-122"/>
                <a:cs typeface="Noto Sans Arabic" pitchFamily="34" charset="-120"/>
              </a:rPr>
              <a:t>۹۶٪</a:t>
            </a:r>
            <a:endParaRPr lang="en-US" sz="1300" dirty="0"/>
          </a:p>
        </p:txBody>
      </p:sp>
      <p:sp>
        <p:nvSpPr>
          <p:cNvPr id="23" name="Text 21"/>
          <p:cNvSpPr/>
          <p:nvPr/>
        </p:nvSpPr>
        <p:spPr>
          <a:xfrm>
            <a:off x="5102352" y="3310128"/>
            <a:ext cx="1508760" cy="228600"/>
          </a:xfrm>
          <a:prstGeom prst="rect">
            <a:avLst/>
          </a:prstGeom>
          <a:noFill/>
          <a:ln/>
        </p:spPr>
        <p:txBody>
          <a:bodyPr wrap="square" lIns="0" tIns="0" rIns="0" bIns="0" rtlCol="0" anchor="ctr">
            <a:normAutofit/>
          </a:bodyPr>
          <a:lstStyle/>
          <a:p>
            <a:pPr marL="0" indent="0" algn="l">
              <a:buNone/>
            </a:pPr>
            <a:r>
              <a:rPr lang="en-US" sz="1350" b="1" dirty="0">
                <a:solidFill>
                  <a:srgbClr val="102A43"/>
                </a:solidFill>
                <a:latin typeface="Aptos" pitchFamily="34" charset="0"/>
                <a:ea typeface="Aptos" pitchFamily="34" charset="-122"/>
                <a:cs typeface="Aptos" pitchFamily="34" charset="-120"/>
              </a:rPr>
              <a:t>KNN</a:t>
            </a:r>
            <a:endParaRPr lang="en-US" sz="1350" dirty="0"/>
          </a:p>
        </p:txBody>
      </p:sp>
      <p:sp>
        <p:nvSpPr>
          <p:cNvPr id="24" name="Shape 22"/>
          <p:cNvSpPr/>
          <p:nvPr/>
        </p:nvSpPr>
        <p:spPr>
          <a:xfrm>
            <a:off x="6720840" y="3200400"/>
            <a:ext cx="4069080" cy="475488"/>
          </a:xfrm>
          <a:prstGeom prst="roundRect">
            <a:avLst>
              <a:gd name="adj" fmla="val 17308"/>
            </a:avLst>
          </a:prstGeom>
          <a:solidFill>
            <a:srgbClr val="EEF4F8"/>
          </a:solidFill>
          <a:ln w="12700">
            <a:solidFill>
              <a:srgbClr val="EEF4F8"/>
            </a:solidFill>
            <a:prstDash val="solid"/>
          </a:ln>
        </p:spPr>
      </p:sp>
      <p:sp>
        <p:nvSpPr>
          <p:cNvPr id="25" name="Shape 23"/>
          <p:cNvSpPr/>
          <p:nvPr/>
        </p:nvSpPr>
        <p:spPr>
          <a:xfrm>
            <a:off x="6720840" y="3200400"/>
            <a:ext cx="3784244" cy="475488"/>
          </a:xfrm>
          <a:prstGeom prst="roundRect">
            <a:avLst>
              <a:gd name="adj" fmla="val 17308"/>
            </a:avLst>
          </a:prstGeom>
          <a:solidFill>
            <a:srgbClr val="0B7A75"/>
          </a:solidFill>
          <a:ln w="12700">
            <a:solidFill>
              <a:srgbClr val="0B7A75"/>
            </a:solidFill>
            <a:prstDash val="solid"/>
          </a:ln>
        </p:spPr>
      </p:sp>
      <p:sp>
        <p:nvSpPr>
          <p:cNvPr id="26" name="Text 24"/>
          <p:cNvSpPr/>
          <p:nvPr/>
        </p:nvSpPr>
        <p:spPr>
          <a:xfrm>
            <a:off x="10890504" y="3255264"/>
            <a:ext cx="438912" cy="292608"/>
          </a:xfrm>
          <a:prstGeom prst="rect">
            <a:avLst/>
          </a:prstGeom>
          <a:noFill/>
          <a:ln/>
        </p:spPr>
        <p:txBody>
          <a:bodyPr wrap="square" lIns="0" tIns="0" rIns="0" bIns="0" rtlCol="0" anchor="ctr">
            <a:normAutofit/>
          </a:bodyPr>
          <a:lstStyle/>
          <a:p>
            <a:pPr marL="0" indent="0" algn="ctr" rtl="1">
              <a:buNone/>
            </a:pPr>
            <a:r>
              <a:rPr lang="en-US" sz="1300" b="1" dirty="0">
                <a:solidFill>
                  <a:srgbClr val="0B7A75"/>
                </a:solidFill>
                <a:latin typeface="Noto Sans Arabic" pitchFamily="34" charset="0"/>
                <a:ea typeface="Noto Sans Arabic" pitchFamily="34" charset="-122"/>
                <a:cs typeface="Noto Sans Arabic" pitchFamily="34" charset="-120"/>
              </a:rPr>
              <a:t>۹۳٪</a:t>
            </a:r>
            <a:endParaRPr lang="en-US" sz="1300" dirty="0"/>
          </a:p>
        </p:txBody>
      </p:sp>
      <p:sp>
        <p:nvSpPr>
          <p:cNvPr id="27" name="Text 25"/>
          <p:cNvSpPr/>
          <p:nvPr/>
        </p:nvSpPr>
        <p:spPr>
          <a:xfrm>
            <a:off x="5102352" y="4087368"/>
            <a:ext cx="1508760" cy="228600"/>
          </a:xfrm>
          <a:prstGeom prst="rect">
            <a:avLst/>
          </a:prstGeom>
          <a:noFill/>
          <a:ln/>
        </p:spPr>
        <p:txBody>
          <a:bodyPr wrap="square" lIns="0" tIns="0" rIns="0" bIns="0" rtlCol="0" anchor="ctr">
            <a:normAutofit/>
          </a:bodyPr>
          <a:lstStyle/>
          <a:p>
            <a:pPr marL="0" indent="0" algn="l">
              <a:buNone/>
            </a:pPr>
            <a:r>
              <a:rPr lang="en-US" sz="1350" b="1" dirty="0">
                <a:solidFill>
                  <a:srgbClr val="102A43"/>
                </a:solidFill>
                <a:latin typeface="Aptos" pitchFamily="34" charset="0"/>
                <a:ea typeface="Aptos" pitchFamily="34" charset="-122"/>
                <a:cs typeface="Aptos" pitchFamily="34" charset="-120"/>
              </a:rPr>
              <a:t>Random Forest</a:t>
            </a:r>
            <a:endParaRPr lang="en-US" sz="1350" dirty="0"/>
          </a:p>
        </p:txBody>
      </p:sp>
      <p:sp>
        <p:nvSpPr>
          <p:cNvPr id="28" name="Shape 26"/>
          <p:cNvSpPr/>
          <p:nvPr/>
        </p:nvSpPr>
        <p:spPr>
          <a:xfrm>
            <a:off x="6720840" y="3977640"/>
            <a:ext cx="4069080" cy="475488"/>
          </a:xfrm>
          <a:prstGeom prst="roundRect">
            <a:avLst>
              <a:gd name="adj" fmla="val 17308"/>
            </a:avLst>
          </a:prstGeom>
          <a:solidFill>
            <a:srgbClr val="EEF4F8"/>
          </a:solidFill>
          <a:ln w="12700">
            <a:solidFill>
              <a:srgbClr val="EEF4F8"/>
            </a:solidFill>
            <a:prstDash val="solid"/>
          </a:ln>
        </p:spPr>
      </p:sp>
      <p:sp>
        <p:nvSpPr>
          <p:cNvPr id="29" name="Shape 27"/>
          <p:cNvSpPr/>
          <p:nvPr/>
        </p:nvSpPr>
        <p:spPr>
          <a:xfrm>
            <a:off x="6720840" y="3977640"/>
            <a:ext cx="3743554" cy="475488"/>
          </a:xfrm>
          <a:prstGeom prst="roundRect">
            <a:avLst>
              <a:gd name="adj" fmla="val 17308"/>
            </a:avLst>
          </a:prstGeom>
          <a:solidFill>
            <a:srgbClr val="94A3B8"/>
          </a:solidFill>
          <a:ln w="12700">
            <a:solidFill>
              <a:srgbClr val="94A3B8"/>
            </a:solidFill>
            <a:prstDash val="solid"/>
          </a:ln>
        </p:spPr>
      </p:sp>
      <p:sp>
        <p:nvSpPr>
          <p:cNvPr id="30" name="Text 28"/>
          <p:cNvSpPr/>
          <p:nvPr/>
        </p:nvSpPr>
        <p:spPr>
          <a:xfrm>
            <a:off x="10890504" y="4032504"/>
            <a:ext cx="438912" cy="292608"/>
          </a:xfrm>
          <a:prstGeom prst="rect">
            <a:avLst/>
          </a:prstGeom>
          <a:noFill/>
          <a:ln/>
        </p:spPr>
        <p:txBody>
          <a:bodyPr wrap="square" lIns="0" tIns="0" rIns="0" bIns="0" rtlCol="0" anchor="ctr">
            <a:normAutofit/>
          </a:bodyPr>
          <a:lstStyle/>
          <a:p>
            <a:pPr marL="0" indent="0" algn="ctr" rtl="1">
              <a:buNone/>
            </a:pPr>
            <a:r>
              <a:rPr lang="en-US" sz="1300" b="1" dirty="0">
                <a:solidFill>
                  <a:srgbClr val="94A3B8"/>
                </a:solidFill>
                <a:latin typeface="Noto Sans Arabic" pitchFamily="34" charset="0"/>
                <a:ea typeface="Noto Sans Arabic" pitchFamily="34" charset="-122"/>
                <a:cs typeface="Noto Sans Arabic" pitchFamily="34" charset="-120"/>
              </a:rPr>
              <a:t>۹۲٪</a:t>
            </a:r>
            <a:endParaRPr lang="en-US" sz="1300" dirty="0"/>
          </a:p>
        </p:txBody>
      </p:sp>
      <p:sp>
        <p:nvSpPr>
          <p:cNvPr id="31" name="Text 29"/>
          <p:cNvSpPr/>
          <p:nvPr/>
        </p:nvSpPr>
        <p:spPr>
          <a:xfrm>
            <a:off x="7882128" y="4572000"/>
            <a:ext cx="2926080" cy="256032"/>
          </a:xfrm>
          <a:prstGeom prst="rect">
            <a:avLst/>
          </a:prstGeom>
          <a:noFill/>
          <a:ln/>
        </p:spPr>
        <p:txBody>
          <a:bodyPr wrap="square" lIns="0" tIns="0" rIns="0" bIns="0" rtlCol="0" anchor="ctr">
            <a:normAutofit/>
          </a:bodyPr>
          <a:lstStyle/>
          <a:p>
            <a:pPr marL="0" indent="0" algn="r" rtl="1">
              <a:buNone/>
            </a:pPr>
            <a:r>
              <a:rPr lang="en-US" sz="1550" b="1" dirty="0">
                <a:solidFill>
                  <a:srgbClr val="102A43"/>
                </a:solidFill>
                <a:latin typeface="Noto Sans Arabic" pitchFamily="34" charset="0"/>
                <a:ea typeface="Noto Sans Arabic" pitchFamily="34" charset="-122"/>
                <a:cs typeface="Noto Sans Arabic" pitchFamily="34" charset="-120"/>
              </a:rPr>
              <a:t>چرا ایستادن قابل تفکیک بود؟</a:t>
            </a:r>
            <a:endParaRPr lang="en-US" sz="1550" dirty="0"/>
          </a:p>
        </p:txBody>
      </p:sp>
      <p:sp>
        <p:nvSpPr>
          <p:cNvPr id="32" name="Shape 30"/>
          <p:cNvSpPr/>
          <p:nvPr/>
        </p:nvSpPr>
        <p:spPr>
          <a:xfrm>
            <a:off x="10753344" y="5020056"/>
            <a:ext cx="82296" cy="82296"/>
          </a:xfrm>
          <a:prstGeom prst="ellipse">
            <a:avLst/>
          </a:prstGeom>
          <a:solidFill>
            <a:srgbClr val="0B6E99"/>
          </a:solidFill>
          <a:ln w="12700">
            <a:solidFill>
              <a:srgbClr val="0B6E99"/>
            </a:solidFill>
            <a:prstDash val="solid"/>
          </a:ln>
        </p:spPr>
      </p:sp>
      <p:sp>
        <p:nvSpPr>
          <p:cNvPr id="33" name="Text 31"/>
          <p:cNvSpPr/>
          <p:nvPr/>
        </p:nvSpPr>
        <p:spPr>
          <a:xfrm>
            <a:off x="7360920" y="4919472"/>
            <a:ext cx="3246120" cy="192024"/>
          </a:xfrm>
          <a:prstGeom prst="rect">
            <a:avLst/>
          </a:prstGeom>
          <a:noFill/>
          <a:ln/>
        </p:spPr>
        <p:txBody>
          <a:bodyPr wrap="square" lIns="0" tIns="0" rIns="0" bIns="0" rtlCol="0" anchor="ctr">
            <a:normAutofit/>
          </a:bodyPr>
          <a:lstStyle/>
          <a:p>
            <a:pPr marL="0" indent="0" algn="r" rtl="1">
              <a:buNone/>
            </a:pPr>
            <a:r>
              <a:rPr lang="en-US" sz="1150" dirty="0">
                <a:solidFill>
                  <a:srgbClr val="1F2937"/>
                </a:solidFill>
                <a:latin typeface="Noto Sans Arabic" pitchFamily="34" charset="0"/>
                <a:ea typeface="Noto Sans Arabic" pitchFamily="34" charset="-122"/>
                <a:cs typeface="Noto Sans Arabic" pitchFamily="34" charset="-120"/>
              </a:rPr>
              <a:t>نوسان‌های ظریف بدن</a:t>
            </a:r>
            <a:endParaRPr lang="en-US" sz="1150" dirty="0"/>
          </a:p>
        </p:txBody>
      </p:sp>
      <p:sp>
        <p:nvSpPr>
          <p:cNvPr id="34" name="Shape 32"/>
          <p:cNvSpPr/>
          <p:nvPr/>
        </p:nvSpPr>
        <p:spPr>
          <a:xfrm>
            <a:off x="10753344" y="5266944"/>
            <a:ext cx="82296" cy="82296"/>
          </a:xfrm>
          <a:prstGeom prst="ellipse">
            <a:avLst/>
          </a:prstGeom>
          <a:solidFill>
            <a:srgbClr val="0B6E99"/>
          </a:solidFill>
          <a:ln w="12700">
            <a:solidFill>
              <a:srgbClr val="0B6E99"/>
            </a:solidFill>
            <a:prstDash val="solid"/>
          </a:ln>
        </p:spPr>
      </p:sp>
      <p:sp>
        <p:nvSpPr>
          <p:cNvPr id="35" name="Text 33"/>
          <p:cNvSpPr/>
          <p:nvPr/>
        </p:nvSpPr>
        <p:spPr>
          <a:xfrm>
            <a:off x="7360920" y="5166360"/>
            <a:ext cx="3246120" cy="192024"/>
          </a:xfrm>
          <a:prstGeom prst="rect">
            <a:avLst/>
          </a:prstGeom>
          <a:noFill/>
          <a:ln/>
        </p:spPr>
        <p:txBody>
          <a:bodyPr wrap="square" lIns="0" tIns="0" rIns="0" bIns="0" rtlCol="0" anchor="ctr">
            <a:normAutofit/>
          </a:bodyPr>
          <a:lstStyle/>
          <a:p>
            <a:pPr marL="0" indent="0" algn="r" rtl="1">
              <a:buNone/>
            </a:pPr>
            <a:r>
              <a:rPr lang="en-US" sz="1150" dirty="0">
                <a:solidFill>
                  <a:srgbClr val="1F2937"/>
                </a:solidFill>
                <a:latin typeface="Noto Sans Arabic" pitchFamily="34" charset="0"/>
                <a:ea typeface="Noto Sans Arabic" pitchFamily="34" charset="-122"/>
                <a:cs typeface="Noto Sans Arabic" pitchFamily="34" charset="-120"/>
              </a:rPr>
              <a:t>نحوه حفظ تعادل</a:t>
            </a:r>
            <a:endParaRPr lang="en-US" sz="1150" dirty="0"/>
          </a:p>
        </p:txBody>
      </p:sp>
      <p:sp>
        <p:nvSpPr>
          <p:cNvPr id="36" name="Shape 34"/>
          <p:cNvSpPr/>
          <p:nvPr/>
        </p:nvSpPr>
        <p:spPr>
          <a:xfrm>
            <a:off x="10753344" y="5513832"/>
            <a:ext cx="82296" cy="82296"/>
          </a:xfrm>
          <a:prstGeom prst="ellipse">
            <a:avLst/>
          </a:prstGeom>
          <a:solidFill>
            <a:srgbClr val="0B6E99"/>
          </a:solidFill>
          <a:ln w="12700">
            <a:solidFill>
              <a:srgbClr val="0B6E99"/>
            </a:solidFill>
            <a:prstDash val="solid"/>
          </a:ln>
        </p:spPr>
      </p:sp>
      <p:sp>
        <p:nvSpPr>
          <p:cNvPr id="37" name="Text 35"/>
          <p:cNvSpPr/>
          <p:nvPr/>
        </p:nvSpPr>
        <p:spPr>
          <a:xfrm>
            <a:off x="7360920" y="5413248"/>
            <a:ext cx="3246120" cy="192024"/>
          </a:xfrm>
          <a:prstGeom prst="rect">
            <a:avLst/>
          </a:prstGeom>
          <a:noFill/>
          <a:ln/>
        </p:spPr>
        <p:txBody>
          <a:bodyPr wrap="square" lIns="0" tIns="0" rIns="0" bIns="0" rtlCol="0" anchor="ctr">
            <a:normAutofit/>
          </a:bodyPr>
          <a:lstStyle/>
          <a:p>
            <a:pPr marL="0" indent="0" algn="r" rtl="1">
              <a:buNone/>
            </a:pPr>
            <a:r>
              <a:rPr lang="en-US" sz="1150" dirty="0">
                <a:solidFill>
                  <a:srgbClr val="1F2937"/>
                </a:solidFill>
                <a:latin typeface="Noto Sans Arabic" pitchFamily="34" charset="0"/>
                <a:ea typeface="Noto Sans Arabic" pitchFamily="34" charset="-122"/>
                <a:cs typeface="Noto Sans Arabic" pitchFamily="34" charset="-120"/>
              </a:rPr>
              <a:t>میزان حرکت جبرانی دست‌ها و سر</a:t>
            </a:r>
            <a:endParaRPr lang="en-US" sz="1150" dirty="0"/>
          </a:p>
        </p:txBody>
      </p:sp>
      <p:sp>
        <p:nvSpPr>
          <p:cNvPr id="38" name="Text 36"/>
          <p:cNvSpPr/>
          <p:nvPr/>
        </p:nvSpPr>
        <p:spPr>
          <a:xfrm>
            <a:off x="5120640" y="5669280"/>
            <a:ext cx="5349240" cy="228600"/>
          </a:xfrm>
          <a:prstGeom prst="rect">
            <a:avLst/>
          </a:prstGeom>
          <a:noFill/>
          <a:ln/>
        </p:spPr>
        <p:txBody>
          <a:bodyPr wrap="square" lIns="0" tIns="0" rIns="0" bIns="0" rtlCol="0" anchor="ctr">
            <a:normAutofit/>
          </a:bodyPr>
          <a:lstStyle/>
          <a:p>
            <a:pPr marL="0" indent="0" algn="ctr" rtl="1">
              <a:buNone/>
            </a:pPr>
            <a:r>
              <a:rPr lang="en-US" sz="1130" dirty="0">
                <a:solidFill>
                  <a:srgbClr val="C0392B"/>
                </a:solidFill>
                <a:latin typeface="Noto Sans Arabic" pitchFamily="34" charset="0"/>
                <a:ea typeface="Noto Sans Arabic" pitchFamily="34" charset="-122"/>
                <a:cs typeface="Noto Sans Arabic" pitchFamily="34" charset="-120"/>
              </a:rPr>
              <a:t>نمره ۱ بیشترین هم‌پوشانی را با دو سطح دیگر داشت.</a:t>
            </a:r>
            <a:endParaRPr lang="en-US" sz="1130" dirty="0"/>
          </a:p>
        </p:txBody>
      </p:sp>
      <p:sp>
        <p:nvSpPr>
          <p:cNvPr id="39" name="Shape 37"/>
          <p:cNvSpPr/>
          <p:nvPr/>
        </p:nvSpPr>
        <p:spPr>
          <a:xfrm>
            <a:off x="658368" y="6473952"/>
            <a:ext cx="10881360" cy="0"/>
          </a:xfrm>
          <a:prstGeom prst="line">
            <a:avLst/>
          </a:prstGeom>
          <a:noFill/>
          <a:ln w="10160">
            <a:solidFill>
              <a:srgbClr val="E9EEF2"/>
            </a:solidFill>
            <a:prstDash val="solid"/>
          </a:ln>
        </p:spPr>
      </p:sp>
      <p:sp>
        <p:nvSpPr>
          <p:cNvPr id="40" name="Text 38"/>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1" name="Text 39"/>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۴ از ۶: نتایج و بحث | ۵ اسلاید تا پایان</a:t>
            </a:r>
            <a:endParaRPr lang="en-US" sz="920" dirty="0"/>
          </a:p>
        </p:txBody>
      </p:sp>
      <p:sp>
        <p:nvSpPr>
          <p:cNvPr id="42" name="Text 40"/>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۹ / ۱۴</a:t>
            </a:r>
            <a:endParaRPr lang="en-US" sz="1020" dirty="0"/>
          </a:p>
        </p:txBody>
      </p:sp>
      <p:sp>
        <p:nvSpPr>
          <p:cNvPr id="43" name="Shape 41"/>
          <p:cNvSpPr/>
          <p:nvPr/>
        </p:nvSpPr>
        <p:spPr>
          <a:xfrm>
            <a:off x="2560320" y="6766560"/>
            <a:ext cx="4232366" cy="41148"/>
          </a:xfrm>
          <a:prstGeom prst="rect">
            <a:avLst/>
          </a:prstGeom>
          <a:solidFill>
            <a:srgbClr val="0B6E99"/>
          </a:solidFill>
          <a:ln w="12700">
            <a:solidFill>
              <a:srgbClr val="0B6E99"/>
            </a:solidFill>
            <a:prstDash val="solid"/>
          </a:ln>
        </p:spPr>
      </p:sp>
      <p:sp>
        <p:nvSpPr>
          <p:cNvPr id="44" name="Shape 42"/>
          <p:cNvSpPr/>
          <p:nvPr/>
        </p:nvSpPr>
        <p:spPr>
          <a:xfrm>
            <a:off x="6792686" y="6766560"/>
            <a:ext cx="2351314"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8"/>
                            </p:tgtEl>
                          </p:cBhvr>
                        </p:animEffect>
                      </p:childTnLst>
                    </p:cTn>
                  </p:par>
                  <p:par>
                    <p:cTn id="9" fill="hold">
                      <p:stCondLst>
                        <p:cond delay="0"/>
                      </p:stCondLst>
                      <p:childTnLst>
                        <p:animEffect transition="in" filter="fade">
                          <p:cBhvr>
                            <p:cTn id="10" dur="350" fill="hold"/>
                            <p:tgtEl>
                              <p:spTgt spid="9"/>
                            </p:tgtEl>
                          </p:cBhvr>
                        </p:animEffect>
                      </p:childTnLst>
                    </p:cTn>
                  </p:par>
                  <p:par>
                    <p:cTn id="11" fill="hold">
                      <p:stCondLst>
                        <p:cond delay="0"/>
                      </p:stCondLst>
                      <p:childTnLst>
                        <p:animEffect transition="in" filter="fade">
                          <p:cBhvr>
                            <p:cTn id="12" dur="350" fill="hold"/>
                            <p:tgtEl>
                              <p:spTgt spid="10"/>
                            </p:tgtEl>
                          </p:cBhvr>
                        </p:animEffect>
                      </p:childTnLst>
                    </p:cTn>
                  </p:par>
                </p:childTnLst>
              </p:cTn>
            </p:seq>
          </p:childTnLst>
        </p:cTn>
      </p:par>
    </p:tnLst>
    <p:bldLst>
      <p:bldP spid="3" grpId="0"/>
      <p:bldP spid="4" grpId="0"/>
      <p:bldP spid="8" grpId="0"/>
      <p:bldP spid="9" grpId="0"/>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نتایج</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خلاصه نتایج پنج فعالیت</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۱۰ / ۱۴</a:t>
            </a:r>
            <a:endParaRPr lang="en-US" sz="1080" dirty="0"/>
          </a:p>
        </p:txBody>
      </p:sp>
      <p:sp>
        <p:nvSpPr>
          <p:cNvPr id="7" name="Text 5"/>
          <p:cNvSpPr/>
          <p:nvPr/>
        </p:nvSpPr>
        <p:spPr>
          <a:xfrm>
            <a:off x="4041648" y="1444752"/>
            <a:ext cx="7040880" cy="384048"/>
          </a:xfrm>
          <a:prstGeom prst="rect">
            <a:avLst/>
          </a:prstGeom>
          <a:noFill/>
          <a:ln/>
        </p:spPr>
        <p:txBody>
          <a:bodyPr wrap="square" lIns="0" tIns="0" rIns="0" bIns="0" rtlCol="0" anchor="ctr">
            <a:normAutofit/>
          </a:bodyPr>
          <a:lstStyle/>
          <a:p>
            <a:pPr marL="0" indent="0" algn="r" rtl="1">
              <a:buNone/>
            </a:pPr>
            <a:r>
              <a:rPr lang="en-US" sz="1850" b="1" dirty="0">
                <a:solidFill>
                  <a:srgbClr val="102A43"/>
                </a:solidFill>
                <a:latin typeface="Noto Sans Arabic" pitchFamily="34" charset="0"/>
                <a:ea typeface="Noto Sans Arabic" pitchFamily="34" charset="-122"/>
                <a:cs typeface="Noto Sans Arabic" pitchFamily="34" charset="-120"/>
              </a:rPr>
              <a:t>در تمام فعالیت‌ها، ترکیب منتخب شامل SVM و PCA بود</a:t>
            </a:r>
            <a:endParaRPr lang="en-US" sz="1850" dirty="0"/>
          </a:p>
        </p:txBody>
      </p:sp>
      <p:sp>
        <p:nvSpPr>
          <p:cNvPr id="8" name="Shape 6"/>
          <p:cNvSpPr/>
          <p:nvPr/>
        </p:nvSpPr>
        <p:spPr>
          <a:xfrm>
            <a:off x="804672" y="1938528"/>
            <a:ext cx="10588752" cy="502920"/>
          </a:xfrm>
          <a:prstGeom prst="roundRect">
            <a:avLst>
              <a:gd name="adj" fmla="val 14545"/>
            </a:avLst>
          </a:prstGeom>
          <a:solidFill>
            <a:srgbClr val="102A43"/>
          </a:solidFill>
          <a:ln w="12700">
            <a:solidFill>
              <a:srgbClr val="102A43"/>
            </a:solidFill>
            <a:prstDash val="solid"/>
          </a:ln>
        </p:spPr>
      </p:sp>
      <p:sp>
        <p:nvSpPr>
          <p:cNvPr id="9" name="Text 7"/>
          <p:cNvSpPr/>
          <p:nvPr/>
        </p:nvSpPr>
        <p:spPr>
          <a:xfrm>
            <a:off x="8823960" y="2029968"/>
            <a:ext cx="2057400" cy="237744"/>
          </a:xfrm>
          <a:prstGeom prst="rect">
            <a:avLst/>
          </a:prstGeom>
          <a:noFill/>
          <a:ln/>
        </p:spPr>
        <p:txBody>
          <a:bodyPr wrap="square" lIns="0" tIns="0" rIns="0" bIns="0" rtlCol="0" anchor="ctr">
            <a:normAutofit/>
          </a:bodyPr>
          <a:lstStyle/>
          <a:p>
            <a:pPr marL="0" indent="0" algn="ctr" rtl="1">
              <a:buNone/>
            </a:pPr>
            <a:r>
              <a:rPr lang="en-US" sz="1300" b="1" dirty="0">
                <a:solidFill>
                  <a:srgbClr val="FFFFFF"/>
                </a:solidFill>
                <a:latin typeface="Noto Sans Arabic" pitchFamily="34" charset="0"/>
                <a:ea typeface="Noto Sans Arabic" pitchFamily="34" charset="-122"/>
                <a:cs typeface="Noto Sans Arabic" pitchFamily="34" charset="-120"/>
              </a:rPr>
              <a:t>فعالیت</a:t>
            </a:r>
            <a:endParaRPr lang="en-US" sz="1300" dirty="0"/>
          </a:p>
        </p:txBody>
      </p:sp>
      <p:sp>
        <p:nvSpPr>
          <p:cNvPr id="10" name="Text 8"/>
          <p:cNvSpPr/>
          <p:nvPr/>
        </p:nvSpPr>
        <p:spPr>
          <a:xfrm>
            <a:off x="5989320" y="2029968"/>
            <a:ext cx="2057400" cy="237744"/>
          </a:xfrm>
          <a:prstGeom prst="rect">
            <a:avLst/>
          </a:prstGeom>
          <a:noFill/>
          <a:ln/>
        </p:spPr>
        <p:txBody>
          <a:bodyPr wrap="square" lIns="0" tIns="0" rIns="0" bIns="0" rtlCol="0" anchor="ctr">
            <a:normAutofit/>
          </a:bodyPr>
          <a:lstStyle/>
          <a:p>
            <a:pPr marL="0" indent="0" algn="ctr" rtl="1">
              <a:buNone/>
            </a:pPr>
            <a:r>
              <a:rPr lang="en-US" sz="1300" b="1" dirty="0">
                <a:solidFill>
                  <a:srgbClr val="FFFFFF"/>
                </a:solidFill>
                <a:latin typeface="Noto Sans Arabic" pitchFamily="34" charset="0"/>
                <a:ea typeface="Noto Sans Arabic" pitchFamily="34" charset="-122"/>
                <a:cs typeface="Noto Sans Arabic" pitchFamily="34" charset="-120"/>
              </a:rPr>
              <a:t>تعداد مؤلفه اصلی</a:t>
            </a:r>
            <a:endParaRPr lang="en-US" sz="1300" dirty="0"/>
          </a:p>
        </p:txBody>
      </p:sp>
      <p:sp>
        <p:nvSpPr>
          <p:cNvPr id="11" name="Text 9"/>
          <p:cNvSpPr/>
          <p:nvPr/>
        </p:nvSpPr>
        <p:spPr>
          <a:xfrm>
            <a:off x="3721608" y="2029968"/>
            <a:ext cx="1737360" cy="237744"/>
          </a:xfrm>
          <a:prstGeom prst="rect">
            <a:avLst/>
          </a:prstGeom>
          <a:noFill/>
          <a:ln/>
        </p:spPr>
        <p:txBody>
          <a:bodyPr wrap="square" lIns="0" tIns="0" rIns="0" bIns="0" rtlCol="0" anchor="ctr">
            <a:normAutofit/>
          </a:bodyPr>
          <a:lstStyle/>
          <a:p>
            <a:pPr marL="0" indent="0" algn="ctr" rtl="1">
              <a:buNone/>
            </a:pPr>
            <a:r>
              <a:rPr lang="en-US" sz="1300" b="1" dirty="0">
                <a:solidFill>
                  <a:srgbClr val="FFFFFF"/>
                </a:solidFill>
                <a:latin typeface="Noto Sans Arabic" pitchFamily="34" charset="0"/>
                <a:ea typeface="Noto Sans Arabic" pitchFamily="34" charset="-122"/>
                <a:cs typeface="Noto Sans Arabic" pitchFamily="34" charset="-120"/>
              </a:rPr>
              <a:t>حد نصاب داخلی</a:t>
            </a:r>
            <a:endParaRPr lang="en-US" sz="1300" dirty="0"/>
          </a:p>
        </p:txBody>
      </p:sp>
      <p:sp>
        <p:nvSpPr>
          <p:cNvPr id="12" name="Text 10"/>
          <p:cNvSpPr/>
          <p:nvPr/>
        </p:nvSpPr>
        <p:spPr>
          <a:xfrm>
            <a:off x="960120" y="2029968"/>
            <a:ext cx="2468880" cy="237744"/>
          </a:xfrm>
          <a:prstGeom prst="rect">
            <a:avLst/>
          </a:prstGeom>
          <a:noFill/>
          <a:ln/>
        </p:spPr>
        <p:txBody>
          <a:bodyPr wrap="square" lIns="0" tIns="0" rIns="0" bIns="0" rtlCol="0" anchor="ctr">
            <a:normAutofit/>
          </a:bodyPr>
          <a:lstStyle/>
          <a:p>
            <a:pPr marL="0" indent="0" algn="ctr" rtl="1">
              <a:buNone/>
            </a:pPr>
            <a:r>
              <a:rPr lang="en-US" sz="1300" b="1" dirty="0">
                <a:solidFill>
                  <a:srgbClr val="FFFFFF"/>
                </a:solidFill>
                <a:latin typeface="Noto Sans Arabic" pitchFamily="34" charset="0"/>
                <a:ea typeface="Noto Sans Arabic" pitchFamily="34" charset="-122"/>
                <a:cs typeface="Noto Sans Arabic" pitchFamily="34" charset="-120"/>
              </a:rPr>
              <a:t>برداشت اصلی</a:t>
            </a:r>
            <a:endParaRPr lang="en-US" sz="1300" dirty="0"/>
          </a:p>
        </p:txBody>
      </p:sp>
      <p:sp>
        <p:nvSpPr>
          <p:cNvPr id="13" name="Shape 11"/>
          <p:cNvSpPr/>
          <p:nvPr/>
        </p:nvSpPr>
        <p:spPr>
          <a:xfrm>
            <a:off x="804672" y="2560320"/>
            <a:ext cx="10588752" cy="521208"/>
          </a:xfrm>
          <a:prstGeom prst="roundRect">
            <a:avLst>
              <a:gd name="adj" fmla="val 7018"/>
            </a:avLst>
          </a:prstGeom>
          <a:solidFill>
            <a:srgbClr val="FFFFFF"/>
          </a:solidFill>
          <a:ln w="12700">
            <a:solidFill>
              <a:srgbClr val="E0E8EE"/>
            </a:solidFill>
            <a:prstDash val="solid"/>
          </a:ln>
        </p:spPr>
      </p:sp>
      <p:sp>
        <p:nvSpPr>
          <p:cNvPr id="14" name="Shape 12"/>
          <p:cNvSpPr/>
          <p:nvPr/>
        </p:nvSpPr>
        <p:spPr>
          <a:xfrm>
            <a:off x="11219688" y="2560320"/>
            <a:ext cx="173736" cy="521208"/>
          </a:xfrm>
          <a:prstGeom prst="rect">
            <a:avLst/>
          </a:prstGeom>
          <a:solidFill>
            <a:srgbClr val="0B6E99"/>
          </a:solidFill>
          <a:ln w="12700">
            <a:solidFill>
              <a:srgbClr val="0B6E99"/>
            </a:solidFill>
            <a:prstDash val="solid"/>
          </a:ln>
        </p:spPr>
      </p:sp>
      <p:sp>
        <p:nvSpPr>
          <p:cNvPr id="15" name="Text 13"/>
          <p:cNvSpPr/>
          <p:nvPr/>
        </p:nvSpPr>
        <p:spPr>
          <a:xfrm>
            <a:off x="8668512" y="2651760"/>
            <a:ext cx="2212848" cy="256032"/>
          </a:xfrm>
          <a:prstGeom prst="rect">
            <a:avLst/>
          </a:prstGeom>
          <a:noFill/>
          <a:ln/>
        </p:spPr>
        <p:txBody>
          <a:bodyPr wrap="square" lIns="0" tIns="0" rIns="0" bIns="0" rtlCol="0" anchor="ctr">
            <a:normAutofit/>
          </a:bodyPr>
          <a:lstStyle/>
          <a:p>
            <a:pPr marL="0" indent="0" algn="ctr" rtl="1">
              <a:buNone/>
            </a:pPr>
            <a:r>
              <a:rPr lang="en-US" sz="1370" b="1" dirty="0">
                <a:solidFill>
                  <a:srgbClr val="102A43"/>
                </a:solidFill>
                <a:latin typeface="Noto Sans Arabic" pitchFamily="34" charset="0"/>
                <a:ea typeface="Noto Sans Arabic" pitchFamily="34" charset="-122"/>
                <a:cs typeface="Noto Sans Arabic" pitchFamily="34" charset="-120"/>
              </a:rPr>
              <a:t>ایستادن</a:t>
            </a:r>
            <a:endParaRPr lang="en-US" sz="1370" dirty="0"/>
          </a:p>
        </p:txBody>
      </p:sp>
      <p:sp>
        <p:nvSpPr>
          <p:cNvPr id="16" name="Shape 14"/>
          <p:cNvSpPr/>
          <p:nvPr/>
        </p:nvSpPr>
        <p:spPr>
          <a:xfrm>
            <a:off x="6053328" y="2798064"/>
            <a:ext cx="2103120" cy="0"/>
          </a:xfrm>
          <a:prstGeom prst="line">
            <a:avLst/>
          </a:prstGeom>
          <a:noFill/>
          <a:ln w="101600">
            <a:solidFill>
              <a:srgbClr val="EEF4F8"/>
            </a:solidFill>
            <a:prstDash val="solid"/>
            <a:headEnd type="none"/>
            <a:tailEnd type="none"/>
          </a:ln>
        </p:spPr>
      </p:sp>
      <p:sp>
        <p:nvSpPr>
          <p:cNvPr id="17" name="Shape 15"/>
          <p:cNvSpPr/>
          <p:nvPr/>
        </p:nvSpPr>
        <p:spPr>
          <a:xfrm>
            <a:off x="6053328" y="2706624"/>
            <a:ext cx="1822704" cy="182880"/>
          </a:xfrm>
          <a:prstGeom prst="roundRect">
            <a:avLst>
              <a:gd name="adj" fmla="val 30000"/>
            </a:avLst>
          </a:prstGeom>
          <a:solidFill>
            <a:srgbClr val="0B6E99"/>
          </a:solidFill>
          <a:ln w="12700">
            <a:solidFill>
              <a:srgbClr val="0B6E99"/>
            </a:solidFill>
            <a:prstDash val="solid"/>
          </a:ln>
        </p:spPr>
      </p:sp>
      <p:sp>
        <p:nvSpPr>
          <p:cNvPr id="18" name="Text 16"/>
          <p:cNvSpPr/>
          <p:nvPr/>
        </p:nvSpPr>
        <p:spPr>
          <a:xfrm>
            <a:off x="8211312" y="2624328"/>
            <a:ext cx="411480" cy="310896"/>
          </a:xfrm>
          <a:prstGeom prst="rect">
            <a:avLst/>
          </a:prstGeom>
          <a:noFill/>
          <a:ln/>
        </p:spPr>
        <p:txBody>
          <a:bodyPr wrap="square" lIns="0" tIns="0" rIns="0" bIns="0" rtlCol="0" anchor="ctr">
            <a:normAutofit/>
          </a:bodyPr>
          <a:lstStyle/>
          <a:p>
            <a:pPr marL="0" indent="0" algn="ctr" rtl="1">
              <a:buNone/>
            </a:pPr>
            <a:r>
              <a:rPr lang="en-US" sz="1370" b="1" dirty="0">
                <a:solidFill>
                  <a:srgbClr val="0B6E99"/>
                </a:solidFill>
                <a:latin typeface="Noto Sans Arabic" pitchFamily="34" charset="0"/>
                <a:ea typeface="Noto Sans Arabic" pitchFamily="34" charset="-122"/>
                <a:cs typeface="Noto Sans Arabic" pitchFamily="34" charset="-120"/>
              </a:rPr>
              <a:t>۱۳</a:t>
            </a:r>
            <a:endParaRPr lang="en-US" sz="1370" dirty="0"/>
          </a:p>
        </p:txBody>
      </p:sp>
      <p:sp>
        <p:nvSpPr>
          <p:cNvPr id="19" name="Shape 17"/>
          <p:cNvSpPr/>
          <p:nvPr/>
        </p:nvSpPr>
        <p:spPr>
          <a:xfrm>
            <a:off x="4005072" y="2633472"/>
            <a:ext cx="1097280" cy="356616"/>
          </a:xfrm>
          <a:prstGeom prst="roundRect">
            <a:avLst>
              <a:gd name="adj" fmla="val 46154"/>
            </a:avLst>
          </a:prstGeom>
          <a:solidFill>
            <a:srgbClr val="E8F5EE"/>
          </a:solidFill>
          <a:ln w="12700">
            <a:solidFill>
              <a:srgbClr val="E8F5EE"/>
            </a:solidFill>
            <a:prstDash val="solid"/>
          </a:ln>
        </p:spPr>
      </p:sp>
      <p:sp>
        <p:nvSpPr>
          <p:cNvPr id="20" name="Text 18"/>
          <p:cNvSpPr/>
          <p:nvPr/>
        </p:nvSpPr>
        <p:spPr>
          <a:xfrm>
            <a:off x="4114800" y="2651760"/>
            <a:ext cx="877824" cy="320040"/>
          </a:xfrm>
          <a:prstGeom prst="rect">
            <a:avLst/>
          </a:prstGeom>
          <a:noFill/>
          <a:ln/>
        </p:spPr>
        <p:txBody>
          <a:bodyPr wrap="square" lIns="0" tIns="0" rIns="0" bIns="0" rtlCol="0" anchor="ctr">
            <a:normAutofit/>
          </a:bodyPr>
          <a:lstStyle/>
          <a:p>
            <a:pPr marL="0" indent="0" algn="ctr" rtl="1">
              <a:buNone/>
            </a:pPr>
            <a:r>
              <a:rPr lang="en-US" sz="1250" b="1" dirty="0">
                <a:solidFill>
                  <a:srgbClr val="2F855A"/>
                </a:solidFill>
                <a:latin typeface="Noto Sans Arabic" pitchFamily="34" charset="0"/>
                <a:ea typeface="Noto Sans Arabic" pitchFamily="34" charset="-122"/>
                <a:cs typeface="Noto Sans Arabic" pitchFamily="34" charset="-120"/>
              </a:rPr>
              <a:t>۹۰٪</a:t>
            </a:r>
            <a:endParaRPr lang="en-US" sz="1250" dirty="0"/>
          </a:p>
        </p:txBody>
      </p:sp>
      <p:sp>
        <p:nvSpPr>
          <p:cNvPr id="21" name="Text 19"/>
          <p:cNvSpPr/>
          <p:nvPr/>
        </p:nvSpPr>
        <p:spPr>
          <a:xfrm>
            <a:off x="1005840" y="2651760"/>
            <a:ext cx="2468880" cy="256032"/>
          </a:xfrm>
          <a:prstGeom prst="rect">
            <a:avLst/>
          </a:prstGeom>
          <a:noFill/>
          <a:ln/>
        </p:spPr>
        <p:txBody>
          <a:bodyPr wrap="square" lIns="0" tIns="0" rIns="0" bIns="0" rtlCol="0" anchor="ctr">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نتیجه گزارش‌شده: ۹۶٪</a:t>
            </a:r>
            <a:endParaRPr lang="en-US" sz="1140" dirty="0"/>
          </a:p>
        </p:txBody>
      </p:sp>
      <p:sp>
        <p:nvSpPr>
          <p:cNvPr id="22" name="Shape 20"/>
          <p:cNvSpPr/>
          <p:nvPr/>
        </p:nvSpPr>
        <p:spPr>
          <a:xfrm>
            <a:off x="804672" y="3191256"/>
            <a:ext cx="10588752" cy="521208"/>
          </a:xfrm>
          <a:prstGeom prst="roundRect">
            <a:avLst>
              <a:gd name="adj" fmla="val 7018"/>
            </a:avLst>
          </a:prstGeom>
          <a:solidFill>
            <a:srgbClr val="F3F7FA"/>
          </a:solidFill>
          <a:ln w="12700">
            <a:solidFill>
              <a:srgbClr val="E0E8EE"/>
            </a:solidFill>
            <a:prstDash val="solid"/>
          </a:ln>
        </p:spPr>
      </p:sp>
      <p:sp>
        <p:nvSpPr>
          <p:cNvPr id="23" name="Shape 21"/>
          <p:cNvSpPr/>
          <p:nvPr/>
        </p:nvSpPr>
        <p:spPr>
          <a:xfrm>
            <a:off x="11219688" y="3191256"/>
            <a:ext cx="173736" cy="521208"/>
          </a:xfrm>
          <a:prstGeom prst="rect">
            <a:avLst/>
          </a:prstGeom>
          <a:solidFill>
            <a:srgbClr val="0B7A75"/>
          </a:solidFill>
          <a:ln w="12700">
            <a:solidFill>
              <a:srgbClr val="0B7A75"/>
            </a:solidFill>
            <a:prstDash val="solid"/>
          </a:ln>
        </p:spPr>
      </p:sp>
      <p:sp>
        <p:nvSpPr>
          <p:cNvPr id="24" name="Text 22"/>
          <p:cNvSpPr/>
          <p:nvPr/>
        </p:nvSpPr>
        <p:spPr>
          <a:xfrm>
            <a:off x="8668512" y="3282696"/>
            <a:ext cx="2212848" cy="256032"/>
          </a:xfrm>
          <a:prstGeom prst="rect">
            <a:avLst/>
          </a:prstGeom>
          <a:noFill/>
          <a:ln/>
        </p:spPr>
        <p:txBody>
          <a:bodyPr wrap="square" lIns="0" tIns="0" rIns="0" bIns="0" rtlCol="0" anchor="ctr">
            <a:normAutofit/>
          </a:bodyPr>
          <a:lstStyle/>
          <a:p>
            <a:pPr marL="0" indent="0" algn="ctr" rtl="1">
              <a:buNone/>
            </a:pPr>
            <a:r>
              <a:rPr lang="en-US" sz="1370" b="1" dirty="0">
                <a:solidFill>
                  <a:srgbClr val="102A43"/>
                </a:solidFill>
                <a:latin typeface="Noto Sans Arabic" pitchFamily="34" charset="0"/>
                <a:ea typeface="Noto Sans Arabic" pitchFamily="34" charset="-122"/>
                <a:cs typeface="Noto Sans Arabic" pitchFamily="34" charset="-120"/>
              </a:rPr>
              <a:t>برخاستن از صندلی</a:t>
            </a:r>
            <a:endParaRPr lang="en-US" sz="1370" dirty="0"/>
          </a:p>
        </p:txBody>
      </p:sp>
      <p:sp>
        <p:nvSpPr>
          <p:cNvPr id="25" name="Shape 23"/>
          <p:cNvSpPr/>
          <p:nvPr/>
        </p:nvSpPr>
        <p:spPr>
          <a:xfrm>
            <a:off x="6053328" y="3429000"/>
            <a:ext cx="2103120" cy="0"/>
          </a:xfrm>
          <a:prstGeom prst="line">
            <a:avLst/>
          </a:prstGeom>
          <a:noFill/>
          <a:ln w="101600">
            <a:solidFill>
              <a:srgbClr val="EEF4F8"/>
            </a:solidFill>
            <a:prstDash val="solid"/>
            <a:headEnd type="none"/>
            <a:tailEnd type="none"/>
          </a:ln>
        </p:spPr>
      </p:sp>
      <p:sp>
        <p:nvSpPr>
          <p:cNvPr id="26" name="Shape 24"/>
          <p:cNvSpPr/>
          <p:nvPr/>
        </p:nvSpPr>
        <p:spPr>
          <a:xfrm>
            <a:off x="6053328" y="3337560"/>
            <a:ext cx="1962912" cy="182880"/>
          </a:xfrm>
          <a:prstGeom prst="roundRect">
            <a:avLst>
              <a:gd name="adj" fmla="val 30000"/>
            </a:avLst>
          </a:prstGeom>
          <a:solidFill>
            <a:srgbClr val="0B7A75"/>
          </a:solidFill>
          <a:ln w="12700">
            <a:solidFill>
              <a:srgbClr val="0B7A75"/>
            </a:solidFill>
            <a:prstDash val="solid"/>
          </a:ln>
        </p:spPr>
      </p:sp>
      <p:sp>
        <p:nvSpPr>
          <p:cNvPr id="27" name="Text 25"/>
          <p:cNvSpPr/>
          <p:nvPr/>
        </p:nvSpPr>
        <p:spPr>
          <a:xfrm>
            <a:off x="8211312" y="3255264"/>
            <a:ext cx="411480" cy="310896"/>
          </a:xfrm>
          <a:prstGeom prst="rect">
            <a:avLst/>
          </a:prstGeom>
          <a:noFill/>
          <a:ln/>
        </p:spPr>
        <p:txBody>
          <a:bodyPr wrap="square" lIns="0" tIns="0" rIns="0" bIns="0" rtlCol="0" anchor="ctr">
            <a:normAutofit/>
          </a:bodyPr>
          <a:lstStyle/>
          <a:p>
            <a:pPr marL="0" indent="0" algn="ctr" rtl="1">
              <a:buNone/>
            </a:pPr>
            <a:r>
              <a:rPr lang="en-US" sz="1370" b="1" dirty="0">
                <a:solidFill>
                  <a:srgbClr val="0B7A75"/>
                </a:solidFill>
                <a:latin typeface="Noto Sans Arabic" pitchFamily="34" charset="0"/>
                <a:ea typeface="Noto Sans Arabic" pitchFamily="34" charset="-122"/>
                <a:cs typeface="Noto Sans Arabic" pitchFamily="34" charset="-120"/>
              </a:rPr>
              <a:t>۱۴</a:t>
            </a:r>
            <a:endParaRPr lang="en-US" sz="1370" dirty="0"/>
          </a:p>
        </p:txBody>
      </p:sp>
      <p:sp>
        <p:nvSpPr>
          <p:cNvPr id="28" name="Shape 26"/>
          <p:cNvSpPr/>
          <p:nvPr/>
        </p:nvSpPr>
        <p:spPr>
          <a:xfrm>
            <a:off x="4005072" y="3264408"/>
            <a:ext cx="1097280" cy="356616"/>
          </a:xfrm>
          <a:prstGeom prst="roundRect">
            <a:avLst>
              <a:gd name="adj" fmla="val 46154"/>
            </a:avLst>
          </a:prstGeom>
          <a:solidFill>
            <a:srgbClr val="FFF5D8"/>
          </a:solidFill>
          <a:ln w="12700">
            <a:solidFill>
              <a:srgbClr val="FFF5D8"/>
            </a:solidFill>
            <a:prstDash val="solid"/>
          </a:ln>
        </p:spPr>
      </p:sp>
      <p:sp>
        <p:nvSpPr>
          <p:cNvPr id="29" name="Text 27"/>
          <p:cNvSpPr/>
          <p:nvPr/>
        </p:nvSpPr>
        <p:spPr>
          <a:xfrm>
            <a:off x="4114800" y="3282696"/>
            <a:ext cx="877824" cy="320040"/>
          </a:xfrm>
          <a:prstGeom prst="rect">
            <a:avLst/>
          </a:prstGeom>
          <a:noFill/>
          <a:ln/>
        </p:spPr>
        <p:txBody>
          <a:bodyPr wrap="square" lIns="0" tIns="0" rIns="0" bIns="0" rtlCol="0" anchor="ctr">
            <a:normAutofit/>
          </a:bodyPr>
          <a:lstStyle/>
          <a:p>
            <a:pPr marL="0" indent="0" algn="ctr" rtl="1">
              <a:buNone/>
            </a:pPr>
            <a:r>
              <a:rPr lang="en-US" sz="1250" b="1" dirty="0">
                <a:solidFill>
                  <a:srgbClr val="8A5A00"/>
                </a:solidFill>
                <a:latin typeface="Noto Sans Arabic" pitchFamily="34" charset="0"/>
                <a:ea typeface="Noto Sans Arabic" pitchFamily="34" charset="-122"/>
                <a:cs typeface="Noto Sans Arabic" pitchFamily="34" charset="-120"/>
              </a:rPr>
              <a:t>۸۰٪</a:t>
            </a:r>
            <a:endParaRPr lang="en-US" sz="1250" dirty="0"/>
          </a:p>
        </p:txBody>
      </p:sp>
      <p:sp>
        <p:nvSpPr>
          <p:cNvPr id="30" name="Text 28"/>
          <p:cNvSpPr/>
          <p:nvPr/>
        </p:nvSpPr>
        <p:spPr>
          <a:xfrm>
            <a:off x="1005840" y="3282696"/>
            <a:ext cx="2468880" cy="256032"/>
          </a:xfrm>
          <a:prstGeom prst="rect">
            <a:avLst/>
          </a:prstGeom>
          <a:noFill/>
          <a:ln/>
        </p:spPr>
        <p:txBody>
          <a:bodyPr wrap="square" lIns="0" tIns="0" rIns="0" bIns="0" rtlCol="0" anchor="ctr">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حرکت چندمرحله‌ای</a:t>
            </a:r>
            <a:endParaRPr lang="en-US" sz="1140" dirty="0"/>
          </a:p>
        </p:txBody>
      </p:sp>
      <p:sp>
        <p:nvSpPr>
          <p:cNvPr id="31" name="Shape 29"/>
          <p:cNvSpPr/>
          <p:nvPr/>
        </p:nvSpPr>
        <p:spPr>
          <a:xfrm>
            <a:off x="804672" y="3822192"/>
            <a:ext cx="10588752" cy="521208"/>
          </a:xfrm>
          <a:prstGeom prst="roundRect">
            <a:avLst>
              <a:gd name="adj" fmla="val 7018"/>
            </a:avLst>
          </a:prstGeom>
          <a:solidFill>
            <a:srgbClr val="FFFFFF"/>
          </a:solidFill>
          <a:ln w="12700">
            <a:solidFill>
              <a:srgbClr val="E0E8EE"/>
            </a:solidFill>
            <a:prstDash val="solid"/>
          </a:ln>
        </p:spPr>
      </p:sp>
      <p:sp>
        <p:nvSpPr>
          <p:cNvPr id="32" name="Shape 30"/>
          <p:cNvSpPr/>
          <p:nvPr/>
        </p:nvSpPr>
        <p:spPr>
          <a:xfrm>
            <a:off x="11219688" y="3822192"/>
            <a:ext cx="173736" cy="521208"/>
          </a:xfrm>
          <a:prstGeom prst="rect">
            <a:avLst/>
          </a:prstGeom>
          <a:solidFill>
            <a:srgbClr val="E69F00"/>
          </a:solidFill>
          <a:ln w="12700">
            <a:solidFill>
              <a:srgbClr val="E69F00"/>
            </a:solidFill>
            <a:prstDash val="solid"/>
          </a:ln>
        </p:spPr>
      </p:sp>
      <p:sp>
        <p:nvSpPr>
          <p:cNvPr id="33" name="Text 31"/>
          <p:cNvSpPr/>
          <p:nvPr/>
        </p:nvSpPr>
        <p:spPr>
          <a:xfrm>
            <a:off x="8668512" y="3913632"/>
            <a:ext cx="2212848" cy="256032"/>
          </a:xfrm>
          <a:prstGeom prst="rect">
            <a:avLst/>
          </a:prstGeom>
          <a:noFill/>
          <a:ln/>
        </p:spPr>
        <p:txBody>
          <a:bodyPr wrap="square" lIns="0" tIns="0" rIns="0" bIns="0" rtlCol="0" anchor="ctr">
            <a:normAutofit/>
          </a:bodyPr>
          <a:lstStyle/>
          <a:p>
            <a:pPr marL="0" indent="0" algn="ctr" rtl="1">
              <a:buNone/>
            </a:pPr>
            <a:r>
              <a:rPr lang="en-US" sz="1370" b="1" dirty="0">
                <a:solidFill>
                  <a:srgbClr val="102A43"/>
                </a:solidFill>
                <a:latin typeface="Noto Sans Arabic" pitchFamily="34" charset="0"/>
                <a:ea typeface="Noto Sans Arabic" pitchFamily="34" charset="-122"/>
                <a:cs typeface="Noto Sans Arabic" pitchFamily="34" charset="-120"/>
              </a:rPr>
              <a:t>پریدن</a:t>
            </a:r>
            <a:endParaRPr lang="en-US" sz="1370" dirty="0"/>
          </a:p>
        </p:txBody>
      </p:sp>
      <p:sp>
        <p:nvSpPr>
          <p:cNvPr id="34" name="Shape 32"/>
          <p:cNvSpPr/>
          <p:nvPr/>
        </p:nvSpPr>
        <p:spPr>
          <a:xfrm>
            <a:off x="6053328" y="4059936"/>
            <a:ext cx="2103120" cy="0"/>
          </a:xfrm>
          <a:prstGeom prst="line">
            <a:avLst/>
          </a:prstGeom>
          <a:noFill/>
          <a:ln w="101600">
            <a:solidFill>
              <a:srgbClr val="EEF4F8"/>
            </a:solidFill>
            <a:prstDash val="solid"/>
            <a:headEnd type="none"/>
            <a:tailEnd type="none"/>
          </a:ln>
        </p:spPr>
      </p:sp>
      <p:sp>
        <p:nvSpPr>
          <p:cNvPr id="35" name="Shape 33"/>
          <p:cNvSpPr/>
          <p:nvPr/>
        </p:nvSpPr>
        <p:spPr>
          <a:xfrm>
            <a:off x="6053328" y="3968496"/>
            <a:ext cx="2103120" cy="182880"/>
          </a:xfrm>
          <a:prstGeom prst="roundRect">
            <a:avLst>
              <a:gd name="adj" fmla="val 30000"/>
            </a:avLst>
          </a:prstGeom>
          <a:solidFill>
            <a:srgbClr val="E69F00"/>
          </a:solidFill>
          <a:ln w="12700">
            <a:solidFill>
              <a:srgbClr val="E69F00"/>
            </a:solidFill>
            <a:prstDash val="solid"/>
          </a:ln>
        </p:spPr>
      </p:sp>
      <p:sp>
        <p:nvSpPr>
          <p:cNvPr id="36" name="Text 34"/>
          <p:cNvSpPr/>
          <p:nvPr/>
        </p:nvSpPr>
        <p:spPr>
          <a:xfrm>
            <a:off x="8211312" y="3886200"/>
            <a:ext cx="411480" cy="310896"/>
          </a:xfrm>
          <a:prstGeom prst="rect">
            <a:avLst/>
          </a:prstGeom>
          <a:noFill/>
          <a:ln/>
        </p:spPr>
        <p:txBody>
          <a:bodyPr wrap="square" lIns="0" tIns="0" rIns="0" bIns="0" rtlCol="0" anchor="ctr">
            <a:normAutofit/>
          </a:bodyPr>
          <a:lstStyle/>
          <a:p>
            <a:pPr marL="0" indent="0" algn="ctr" rtl="1">
              <a:buNone/>
            </a:pPr>
            <a:r>
              <a:rPr lang="en-US" sz="1370" b="1" dirty="0">
                <a:solidFill>
                  <a:srgbClr val="E69F00"/>
                </a:solidFill>
                <a:latin typeface="Noto Sans Arabic" pitchFamily="34" charset="0"/>
                <a:ea typeface="Noto Sans Arabic" pitchFamily="34" charset="-122"/>
                <a:cs typeface="Noto Sans Arabic" pitchFamily="34" charset="-120"/>
              </a:rPr>
              <a:t>۱۵</a:t>
            </a:r>
            <a:endParaRPr lang="en-US" sz="1370" dirty="0"/>
          </a:p>
        </p:txBody>
      </p:sp>
      <p:sp>
        <p:nvSpPr>
          <p:cNvPr id="37" name="Shape 35"/>
          <p:cNvSpPr/>
          <p:nvPr/>
        </p:nvSpPr>
        <p:spPr>
          <a:xfrm>
            <a:off x="4005072" y="3895344"/>
            <a:ext cx="1097280" cy="356616"/>
          </a:xfrm>
          <a:prstGeom prst="roundRect">
            <a:avLst>
              <a:gd name="adj" fmla="val 46154"/>
            </a:avLst>
          </a:prstGeom>
          <a:solidFill>
            <a:srgbClr val="E8F5EE"/>
          </a:solidFill>
          <a:ln w="12700">
            <a:solidFill>
              <a:srgbClr val="E8F5EE"/>
            </a:solidFill>
            <a:prstDash val="solid"/>
          </a:ln>
        </p:spPr>
      </p:sp>
      <p:sp>
        <p:nvSpPr>
          <p:cNvPr id="38" name="Text 36"/>
          <p:cNvSpPr/>
          <p:nvPr/>
        </p:nvSpPr>
        <p:spPr>
          <a:xfrm>
            <a:off x="4114800" y="3913632"/>
            <a:ext cx="877824" cy="320040"/>
          </a:xfrm>
          <a:prstGeom prst="rect">
            <a:avLst/>
          </a:prstGeom>
          <a:noFill/>
          <a:ln/>
        </p:spPr>
        <p:txBody>
          <a:bodyPr wrap="square" lIns="0" tIns="0" rIns="0" bIns="0" rtlCol="0" anchor="ctr">
            <a:normAutofit/>
          </a:bodyPr>
          <a:lstStyle/>
          <a:p>
            <a:pPr marL="0" indent="0" algn="ctr" rtl="1">
              <a:buNone/>
            </a:pPr>
            <a:r>
              <a:rPr lang="en-US" sz="1250" b="1" dirty="0">
                <a:solidFill>
                  <a:srgbClr val="2F855A"/>
                </a:solidFill>
                <a:latin typeface="Noto Sans Arabic" pitchFamily="34" charset="0"/>
                <a:ea typeface="Noto Sans Arabic" pitchFamily="34" charset="-122"/>
                <a:cs typeface="Noto Sans Arabic" pitchFamily="34" charset="-120"/>
              </a:rPr>
              <a:t>۹۰٪</a:t>
            </a:r>
            <a:endParaRPr lang="en-US" sz="1250" dirty="0"/>
          </a:p>
        </p:txBody>
      </p:sp>
      <p:sp>
        <p:nvSpPr>
          <p:cNvPr id="39" name="Text 37"/>
          <p:cNvSpPr/>
          <p:nvPr/>
        </p:nvSpPr>
        <p:spPr>
          <a:xfrm>
            <a:off x="1005840" y="3913632"/>
            <a:ext cx="2468880" cy="256032"/>
          </a:xfrm>
          <a:prstGeom prst="rect">
            <a:avLst/>
          </a:prstGeom>
          <a:noFill/>
          <a:ln/>
        </p:spPr>
        <p:txBody>
          <a:bodyPr wrap="square" lIns="0" tIns="0" rIns="0" bIns="0" rtlCol="0" anchor="ctr">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بیشترین تعداد مؤلفه</a:t>
            </a:r>
            <a:endParaRPr lang="en-US" sz="1140" dirty="0"/>
          </a:p>
        </p:txBody>
      </p:sp>
      <p:sp>
        <p:nvSpPr>
          <p:cNvPr id="40" name="Shape 38"/>
          <p:cNvSpPr/>
          <p:nvPr/>
        </p:nvSpPr>
        <p:spPr>
          <a:xfrm>
            <a:off x="804672" y="4453128"/>
            <a:ext cx="10588752" cy="521208"/>
          </a:xfrm>
          <a:prstGeom prst="roundRect">
            <a:avLst>
              <a:gd name="adj" fmla="val 7018"/>
            </a:avLst>
          </a:prstGeom>
          <a:solidFill>
            <a:srgbClr val="F3F7FA"/>
          </a:solidFill>
          <a:ln w="12700">
            <a:solidFill>
              <a:srgbClr val="E0E8EE"/>
            </a:solidFill>
            <a:prstDash val="solid"/>
          </a:ln>
        </p:spPr>
      </p:sp>
      <p:sp>
        <p:nvSpPr>
          <p:cNvPr id="41" name="Shape 39"/>
          <p:cNvSpPr/>
          <p:nvPr/>
        </p:nvSpPr>
        <p:spPr>
          <a:xfrm>
            <a:off x="11219688" y="4453128"/>
            <a:ext cx="173736" cy="521208"/>
          </a:xfrm>
          <a:prstGeom prst="rect">
            <a:avLst/>
          </a:prstGeom>
          <a:solidFill>
            <a:srgbClr val="2F855A"/>
          </a:solidFill>
          <a:ln w="12700">
            <a:solidFill>
              <a:srgbClr val="2F855A"/>
            </a:solidFill>
            <a:prstDash val="solid"/>
          </a:ln>
        </p:spPr>
      </p:sp>
      <p:sp>
        <p:nvSpPr>
          <p:cNvPr id="42" name="Text 40"/>
          <p:cNvSpPr/>
          <p:nvPr/>
        </p:nvSpPr>
        <p:spPr>
          <a:xfrm>
            <a:off x="8668512" y="4544568"/>
            <a:ext cx="2212848" cy="256032"/>
          </a:xfrm>
          <a:prstGeom prst="rect">
            <a:avLst/>
          </a:prstGeom>
          <a:noFill/>
          <a:ln/>
        </p:spPr>
        <p:txBody>
          <a:bodyPr wrap="square" lIns="0" tIns="0" rIns="0" bIns="0" rtlCol="0" anchor="ctr">
            <a:normAutofit/>
          </a:bodyPr>
          <a:lstStyle/>
          <a:p>
            <a:pPr marL="0" indent="0" algn="ctr" rtl="1">
              <a:buNone/>
            </a:pPr>
            <a:r>
              <a:rPr lang="en-US" sz="1370" b="1" dirty="0">
                <a:solidFill>
                  <a:srgbClr val="102A43"/>
                </a:solidFill>
                <a:latin typeface="Noto Sans Arabic" pitchFamily="34" charset="0"/>
                <a:ea typeface="Noto Sans Arabic" pitchFamily="34" charset="-122"/>
                <a:cs typeface="Noto Sans Arabic" pitchFamily="34" charset="-120"/>
              </a:rPr>
              <a:t>بالا آوردن سر</a:t>
            </a:r>
            <a:endParaRPr lang="en-US" sz="1370" dirty="0"/>
          </a:p>
        </p:txBody>
      </p:sp>
      <p:sp>
        <p:nvSpPr>
          <p:cNvPr id="43" name="Shape 41"/>
          <p:cNvSpPr/>
          <p:nvPr/>
        </p:nvSpPr>
        <p:spPr>
          <a:xfrm>
            <a:off x="6053328" y="4690872"/>
            <a:ext cx="2103120" cy="0"/>
          </a:xfrm>
          <a:prstGeom prst="line">
            <a:avLst/>
          </a:prstGeom>
          <a:noFill/>
          <a:ln w="101600">
            <a:solidFill>
              <a:srgbClr val="EEF4F8"/>
            </a:solidFill>
            <a:prstDash val="solid"/>
            <a:headEnd type="none"/>
            <a:tailEnd type="none"/>
          </a:ln>
        </p:spPr>
      </p:sp>
      <p:sp>
        <p:nvSpPr>
          <p:cNvPr id="44" name="Shape 42"/>
          <p:cNvSpPr/>
          <p:nvPr/>
        </p:nvSpPr>
        <p:spPr>
          <a:xfrm>
            <a:off x="6053328" y="4599432"/>
            <a:ext cx="1962912" cy="182880"/>
          </a:xfrm>
          <a:prstGeom prst="roundRect">
            <a:avLst>
              <a:gd name="adj" fmla="val 30000"/>
            </a:avLst>
          </a:prstGeom>
          <a:solidFill>
            <a:srgbClr val="2F855A"/>
          </a:solidFill>
          <a:ln w="12700">
            <a:solidFill>
              <a:srgbClr val="2F855A"/>
            </a:solidFill>
            <a:prstDash val="solid"/>
          </a:ln>
        </p:spPr>
      </p:sp>
      <p:sp>
        <p:nvSpPr>
          <p:cNvPr id="45" name="Text 43"/>
          <p:cNvSpPr/>
          <p:nvPr/>
        </p:nvSpPr>
        <p:spPr>
          <a:xfrm>
            <a:off x="8211312" y="4517136"/>
            <a:ext cx="411480" cy="310896"/>
          </a:xfrm>
          <a:prstGeom prst="rect">
            <a:avLst/>
          </a:prstGeom>
          <a:noFill/>
          <a:ln/>
        </p:spPr>
        <p:txBody>
          <a:bodyPr wrap="square" lIns="0" tIns="0" rIns="0" bIns="0" rtlCol="0" anchor="ctr">
            <a:normAutofit/>
          </a:bodyPr>
          <a:lstStyle/>
          <a:p>
            <a:pPr marL="0" indent="0" algn="ctr" rtl="1">
              <a:buNone/>
            </a:pPr>
            <a:r>
              <a:rPr lang="en-US" sz="1370" b="1" dirty="0">
                <a:solidFill>
                  <a:srgbClr val="2F855A"/>
                </a:solidFill>
                <a:latin typeface="Noto Sans Arabic" pitchFamily="34" charset="0"/>
                <a:ea typeface="Noto Sans Arabic" pitchFamily="34" charset="-122"/>
                <a:cs typeface="Noto Sans Arabic" pitchFamily="34" charset="-120"/>
              </a:rPr>
              <a:t>۱۴</a:t>
            </a:r>
            <a:endParaRPr lang="en-US" sz="1370" dirty="0"/>
          </a:p>
        </p:txBody>
      </p:sp>
      <p:sp>
        <p:nvSpPr>
          <p:cNvPr id="46" name="Shape 44"/>
          <p:cNvSpPr/>
          <p:nvPr/>
        </p:nvSpPr>
        <p:spPr>
          <a:xfrm>
            <a:off x="4005072" y="4526280"/>
            <a:ext cx="1097280" cy="356616"/>
          </a:xfrm>
          <a:prstGeom prst="roundRect">
            <a:avLst>
              <a:gd name="adj" fmla="val 46154"/>
            </a:avLst>
          </a:prstGeom>
          <a:solidFill>
            <a:srgbClr val="E8F5EE"/>
          </a:solidFill>
          <a:ln w="12700">
            <a:solidFill>
              <a:srgbClr val="E8F5EE"/>
            </a:solidFill>
            <a:prstDash val="solid"/>
          </a:ln>
        </p:spPr>
      </p:sp>
      <p:sp>
        <p:nvSpPr>
          <p:cNvPr id="47" name="Text 45"/>
          <p:cNvSpPr/>
          <p:nvPr/>
        </p:nvSpPr>
        <p:spPr>
          <a:xfrm>
            <a:off x="4114800" y="4544568"/>
            <a:ext cx="877824" cy="320040"/>
          </a:xfrm>
          <a:prstGeom prst="rect">
            <a:avLst/>
          </a:prstGeom>
          <a:noFill/>
          <a:ln/>
        </p:spPr>
        <p:txBody>
          <a:bodyPr wrap="square" lIns="0" tIns="0" rIns="0" bIns="0" rtlCol="0" anchor="ctr">
            <a:normAutofit/>
          </a:bodyPr>
          <a:lstStyle/>
          <a:p>
            <a:pPr marL="0" indent="0" algn="ctr" rtl="1">
              <a:buNone/>
            </a:pPr>
            <a:r>
              <a:rPr lang="en-US" sz="1250" b="1" dirty="0">
                <a:solidFill>
                  <a:srgbClr val="2F855A"/>
                </a:solidFill>
                <a:latin typeface="Noto Sans Arabic" pitchFamily="34" charset="0"/>
                <a:ea typeface="Noto Sans Arabic" pitchFamily="34" charset="-122"/>
                <a:cs typeface="Noto Sans Arabic" pitchFamily="34" charset="-120"/>
              </a:rPr>
              <a:t>۹۰٪</a:t>
            </a:r>
            <a:endParaRPr lang="en-US" sz="1250" dirty="0"/>
          </a:p>
        </p:txBody>
      </p:sp>
      <p:sp>
        <p:nvSpPr>
          <p:cNvPr id="48" name="Text 46"/>
          <p:cNvSpPr/>
          <p:nvPr/>
        </p:nvSpPr>
        <p:spPr>
          <a:xfrm>
            <a:off x="1005840" y="4544568"/>
            <a:ext cx="2468880" cy="256032"/>
          </a:xfrm>
          <a:prstGeom prst="rect">
            <a:avLst/>
          </a:prstGeom>
          <a:noFill/>
          <a:ln/>
        </p:spPr>
        <p:txBody>
          <a:bodyPr wrap="square" lIns="0" tIns="0" rIns="0" bIns="0" rtlCol="0" anchor="ctr">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نقش اصلی حسگر پیشانی</a:t>
            </a:r>
            <a:endParaRPr lang="en-US" sz="1140" dirty="0"/>
          </a:p>
        </p:txBody>
      </p:sp>
      <p:sp>
        <p:nvSpPr>
          <p:cNvPr id="49" name="Shape 47"/>
          <p:cNvSpPr/>
          <p:nvPr/>
        </p:nvSpPr>
        <p:spPr>
          <a:xfrm>
            <a:off x="804672" y="5084064"/>
            <a:ext cx="10588752" cy="521208"/>
          </a:xfrm>
          <a:prstGeom prst="roundRect">
            <a:avLst>
              <a:gd name="adj" fmla="val 7018"/>
            </a:avLst>
          </a:prstGeom>
          <a:solidFill>
            <a:srgbClr val="FFFFFF"/>
          </a:solidFill>
          <a:ln w="12700">
            <a:solidFill>
              <a:srgbClr val="E0E8EE"/>
            </a:solidFill>
            <a:prstDash val="solid"/>
          </a:ln>
        </p:spPr>
      </p:sp>
      <p:sp>
        <p:nvSpPr>
          <p:cNvPr id="50" name="Shape 48"/>
          <p:cNvSpPr/>
          <p:nvPr/>
        </p:nvSpPr>
        <p:spPr>
          <a:xfrm>
            <a:off x="11219688" y="5084064"/>
            <a:ext cx="173736" cy="521208"/>
          </a:xfrm>
          <a:prstGeom prst="rect">
            <a:avLst/>
          </a:prstGeom>
          <a:solidFill>
            <a:srgbClr val="C0392B"/>
          </a:solidFill>
          <a:ln w="12700">
            <a:solidFill>
              <a:srgbClr val="C0392B"/>
            </a:solidFill>
            <a:prstDash val="solid"/>
          </a:ln>
        </p:spPr>
      </p:sp>
      <p:sp>
        <p:nvSpPr>
          <p:cNvPr id="51" name="Text 49"/>
          <p:cNvSpPr/>
          <p:nvPr/>
        </p:nvSpPr>
        <p:spPr>
          <a:xfrm>
            <a:off x="8668512" y="5175504"/>
            <a:ext cx="2212848" cy="256032"/>
          </a:xfrm>
          <a:prstGeom prst="rect">
            <a:avLst/>
          </a:prstGeom>
          <a:noFill/>
          <a:ln/>
        </p:spPr>
        <p:txBody>
          <a:bodyPr wrap="square" lIns="0" tIns="0" rIns="0" bIns="0" rtlCol="0" anchor="ctr">
            <a:normAutofit/>
          </a:bodyPr>
          <a:lstStyle/>
          <a:p>
            <a:pPr marL="0" indent="0" algn="ctr" rtl="1">
              <a:buNone/>
            </a:pPr>
            <a:r>
              <a:rPr lang="en-US" sz="1370" b="1" dirty="0">
                <a:solidFill>
                  <a:srgbClr val="102A43"/>
                </a:solidFill>
                <a:latin typeface="Noto Sans Arabic" pitchFamily="34" charset="0"/>
                <a:ea typeface="Noto Sans Arabic" pitchFamily="34" charset="-122"/>
                <a:cs typeface="Noto Sans Arabic" pitchFamily="34" charset="-120"/>
              </a:rPr>
              <a:t>بالا رفتن از جعبه</a:t>
            </a:r>
            <a:endParaRPr lang="en-US" sz="1370" dirty="0"/>
          </a:p>
        </p:txBody>
      </p:sp>
      <p:sp>
        <p:nvSpPr>
          <p:cNvPr id="52" name="Shape 50"/>
          <p:cNvSpPr/>
          <p:nvPr/>
        </p:nvSpPr>
        <p:spPr>
          <a:xfrm>
            <a:off x="6053328" y="5321808"/>
            <a:ext cx="2103120" cy="0"/>
          </a:xfrm>
          <a:prstGeom prst="line">
            <a:avLst/>
          </a:prstGeom>
          <a:noFill/>
          <a:ln w="101600">
            <a:solidFill>
              <a:srgbClr val="EEF4F8"/>
            </a:solidFill>
            <a:prstDash val="solid"/>
            <a:headEnd type="none"/>
            <a:tailEnd type="none"/>
          </a:ln>
        </p:spPr>
      </p:sp>
      <p:sp>
        <p:nvSpPr>
          <p:cNvPr id="53" name="Shape 51"/>
          <p:cNvSpPr/>
          <p:nvPr/>
        </p:nvSpPr>
        <p:spPr>
          <a:xfrm>
            <a:off x="6053328" y="5230368"/>
            <a:ext cx="1402080" cy="182880"/>
          </a:xfrm>
          <a:prstGeom prst="roundRect">
            <a:avLst>
              <a:gd name="adj" fmla="val 30000"/>
            </a:avLst>
          </a:prstGeom>
          <a:solidFill>
            <a:srgbClr val="C0392B"/>
          </a:solidFill>
          <a:ln w="12700">
            <a:solidFill>
              <a:srgbClr val="C0392B"/>
            </a:solidFill>
            <a:prstDash val="solid"/>
          </a:ln>
        </p:spPr>
      </p:sp>
      <p:sp>
        <p:nvSpPr>
          <p:cNvPr id="54" name="Text 52"/>
          <p:cNvSpPr/>
          <p:nvPr/>
        </p:nvSpPr>
        <p:spPr>
          <a:xfrm>
            <a:off x="8211312" y="5148072"/>
            <a:ext cx="411480" cy="310896"/>
          </a:xfrm>
          <a:prstGeom prst="rect">
            <a:avLst/>
          </a:prstGeom>
          <a:noFill/>
          <a:ln/>
        </p:spPr>
        <p:txBody>
          <a:bodyPr wrap="square" lIns="0" tIns="0" rIns="0" bIns="0" rtlCol="0" anchor="ctr">
            <a:normAutofit/>
          </a:bodyPr>
          <a:lstStyle/>
          <a:p>
            <a:pPr marL="0" indent="0" algn="ctr" rtl="1">
              <a:buNone/>
            </a:pPr>
            <a:r>
              <a:rPr lang="en-US" sz="1370" b="1" dirty="0">
                <a:solidFill>
                  <a:srgbClr val="C0392B"/>
                </a:solidFill>
                <a:latin typeface="Noto Sans Arabic" pitchFamily="34" charset="0"/>
                <a:ea typeface="Noto Sans Arabic" pitchFamily="34" charset="-122"/>
                <a:cs typeface="Noto Sans Arabic" pitchFamily="34" charset="-120"/>
              </a:rPr>
              <a:t>۱۰</a:t>
            </a:r>
            <a:endParaRPr lang="en-US" sz="1370" dirty="0"/>
          </a:p>
        </p:txBody>
      </p:sp>
      <p:sp>
        <p:nvSpPr>
          <p:cNvPr id="55" name="Shape 53"/>
          <p:cNvSpPr/>
          <p:nvPr/>
        </p:nvSpPr>
        <p:spPr>
          <a:xfrm>
            <a:off x="4005072" y="5157216"/>
            <a:ext cx="1097280" cy="356616"/>
          </a:xfrm>
          <a:prstGeom prst="roundRect">
            <a:avLst>
              <a:gd name="adj" fmla="val 46154"/>
            </a:avLst>
          </a:prstGeom>
          <a:solidFill>
            <a:srgbClr val="FFF5D8"/>
          </a:solidFill>
          <a:ln w="12700">
            <a:solidFill>
              <a:srgbClr val="FFF5D8"/>
            </a:solidFill>
            <a:prstDash val="solid"/>
          </a:ln>
        </p:spPr>
      </p:sp>
      <p:sp>
        <p:nvSpPr>
          <p:cNvPr id="56" name="Text 54"/>
          <p:cNvSpPr/>
          <p:nvPr/>
        </p:nvSpPr>
        <p:spPr>
          <a:xfrm>
            <a:off x="4114800" y="5175504"/>
            <a:ext cx="877824" cy="320040"/>
          </a:xfrm>
          <a:prstGeom prst="rect">
            <a:avLst/>
          </a:prstGeom>
          <a:noFill/>
          <a:ln/>
        </p:spPr>
        <p:txBody>
          <a:bodyPr wrap="square" lIns="0" tIns="0" rIns="0" bIns="0" rtlCol="0" anchor="ctr">
            <a:normAutofit/>
          </a:bodyPr>
          <a:lstStyle/>
          <a:p>
            <a:pPr marL="0" indent="0" algn="ctr" rtl="1">
              <a:buNone/>
            </a:pPr>
            <a:r>
              <a:rPr lang="en-US" sz="1250" b="1" dirty="0">
                <a:solidFill>
                  <a:srgbClr val="8A5A00"/>
                </a:solidFill>
                <a:latin typeface="Noto Sans Arabic" pitchFamily="34" charset="0"/>
                <a:ea typeface="Noto Sans Arabic" pitchFamily="34" charset="-122"/>
                <a:cs typeface="Noto Sans Arabic" pitchFamily="34" charset="-120"/>
              </a:rPr>
              <a:t>۸۰٪</a:t>
            </a:r>
            <a:endParaRPr lang="en-US" sz="1250" dirty="0"/>
          </a:p>
        </p:txBody>
      </p:sp>
      <p:sp>
        <p:nvSpPr>
          <p:cNvPr id="57" name="Text 55"/>
          <p:cNvSpPr/>
          <p:nvPr/>
        </p:nvSpPr>
        <p:spPr>
          <a:xfrm>
            <a:off x="1005840" y="5175504"/>
            <a:ext cx="2468880" cy="256032"/>
          </a:xfrm>
          <a:prstGeom prst="rect">
            <a:avLst/>
          </a:prstGeom>
          <a:noFill/>
          <a:ln/>
        </p:spPr>
        <p:txBody>
          <a:bodyPr wrap="square" lIns="0" tIns="0" rIns="0" bIns="0" rtlCol="0" anchor="ctr">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فشرده‌ترین فضای ویژگی</a:t>
            </a:r>
            <a:endParaRPr lang="en-US" sz="1140" dirty="0"/>
          </a:p>
        </p:txBody>
      </p:sp>
      <p:sp>
        <p:nvSpPr>
          <p:cNvPr id="58" name="Shape 56"/>
          <p:cNvSpPr/>
          <p:nvPr/>
        </p:nvSpPr>
        <p:spPr>
          <a:xfrm>
            <a:off x="1316736" y="5833872"/>
            <a:ext cx="9555480" cy="493776"/>
          </a:xfrm>
          <a:prstGeom prst="roundRect">
            <a:avLst>
              <a:gd name="adj" fmla="val 18519"/>
            </a:avLst>
          </a:prstGeom>
          <a:solidFill>
            <a:srgbClr val="FDECEA"/>
          </a:solidFill>
          <a:ln w="12700">
            <a:solidFill>
              <a:srgbClr val="F2C4BE"/>
            </a:solidFill>
            <a:prstDash val="solid"/>
          </a:ln>
        </p:spPr>
      </p:sp>
      <p:sp>
        <p:nvSpPr>
          <p:cNvPr id="59" name="Text 57"/>
          <p:cNvSpPr/>
          <p:nvPr/>
        </p:nvSpPr>
        <p:spPr>
          <a:xfrm>
            <a:off x="1572768" y="5934456"/>
            <a:ext cx="9052560" cy="256032"/>
          </a:xfrm>
          <a:prstGeom prst="rect">
            <a:avLst/>
          </a:prstGeom>
          <a:noFill/>
          <a:ln/>
        </p:spPr>
        <p:txBody>
          <a:bodyPr wrap="square" lIns="0" tIns="0" rIns="0" bIns="0" rtlCol="0" anchor="ctr">
            <a:normAutofit/>
          </a:bodyPr>
          <a:lstStyle/>
          <a:p>
            <a:pPr marL="0" indent="0" algn="ctr" rtl="1">
              <a:buNone/>
            </a:pPr>
            <a:r>
              <a:rPr lang="en-US" sz="1220" b="1" dirty="0">
                <a:solidFill>
                  <a:srgbClr val="C0392B"/>
                </a:solidFill>
                <a:latin typeface="Noto Sans Arabic" pitchFamily="34" charset="0"/>
                <a:ea typeface="Noto Sans Arabic" pitchFamily="34" charset="-122"/>
                <a:cs typeface="Noto Sans Arabic" pitchFamily="34" charset="-120"/>
              </a:rPr>
              <a:t>حد نصاب‌ها فقط معیار مهندسی انتخاب مدل در این مجموعه داده هستند و بیانگر اعتبار بالینی نیستند.</a:t>
            </a:r>
            <a:endParaRPr lang="en-US" sz="1220" dirty="0"/>
          </a:p>
        </p:txBody>
      </p:sp>
      <p:sp>
        <p:nvSpPr>
          <p:cNvPr id="60" name="Shape 58"/>
          <p:cNvSpPr/>
          <p:nvPr/>
        </p:nvSpPr>
        <p:spPr>
          <a:xfrm>
            <a:off x="658368" y="6473952"/>
            <a:ext cx="10881360" cy="0"/>
          </a:xfrm>
          <a:prstGeom prst="line">
            <a:avLst/>
          </a:prstGeom>
          <a:noFill/>
          <a:ln w="10160">
            <a:solidFill>
              <a:srgbClr val="E9EEF2"/>
            </a:solidFill>
            <a:prstDash val="solid"/>
          </a:ln>
        </p:spPr>
      </p:sp>
      <p:sp>
        <p:nvSpPr>
          <p:cNvPr id="61" name="Text 59"/>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62" name="Text 60"/>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۴ از ۶: نتایج و بحث | ۴ اسلاید تا پایان</a:t>
            </a:r>
            <a:endParaRPr lang="en-US" sz="920" dirty="0"/>
          </a:p>
        </p:txBody>
      </p:sp>
      <p:sp>
        <p:nvSpPr>
          <p:cNvPr id="63" name="Text 61"/>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۱۰ / ۱۴</a:t>
            </a:r>
            <a:endParaRPr lang="en-US" sz="1020" dirty="0"/>
          </a:p>
        </p:txBody>
      </p:sp>
      <p:sp>
        <p:nvSpPr>
          <p:cNvPr id="64" name="Shape 62"/>
          <p:cNvSpPr/>
          <p:nvPr/>
        </p:nvSpPr>
        <p:spPr>
          <a:xfrm>
            <a:off x="2560320" y="6766560"/>
            <a:ext cx="4702629" cy="41148"/>
          </a:xfrm>
          <a:prstGeom prst="rect">
            <a:avLst/>
          </a:prstGeom>
          <a:solidFill>
            <a:srgbClr val="0B6E99"/>
          </a:solidFill>
          <a:ln w="12700">
            <a:solidFill>
              <a:srgbClr val="0B6E99"/>
            </a:solidFill>
            <a:prstDash val="solid"/>
          </a:ln>
        </p:spPr>
      </p:sp>
      <p:sp>
        <p:nvSpPr>
          <p:cNvPr id="65" name="Shape 63"/>
          <p:cNvSpPr/>
          <p:nvPr/>
        </p:nvSpPr>
        <p:spPr>
          <a:xfrm>
            <a:off x="7262949" y="6766560"/>
            <a:ext cx="1881051"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7"/>
                            </p:tgtEl>
                          </p:cBhvr>
                        </p:animEffect>
                      </p:childTnLst>
                    </p:cTn>
                  </p:par>
                  <p:par>
                    <p:cTn id="9" fill="hold">
                      <p:stCondLst>
                        <p:cond delay="0"/>
                      </p:stCondLst>
                      <p:childTnLst>
                        <p:animEffect transition="in" filter="fade">
                          <p:cBhvr>
                            <p:cTn id="10" dur="350" fill="hold"/>
                            <p:tgtEl>
                              <p:spTgt spid="9"/>
                            </p:tgtEl>
                          </p:cBhvr>
                        </p:animEffect>
                      </p:childTnLst>
                    </p:cTn>
                  </p:par>
                  <p:par>
                    <p:cTn id="11" fill="hold">
                      <p:stCondLst>
                        <p:cond delay="0"/>
                      </p:stCondLst>
                      <p:childTnLst>
                        <p:animEffect transition="in" filter="fade">
                          <p:cBhvr>
                            <p:cTn id="12" dur="350" fill="hold"/>
                            <p:tgtEl>
                              <p:spTgt spid="10"/>
                            </p:tgtEl>
                          </p:cBhvr>
                        </p:animEffect>
                      </p:childTnLst>
                    </p:cTn>
                  </p:par>
                </p:childTnLst>
              </p:cTn>
            </p:seq>
          </p:childTnLst>
        </p:cTn>
      </p:par>
    </p:tnLst>
    <p:bldLst>
      <p:bldP spid="3" grpId="0"/>
      <p:bldP spid="4" grpId="0"/>
      <p:bldP spid="7" grpId="0"/>
      <p:bldP spid="9" grpId="0"/>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بحث</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تفسیر فعالیت‌محور نتایج</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۱۱ / ۱۴</a:t>
            </a:r>
            <a:endParaRPr lang="en-US" sz="1080" dirty="0"/>
          </a:p>
        </p:txBody>
      </p:sp>
      <p:sp>
        <p:nvSpPr>
          <p:cNvPr id="7" name="Text 5"/>
          <p:cNvSpPr/>
          <p:nvPr/>
        </p:nvSpPr>
        <p:spPr>
          <a:xfrm>
            <a:off x="5010912" y="1444752"/>
            <a:ext cx="6108192" cy="384048"/>
          </a:xfrm>
          <a:prstGeom prst="rect">
            <a:avLst/>
          </a:prstGeom>
          <a:noFill/>
          <a:ln/>
        </p:spPr>
        <p:txBody>
          <a:bodyPr wrap="square" lIns="0" tIns="0" rIns="0" bIns="0" rtlCol="0" anchor="ctr">
            <a:normAutofit/>
          </a:bodyPr>
          <a:lstStyle/>
          <a:p>
            <a:pPr marL="0" indent="0" algn="r" rtl="1">
              <a:buNone/>
            </a:pPr>
            <a:r>
              <a:rPr lang="en-US" sz="1850" b="1" dirty="0">
                <a:solidFill>
                  <a:srgbClr val="102A43"/>
                </a:solidFill>
                <a:latin typeface="Noto Sans Arabic" pitchFamily="34" charset="0"/>
                <a:ea typeface="Noto Sans Arabic" pitchFamily="34" charset="-122"/>
                <a:cs typeface="Noto Sans Arabic" pitchFamily="34" charset="-120"/>
              </a:rPr>
              <a:t>اطلاعات تفکیک‌کننده برای هر حرکت یکسان نیست</a:t>
            </a:r>
            <a:endParaRPr lang="en-US" sz="1850" dirty="0"/>
          </a:p>
        </p:txBody>
      </p:sp>
      <p:sp>
        <p:nvSpPr>
          <p:cNvPr id="8" name="Shape 6"/>
          <p:cNvSpPr/>
          <p:nvPr/>
        </p:nvSpPr>
        <p:spPr>
          <a:xfrm>
            <a:off x="768096" y="1993392"/>
            <a:ext cx="5157216" cy="1170432"/>
          </a:xfrm>
          <a:prstGeom prst="roundRect">
            <a:avLst>
              <a:gd name="adj" fmla="val 6250"/>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9" name="Shape 7"/>
          <p:cNvSpPr/>
          <p:nvPr/>
        </p:nvSpPr>
        <p:spPr>
          <a:xfrm>
            <a:off x="5751576" y="1993392"/>
            <a:ext cx="173736" cy="1170432"/>
          </a:xfrm>
          <a:prstGeom prst="rect">
            <a:avLst/>
          </a:prstGeom>
          <a:solidFill>
            <a:srgbClr val="0B6E99"/>
          </a:solidFill>
          <a:ln w="12700">
            <a:solidFill>
              <a:srgbClr val="0B6E99"/>
            </a:solidFill>
            <a:prstDash val="solid"/>
          </a:ln>
        </p:spPr>
      </p:sp>
      <p:sp>
        <p:nvSpPr>
          <p:cNvPr id="10" name="Text 8"/>
          <p:cNvSpPr/>
          <p:nvPr/>
        </p:nvSpPr>
        <p:spPr>
          <a:xfrm>
            <a:off x="3621024" y="2157984"/>
            <a:ext cx="1874520" cy="274320"/>
          </a:xfrm>
          <a:prstGeom prst="rect">
            <a:avLst/>
          </a:prstGeom>
          <a:noFill/>
          <a:ln/>
        </p:spPr>
        <p:txBody>
          <a:bodyPr wrap="square" lIns="0" tIns="0" rIns="0" bIns="0" rtlCol="0" anchor="ctr">
            <a:normAutofit/>
          </a:bodyPr>
          <a:lstStyle/>
          <a:p>
            <a:pPr marL="0" indent="0" algn="r" rtl="1">
              <a:buNone/>
            </a:pPr>
            <a:r>
              <a:rPr lang="en-US" sz="1600" b="1" dirty="0">
                <a:solidFill>
                  <a:srgbClr val="102A43"/>
                </a:solidFill>
                <a:latin typeface="Noto Sans Arabic" pitchFamily="34" charset="0"/>
                <a:ea typeface="Noto Sans Arabic" pitchFamily="34" charset="-122"/>
                <a:cs typeface="Noto Sans Arabic" pitchFamily="34" charset="-120"/>
              </a:rPr>
              <a:t>ایستادن</a:t>
            </a:r>
            <a:endParaRPr lang="en-US" sz="1600" dirty="0"/>
          </a:p>
        </p:txBody>
      </p:sp>
      <p:sp>
        <p:nvSpPr>
          <p:cNvPr id="11" name="Shape 9"/>
          <p:cNvSpPr/>
          <p:nvPr/>
        </p:nvSpPr>
        <p:spPr>
          <a:xfrm>
            <a:off x="1042416" y="2157984"/>
            <a:ext cx="1417320" cy="310896"/>
          </a:xfrm>
          <a:prstGeom prst="roundRect">
            <a:avLst>
              <a:gd name="adj" fmla="val 52941"/>
            </a:avLst>
          </a:prstGeom>
          <a:solidFill>
            <a:srgbClr val="EEF4F8"/>
          </a:solidFill>
          <a:ln w="12700">
            <a:solidFill>
              <a:srgbClr val="EEF4F8"/>
            </a:solidFill>
            <a:prstDash val="solid"/>
          </a:ln>
        </p:spPr>
      </p:sp>
      <p:sp>
        <p:nvSpPr>
          <p:cNvPr id="12" name="Text 10"/>
          <p:cNvSpPr/>
          <p:nvPr/>
        </p:nvSpPr>
        <p:spPr>
          <a:xfrm>
            <a:off x="1152144" y="2176272"/>
            <a:ext cx="1197864" cy="274320"/>
          </a:xfrm>
          <a:prstGeom prst="rect">
            <a:avLst/>
          </a:prstGeom>
          <a:noFill/>
          <a:ln/>
        </p:spPr>
        <p:txBody>
          <a:bodyPr wrap="square" lIns="0" tIns="0" rIns="0" bIns="0" rtlCol="0" anchor="ctr">
            <a:normAutofit/>
          </a:bodyPr>
          <a:lstStyle/>
          <a:p>
            <a:pPr marL="0" indent="0" algn="ctr" rtl="1">
              <a:buNone/>
            </a:pPr>
            <a:r>
              <a:rPr lang="en-US" sz="1150" b="1" dirty="0">
                <a:solidFill>
                  <a:srgbClr val="0B6E99"/>
                </a:solidFill>
                <a:latin typeface="Noto Sans Arabic" pitchFamily="34" charset="0"/>
                <a:ea typeface="Noto Sans Arabic" pitchFamily="34" charset="-122"/>
                <a:cs typeface="Noto Sans Arabic" pitchFamily="34" charset="-120"/>
              </a:rPr>
              <a:t>تعادل</a:t>
            </a:r>
            <a:endParaRPr lang="en-US" sz="1150" dirty="0"/>
          </a:p>
        </p:txBody>
      </p:sp>
      <p:sp>
        <p:nvSpPr>
          <p:cNvPr id="13" name="Text 11"/>
          <p:cNvSpPr/>
          <p:nvPr/>
        </p:nvSpPr>
        <p:spPr>
          <a:xfrm>
            <a:off x="1060704" y="2551176"/>
            <a:ext cx="4389120" cy="420624"/>
          </a:xfrm>
          <a:prstGeom prst="rect">
            <a:avLst/>
          </a:prstGeom>
          <a:noFill/>
          <a:ln/>
        </p:spPr>
        <p:txBody>
          <a:bodyPr wrap="square" lIns="0" tIns="0" rIns="0" bIns="0" rtlCol="0" anchor="t">
            <a:normAutofit/>
          </a:bodyPr>
          <a:lstStyle/>
          <a:p>
            <a:pPr marL="0" indent="0" algn="r" rtl="1">
              <a:buNone/>
            </a:pPr>
            <a:r>
              <a:rPr lang="en-US" sz="1210" dirty="0">
                <a:solidFill>
                  <a:srgbClr val="1F2937"/>
                </a:solidFill>
                <a:latin typeface="Noto Sans Arabic" pitchFamily="34" charset="0"/>
                <a:ea typeface="Noto Sans Arabic" pitchFamily="34" charset="-122"/>
                <a:cs typeface="Noto Sans Arabic" pitchFamily="34" charset="-120"/>
              </a:rPr>
              <a:t>نوسان‌های کم‌دامنه و حرکت جبرانی دست‌ها و سر اهمیت بیشتری داشت.</a:t>
            </a:r>
            <a:endParaRPr lang="en-US" sz="1210" dirty="0"/>
          </a:p>
        </p:txBody>
      </p:sp>
      <p:sp>
        <p:nvSpPr>
          <p:cNvPr id="14" name="Shape 12"/>
          <p:cNvSpPr/>
          <p:nvPr/>
        </p:nvSpPr>
        <p:spPr>
          <a:xfrm>
            <a:off x="768096" y="3319272"/>
            <a:ext cx="5157216" cy="1170432"/>
          </a:xfrm>
          <a:prstGeom prst="roundRect">
            <a:avLst>
              <a:gd name="adj" fmla="val 6250"/>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15" name="Shape 13"/>
          <p:cNvSpPr/>
          <p:nvPr/>
        </p:nvSpPr>
        <p:spPr>
          <a:xfrm>
            <a:off x="5751576" y="3319272"/>
            <a:ext cx="173736" cy="1170432"/>
          </a:xfrm>
          <a:prstGeom prst="rect">
            <a:avLst/>
          </a:prstGeom>
          <a:solidFill>
            <a:srgbClr val="0B7A75"/>
          </a:solidFill>
          <a:ln w="12700">
            <a:solidFill>
              <a:srgbClr val="0B7A75"/>
            </a:solidFill>
            <a:prstDash val="solid"/>
          </a:ln>
        </p:spPr>
      </p:sp>
      <p:sp>
        <p:nvSpPr>
          <p:cNvPr id="16" name="Text 14"/>
          <p:cNvSpPr/>
          <p:nvPr/>
        </p:nvSpPr>
        <p:spPr>
          <a:xfrm>
            <a:off x="3621024" y="3483864"/>
            <a:ext cx="1874520" cy="274320"/>
          </a:xfrm>
          <a:prstGeom prst="rect">
            <a:avLst/>
          </a:prstGeom>
          <a:noFill/>
          <a:ln/>
        </p:spPr>
        <p:txBody>
          <a:bodyPr wrap="square" lIns="0" tIns="0" rIns="0" bIns="0" rtlCol="0" anchor="ctr">
            <a:normAutofit/>
          </a:bodyPr>
          <a:lstStyle/>
          <a:p>
            <a:pPr marL="0" indent="0" algn="r" rtl="1">
              <a:buNone/>
            </a:pPr>
            <a:r>
              <a:rPr lang="en-US" sz="1600" b="1" dirty="0">
                <a:solidFill>
                  <a:srgbClr val="102A43"/>
                </a:solidFill>
                <a:latin typeface="Noto Sans Arabic" pitchFamily="34" charset="0"/>
                <a:ea typeface="Noto Sans Arabic" pitchFamily="34" charset="-122"/>
                <a:cs typeface="Noto Sans Arabic" pitchFamily="34" charset="-120"/>
              </a:rPr>
              <a:t>برخاستن</a:t>
            </a:r>
            <a:endParaRPr lang="en-US" sz="1600" dirty="0"/>
          </a:p>
        </p:txBody>
      </p:sp>
      <p:sp>
        <p:nvSpPr>
          <p:cNvPr id="17" name="Shape 15"/>
          <p:cNvSpPr/>
          <p:nvPr/>
        </p:nvSpPr>
        <p:spPr>
          <a:xfrm>
            <a:off x="1042416" y="3483864"/>
            <a:ext cx="1417320" cy="310896"/>
          </a:xfrm>
          <a:prstGeom prst="roundRect">
            <a:avLst>
              <a:gd name="adj" fmla="val 52941"/>
            </a:avLst>
          </a:prstGeom>
          <a:solidFill>
            <a:srgbClr val="EEF4F8"/>
          </a:solidFill>
          <a:ln w="12700">
            <a:solidFill>
              <a:srgbClr val="EEF4F8"/>
            </a:solidFill>
            <a:prstDash val="solid"/>
          </a:ln>
        </p:spPr>
      </p:sp>
      <p:sp>
        <p:nvSpPr>
          <p:cNvPr id="18" name="Text 16"/>
          <p:cNvSpPr/>
          <p:nvPr/>
        </p:nvSpPr>
        <p:spPr>
          <a:xfrm>
            <a:off x="1152144" y="3502152"/>
            <a:ext cx="1197864" cy="274320"/>
          </a:xfrm>
          <a:prstGeom prst="rect">
            <a:avLst/>
          </a:prstGeom>
          <a:noFill/>
          <a:ln/>
        </p:spPr>
        <p:txBody>
          <a:bodyPr wrap="square" lIns="0" tIns="0" rIns="0" bIns="0" rtlCol="0" anchor="ctr">
            <a:normAutofit/>
          </a:bodyPr>
          <a:lstStyle/>
          <a:p>
            <a:pPr marL="0" indent="0" algn="ctr" rtl="1">
              <a:buNone/>
            </a:pPr>
            <a:r>
              <a:rPr lang="en-US" sz="1150" b="1" dirty="0">
                <a:solidFill>
                  <a:srgbClr val="0B7A75"/>
                </a:solidFill>
                <a:latin typeface="Noto Sans Arabic" pitchFamily="34" charset="0"/>
                <a:ea typeface="Noto Sans Arabic" pitchFamily="34" charset="-122"/>
                <a:cs typeface="Noto Sans Arabic" pitchFamily="34" charset="-120"/>
              </a:rPr>
              <a:t>هماهنگی</a:t>
            </a:r>
            <a:endParaRPr lang="en-US" sz="1150" dirty="0"/>
          </a:p>
        </p:txBody>
      </p:sp>
      <p:sp>
        <p:nvSpPr>
          <p:cNvPr id="19" name="Text 17"/>
          <p:cNvSpPr/>
          <p:nvPr/>
        </p:nvSpPr>
        <p:spPr>
          <a:xfrm>
            <a:off x="1060704" y="3877056"/>
            <a:ext cx="4389120" cy="420624"/>
          </a:xfrm>
          <a:prstGeom prst="rect">
            <a:avLst/>
          </a:prstGeom>
          <a:noFill/>
          <a:ln/>
        </p:spPr>
        <p:txBody>
          <a:bodyPr wrap="square" lIns="0" tIns="0" rIns="0" bIns="0" rtlCol="0" anchor="t">
            <a:normAutofit/>
          </a:bodyPr>
          <a:lstStyle/>
          <a:p>
            <a:pPr marL="0" indent="0" algn="r" rtl="1">
              <a:buNone/>
            </a:pPr>
            <a:r>
              <a:rPr lang="en-US" sz="1210" dirty="0">
                <a:solidFill>
                  <a:srgbClr val="1F2937"/>
                </a:solidFill>
                <a:latin typeface="Noto Sans Arabic" pitchFamily="34" charset="0"/>
                <a:ea typeface="Noto Sans Arabic" pitchFamily="34" charset="-122"/>
                <a:cs typeface="Noto Sans Arabic" pitchFamily="34" charset="-120"/>
              </a:rPr>
              <a:t>ترتیب حرکت تنه، بازشدن مفاصل و استفاده از دست‌ها تعیین‌کننده بود.</a:t>
            </a:r>
            <a:endParaRPr lang="en-US" sz="1210" dirty="0"/>
          </a:p>
        </p:txBody>
      </p:sp>
      <p:sp>
        <p:nvSpPr>
          <p:cNvPr id="20" name="Shape 18"/>
          <p:cNvSpPr/>
          <p:nvPr/>
        </p:nvSpPr>
        <p:spPr>
          <a:xfrm>
            <a:off x="768096" y="4645152"/>
            <a:ext cx="5157216" cy="1170432"/>
          </a:xfrm>
          <a:prstGeom prst="roundRect">
            <a:avLst>
              <a:gd name="adj" fmla="val 6250"/>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21" name="Shape 19"/>
          <p:cNvSpPr/>
          <p:nvPr/>
        </p:nvSpPr>
        <p:spPr>
          <a:xfrm>
            <a:off x="5751576" y="4645152"/>
            <a:ext cx="173736" cy="1170432"/>
          </a:xfrm>
          <a:prstGeom prst="rect">
            <a:avLst/>
          </a:prstGeom>
          <a:solidFill>
            <a:srgbClr val="E69F00"/>
          </a:solidFill>
          <a:ln w="12700">
            <a:solidFill>
              <a:srgbClr val="E69F00"/>
            </a:solidFill>
            <a:prstDash val="solid"/>
          </a:ln>
        </p:spPr>
      </p:sp>
      <p:sp>
        <p:nvSpPr>
          <p:cNvPr id="22" name="Text 20"/>
          <p:cNvSpPr/>
          <p:nvPr/>
        </p:nvSpPr>
        <p:spPr>
          <a:xfrm>
            <a:off x="3621024" y="4809744"/>
            <a:ext cx="1874520" cy="274320"/>
          </a:xfrm>
          <a:prstGeom prst="rect">
            <a:avLst/>
          </a:prstGeom>
          <a:noFill/>
          <a:ln/>
        </p:spPr>
        <p:txBody>
          <a:bodyPr wrap="square" lIns="0" tIns="0" rIns="0" bIns="0" rtlCol="0" anchor="ctr">
            <a:normAutofit/>
          </a:bodyPr>
          <a:lstStyle/>
          <a:p>
            <a:pPr marL="0" indent="0" algn="r" rtl="1">
              <a:buNone/>
            </a:pPr>
            <a:r>
              <a:rPr lang="en-US" sz="1600" b="1" dirty="0">
                <a:solidFill>
                  <a:srgbClr val="102A43"/>
                </a:solidFill>
                <a:latin typeface="Noto Sans Arabic" pitchFamily="34" charset="0"/>
                <a:ea typeface="Noto Sans Arabic" pitchFamily="34" charset="-122"/>
                <a:cs typeface="Noto Sans Arabic" pitchFamily="34" charset="-120"/>
              </a:rPr>
              <a:t>پریدن</a:t>
            </a:r>
            <a:endParaRPr lang="en-US" sz="1600" dirty="0"/>
          </a:p>
        </p:txBody>
      </p:sp>
      <p:sp>
        <p:nvSpPr>
          <p:cNvPr id="23" name="Shape 21"/>
          <p:cNvSpPr/>
          <p:nvPr/>
        </p:nvSpPr>
        <p:spPr>
          <a:xfrm>
            <a:off x="1042416" y="4809744"/>
            <a:ext cx="1417320" cy="310896"/>
          </a:xfrm>
          <a:prstGeom prst="roundRect">
            <a:avLst>
              <a:gd name="adj" fmla="val 52941"/>
            </a:avLst>
          </a:prstGeom>
          <a:solidFill>
            <a:srgbClr val="FFF5D8"/>
          </a:solidFill>
          <a:ln w="12700">
            <a:solidFill>
              <a:srgbClr val="FFF5D8"/>
            </a:solidFill>
            <a:prstDash val="solid"/>
          </a:ln>
        </p:spPr>
      </p:sp>
      <p:sp>
        <p:nvSpPr>
          <p:cNvPr id="24" name="Text 22"/>
          <p:cNvSpPr/>
          <p:nvPr/>
        </p:nvSpPr>
        <p:spPr>
          <a:xfrm>
            <a:off x="1152144" y="4828032"/>
            <a:ext cx="1197864" cy="274320"/>
          </a:xfrm>
          <a:prstGeom prst="rect">
            <a:avLst/>
          </a:prstGeom>
          <a:noFill/>
          <a:ln/>
        </p:spPr>
        <p:txBody>
          <a:bodyPr wrap="square" lIns="0" tIns="0" rIns="0" bIns="0" rtlCol="0" anchor="ctr">
            <a:normAutofit/>
          </a:bodyPr>
          <a:lstStyle/>
          <a:p>
            <a:pPr marL="0" indent="0" algn="ctr" rtl="1">
              <a:buNone/>
            </a:pPr>
            <a:r>
              <a:rPr lang="en-US" sz="1150" b="1" dirty="0">
                <a:solidFill>
                  <a:srgbClr val="E69F00"/>
                </a:solidFill>
                <a:latin typeface="Noto Sans Arabic" pitchFamily="34" charset="0"/>
                <a:ea typeface="Noto Sans Arabic" pitchFamily="34" charset="-122"/>
                <a:cs typeface="Noto Sans Arabic" pitchFamily="34" charset="-120"/>
              </a:rPr>
              <a:t>انرژی و فرود</a:t>
            </a:r>
            <a:endParaRPr lang="en-US" sz="1150" dirty="0"/>
          </a:p>
        </p:txBody>
      </p:sp>
      <p:sp>
        <p:nvSpPr>
          <p:cNvPr id="25" name="Text 23"/>
          <p:cNvSpPr/>
          <p:nvPr/>
        </p:nvSpPr>
        <p:spPr>
          <a:xfrm>
            <a:off x="1060704" y="5202936"/>
            <a:ext cx="4389120" cy="420624"/>
          </a:xfrm>
          <a:prstGeom prst="rect">
            <a:avLst/>
          </a:prstGeom>
          <a:noFill/>
          <a:ln/>
        </p:spPr>
        <p:txBody>
          <a:bodyPr wrap="square" lIns="0" tIns="0" rIns="0" bIns="0" rtlCol="0" anchor="t">
            <a:normAutofit/>
          </a:bodyPr>
          <a:lstStyle/>
          <a:p>
            <a:pPr marL="0" indent="0" algn="r" rtl="1">
              <a:buNone/>
            </a:pPr>
            <a:r>
              <a:rPr lang="en-US" sz="1210" dirty="0">
                <a:solidFill>
                  <a:srgbClr val="1F2937"/>
                </a:solidFill>
                <a:latin typeface="Noto Sans Arabic" pitchFamily="34" charset="0"/>
                <a:ea typeface="Noto Sans Arabic" pitchFamily="34" charset="-122"/>
                <a:cs typeface="Noto Sans Arabic" pitchFamily="34" charset="-120"/>
              </a:rPr>
              <a:t>دامنه شتاب، انرژی سیگنال و پایداری پس از فرود شاخص‌تر بودند.</a:t>
            </a:r>
            <a:endParaRPr lang="en-US" sz="1210" dirty="0"/>
          </a:p>
        </p:txBody>
      </p:sp>
      <p:sp>
        <p:nvSpPr>
          <p:cNvPr id="26" name="Shape 24"/>
          <p:cNvSpPr/>
          <p:nvPr/>
        </p:nvSpPr>
        <p:spPr>
          <a:xfrm>
            <a:off x="6245352" y="1993392"/>
            <a:ext cx="5157216" cy="1170432"/>
          </a:xfrm>
          <a:prstGeom prst="roundRect">
            <a:avLst>
              <a:gd name="adj" fmla="val 6250"/>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27" name="Shape 25"/>
          <p:cNvSpPr/>
          <p:nvPr/>
        </p:nvSpPr>
        <p:spPr>
          <a:xfrm>
            <a:off x="11228832" y="1993392"/>
            <a:ext cx="173736" cy="1170432"/>
          </a:xfrm>
          <a:prstGeom prst="rect">
            <a:avLst/>
          </a:prstGeom>
          <a:solidFill>
            <a:srgbClr val="2F855A"/>
          </a:solidFill>
          <a:ln w="12700">
            <a:solidFill>
              <a:srgbClr val="2F855A"/>
            </a:solidFill>
            <a:prstDash val="solid"/>
          </a:ln>
        </p:spPr>
      </p:sp>
      <p:sp>
        <p:nvSpPr>
          <p:cNvPr id="28" name="Text 26"/>
          <p:cNvSpPr/>
          <p:nvPr/>
        </p:nvSpPr>
        <p:spPr>
          <a:xfrm>
            <a:off x="9098280" y="2157984"/>
            <a:ext cx="1874520" cy="274320"/>
          </a:xfrm>
          <a:prstGeom prst="rect">
            <a:avLst/>
          </a:prstGeom>
          <a:noFill/>
          <a:ln/>
        </p:spPr>
        <p:txBody>
          <a:bodyPr wrap="square" lIns="0" tIns="0" rIns="0" bIns="0" rtlCol="0" anchor="ctr">
            <a:normAutofit/>
          </a:bodyPr>
          <a:lstStyle/>
          <a:p>
            <a:pPr marL="0" indent="0" algn="r" rtl="1">
              <a:buNone/>
            </a:pPr>
            <a:r>
              <a:rPr lang="en-US" sz="1600" b="1" dirty="0">
                <a:solidFill>
                  <a:srgbClr val="102A43"/>
                </a:solidFill>
                <a:latin typeface="Noto Sans Arabic" pitchFamily="34" charset="0"/>
                <a:ea typeface="Noto Sans Arabic" pitchFamily="34" charset="-122"/>
                <a:cs typeface="Noto Sans Arabic" pitchFamily="34" charset="-120"/>
              </a:rPr>
              <a:t>بالا آوردن سر</a:t>
            </a:r>
            <a:endParaRPr lang="en-US" sz="1600" dirty="0"/>
          </a:p>
        </p:txBody>
      </p:sp>
      <p:sp>
        <p:nvSpPr>
          <p:cNvPr id="29" name="Shape 27"/>
          <p:cNvSpPr/>
          <p:nvPr/>
        </p:nvSpPr>
        <p:spPr>
          <a:xfrm>
            <a:off x="6519672" y="2157984"/>
            <a:ext cx="1417320" cy="310896"/>
          </a:xfrm>
          <a:prstGeom prst="roundRect">
            <a:avLst>
              <a:gd name="adj" fmla="val 52941"/>
            </a:avLst>
          </a:prstGeom>
          <a:solidFill>
            <a:srgbClr val="EEF4F8"/>
          </a:solidFill>
          <a:ln w="12700">
            <a:solidFill>
              <a:srgbClr val="EEF4F8"/>
            </a:solidFill>
            <a:prstDash val="solid"/>
          </a:ln>
        </p:spPr>
      </p:sp>
      <p:sp>
        <p:nvSpPr>
          <p:cNvPr id="30" name="Text 28"/>
          <p:cNvSpPr/>
          <p:nvPr/>
        </p:nvSpPr>
        <p:spPr>
          <a:xfrm>
            <a:off x="6629400" y="2176272"/>
            <a:ext cx="1197864" cy="274320"/>
          </a:xfrm>
          <a:prstGeom prst="rect">
            <a:avLst/>
          </a:prstGeom>
          <a:noFill/>
          <a:ln/>
        </p:spPr>
        <p:txBody>
          <a:bodyPr wrap="square" lIns="0" tIns="0" rIns="0" bIns="0" rtlCol="0" anchor="ctr">
            <a:normAutofit/>
          </a:bodyPr>
          <a:lstStyle/>
          <a:p>
            <a:pPr marL="0" indent="0" algn="ctr" rtl="1">
              <a:buNone/>
            </a:pPr>
            <a:r>
              <a:rPr lang="en-US" sz="1150" b="1" dirty="0">
                <a:solidFill>
                  <a:srgbClr val="2F855A"/>
                </a:solidFill>
                <a:latin typeface="Noto Sans Arabic" pitchFamily="34" charset="0"/>
                <a:ea typeface="Noto Sans Arabic" pitchFamily="34" charset="-122"/>
                <a:cs typeface="Noto Sans Arabic" pitchFamily="34" charset="-120"/>
              </a:rPr>
              <a:t>حسگر پیشانی</a:t>
            </a:r>
            <a:endParaRPr lang="en-US" sz="1150" dirty="0"/>
          </a:p>
        </p:txBody>
      </p:sp>
      <p:sp>
        <p:nvSpPr>
          <p:cNvPr id="31" name="Text 29"/>
          <p:cNvSpPr/>
          <p:nvPr/>
        </p:nvSpPr>
        <p:spPr>
          <a:xfrm>
            <a:off x="6537960" y="2551176"/>
            <a:ext cx="4389120" cy="420624"/>
          </a:xfrm>
          <a:prstGeom prst="rect">
            <a:avLst/>
          </a:prstGeom>
          <a:noFill/>
          <a:ln/>
        </p:spPr>
        <p:txBody>
          <a:bodyPr wrap="square" lIns="0" tIns="0" rIns="0" bIns="0" rtlCol="0" anchor="t">
            <a:normAutofit/>
          </a:bodyPr>
          <a:lstStyle/>
          <a:p>
            <a:pPr marL="0" indent="0" algn="r" rtl="1">
              <a:buNone/>
            </a:pPr>
            <a:r>
              <a:rPr lang="en-US" sz="1210" dirty="0">
                <a:solidFill>
                  <a:srgbClr val="1F2937"/>
                </a:solidFill>
                <a:latin typeface="Noto Sans Arabic" pitchFamily="34" charset="0"/>
                <a:ea typeface="Noto Sans Arabic" pitchFamily="34" charset="-122"/>
                <a:cs typeface="Noto Sans Arabic" pitchFamily="34" charset="-120"/>
              </a:rPr>
              <a:t>دامنه و سرعت حرکت سر، همراه با حرکات جبرانی اندام‌ها، اهمیت داشت.</a:t>
            </a:r>
            <a:endParaRPr lang="en-US" sz="1210" dirty="0"/>
          </a:p>
        </p:txBody>
      </p:sp>
      <p:sp>
        <p:nvSpPr>
          <p:cNvPr id="32" name="Shape 30"/>
          <p:cNvSpPr/>
          <p:nvPr/>
        </p:nvSpPr>
        <p:spPr>
          <a:xfrm>
            <a:off x="6245352" y="3319272"/>
            <a:ext cx="5157216" cy="1170432"/>
          </a:xfrm>
          <a:prstGeom prst="roundRect">
            <a:avLst>
              <a:gd name="adj" fmla="val 6250"/>
            </a:avLst>
          </a:prstGeom>
          <a:solidFill>
            <a:srgbClr val="FFFFFF"/>
          </a:solidFill>
          <a:ln w="12700">
            <a:solidFill>
              <a:srgbClr val="DDE7ED"/>
            </a:solidFill>
            <a:prstDash val="solid"/>
          </a:ln>
          <a:effectLst>
            <a:outerShdw blurRad="12700" dist="50800" dir="2700000" algn="bl" rotWithShape="0">
              <a:srgbClr val="B0BEC5">
                <a:alpha val="12000"/>
              </a:srgbClr>
            </a:outerShdw>
          </a:effectLst>
        </p:spPr>
      </p:sp>
      <p:sp>
        <p:nvSpPr>
          <p:cNvPr id="33" name="Shape 31"/>
          <p:cNvSpPr/>
          <p:nvPr/>
        </p:nvSpPr>
        <p:spPr>
          <a:xfrm>
            <a:off x="11228832" y="3319272"/>
            <a:ext cx="173736" cy="1170432"/>
          </a:xfrm>
          <a:prstGeom prst="rect">
            <a:avLst/>
          </a:prstGeom>
          <a:solidFill>
            <a:srgbClr val="C0392B"/>
          </a:solidFill>
          <a:ln w="12700">
            <a:solidFill>
              <a:srgbClr val="C0392B"/>
            </a:solidFill>
            <a:prstDash val="solid"/>
          </a:ln>
        </p:spPr>
      </p:sp>
      <p:sp>
        <p:nvSpPr>
          <p:cNvPr id="34" name="Text 32"/>
          <p:cNvSpPr/>
          <p:nvPr/>
        </p:nvSpPr>
        <p:spPr>
          <a:xfrm>
            <a:off x="9098280" y="3483864"/>
            <a:ext cx="1874520" cy="274320"/>
          </a:xfrm>
          <a:prstGeom prst="rect">
            <a:avLst/>
          </a:prstGeom>
          <a:noFill/>
          <a:ln/>
        </p:spPr>
        <p:txBody>
          <a:bodyPr wrap="square" lIns="0" tIns="0" rIns="0" bIns="0" rtlCol="0" anchor="ctr">
            <a:normAutofit/>
          </a:bodyPr>
          <a:lstStyle/>
          <a:p>
            <a:pPr marL="0" indent="0" algn="r" rtl="1">
              <a:buNone/>
            </a:pPr>
            <a:r>
              <a:rPr lang="en-US" sz="1600" b="1" dirty="0">
                <a:solidFill>
                  <a:srgbClr val="102A43"/>
                </a:solidFill>
                <a:latin typeface="Noto Sans Arabic" pitchFamily="34" charset="0"/>
                <a:ea typeface="Noto Sans Arabic" pitchFamily="34" charset="-122"/>
                <a:cs typeface="Noto Sans Arabic" pitchFamily="34" charset="-120"/>
              </a:rPr>
              <a:t>بالا رفتن از جعبه</a:t>
            </a:r>
            <a:endParaRPr lang="en-US" sz="1600" dirty="0"/>
          </a:p>
        </p:txBody>
      </p:sp>
      <p:sp>
        <p:nvSpPr>
          <p:cNvPr id="35" name="Shape 33"/>
          <p:cNvSpPr/>
          <p:nvPr/>
        </p:nvSpPr>
        <p:spPr>
          <a:xfrm>
            <a:off x="6519672" y="3483864"/>
            <a:ext cx="1417320" cy="310896"/>
          </a:xfrm>
          <a:prstGeom prst="roundRect">
            <a:avLst>
              <a:gd name="adj" fmla="val 52941"/>
            </a:avLst>
          </a:prstGeom>
          <a:solidFill>
            <a:srgbClr val="FDECEA"/>
          </a:solidFill>
          <a:ln w="12700">
            <a:solidFill>
              <a:srgbClr val="FDECEA"/>
            </a:solidFill>
            <a:prstDash val="solid"/>
          </a:ln>
        </p:spPr>
      </p:sp>
      <p:sp>
        <p:nvSpPr>
          <p:cNvPr id="36" name="Text 34"/>
          <p:cNvSpPr/>
          <p:nvPr/>
        </p:nvSpPr>
        <p:spPr>
          <a:xfrm>
            <a:off x="6629400" y="3502152"/>
            <a:ext cx="1197864" cy="274320"/>
          </a:xfrm>
          <a:prstGeom prst="rect">
            <a:avLst/>
          </a:prstGeom>
          <a:noFill/>
          <a:ln/>
        </p:spPr>
        <p:txBody>
          <a:bodyPr wrap="square" lIns="0" tIns="0" rIns="0" bIns="0" rtlCol="0" anchor="ctr">
            <a:normAutofit/>
          </a:bodyPr>
          <a:lstStyle/>
          <a:p>
            <a:pPr marL="0" indent="0" algn="ctr" rtl="1">
              <a:buNone/>
            </a:pPr>
            <a:r>
              <a:rPr lang="en-US" sz="1150" b="1" dirty="0">
                <a:solidFill>
                  <a:srgbClr val="C0392B"/>
                </a:solidFill>
                <a:latin typeface="Noto Sans Arabic" pitchFamily="34" charset="0"/>
                <a:ea typeface="Noto Sans Arabic" pitchFamily="34" charset="-122"/>
                <a:cs typeface="Noto Sans Arabic" pitchFamily="34" charset="-120"/>
              </a:rPr>
              <a:t>انتقال وزن</a:t>
            </a:r>
            <a:endParaRPr lang="en-US" sz="1150" dirty="0"/>
          </a:p>
        </p:txBody>
      </p:sp>
      <p:sp>
        <p:nvSpPr>
          <p:cNvPr id="37" name="Text 35"/>
          <p:cNvSpPr/>
          <p:nvPr/>
        </p:nvSpPr>
        <p:spPr>
          <a:xfrm>
            <a:off x="6537960" y="3877056"/>
            <a:ext cx="4389120" cy="420624"/>
          </a:xfrm>
          <a:prstGeom prst="rect">
            <a:avLst/>
          </a:prstGeom>
          <a:noFill/>
          <a:ln/>
        </p:spPr>
        <p:txBody>
          <a:bodyPr wrap="square" lIns="0" tIns="0" rIns="0" bIns="0" rtlCol="0" anchor="t">
            <a:normAutofit/>
          </a:bodyPr>
          <a:lstStyle/>
          <a:p>
            <a:pPr marL="0" indent="0" algn="r" rtl="1">
              <a:buNone/>
            </a:pPr>
            <a:r>
              <a:rPr lang="en-US" sz="1210" dirty="0">
                <a:solidFill>
                  <a:srgbClr val="1F2937"/>
                </a:solidFill>
                <a:latin typeface="Noto Sans Arabic" pitchFamily="34" charset="0"/>
                <a:ea typeface="Noto Sans Arabic" pitchFamily="34" charset="-122"/>
                <a:cs typeface="Noto Sans Arabic" pitchFamily="34" charset="-120"/>
              </a:rPr>
              <a:t>حسگرهای پا و نحوه کشیدن بدن به بالا بیشترین اطلاعات را فراهم کردند.</a:t>
            </a:r>
            <a:endParaRPr lang="en-US" sz="1210" dirty="0"/>
          </a:p>
        </p:txBody>
      </p:sp>
      <p:sp>
        <p:nvSpPr>
          <p:cNvPr id="38" name="Shape 36"/>
          <p:cNvSpPr/>
          <p:nvPr/>
        </p:nvSpPr>
        <p:spPr>
          <a:xfrm>
            <a:off x="6245352" y="4645152"/>
            <a:ext cx="5157216" cy="1316736"/>
          </a:xfrm>
          <a:prstGeom prst="roundRect">
            <a:avLst>
              <a:gd name="adj" fmla="val 5556"/>
            </a:avLst>
          </a:prstGeom>
          <a:solidFill>
            <a:srgbClr val="102A43"/>
          </a:solidFill>
          <a:ln w="12700">
            <a:solidFill>
              <a:srgbClr val="102A43"/>
            </a:solidFill>
            <a:prstDash val="solid"/>
          </a:ln>
        </p:spPr>
      </p:sp>
      <p:sp>
        <p:nvSpPr>
          <p:cNvPr id="39" name="Text 37"/>
          <p:cNvSpPr/>
          <p:nvPr/>
        </p:nvSpPr>
        <p:spPr>
          <a:xfrm>
            <a:off x="9509760" y="4846320"/>
            <a:ext cx="1508760" cy="274320"/>
          </a:xfrm>
          <a:prstGeom prst="rect">
            <a:avLst/>
          </a:prstGeom>
          <a:noFill/>
          <a:ln/>
        </p:spPr>
        <p:txBody>
          <a:bodyPr wrap="square" lIns="0" tIns="0" rIns="0" bIns="0" rtlCol="0" anchor="ctr">
            <a:normAutofit/>
          </a:bodyPr>
          <a:lstStyle/>
          <a:p>
            <a:pPr marL="0" indent="0" algn="r" rtl="1">
              <a:buNone/>
            </a:pPr>
            <a:r>
              <a:rPr lang="en-US" sz="1300" b="1" dirty="0">
                <a:solidFill>
                  <a:srgbClr val="A9D7E8"/>
                </a:solidFill>
                <a:latin typeface="Noto Sans Arabic" pitchFamily="34" charset="0"/>
                <a:ea typeface="Noto Sans Arabic" pitchFamily="34" charset="-122"/>
                <a:cs typeface="Noto Sans Arabic" pitchFamily="34" charset="-120"/>
              </a:rPr>
              <a:t>نتیجه روش‌شناختی</a:t>
            </a:r>
            <a:endParaRPr lang="en-US" sz="1300" dirty="0"/>
          </a:p>
        </p:txBody>
      </p:sp>
      <p:sp>
        <p:nvSpPr>
          <p:cNvPr id="40" name="Text 38"/>
          <p:cNvSpPr/>
          <p:nvPr/>
        </p:nvSpPr>
        <p:spPr>
          <a:xfrm>
            <a:off x="6565392" y="5239512"/>
            <a:ext cx="4434840" cy="457200"/>
          </a:xfrm>
          <a:prstGeom prst="rect">
            <a:avLst/>
          </a:prstGeom>
          <a:noFill/>
          <a:ln/>
        </p:spPr>
        <p:txBody>
          <a:bodyPr wrap="square" lIns="0" tIns="0" rIns="0" bIns="0" rtlCol="0" anchor="ctr">
            <a:normAutofit/>
          </a:bodyPr>
          <a:lstStyle/>
          <a:p>
            <a:pPr marL="0" indent="0" algn="ctr" rtl="1">
              <a:buNone/>
            </a:pPr>
            <a:r>
              <a:rPr lang="en-US" sz="1620" b="1" dirty="0">
                <a:solidFill>
                  <a:srgbClr val="FFFFFF"/>
                </a:solidFill>
                <a:latin typeface="Noto Sans Arabic" pitchFamily="34" charset="0"/>
                <a:ea typeface="Noto Sans Arabic" pitchFamily="34" charset="-122"/>
                <a:cs typeface="Noto Sans Arabic" pitchFamily="34" charset="-120"/>
              </a:rPr>
              <a:t>بهتر است هر فعالیت به‌صورت مستقل تحلیل و مدل مناسب همان حرکت انتخاب شود.</a:t>
            </a:r>
            <a:endParaRPr lang="en-US" sz="1620" dirty="0"/>
          </a:p>
        </p:txBody>
      </p:sp>
      <p:sp>
        <p:nvSpPr>
          <p:cNvPr id="41" name="Shape 39"/>
          <p:cNvSpPr/>
          <p:nvPr/>
        </p:nvSpPr>
        <p:spPr>
          <a:xfrm>
            <a:off x="658368" y="6473952"/>
            <a:ext cx="10881360" cy="0"/>
          </a:xfrm>
          <a:prstGeom prst="line">
            <a:avLst/>
          </a:prstGeom>
          <a:noFill/>
          <a:ln w="10160">
            <a:solidFill>
              <a:srgbClr val="E9EEF2"/>
            </a:solidFill>
            <a:prstDash val="solid"/>
          </a:ln>
        </p:spPr>
      </p:sp>
      <p:sp>
        <p:nvSpPr>
          <p:cNvPr id="42" name="Text 40"/>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43" name="Text 41"/>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۴ از ۶: نتایج و بحث | ۳ اسلاید تا پایان</a:t>
            </a:r>
            <a:endParaRPr lang="en-US" sz="920" dirty="0"/>
          </a:p>
        </p:txBody>
      </p:sp>
      <p:sp>
        <p:nvSpPr>
          <p:cNvPr id="44" name="Text 42"/>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۱۱ / ۱۴</a:t>
            </a:r>
            <a:endParaRPr lang="en-US" sz="1020" dirty="0"/>
          </a:p>
        </p:txBody>
      </p:sp>
      <p:sp>
        <p:nvSpPr>
          <p:cNvPr id="45" name="Shape 43"/>
          <p:cNvSpPr/>
          <p:nvPr/>
        </p:nvSpPr>
        <p:spPr>
          <a:xfrm>
            <a:off x="2560320" y="6766560"/>
            <a:ext cx="5172891" cy="41148"/>
          </a:xfrm>
          <a:prstGeom prst="rect">
            <a:avLst/>
          </a:prstGeom>
          <a:solidFill>
            <a:srgbClr val="0B6E99"/>
          </a:solidFill>
          <a:ln w="12700">
            <a:solidFill>
              <a:srgbClr val="0B6E99"/>
            </a:solidFill>
            <a:prstDash val="solid"/>
          </a:ln>
        </p:spPr>
      </p:sp>
      <p:sp>
        <p:nvSpPr>
          <p:cNvPr id="46" name="Shape 44"/>
          <p:cNvSpPr/>
          <p:nvPr/>
        </p:nvSpPr>
        <p:spPr>
          <a:xfrm>
            <a:off x="7733211" y="6766560"/>
            <a:ext cx="1410789"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7"/>
                            </p:tgtEl>
                          </p:cBhvr>
                        </p:animEffect>
                      </p:childTnLst>
                    </p:cTn>
                  </p:par>
                  <p:par>
                    <p:cTn id="9" fill="hold">
                      <p:stCondLst>
                        <p:cond delay="0"/>
                      </p:stCondLst>
                      <p:childTnLst>
                        <p:animEffect transition="in" filter="fade">
                          <p:cBhvr>
                            <p:cTn id="10" dur="350" fill="hold"/>
                            <p:tgtEl>
                              <p:spTgt spid="10"/>
                            </p:tgtEl>
                          </p:cBhvr>
                        </p:animEffect>
                      </p:childTnLst>
                    </p:cTn>
                  </p:par>
                  <p:par>
                    <p:cTn id="11" fill="hold">
                      <p:stCondLst>
                        <p:cond delay="0"/>
                      </p:stCondLst>
                      <p:childTnLst>
                        <p:animEffect transition="in" filter="fade">
                          <p:cBhvr>
                            <p:cTn id="12" dur="350" fill="hold"/>
                            <p:tgtEl>
                              <p:spTgt spid="12"/>
                            </p:tgtEl>
                          </p:cBhvr>
                        </p:animEffect>
                      </p:childTnLst>
                    </p:cTn>
                  </p:par>
                </p:childTnLst>
              </p:cTn>
            </p:seq>
          </p:childTnLst>
        </p:cTn>
      </p:par>
    </p:tnLst>
    <p:bldLst>
      <p:bldP spid="3" grpId="0"/>
      <p:bldP spid="4" grpId="0"/>
      <p:bldP spid="7" grpId="0"/>
      <p:bldP spid="10"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تفسیر نتایج</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محدودیت‌های پژوهش</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۱۲ / ۱۴</a:t>
            </a:r>
            <a:endParaRPr lang="en-US" sz="1080" dirty="0"/>
          </a:p>
        </p:txBody>
      </p:sp>
      <p:sp>
        <p:nvSpPr>
          <p:cNvPr id="7" name="Shape 5"/>
          <p:cNvSpPr/>
          <p:nvPr/>
        </p:nvSpPr>
        <p:spPr>
          <a:xfrm>
            <a:off x="749808" y="1755648"/>
            <a:ext cx="3456432" cy="3401568"/>
          </a:xfrm>
          <a:prstGeom prst="roundRect">
            <a:avLst>
              <a:gd name="adj" fmla="val 2151"/>
            </a:avLst>
          </a:prstGeom>
          <a:solidFill>
            <a:srgbClr val="FFFFFF"/>
          </a:solidFill>
          <a:ln w="17145">
            <a:solidFill>
              <a:srgbClr val="C0392B"/>
            </a:solidFill>
            <a:prstDash val="solid"/>
          </a:ln>
          <a:effectLst>
            <a:outerShdw blurRad="12700" dist="50800" dir="2700000" algn="bl" rotWithShape="0">
              <a:srgbClr val="B0BEC5">
                <a:alpha val="12000"/>
              </a:srgbClr>
            </a:outerShdw>
          </a:effectLst>
        </p:spPr>
      </p:sp>
      <p:sp>
        <p:nvSpPr>
          <p:cNvPr id="8" name="Shape 6"/>
          <p:cNvSpPr/>
          <p:nvPr/>
        </p:nvSpPr>
        <p:spPr>
          <a:xfrm>
            <a:off x="2057400" y="2057400"/>
            <a:ext cx="841248" cy="841248"/>
          </a:xfrm>
          <a:prstGeom prst="ellipse">
            <a:avLst/>
          </a:prstGeom>
          <a:solidFill>
            <a:srgbClr val="C0392B"/>
          </a:solidFill>
          <a:ln w="12700">
            <a:solidFill>
              <a:srgbClr val="C0392B"/>
            </a:solidFill>
            <a:prstDash val="solid"/>
          </a:ln>
        </p:spPr>
      </p:sp>
      <p:sp>
        <p:nvSpPr>
          <p:cNvPr id="9" name="Text 7"/>
          <p:cNvSpPr/>
          <p:nvPr/>
        </p:nvSpPr>
        <p:spPr>
          <a:xfrm>
            <a:off x="2057400" y="2112264"/>
            <a:ext cx="841248" cy="566928"/>
          </a:xfrm>
          <a:prstGeom prst="rect">
            <a:avLst/>
          </a:prstGeom>
          <a:noFill/>
          <a:ln/>
        </p:spPr>
        <p:txBody>
          <a:bodyPr wrap="square" lIns="0" tIns="0" rIns="0" bIns="0" rtlCol="0" anchor="ctr">
            <a:normAutofit/>
          </a:bodyPr>
          <a:lstStyle/>
          <a:p>
            <a:pPr marL="0" indent="0" algn="ctr" rtl="1">
              <a:buNone/>
            </a:pPr>
            <a:r>
              <a:rPr lang="en-US" sz="2800" b="1" dirty="0">
                <a:solidFill>
                  <a:srgbClr val="FFFFFF"/>
                </a:solidFill>
                <a:latin typeface="Noto Sans Arabic" pitchFamily="34" charset="0"/>
                <a:ea typeface="Noto Sans Arabic" pitchFamily="34" charset="-122"/>
                <a:cs typeface="Noto Sans Arabic" pitchFamily="34" charset="-120"/>
              </a:rPr>
              <a:t>۱</a:t>
            </a:r>
            <a:endParaRPr lang="en-US" sz="2800" dirty="0"/>
          </a:p>
        </p:txBody>
      </p:sp>
      <p:sp>
        <p:nvSpPr>
          <p:cNvPr id="10" name="Text 8"/>
          <p:cNvSpPr/>
          <p:nvPr/>
        </p:nvSpPr>
        <p:spPr>
          <a:xfrm>
            <a:off x="1069848" y="3127248"/>
            <a:ext cx="2816352"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داده از یک فرد سالم</a:t>
            </a:r>
            <a:endParaRPr lang="en-US" sz="1700" dirty="0"/>
          </a:p>
        </p:txBody>
      </p:sp>
      <p:sp>
        <p:nvSpPr>
          <p:cNvPr id="11" name="Text 9"/>
          <p:cNvSpPr/>
          <p:nvPr/>
        </p:nvSpPr>
        <p:spPr>
          <a:xfrm>
            <a:off x="1097280" y="3730752"/>
            <a:ext cx="2761488" cy="1024128"/>
          </a:xfrm>
          <a:prstGeom prst="rect">
            <a:avLst/>
          </a:prstGeom>
          <a:noFill/>
          <a:ln/>
        </p:spPr>
        <p:txBody>
          <a:bodyPr wrap="square" lIns="0" tIns="0" rIns="0" bIns="0" rtlCol="0" anchor="t">
            <a:normAutofit/>
          </a:bodyPr>
          <a:lstStyle/>
          <a:p>
            <a:pPr marL="0" indent="0" algn="ctr" rtl="1">
              <a:buNone/>
            </a:pPr>
            <a:r>
              <a:rPr lang="en-US" sz="1270" dirty="0">
                <a:solidFill>
                  <a:srgbClr val="1F2937"/>
                </a:solidFill>
                <a:latin typeface="Noto Sans Arabic" pitchFamily="34" charset="0"/>
                <a:ea typeface="Noto Sans Arabic" pitchFamily="34" charset="-122"/>
                <a:cs typeface="Noto Sans Arabic" pitchFamily="34" charset="-120"/>
              </a:rPr>
              <a:t>الگوهای واقعی بیماران تحت تأثیر شدت بیماری، خستگی، کوتاهی عضلات و راهبردهای جبرانی فردی هستند.</a:t>
            </a:r>
            <a:endParaRPr lang="en-US" sz="1270" dirty="0"/>
          </a:p>
        </p:txBody>
      </p:sp>
      <p:sp>
        <p:nvSpPr>
          <p:cNvPr id="12" name="Shape 10"/>
          <p:cNvSpPr/>
          <p:nvPr/>
        </p:nvSpPr>
        <p:spPr>
          <a:xfrm>
            <a:off x="4562856" y="1755648"/>
            <a:ext cx="3456432" cy="3401568"/>
          </a:xfrm>
          <a:prstGeom prst="roundRect">
            <a:avLst>
              <a:gd name="adj" fmla="val 2151"/>
            </a:avLst>
          </a:prstGeom>
          <a:solidFill>
            <a:srgbClr val="FFFFFF"/>
          </a:solidFill>
          <a:ln w="17145">
            <a:solidFill>
              <a:srgbClr val="E69F00"/>
            </a:solidFill>
            <a:prstDash val="solid"/>
          </a:ln>
          <a:effectLst>
            <a:outerShdw blurRad="12700" dist="50800" dir="2700000" algn="bl" rotWithShape="0">
              <a:srgbClr val="B0BEC5">
                <a:alpha val="12000"/>
              </a:srgbClr>
            </a:outerShdw>
          </a:effectLst>
        </p:spPr>
      </p:sp>
      <p:sp>
        <p:nvSpPr>
          <p:cNvPr id="13" name="Shape 11"/>
          <p:cNvSpPr/>
          <p:nvPr/>
        </p:nvSpPr>
        <p:spPr>
          <a:xfrm>
            <a:off x="5870448" y="2057400"/>
            <a:ext cx="841248" cy="841248"/>
          </a:xfrm>
          <a:prstGeom prst="ellipse">
            <a:avLst/>
          </a:prstGeom>
          <a:solidFill>
            <a:srgbClr val="E69F00"/>
          </a:solidFill>
          <a:ln w="12700">
            <a:solidFill>
              <a:srgbClr val="E69F00"/>
            </a:solidFill>
            <a:prstDash val="solid"/>
          </a:ln>
        </p:spPr>
      </p:sp>
      <p:sp>
        <p:nvSpPr>
          <p:cNvPr id="14" name="Text 12"/>
          <p:cNvSpPr/>
          <p:nvPr/>
        </p:nvSpPr>
        <p:spPr>
          <a:xfrm>
            <a:off x="5870448" y="2112264"/>
            <a:ext cx="841248" cy="566928"/>
          </a:xfrm>
          <a:prstGeom prst="rect">
            <a:avLst/>
          </a:prstGeom>
          <a:noFill/>
          <a:ln/>
        </p:spPr>
        <p:txBody>
          <a:bodyPr wrap="square" lIns="0" tIns="0" rIns="0" bIns="0" rtlCol="0" anchor="ctr">
            <a:normAutofit/>
          </a:bodyPr>
          <a:lstStyle/>
          <a:p>
            <a:pPr marL="0" indent="0" algn="ctr" rtl="1">
              <a:buNone/>
            </a:pPr>
            <a:r>
              <a:rPr lang="en-US" sz="2800" b="1" dirty="0">
                <a:solidFill>
                  <a:srgbClr val="FFFFFF"/>
                </a:solidFill>
                <a:latin typeface="Noto Sans Arabic" pitchFamily="34" charset="0"/>
                <a:ea typeface="Noto Sans Arabic" pitchFamily="34" charset="-122"/>
                <a:cs typeface="Noto Sans Arabic" pitchFamily="34" charset="-120"/>
              </a:rPr>
              <a:t>۲</a:t>
            </a:r>
            <a:endParaRPr lang="en-US" sz="2800" dirty="0"/>
          </a:p>
        </p:txBody>
      </p:sp>
      <p:sp>
        <p:nvSpPr>
          <p:cNvPr id="15" name="Text 13"/>
          <p:cNvSpPr/>
          <p:nvPr/>
        </p:nvSpPr>
        <p:spPr>
          <a:xfrm>
            <a:off x="4882896" y="3127248"/>
            <a:ext cx="2816352"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تعداد نمونه محدود</a:t>
            </a:r>
            <a:endParaRPr lang="en-US" sz="1700" dirty="0"/>
          </a:p>
        </p:txBody>
      </p:sp>
      <p:sp>
        <p:nvSpPr>
          <p:cNvPr id="16" name="Text 14"/>
          <p:cNvSpPr/>
          <p:nvPr/>
        </p:nvSpPr>
        <p:spPr>
          <a:xfrm>
            <a:off x="4910328" y="3730752"/>
            <a:ext cx="2761488" cy="1024128"/>
          </a:xfrm>
          <a:prstGeom prst="rect">
            <a:avLst/>
          </a:prstGeom>
          <a:noFill/>
          <a:ln/>
        </p:spPr>
        <p:txBody>
          <a:bodyPr wrap="square" lIns="0" tIns="0" rIns="0" bIns="0" rtlCol="0" anchor="t">
            <a:normAutofit/>
          </a:bodyPr>
          <a:lstStyle/>
          <a:p>
            <a:pPr marL="0" indent="0" algn="ctr" rtl="1">
              <a:buNone/>
            </a:pPr>
            <a:r>
              <a:rPr lang="en-US" sz="1270" dirty="0">
                <a:solidFill>
                  <a:srgbClr val="1F2937"/>
                </a:solidFill>
                <a:latin typeface="Noto Sans Arabic" pitchFamily="34" charset="0"/>
                <a:ea typeface="Noto Sans Arabic" pitchFamily="34" charset="-122"/>
                <a:cs typeface="Noto Sans Arabic" pitchFamily="34" charset="-120"/>
              </a:rPr>
              <a:t>اعتبارسنجی متقاطع، پایداری میان تکرارهای همان فرد را می‌سنجد؛ نه تعمیم به افراد جدید.</a:t>
            </a:r>
            <a:endParaRPr lang="en-US" sz="1270" dirty="0"/>
          </a:p>
        </p:txBody>
      </p:sp>
      <p:sp>
        <p:nvSpPr>
          <p:cNvPr id="17" name="Shape 15"/>
          <p:cNvSpPr/>
          <p:nvPr/>
        </p:nvSpPr>
        <p:spPr>
          <a:xfrm>
            <a:off x="8375904" y="1755648"/>
            <a:ext cx="3456432" cy="3401568"/>
          </a:xfrm>
          <a:prstGeom prst="roundRect">
            <a:avLst>
              <a:gd name="adj" fmla="val 2151"/>
            </a:avLst>
          </a:prstGeom>
          <a:solidFill>
            <a:srgbClr val="FFFFFF"/>
          </a:solidFill>
          <a:ln w="17145">
            <a:solidFill>
              <a:srgbClr val="0B6E99"/>
            </a:solidFill>
            <a:prstDash val="solid"/>
          </a:ln>
          <a:effectLst>
            <a:outerShdw blurRad="12700" dist="50800" dir="2700000" algn="bl" rotWithShape="0">
              <a:srgbClr val="B0BEC5">
                <a:alpha val="12000"/>
              </a:srgbClr>
            </a:outerShdw>
          </a:effectLst>
        </p:spPr>
      </p:sp>
      <p:sp>
        <p:nvSpPr>
          <p:cNvPr id="18" name="Shape 16"/>
          <p:cNvSpPr/>
          <p:nvPr/>
        </p:nvSpPr>
        <p:spPr>
          <a:xfrm>
            <a:off x="9683496" y="2057400"/>
            <a:ext cx="841248" cy="841248"/>
          </a:xfrm>
          <a:prstGeom prst="ellipse">
            <a:avLst/>
          </a:prstGeom>
          <a:solidFill>
            <a:srgbClr val="0B6E99"/>
          </a:solidFill>
          <a:ln w="12700">
            <a:solidFill>
              <a:srgbClr val="0B6E99"/>
            </a:solidFill>
            <a:prstDash val="solid"/>
          </a:ln>
        </p:spPr>
      </p:sp>
      <p:sp>
        <p:nvSpPr>
          <p:cNvPr id="19" name="Text 17"/>
          <p:cNvSpPr/>
          <p:nvPr/>
        </p:nvSpPr>
        <p:spPr>
          <a:xfrm>
            <a:off x="9683496" y="2112264"/>
            <a:ext cx="841248" cy="566928"/>
          </a:xfrm>
          <a:prstGeom prst="rect">
            <a:avLst/>
          </a:prstGeom>
          <a:noFill/>
          <a:ln/>
        </p:spPr>
        <p:txBody>
          <a:bodyPr wrap="square" lIns="0" tIns="0" rIns="0" bIns="0" rtlCol="0" anchor="ctr">
            <a:normAutofit/>
          </a:bodyPr>
          <a:lstStyle/>
          <a:p>
            <a:pPr marL="0" indent="0" algn="ctr" rtl="1">
              <a:buNone/>
            </a:pPr>
            <a:r>
              <a:rPr lang="en-US" sz="2800" b="1" dirty="0">
                <a:solidFill>
                  <a:srgbClr val="FFFFFF"/>
                </a:solidFill>
                <a:latin typeface="Noto Sans Arabic" pitchFamily="34" charset="0"/>
                <a:ea typeface="Noto Sans Arabic" pitchFamily="34" charset="-122"/>
                <a:cs typeface="Noto Sans Arabic" pitchFamily="34" charset="-120"/>
              </a:rPr>
              <a:t>۳</a:t>
            </a:r>
            <a:endParaRPr lang="en-US" sz="2800" dirty="0"/>
          </a:p>
        </p:txBody>
      </p:sp>
      <p:sp>
        <p:nvSpPr>
          <p:cNvPr id="20" name="Text 18"/>
          <p:cNvSpPr/>
          <p:nvPr/>
        </p:nvSpPr>
        <p:spPr>
          <a:xfrm>
            <a:off x="8695944" y="3127248"/>
            <a:ext cx="2816352" cy="384048"/>
          </a:xfrm>
          <a:prstGeom prst="rect">
            <a:avLst/>
          </a:prstGeom>
          <a:noFill/>
          <a:ln/>
        </p:spPr>
        <p:txBody>
          <a:bodyPr wrap="square" lIns="0" tIns="0" rIns="0" bIns="0" rtlCol="0" anchor="ctr">
            <a:normAutofit/>
          </a:bodyPr>
          <a:lstStyle/>
          <a:p>
            <a:pPr marL="0" indent="0" algn="ctr" rtl="1">
              <a:buNone/>
            </a:pPr>
            <a:r>
              <a:rPr lang="en-US" sz="1700" b="1" dirty="0">
                <a:solidFill>
                  <a:srgbClr val="102A43"/>
                </a:solidFill>
                <a:latin typeface="Noto Sans Arabic" pitchFamily="34" charset="0"/>
                <a:ea typeface="Noto Sans Arabic" pitchFamily="34" charset="-122"/>
                <a:cs typeface="Noto Sans Arabic" pitchFamily="34" charset="-120"/>
              </a:rPr>
              <a:t>وابستگی به شرایط ثبت</a:t>
            </a:r>
            <a:endParaRPr lang="en-US" sz="1700" dirty="0"/>
          </a:p>
        </p:txBody>
      </p:sp>
      <p:sp>
        <p:nvSpPr>
          <p:cNvPr id="21" name="Text 19"/>
          <p:cNvSpPr/>
          <p:nvPr/>
        </p:nvSpPr>
        <p:spPr>
          <a:xfrm>
            <a:off x="8723376" y="3730752"/>
            <a:ext cx="2761488" cy="1024128"/>
          </a:xfrm>
          <a:prstGeom prst="rect">
            <a:avLst/>
          </a:prstGeom>
          <a:noFill/>
          <a:ln/>
        </p:spPr>
        <p:txBody>
          <a:bodyPr wrap="square" lIns="0" tIns="0" rIns="0" bIns="0" rtlCol="0" anchor="t">
            <a:normAutofit/>
          </a:bodyPr>
          <a:lstStyle/>
          <a:p>
            <a:pPr marL="0" indent="0" algn="ctr" rtl="1">
              <a:buNone/>
            </a:pPr>
            <a:r>
              <a:rPr lang="en-US" sz="1270" dirty="0">
                <a:solidFill>
                  <a:srgbClr val="1F2937"/>
                </a:solidFill>
                <a:latin typeface="Noto Sans Arabic" pitchFamily="34" charset="0"/>
                <a:ea typeface="Noto Sans Arabic" pitchFamily="34" charset="-122"/>
                <a:cs typeface="Noto Sans Arabic" pitchFamily="34" charset="-120"/>
              </a:rPr>
              <a:t>محل و زاویه نصب حسگر، نرخ نمونه‌برداری و پنجره زمانی می‌توانند ویژگی‌ها را تغییر دهند.</a:t>
            </a:r>
            <a:endParaRPr lang="en-US" sz="1270" dirty="0"/>
          </a:p>
        </p:txBody>
      </p:sp>
      <p:sp>
        <p:nvSpPr>
          <p:cNvPr id="22" name="Shape 20"/>
          <p:cNvSpPr/>
          <p:nvPr/>
        </p:nvSpPr>
        <p:spPr>
          <a:xfrm>
            <a:off x="1051560" y="5468112"/>
            <a:ext cx="10085832" cy="694944"/>
          </a:xfrm>
          <a:prstGeom prst="roundRect">
            <a:avLst>
              <a:gd name="adj" fmla="val 15789"/>
            </a:avLst>
          </a:prstGeom>
          <a:solidFill>
            <a:srgbClr val="FDECEA"/>
          </a:solidFill>
          <a:ln w="12700">
            <a:solidFill>
              <a:srgbClr val="F0C8C2"/>
            </a:solidFill>
            <a:prstDash val="solid"/>
          </a:ln>
        </p:spPr>
      </p:sp>
      <p:sp>
        <p:nvSpPr>
          <p:cNvPr id="23" name="Text 21"/>
          <p:cNvSpPr/>
          <p:nvPr/>
        </p:nvSpPr>
        <p:spPr>
          <a:xfrm>
            <a:off x="1353312" y="5614416"/>
            <a:ext cx="9464040" cy="384048"/>
          </a:xfrm>
          <a:prstGeom prst="rect">
            <a:avLst/>
          </a:prstGeom>
          <a:noFill/>
          <a:ln/>
        </p:spPr>
        <p:txBody>
          <a:bodyPr wrap="square" lIns="0" tIns="0" rIns="0" bIns="0" rtlCol="0" anchor="ctr">
            <a:normAutofit/>
          </a:bodyPr>
          <a:lstStyle/>
          <a:p>
            <a:pPr marL="0" indent="0" algn="ctr" rtl="1">
              <a:buNone/>
            </a:pPr>
            <a:r>
              <a:rPr lang="en-US" sz="1600" b="1" dirty="0">
                <a:solidFill>
                  <a:srgbClr val="C0392B"/>
                </a:solidFill>
                <a:latin typeface="Noto Sans Arabic" pitchFamily="34" charset="0"/>
                <a:ea typeface="Noto Sans Arabic" pitchFamily="34" charset="-122"/>
                <a:cs typeface="Noto Sans Arabic" pitchFamily="34" charset="-120"/>
              </a:rPr>
              <a:t>نتیجه‌های فعلی قابل تعمیم مستقیم به بیماران نیستند و جایگزین ارزیابی بالینی NSAA محسوب نمی‌شوند.</a:t>
            </a:r>
            <a:endParaRPr lang="en-US" sz="1600" dirty="0"/>
          </a:p>
        </p:txBody>
      </p:sp>
      <p:sp>
        <p:nvSpPr>
          <p:cNvPr id="24" name="Shape 22"/>
          <p:cNvSpPr/>
          <p:nvPr/>
        </p:nvSpPr>
        <p:spPr>
          <a:xfrm>
            <a:off x="658368" y="6473952"/>
            <a:ext cx="10881360" cy="0"/>
          </a:xfrm>
          <a:prstGeom prst="line">
            <a:avLst/>
          </a:prstGeom>
          <a:noFill/>
          <a:ln w="10160">
            <a:solidFill>
              <a:srgbClr val="E9EEF2"/>
            </a:solidFill>
            <a:prstDash val="solid"/>
          </a:ln>
        </p:spPr>
      </p:sp>
      <p:sp>
        <p:nvSpPr>
          <p:cNvPr id="25" name="Text 23"/>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26" name="Text 24"/>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۵ از ۶: محدودیت‌ها و مسیر آینده | ۲ اسلاید تا پایان</a:t>
            </a:r>
            <a:endParaRPr lang="en-US" sz="920" dirty="0"/>
          </a:p>
        </p:txBody>
      </p:sp>
      <p:sp>
        <p:nvSpPr>
          <p:cNvPr id="27" name="Text 25"/>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۱۲ / ۱۴</a:t>
            </a:r>
            <a:endParaRPr lang="en-US" sz="1020" dirty="0"/>
          </a:p>
        </p:txBody>
      </p:sp>
      <p:sp>
        <p:nvSpPr>
          <p:cNvPr id="28" name="Shape 26"/>
          <p:cNvSpPr/>
          <p:nvPr/>
        </p:nvSpPr>
        <p:spPr>
          <a:xfrm>
            <a:off x="2560320" y="6766560"/>
            <a:ext cx="5643154" cy="41148"/>
          </a:xfrm>
          <a:prstGeom prst="rect">
            <a:avLst/>
          </a:prstGeom>
          <a:solidFill>
            <a:srgbClr val="0B6E99"/>
          </a:solidFill>
          <a:ln w="12700">
            <a:solidFill>
              <a:srgbClr val="0B6E99"/>
            </a:solidFill>
            <a:prstDash val="solid"/>
          </a:ln>
        </p:spPr>
      </p:sp>
      <p:sp>
        <p:nvSpPr>
          <p:cNvPr id="29" name="Shape 27"/>
          <p:cNvSpPr/>
          <p:nvPr/>
        </p:nvSpPr>
        <p:spPr>
          <a:xfrm>
            <a:off x="8203474" y="6766560"/>
            <a:ext cx="940526"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10"/>
                            </p:tgtEl>
                          </p:cBhvr>
                        </p:animEffect>
                      </p:childTnLst>
                    </p:cTn>
                  </p:par>
                  <p:par>
                    <p:cTn id="9" fill="hold">
                      <p:stCondLst>
                        <p:cond delay="0"/>
                      </p:stCondLst>
                      <p:childTnLst>
                        <p:animEffect transition="in" filter="fade">
                          <p:cBhvr>
                            <p:cTn id="10" dur="350" fill="hold"/>
                            <p:tgtEl>
                              <p:spTgt spid="11"/>
                            </p:tgtEl>
                          </p:cBhvr>
                        </p:animEffect>
                      </p:childTnLst>
                    </p:cTn>
                  </p:par>
                  <p:par>
                    <p:cTn id="11" fill="hold">
                      <p:stCondLst>
                        <p:cond delay="0"/>
                      </p:stCondLst>
                      <p:childTnLst>
                        <p:animEffect transition="in" filter="fade">
                          <p:cBhvr>
                            <p:cTn id="12" dur="350" fill="hold"/>
                            <p:tgtEl>
                              <p:spTgt spid="15"/>
                            </p:tgtEl>
                          </p:cBhvr>
                        </p:animEffect>
                      </p:childTnLst>
                    </p:cTn>
                  </p:par>
                </p:childTnLst>
              </p:cTn>
            </p:seq>
          </p:childTnLst>
        </p:cTn>
      </p:par>
    </p:tnLst>
    <p:bldLst>
      <p:bldP spid="3" grpId="0"/>
      <p:bldP spid="4" grpId="0"/>
      <p:bldP spid="10" grpId="0"/>
      <p:bldP spid="11" grpId="0"/>
      <p:bldP spid="15"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6E99"/>
          </a:solidFill>
          <a:ln w="12700">
            <a:solidFill>
              <a:srgbClr val="0B6E99"/>
            </a:solidFill>
            <a:prstDash val="solid"/>
          </a:ln>
        </p:spPr>
      </p:sp>
      <p:sp>
        <p:nvSpPr>
          <p:cNvPr id="3" name="Text 1"/>
          <p:cNvSpPr/>
          <p:nvPr/>
        </p:nvSpPr>
        <p:spPr>
          <a:xfrm>
            <a:off x="9189720" y="219456"/>
            <a:ext cx="2240280" cy="182880"/>
          </a:xfrm>
          <a:prstGeom prst="rect">
            <a:avLst/>
          </a:prstGeom>
          <a:noFill/>
          <a:ln/>
        </p:spPr>
        <p:txBody>
          <a:bodyPr wrap="square" lIns="0" tIns="0" rIns="0" bIns="0" rtlCol="0" anchor="ctr">
            <a:normAutofit/>
          </a:bodyPr>
          <a:lstStyle/>
          <a:p>
            <a:pPr marL="0" indent="0" algn="r" rtl="1">
              <a:buNone/>
            </a:pPr>
            <a:r>
              <a:rPr lang="en-US" sz="980" b="1" dirty="0">
                <a:solidFill>
                  <a:srgbClr val="0B6E99"/>
                </a:solidFill>
                <a:latin typeface="Noto Sans Arabic" pitchFamily="34" charset="0"/>
                <a:ea typeface="Noto Sans Arabic" pitchFamily="34" charset="-122"/>
                <a:cs typeface="Noto Sans Arabic" pitchFamily="34" charset="-120"/>
              </a:rPr>
              <a:t>کارهای آینده</a:t>
            </a:r>
            <a:endParaRPr lang="en-US" sz="980" dirty="0"/>
          </a:p>
        </p:txBody>
      </p:sp>
      <p:sp>
        <p:nvSpPr>
          <p:cNvPr id="4" name="Text 2"/>
          <p:cNvSpPr/>
          <p:nvPr/>
        </p:nvSpPr>
        <p:spPr>
          <a:xfrm>
            <a:off x="4572000" y="493776"/>
            <a:ext cx="6812280" cy="530352"/>
          </a:xfrm>
          <a:prstGeom prst="rect">
            <a:avLst/>
          </a:prstGeom>
          <a:noFill/>
          <a:ln/>
        </p:spPr>
        <p:txBody>
          <a:bodyPr wrap="square" lIns="0" tIns="0" rIns="0" bIns="0" rtlCol="0" anchor="ctr">
            <a:normAutofit/>
          </a:bodyPr>
          <a:lstStyle/>
          <a:p>
            <a:pPr marL="0" indent="0" algn="r" rtl="1">
              <a:buNone/>
            </a:pPr>
            <a:r>
              <a:rPr lang="en-US" sz="2700" b="1" dirty="0">
                <a:solidFill>
                  <a:srgbClr val="102A43"/>
                </a:solidFill>
                <a:latin typeface="Noto Sans Arabic" pitchFamily="34" charset="0"/>
                <a:ea typeface="Noto Sans Arabic" pitchFamily="34" charset="-122"/>
                <a:cs typeface="Noto Sans Arabic" pitchFamily="34" charset="-120"/>
              </a:rPr>
              <a:t>مسیر پیشنهادی تا کاربرد بالینی</a:t>
            </a:r>
            <a:endParaRPr lang="en-US" sz="2700" dirty="0"/>
          </a:p>
        </p:txBody>
      </p:sp>
      <p:sp>
        <p:nvSpPr>
          <p:cNvPr id="5" name="Shape 3"/>
          <p:cNvSpPr/>
          <p:nvPr/>
        </p:nvSpPr>
        <p:spPr>
          <a:xfrm>
            <a:off x="658368" y="1207008"/>
            <a:ext cx="10881360" cy="0"/>
          </a:xfrm>
          <a:prstGeom prst="line">
            <a:avLst/>
          </a:prstGeom>
          <a:noFill/>
          <a:ln w="15240">
            <a:solidFill>
              <a:srgbClr val="D9E2EC"/>
            </a:solidFill>
            <a:prstDash val="solid"/>
          </a:ln>
        </p:spPr>
      </p:sp>
      <p:sp>
        <p:nvSpPr>
          <p:cNvPr id="6" name="Text 4"/>
          <p:cNvSpPr/>
          <p:nvPr/>
        </p:nvSpPr>
        <p:spPr>
          <a:xfrm>
            <a:off x="475488" y="493776"/>
            <a:ext cx="658368" cy="320040"/>
          </a:xfrm>
          <a:prstGeom prst="rect">
            <a:avLst/>
          </a:prstGeom>
          <a:noFill/>
          <a:ln/>
        </p:spPr>
        <p:txBody>
          <a:bodyPr wrap="square" lIns="0" tIns="0" rIns="0" bIns="0" rtlCol="0" anchor="ctr">
            <a:normAutofit/>
          </a:bodyPr>
          <a:lstStyle/>
          <a:p>
            <a:pPr marL="0" indent="0" algn="l" rtl="1">
              <a:buNone/>
            </a:pPr>
            <a:r>
              <a:rPr lang="en-US" sz="1080" dirty="0">
                <a:solidFill>
                  <a:srgbClr val="94A3B8"/>
                </a:solidFill>
                <a:latin typeface="Noto Sans Arabic" pitchFamily="34" charset="0"/>
                <a:ea typeface="Noto Sans Arabic" pitchFamily="34" charset="-122"/>
                <a:cs typeface="Noto Sans Arabic" pitchFamily="34" charset="-120"/>
              </a:rPr>
              <a:t>۱۳ / ۱۴</a:t>
            </a:r>
            <a:endParaRPr lang="en-US" sz="1080" dirty="0"/>
          </a:p>
        </p:txBody>
      </p:sp>
      <p:sp>
        <p:nvSpPr>
          <p:cNvPr id="7" name="Text 5"/>
          <p:cNvSpPr/>
          <p:nvPr/>
        </p:nvSpPr>
        <p:spPr>
          <a:xfrm>
            <a:off x="3858768" y="1444752"/>
            <a:ext cx="7223760" cy="384048"/>
          </a:xfrm>
          <a:prstGeom prst="rect">
            <a:avLst/>
          </a:prstGeom>
          <a:noFill/>
          <a:ln/>
        </p:spPr>
        <p:txBody>
          <a:bodyPr wrap="square" lIns="0" tIns="0" rIns="0" bIns="0" rtlCol="0" anchor="ctr">
            <a:normAutofit/>
          </a:bodyPr>
          <a:lstStyle/>
          <a:p>
            <a:pPr marL="0" indent="0" algn="r" rtl="1">
              <a:buNone/>
            </a:pPr>
            <a:r>
              <a:rPr lang="en-US" sz="1850" b="1" dirty="0">
                <a:solidFill>
                  <a:srgbClr val="102A43"/>
                </a:solidFill>
                <a:latin typeface="Noto Sans Arabic" pitchFamily="34" charset="0"/>
                <a:ea typeface="Noto Sans Arabic" pitchFamily="34" charset="-122"/>
                <a:cs typeface="Noto Sans Arabic" pitchFamily="34" charset="-120"/>
              </a:rPr>
              <a:t>گام بعدی، تبدیل امکان‌سنجی فنی به یک مطالعه بالینی معتبر است</a:t>
            </a:r>
            <a:endParaRPr lang="en-US" sz="1850" dirty="0"/>
          </a:p>
        </p:txBody>
      </p:sp>
      <p:sp>
        <p:nvSpPr>
          <p:cNvPr id="8" name="Shape 6"/>
          <p:cNvSpPr/>
          <p:nvPr/>
        </p:nvSpPr>
        <p:spPr>
          <a:xfrm>
            <a:off x="8677656" y="2889504"/>
            <a:ext cx="0" cy="0"/>
          </a:xfrm>
          <a:prstGeom prst="line">
            <a:avLst/>
          </a:prstGeom>
          <a:noFill/>
          <a:ln w="25400">
            <a:solidFill>
              <a:srgbClr val="94A3B8"/>
            </a:solidFill>
            <a:prstDash val="solid"/>
            <a:headEnd type="none"/>
            <a:tailEnd type="triangle"/>
          </a:ln>
        </p:spPr>
      </p:sp>
      <p:sp>
        <p:nvSpPr>
          <p:cNvPr id="9" name="Shape 7"/>
          <p:cNvSpPr/>
          <p:nvPr/>
        </p:nvSpPr>
        <p:spPr>
          <a:xfrm>
            <a:off x="9674352" y="2350008"/>
            <a:ext cx="786384" cy="786384"/>
          </a:xfrm>
          <a:prstGeom prst="ellipse">
            <a:avLst/>
          </a:prstGeom>
          <a:solidFill>
            <a:srgbClr val="0B6E99"/>
          </a:solidFill>
          <a:ln w="12700">
            <a:solidFill>
              <a:srgbClr val="0B6E99"/>
            </a:solidFill>
            <a:prstDash val="solid"/>
          </a:ln>
        </p:spPr>
      </p:sp>
      <p:sp>
        <p:nvSpPr>
          <p:cNvPr id="10" name="Text 8"/>
          <p:cNvSpPr/>
          <p:nvPr/>
        </p:nvSpPr>
        <p:spPr>
          <a:xfrm>
            <a:off x="9674352" y="2441448"/>
            <a:ext cx="786384" cy="475488"/>
          </a:xfrm>
          <a:prstGeom prst="rect">
            <a:avLst/>
          </a:prstGeom>
          <a:noFill/>
          <a:ln/>
        </p:spPr>
        <p:txBody>
          <a:bodyPr wrap="square" lIns="0" tIns="0" rIns="0" bIns="0" rtlCol="0" anchor="ctr">
            <a:normAutofit/>
          </a:bodyPr>
          <a:lstStyle/>
          <a:p>
            <a:pPr marL="0" indent="0" algn="ctr">
              <a:buNone/>
            </a:pPr>
            <a:r>
              <a:rPr lang="en-US" sz="2200" b="1" dirty="0">
                <a:solidFill>
                  <a:srgbClr val="FFFFFF"/>
                </a:solidFill>
                <a:latin typeface="Aptos" pitchFamily="34" charset="0"/>
                <a:ea typeface="Aptos" pitchFamily="34" charset="-122"/>
                <a:cs typeface="Aptos" pitchFamily="34" charset="-120"/>
              </a:rPr>
              <a:t>1</a:t>
            </a:r>
            <a:endParaRPr lang="en-US" sz="2200" dirty="0"/>
          </a:p>
        </p:txBody>
      </p:sp>
      <p:sp>
        <p:nvSpPr>
          <p:cNvPr id="11" name="Shape 9"/>
          <p:cNvSpPr/>
          <p:nvPr/>
        </p:nvSpPr>
        <p:spPr>
          <a:xfrm>
            <a:off x="8997696" y="3401568"/>
            <a:ext cx="2139696" cy="1627632"/>
          </a:xfrm>
          <a:prstGeom prst="roundRect">
            <a:avLst>
              <a:gd name="adj" fmla="val 4494"/>
            </a:avLst>
          </a:prstGeom>
          <a:solidFill>
            <a:srgbClr val="FFFFFF"/>
          </a:solidFill>
          <a:ln w="16510">
            <a:solidFill>
              <a:srgbClr val="0B6E99"/>
            </a:solidFill>
            <a:prstDash val="solid"/>
          </a:ln>
        </p:spPr>
      </p:sp>
      <p:sp>
        <p:nvSpPr>
          <p:cNvPr id="12" name="Text 10"/>
          <p:cNvSpPr/>
          <p:nvPr/>
        </p:nvSpPr>
        <p:spPr>
          <a:xfrm>
            <a:off x="9144000" y="3639312"/>
            <a:ext cx="1847088" cy="384048"/>
          </a:xfrm>
          <a:prstGeom prst="rect">
            <a:avLst/>
          </a:prstGeom>
          <a:noFill/>
          <a:ln/>
        </p:spPr>
        <p:txBody>
          <a:bodyPr wrap="square" lIns="0" tIns="0" rIns="0" bIns="0" rtlCol="0" anchor="ctr">
            <a:normAutofit/>
          </a:bodyPr>
          <a:lstStyle/>
          <a:p>
            <a:pPr marL="0" indent="0" algn="ctr" rtl="1">
              <a:buNone/>
            </a:pPr>
            <a:r>
              <a:rPr lang="en-US" sz="1530" b="1" dirty="0">
                <a:solidFill>
                  <a:srgbClr val="102A43"/>
                </a:solidFill>
                <a:latin typeface="Noto Sans Arabic" pitchFamily="34" charset="0"/>
                <a:ea typeface="Noto Sans Arabic" pitchFamily="34" charset="-122"/>
                <a:cs typeface="Noto Sans Arabic" pitchFamily="34" charset="-120"/>
              </a:rPr>
              <a:t>داده‌برداری از بیماران</a:t>
            </a:r>
            <a:endParaRPr lang="en-US" sz="1530" dirty="0"/>
          </a:p>
        </p:txBody>
      </p:sp>
      <p:sp>
        <p:nvSpPr>
          <p:cNvPr id="13" name="Text 11"/>
          <p:cNvSpPr/>
          <p:nvPr/>
        </p:nvSpPr>
        <p:spPr>
          <a:xfrm>
            <a:off x="9171432" y="4178808"/>
            <a:ext cx="1792224" cy="566928"/>
          </a:xfrm>
          <a:prstGeom prst="rect">
            <a:avLst/>
          </a:prstGeom>
          <a:noFill/>
          <a:ln/>
        </p:spPr>
        <p:txBody>
          <a:bodyPr wrap="square" lIns="0" tIns="0" rIns="0" bIns="0" rtlCol="0" anchor="t">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اجرای رسمی NSAA با حضور متخصص</a:t>
            </a:r>
            <a:endParaRPr lang="en-US" sz="1140" dirty="0"/>
          </a:p>
        </p:txBody>
      </p:sp>
      <p:sp>
        <p:nvSpPr>
          <p:cNvPr id="14" name="Shape 12"/>
          <p:cNvSpPr/>
          <p:nvPr/>
        </p:nvSpPr>
        <p:spPr>
          <a:xfrm>
            <a:off x="6062472" y="2889504"/>
            <a:ext cx="0" cy="0"/>
          </a:xfrm>
          <a:prstGeom prst="line">
            <a:avLst/>
          </a:prstGeom>
          <a:noFill/>
          <a:ln w="25400">
            <a:solidFill>
              <a:srgbClr val="94A3B8"/>
            </a:solidFill>
            <a:prstDash val="solid"/>
            <a:headEnd type="none"/>
            <a:tailEnd type="triangle"/>
          </a:ln>
        </p:spPr>
      </p:sp>
      <p:sp>
        <p:nvSpPr>
          <p:cNvPr id="15" name="Shape 13"/>
          <p:cNvSpPr/>
          <p:nvPr/>
        </p:nvSpPr>
        <p:spPr>
          <a:xfrm>
            <a:off x="7059168" y="2350008"/>
            <a:ext cx="786384" cy="786384"/>
          </a:xfrm>
          <a:prstGeom prst="ellipse">
            <a:avLst/>
          </a:prstGeom>
          <a:solidFill>
            <a:srgbClr val="0B7A75"/>
          </a:solidFill>
          <a:ln w="12700">
            <a:solidFill>
              <a:srgbClr val="0B7A75"/>
            </a:solidFill>
            <a:prstDash val="solid"/>
          </a:ln>
        </p:spPr>
      </p:sp>
      <p:sp>
        <p:nvSpPr>
          <p:cNvPr id="16" name="Text 14"/>
          <p:cNvSpPr/>
          <p:nvPr/>
        </p:nvSpPr>
        <p:spPr>
          <a:xfrm>
            <a:off x="7059168" y="2441448"/>
            <a:ext cx="786384" cy="475488"/>
          </a:xfrm>
          <a:prstGeom prst="rect">
            <a:avLst/>
          </a:prstGeom>
          <a:noFill/>
          <a:ln/>
        </p:spPr>
        <p:txBody>
          <a:bodyPr wrap="square" lIns="0" tIns="0" rIns="0" bIns="0" rtlCol="0" anchor="ctr">
            <a:normAutofit/>
          </a:bodyPr>
          <a:lstStyle/>
          <a:p>
            <a:pPr marL="0" indent="0" algn="ctr">
              <a:buNone/>
            </a:pPr>
            <a:r>
              <a:rPr lang="en-US" sz="2200" b="1" dirty="0">
                <a:solidFill>
                  <a:srgbClr val="FFFFFF"/>
                </a:solidFill>
                <a:latin typeface="Aptos" pitchFamily="34" charset="0"/>
                <a:ea typeface="Aptos" pitchFamily="34" charset="-122"/>
                <a:cs typeface="Aptos" pitchFamily="34" charset="-120"/>
              </a:rPr>
              <a:t>2</a:t>
            </a:r>
            <a:endParaRPr lang="en-US" sz="2200" dirty="0"/>
          </a:p>
        </p:txBody>
      </p:sp>
      <p:sp>
        <p:nvSpPr>
          <p:cNvPr id="17" name="Shape 15"/>
          <p:cNvSpPr/>
          <p:nvPr/>
        </p:nvSpPr>
        <p:spPr>
          <a:xfrm>
            <a:off x="6382512" y="3401568"/>
            <a:ext cx="2139696" cy="1627632"/>
          </a:xfrm>
          <a:prstGeom prst="roundRect">
            <a:avLst>
              <a:gd name="adj" fmla="val 4494"/>
            </a:avLst>
          </a:prstGeom>
          <a:solidFill>
            <a:srgbClr val="FFFFFF"/>
          </a:solidFill>
          <a:ln w="16510">
            <a:solidFill>
              <a:srgbClr val="0B7A75"/>
            </a:solidFill>
            <a:prstDash val="solid"/>
          </a:ln>
        </p:spPr>
      </p:sp>
      <p:sp>
        <p:nvSpPr>
          <p:cNvPr id="18" name="Text 16"/>
          <p:cNvSpPr/>
          <p:nvPr/>
        </p:nvSpPr>
        <p:spPr>
          <a:xfrm>
            <a:off x="6528816" y="3639312"/>
            <a:ext cx="1847088" cy="384048"/>
          </a:xfrm>
          <a:prstGeom prst="rect">
            <a:avLst/>
          </a:prstGeom>
          <a:noFill/>
          <a:ln/>
        </p:spPr>
        <p:txBody>
          <a:bodyPr wrap="square" lIns="0" tIns="0" rIns="0" bIns="0" rtlCol="0" anchor="ctr">
            <a:normAutofit/>
          </a:bodyPr>
          <a:lstStyle/>
          <a:p>
            <a:pPr marL="0" indent="0" algn="ctr" rtl="1">
              <a:buNone/>
            </a:pPr>
            <a:r>
              <a:rPr lang="en-US" sz="1530" b="1" dirty="0">
                <a:solidFill>
                  <a:srgbClr val="102A43"/>
                </a:solidFill>
                <a:latin typeface="Noto Sans Arabic" pitchFamily="34" charset="0"/>
                <a:ea typeface="Noto Sans Arabic" pitchFamily="34" charset="-122"/>
                <a:cs typeface="Noto Sans Arabic" pitchFamily="34" charset="-120"/>
              </a:rPr>
              <a:t>اعتبارسنجی مستقل از آزمودنی</a:t>
            </a:r>
            <a:endParaRPr lang="en-US" sz="1530" dirty="0"/>
          </a:p>
        </p:txBody>
      </p:sp>
      <p:sp>
        <p:nvSpPr>
          <p:cNvPr id="19" name="Text 17"/>
          <p:cNvSpPr/>
          <p:nvPr/>
        </p:nvSpPr>
        <p:spPr>
          <a:xfrm>
            <a:off x="6556248" y="4178808"/>
            <a:ext cx="1792224" cy="566928"/>
          </a:xfrm>
          <a:prstGeom prst="rect">
            <a:avLst/>
          </a:prstGeom>
          <a:noFill/>
          <a:ln/>
        </p:spPr>
        <p:txBody>
          <a:bodyPr wrap="square" lIns="0" tIns="0" rIns="0" bIns="0" rtlCol="0" anchor="t">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کنار گذاشتن کامل داده یک فرد در آزمون</a:t>
            </a:r>
            <a:endParaRPr lang="en-US" sz="1140" dirty="0"/>
          </a:p>
        </p:txBody>
      </p:sp>
      <p:sp>
        <p:nvSpPr>
          <p:cNvPr id="20" name="Shape 18"/>
          <p:cNvSpPr/>
          <p:nvPr/>
        </p:nvSpPr>
        <p:spPr>
          <a:xfrm>
            <a:off x="3447288" y="2889504"/>
            <a:ext cx="0" cy="0"/>
          </a:xfrm>
          <a:prstGeom prst="line">
            <a:avLst/>
          </a:prstGeom>
          <a:noFill/>
          <a:ln w="25400">
            <a:solidFill>
              <a:srgbClr val="94A3B8"/>
            </a:solidFill>
            <a:prstDash val="solid"/>
            <a:headEnd type="none"/>
            <a:tailEnd type="triangle"/>
          </a:ln>
        </p:spPr>
      </p:sp>
      <p:sp>
        <p:nvSpPr>
          <p:cNvPr id="21" name="Shape 19"/>
          <p:cNvSpPr/>
          <p:nvPr/>
        </p:nvSpPr>
        <p:spPr>
          <a:xfrm>
            <a:off x="4443984" y="2350008"/>
            <a:ext cx="786384" cy="786384"/>
          </a:xfrm>
          <a:prstGeom prst="ellipse">
            <a:avLst/>
          </a:prstGeom>
          <a:solidFill>
            <a:srgbClr val="6B5BA6"/>
          </a:solidFill>
          <a:ln w="12700">
            <a:solidFill>
              <a:srgbClr val="6B5BA6"/>
            </a:solidFill>
            <a:prstDash val="solid"/>
          </a:ln>
        </p:spPr>
      </p:sp>
      <p:sp>
        <p:nvSpPr>
          <p:cNvPr id="22" name="Text 20"/>
          <p:cNvSpPr/>
          <p:nvPr/>
        </p:nvSpPr>
        <p:spPr>
          <a:xfrm>
            <a:off x="4443984" y="2441448"/>
            <a:ext cx="786384" cy="475488"/>
          </a:xfrm>
          <a:prstGeom prst="rect">
            <a:avLst/>
          </a:prstGeom>
          <a:noFill/>
          <a:ln/>
        </p:spPr>
        <p:txBody>
          <a:bodyPr wrap="square" lIns="0" tIns="0" rIns="0" bIns="0" rtlCol="0" anchor="ctr">
            <a:normAutofit/>
          </a:bodyPr>
          <a:lstStyle/>
          <a:p>
            <a:pPr marL="0" indent="0" algn="ctr">
              <a:buNone/>
            </a:pPr>
            <a:r>
              <a:rPr lang="en-US" sz="2200" b="1" dirty="0">
                <a:solidFill>
                  <a:srgbClr val="FFFFFF"/>
                </a:solidFill>
                <a:latin typeface="Aptos" pitchFamily="34" charset="0"/>
                <a:ea typeface="Aptos" pitchFamily="34" charset="-122"/>
                <a:cs typeface="Aptos" pitchFamily="34" charset="-120"/>
              </a:rPr>
              <a:t>3</a:t>
            </a:r>
            <a:endParaRPr lang="en-US" sz="2200" dirty="0"/>
          </a:p>
        </p:txBody>
      </p:sp>
      <p:sp>
        <p:nvSpPr>
          <p:cNvPr id="23" name="Shape 21"/>
          <p:cNvSpPr/>
          <p:nvPr/>
        </p:nvSpPr>
        <p:spPr>
          <a:xfrm>
            <a:off x="3767328" y="3401568"/>
            <a:ext cx="2139696" cy="1627632"/>
          </a:xfrm>
          <a:prstGeom prst="roundRect">
            <a:avLst>
              <a:gd name="adj" fmla="val 4494"/>
            </a:avLst>
          </a:prstGeom>
          <a:solidFill>
            <a:srgbClr val="FFFFFF"/>
          </a:solidFill>
          <a:ln w="16510">
            <a:solidFill>
              <a:srgbClr val="6B5BA6"/>
            </a:solidFill>
            <a:prstDash val="solid"/>
          </a:ln>
        </p:spPr>
      </p:sp>
      <p:sp>
        <p:nvSpPr>
          <p:cNvPr id="24" name="Text 22"/>
          <p:cNvSpPr/>
          <p:nvPr/>
        </p:nvSpPr>
        <p:spPr>
          <a:xfrm>
            <a:off x="3913632" y="3639312"/>
            <a:ext cx="1847088" cy="384048"/>
          </a:xfrm>
          <a:prstGeom prst="rect">
            <a:avLst/>
          </a:prstGeom>
          <a:noFill/>
          <a:ln/>
        </p:spPr>
        <p:txBody>
          <a:bodyPr wrap="square" lIns="0" tIns="0" rIns="0" bIns="0" rtlCol="0" anchor="ctr">
            <a:normAutofit/>
          </a:bodyPr>
          <a:lstStyle/>
          <a:p>
            <a:pPr marL="0" indent="0" algn="ctr" rtl="1">
              <a:buNone/>
            </a:pPr>
            <a:r>
              <a:rPr lang="en-US" sz="1530" b="1" dirty="0">
                <a:solidFill>
                  <a:srgbClr val="102A43"/>
                </a:solidFill>
                <a:latin typeface="Noto Sans Arabic" pitchFamily="34" charset="0"/>
                <a:ea typeface="Noto Sans Arabic" pitchFamily="34" charset="-122"/>
                <a:cs typeface="Noto Sans Arabic" pitchFamily="34" charset="-120"/>
              </a:rPr>
              <a:t>بهینه‌سازی مدل و ویژگی</a:t>
            </a:r>
            <a:endParaRPr lang="en-US" sz="1530" dirty="0"/>
          </a:p>
        </p:txBody>
      </p:sp>
      <p:sp>
        <p:nvSpPr>
          <p:cNvPr id="25" name="Text 23"/>
          <p:cNvSpPr/>
          <p:nvPr/>
        </p:nvSpPr>
        <p:spPr>
          <a:xfrm>
            <a:off x="3941064" y="4178808"/>
            <a:ext cx="1792224" cy="566928"/>
          </a:xfrm>
          <a:prstGeom prst="rect">
            <a:avLst/>
          </a:prstGeom>
          <a:noFill/>
          <a:ln/>
        </p:spPr>
        <p:txBody>
          <a:bodyPr wrap="square" lIns="0" tIns="0" rIns="0" bIns="0" rtlCol="0" anchor="t">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Nested CV، ویژگی‌های فرکانسی و مدل‌های زمانی</a:t>
            </a:r>
            <a:endParaRPr lang="en-US" sz="1140" dirty="0"/>
          </a:p>
        </p:txBody>
      </p:sp>
      <p:sp>
        <p:nvSpPr>
          <p:cNvPr id="26" name="Shape 24"/>
          <p:cNvSpPr/>
          <p:nvPr/>
        </p:nvSpPr>
        <p:spPr>
          <a:xfrm>
            <a:off x="1828800" y="2350008"/>
            <a:ext cx="786384" cy="786384"/>
          </a:xfrm>
          <a:prstGeom prst="ellipse">
            <a:avLst/>
          </a:prstGeom>
          <a:solidFill>
            <a:srgbClr val="2F855A"/>
          </a:solidFill>
          <a:ln w="12700">
            <a:solidFill>
              <a:srgbClr val="2F855A"/>
            </a:solidFill>
            <a:prstDash val="solid"/>
          </a:ln>
        </p:spPr>
      </p:sp>
      <p:sp>
        <p:nvSpPr>
          <p:cNvPr id="27" name="Text 25"/>
          <p:cNvSpPr/>
          <p:nvPr/>
        </p:nvSpPr>
        <p:spPr>
          <a:xfrm>
            <a:off x="1828800" y="2441448"/>
            <a:ext cx="786384" cy="475488"/>
          </a:xfrm>
          <a:prstGeom prst="rect">
            <a:avLst/>
          </a:prstGeom>
          <a:noFill/>
          <a:ln/>
        </p:spPr>
        <p:txBody>
          <a:bodyPr wrap="square" lIns="0" tIns="0" rIns="0" bIns="0" rtlCol="0" anchor="ctr">
            <a:normAutofit/>
          </a:bodyPr>
          <a:lstStyle/>
          <a:p>
            <a:pPr marL="0" indent="0" algn="ctr">
              <a:buNone/>
            </a:pPr>
            <a:r>
              <a:rPr lang="en-US" sz="2200" b="1" dirty="0">
                <a:solidFill>
                  <a:srgbClr val="FFFFFF"/>
                </a:solidFill>
                <a:latin typeface="Aptos" pitchFamily="34" charset="0"/>
                <a:ea typeface="Aptos" pitchFamily="34" charset="-122"/>
                <a:cs typeface="Aptos" pitchFamily="34" charset="-120"/>
              </a:rPr>
              <a:t>4</a:t>
            </a:r>
            <a:endParaRPr lang="en-US" sz="2200" dirty="0"/>
          </a:p>
        </p:txBody>
      </p:sp>
      <p:sp>
        <p:nvSpPr>
          <p:cNvPr id="28" name="Shape 26"/>
          <p:cNvSpPr/>
          <p:nvPr/>
        </p:nvSpPr>
        <p:spPr>
          <a:xfrm>
            <a:off x="1152144" y="3401568"/>
            <a:ext cx="2139696" cy="1627632"/>
          </a:xfrm>
          <a:prstGeom prst="roundRect">
            <a:avLst>
              <a:gd name="adj" fmla="val 4494"/>
            </a:avLst>
          </a:prstGeom>
          <a:solidFill>
            <a:srgbClr val="FFFFFF"/>
          </a:solidFill>
          <a:ln w="16510">
            <a:solidFill>
              <a:srgbClr val="2F855A"/>
            </a:solidFill>
            <a:prstDash val="solid"/>
          </a:ln>
        </p:spPr>
      </p:sp>
      <p:sp>
        <p:nvSpPr>
          <p:cNvPr id="29" name="Text 27"/>
          <p:cNvSpPr/>
          <p:nvPr/>
        </p:nvSpPr>
        <p:spPr>
          <a:xfrm>
            <a:off x="1298448" y="3639312"/>
            <a:ext cx="1847088" cy="384048"/>
          </a:xfrm>
          <a:prstGeom prst="rect">
            <a:avLst/>
          </a:prstGeom>
          <a:noFill/>
          <a:ln/>
        </p:spPr>
        <p:txBody>
          <a:bodyPr wrap="square" lIns="0" tIns="0" rIns="0" bIns="0" rtlCol="0" anchor="ctr">
            <a:normAutofit/>
          </a:bodyPr>
          <a:lstStyle/>
          <a:p>
            <a:pPr marL="0" indent="0" algn="ctr" rtl="1">
              <a:buNone/>
            </a:pPr>
            <a:r>
              <a:rPr lang="en-US" sz="1530" b="1" dirty="0">
                <a:solidFill>
                  <a:srgbClr val="102A43"/>
                </a:solidFill>
                <a:latin typeface="Noto Sans Arabic" pitchFamily="34" charset="0"/>
                <a:ea typeface="Noto Sans Arabic" pitchFamily="34" charset="-122"/>
                <a:cs typeface="Noto Sans Arabic" pitchFamily="34" charset="-120"/>
              </a:rPr>
              <a:t>ساده‌سازی و توسعه سامانه</a:t>
            </a:r>
            <a:endParaRPr lang="en-US" sz="1530" dirty="0"/>
          </a:p>
        </p:txBody>
      </p:sp>
      <p:sp>
        <p:nvSpPr>
          <p:cNvPr id="30" name="Text 28"/>
          <p:cNvSpPr/>
          <p:nvPr/>
        </p:nvSpPr>
        <p:spPr>
          <a:xfrm>
            <a:off x="1325880" y="4178808"/>
            <a:ext cx="1792224" cy="566928"/>
          </a:xfrm>
          <a:prstGeom prst="rect">
            <a:avLst/>
          </a:prstGeom>
          <a:noFill/>
          <a:ln/>
        </p:spPr>
        <p:txBody>
          <a:bodyPr wrap="square" lIns="0" tIns="0" rIns="0" bIns="0" rtlCol="0" anchor="t">
            <a:normAutofit/>
          </a:bodyPr>
          <a:lstStyle/>
          <a:p>
            <a:pPr marL="0" indent="0" algn="ctr" rtl="1">
              <a:buNone/>
            </a:pPr>
            <a:r>
              <a:rPr lang="en-US" sz="1140" dirty="0">
                <a:solidFill>
                  <a:srgbClr val="64748B"/>
                </a:solidFill>
                <a:latin typeface="Noto Sans Arabic" pitchFamily="34" charset="0"/>
                <a:ea typeface="Noto Sans Arabic" pitchFamily="34" charset="-122"/>
                <a:cs typeface="Noto Sans Arabic" pitchFamily="34" charset="-120"/>
              </a:rPr>
              <a:t>حذف مرحله‌ای حسگرها و رابط یکپارچه بالینی</a:t>
            </a:r>
            <a:endParaRPr lang="en-US" sz="1140" dirty="0"/>
          </a:p>
        </p:txBody>
      </p:sp>
      <p:sp>
        <p:nvSpPr>
          <p:cNvPr id="31" name="Shape 29"/>
          <p:cNvSpPr/>
          <p:nvPr/>
        </p:nvSpPr>
        <p:spPr>
          <a:xfrm>
            <a:off x="1234440" y="5422392"/>
            <a:ext cx="9784080" cy="667512"/>
          </a:xfrm>
          <a:prstGeom prst="roundRect">
            <a:avLst>
              <a:gd name="adj" fmla="val 10959"/>
            </a:avLst>
          </a:prstGeom>
          <a:solidFill>
            <a:srgbClr val="102A43"/>
          </a:solidFill>
          <a:ln w="12700">
            <a:solidFill>
              <a:srgbClr val="102A43"/>
            </a:solidFill>
            <a:prstDash val="solid"/>
          </a:ln>
        </p:spPr>
      </p:sp>
      <p:sp>
        <p:nvSpPr>
          <p:cNvPr id="32" name="Text 30"/>
          <p:cNvSpPr/>
          <p:nvPr/>
        </p:nvSpPr>
        <p:spPr>
          <a:xfrm>
            <a:off x="1536192" y="5559552"/>
            <a:ext cx="9171432" cy="365760"/>
          </a:xfrm>
          <a:prstGeom prst="rect">
            <a:avLst/>
          </a:prstGeom>
          <a:noFill/>
          <a:ln/>
        </p:spPr>
        <p:txBody>
          <a:bodyPr wrap="square" lIns="0" tIns="0" rIns="0" bIns="0" rtlCol="0" anchor="ctr">
            <a:normAutofit/>
          </a:bodyPr>
          <a:lstStyle/>
          <a:p>
            <a:pPr marL="0" indent="0" algn="ctr" rtl="1">
              <a:buNone/>
            </a:pPr>
            <a:r>
              <a:rPr lang="en-US" sz="1600" b="1" dirty="0">
                <a:solidFill>
                  <a:srgbClr val="FFFFFF"/>
                </a:solidFill>
                <a:latin typeface="Noto Sans Arabic" pitchFamily="34" charset="0"/>
                <a:ea typeface="Noto Sans Arabic" pitchFamily="34" charset="-122"/>
                <a:cs typeface="Noto Sans Arabic" pitchFamily="34" charset="-120"/>
              </a:rPr>
              <a:t>خروجی نهایی مورد انتظار: ابزار مکمل برای ارزیابی عینی‌تر، تکرارپذیرتر و پایش طولی عملکرد حرکتی</a:t>
            </a:r>
            <a:endParaRPr lang="en-US" sz="1600" dirty="0"/>
          </a:p>
        </p:txBody>
      </p:sp>
      <p:sp>
        <p:nvSpPr>
          <p:cNvPr id="33" name="Shape 31"/>
          <p:cNvSpPr/>
          <p:nvPr/>
        </p:nvSpPr>
        <p:spPr>
          <a:xfrm>
            <a:off x="658368" y="6473952"/>
            <a:ext cx="10881360" cy="0"/>
          </a:xfrm>
          <a:prstGeom prst="line">
            <a:avLst/>
          </a:prstGeom>
          <a:noFill/>
          <a:ln w="10160">
            <a:solidFill>
              <a:srgbClr val="E9EEF2"/>
            </a:solidFill>
            <a:prstDash val="solid"/>
          </a:ln>
        </p:spPr>
      </p:sp>
      <p:sp>
        <p:nvSpPr>
          <p:cNvPr id="34" name="Text 32"/>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94A3B8"/>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35" name="Text 33"/>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94A3B8"/>
                </a:solidFill>
                <a:latin typeface="Noto Sans Arabic" pitchFamily="34" charset="0"/>
                <a:ea typeface="Noto Sans Arabic" pitchFamily="34" charset="-122"/>
                <a:cs typeface="Noto Sans Arabic" pitchFamily="34" charset="-120"/>
              </a:rPr>
              <a:t>فصل ارائه ۵ از ۶: محدودیت‌ها و مسیر آینده | ۱ اسلاید تا پایان</a:t>
            </a:r>
            <a:endParaRPr lang="en-US" sz="920" dirty="0"/>
          </a:p>
        </p:txBody>
      </p:sp>
      <p:sp>
        <p:nvSpPr>
          <p:cNvPr id="36" name="Text 34"/>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0B6E99"/>
                </a:solidFill>
                <a:latin typeface="Noto Sans Arabic" pitchFamily="34" charset="0"/>
                <a:ea typeface="Noto Sans Arabic" pitchFamily="34" charset="-122"/>
                <a:cs typeface="Noto Sans Arabic" pitchFamily="34" charset="-120"/>
              </a:rPr>
              <a:t>۱۳ / ۱۴</a:t>
            </a:r>
            <a:endParaRPr lang="en-US" sz="1020" dirty="0"/>
          </a:p>
        </p:txBody>
      </p:sp>
      <p:sp>
        <p:nvSpPr>
          <p:cNvPr id="37" name="Shape 35"/>
          <p:cNvSpPr/>
          <p:nvPr/>
        </p:nvSpPr>
        <p:spPr>
          <a:xfrm>
            <a:off x="2560320" y="6766560"/>
            <a:ext cx="6113417" cy="41148"/>
          </a:xfrm>
          <a:prstGeom prst="rect">
            <a:avLst/>
          </a:prstGeom>
          <a:solidFill>
            <a:srgbClr val="0B6E99"/>
          </a:solidFill>
          <a:ln w="12700">
            <a:solidFill>
              <a:srgbClr val="0B6E99"/>
            </a:solidFill>
            <a:prstDash val="solid"/>
          </a:ln>
        </p:spPr>
      </p:sp>
      <p:sp>
        <p:nvSpPr>
          <p:cNvPr id="38" name="Shape 36"/>
          <p:cNvSpPr/>
          <p:nvPr/>
        </p:nvSpPr>
        <p:spPr>
          <a:xfrm>
            <a:off x="8673737" y="6766560"/>
            <a:ext cx="470263" cy="41148"/>
          </a:xfrm>
          <a:prstGeom prst="rect">
            <a:avLst/>
          </a:prstGeom>
          <a:solidFill>
            <a:srgbClr val="E6EDF2"/>
          </a:solidFill>
          <a:ln w="12700">
            <a:solidFill>
              <a:srgbClr val="E6EDF2"/>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0"/>
                      </p:stCondLst>
                      <p:childTnLst>
                        <p:animEffect transition="in" filter="fade">
                          <p:cBhvr>
                            <p:cTn id="4" dur="350" fill="hold"/>
                            <p:tgtEl>
                              <p:spTgt spid="3"/>
                            </p:tgtEl>
                          </p:cBhvr>
                        </p:animEffect>
                      </p:childTnLst>
                    </p:cTn>
                  </p:par>
                  <p:par>
                    <p:cTn id="5" fill="hold">
                      <p:stCondLst>
                        <p:cond delay="0"/>
                      </p:stCondLst>
                      <p:childTnLst>
                        <p:animEffect transition="in" filter="fade">
                          <p:cBhvr>
                            <p:cTn id="6" dur="350" fill="hold"/>
                            <p:tgtEl>
                              <p:spTgt spid="4"/>
                            </p:tgtEl>
                          </p:cBhvr>
                        </p:animEffect>
                      </p:childTnLst>
                    </p:cTn>
                  </p:par>
                  <p:par>
                    <p:cTn id="7" fill="hold">
                      <p:stCondLst>
                        <p:cond delay="0"/>
                      </p:stCondLst>
                      <p:childTnLst>
                        <p:animEffect transition="in" filter="fade">
                          <p:cBhvr>
                            <p:cTn id="8" dur="350" fill="hold"/>
                            <p:tgtEl>
                              <p:spTgt spid="7"/>
                            </p:tgtEl>
                          </p:cBhvr>
                        </p:animEffect>
                      </p:childTnLst>
                    </p:cTn>
                  </p:par>
                  <p:par>
                    <p:cTn id="9" fill="hold">
                      <p:stCondLst>
                        <p:cond delay="0"/>
                      </p:stCondLst>
                      <p:childTnLst>
                        <p:animEffect transition="in" filter="fade">
                          <p:cBhvr>
                            <p:cTn id="10" dur="350" fill="hold"/>
                            <p:tgtEl>
                              <p:spTgt spid="10"/>
                            </p:tgtEl>
                          </p:cBhvr>
                        </p:animEffect>
                      </p:childTnLst>
                    </p:cTn>
                  </p:par>
                  <p:par>
                    <p:cTn id="11" fill="hold">
                      <p:stCondLst>
                        <p:cond delay="0"/>
                      </p:stCondLst>
                      <p:childTnLst>
                        <p:animEffect transition="in" filter="fade">
                          <p:cBhvr>
                            <p:cTn id="12" dur="350" fill="hold"/>
                            <p:tgtEl>
                              <p:spTgt spid="12"/>
                            </p:tgtEl>
                          </p:cBhvr>
                        </p:animEffect>
                      </p:childTnLst>
                    </p:cTn>
                  </p:par>
                </p:childTnLst>
              </p:cTn>
            </p:seq>
          </p:childTnLst>
        </p:cTn>
      </p:par>
    </p:tnLst>
    <p:bldLst>
      <p:bldP spid="3" grpId="0"/>
      <p:bldP spid="4" grpId="0"/>
      <p:bldP spid="7" grpId="0"/>
      <p:bldP spid="10" grpId="0"/>
      <p:bldP spid="12"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D8AB5"/>
          </a:solidFill>
          <a:ln w="12700">
            <a:solidFill>
              <a:srgbClr val="1D8AB5"/>
            </a:solidFill>
            <a:prstDash val="solid"/>
          </a:ln>
        </p:spPr>
      </p:sp>
      <p:pic>
        <p:nvPicPr>
          <p:cNvPr id="3" name="Image 0" descr="/mnt/data/dmd_assets/crops/sharif_logo.png"/>
          <p:cNvPicPr>
            <a:picLocks noChangeAspect="1"/>
          </p:cNvPicPr>
          <p:nvPr/>
        </p:nvPicPr>
        <p:blipFill>
          <a:blip r:embed="rId3"/>
          <a:stretch>
            <a:fillRect/>
          </a:stretch>
        </p:blipFill>
        <p:spPr>
          <a:xfrm>
            <a:off x="10631456" y="256032"/>
            <a:ext cx="728407" cy="658368"/>
          </a:xfrm>
          <a:prstGeom prst="rect">
            <a:avLst/>
          </a:prstGeom>
        </p:spPr>
      </p:pic>
      <p:sp>
        <p:nvSpPr>
          <p:cNvPr id="4" name="Text 1"/>
          <p:cNvSpPr/>
          <p:nvPr/>
        </p:nvSpPr>
        <p:spPr>
          <a:xfrm>
            <a:off x="7772400" y="932688"/>
            <a:ext cx="2834640" cy="502920"/>
          </a:xfrm>
          <a:prstGeom prst="rect">
            <a:avLst/>
          </a:prstGeom>
          <a:noFill/>
          <a:ln/>
        </p:spPr>
        <p:txBody>
          <a:bodyPr wrap="square" lIns="0" tIns="0" rIns="0" bIns="0" rtlCol="0" anchor="ctr">
            <a:normAutofit/>
          </a:bodyPr>
          <a:lstStyle/>
          <a:p>
            <a:pPr marL="0" indent="0" algn="r" rtl="1">
              <a:buNone/>
            </a:pPr>
            <a:r>
              <a:rPr lang="en-US" sz="3100" b="1" dirty="0">
                <a:solidFill>
                  <a:srgbClr val="FFFFFF"/>
                </a:solidFill>
                <a:latin typeface="Noto Sans Arabic" pitchFamily="34" charset="0"/>
                <a:ea typeface="Noto Sans Arabic" pitchFamily="34" charset="-122"/>
                <a:cs typeface="Noto Sans Arabic" pitchFamily="34" charset="-120"/>
              </a:rPr>
              <a:t>جمع‌بندی</a:t>
            </a:r>
            <a:endParaRPr lang="en-US" sz="3100" dirty="0"/>
          </a:p>
        </p:txBody>
      </p:sp>
      <p:sp>
        <p:nvSpPr>
          <p:cNvPr id="5" name="Shape 2"/>
          <p:cNvSpPr/>
          <p:nvPr/>
        </p:nvSpPr>
        <p:spPr>
          <a:xfrm>
            <a:off x="10378440" y="1828800"/>
            <a:ext cx="512064" cy="512064"/>
          </a:xfrm>
          <a:prstGeom prst="ellipse">
            <a:avLst/>
          </a:prstGeom>
          <a:solidFill>
            <a:srgbClr val="1D8AB5"/>
          </a:solidFill>
          <a:ln w="12700">
            <a:solidFill>
              <a:srgbClr val="1D8AB5"/>
            </a:solidFill>
            <a:prstDash val="solid"/>
          </a:ln>
        </p:spPr>
      </p:sp>
      <p:sp>
        <p:nvSpPr>
          <p:cNvPr id="6" name="Text 3"/>
          <p:cNvSpPr/>
          <p:nvPr/>
        </p:nvSpPr>
        <p:spPr>
          <a:xfrm>
            <a:off x="10378440" y="1856232"/>
            <a:ext cx="512064" cy="393192"/>
          </a:xfrm>
          <a:prstGeom prst="rect">
            <a:avLst/>
          </a:prstGeom>
          <a:noFill/>
          <a:ln/>
        </p:spPr>
        <p:txBody>
          <a:bodyPr wrap="square" lIns="0" tIns="0" rIns="0" bIns="0" rtlCol="0" anchor="ctr">
            <a:normAutofit/>
          </a:bodyPr>
          <a:lstStyle/>
          <a:p>
            <a:pPr marL="0" indent="0" algn="ctr" rtl="1">
              <a:buNone/>
            </a:pPr>
            <a:r>
              <a:rPr lang="en-US" sz="1800" b="1" dirty="0">
                <a:solidFill>
                  <a:srgbClr val="FFFFFF"/>
                </a:solidFill>
                <a:latin typeface="Noto Sans Arabic" pitchFamily="34" charset="0"/>
                <a:ea typeface="Noto Sans Arabic" pitchFamily="34" charset="-122"/>
                <a:cs typeface="Noto Sans Arabic" pitchFamily="34" charset="-120"/>
              </a:rPr>
              <a:t>۱</a:t>
            </a:r>
            <a:endParaRPr lang="en-US" sz="1800" dirty="0"/>
          </a:p>
        </p:txBody>
      </p:sp>
      <p:sp>
        <p:nvSpPr>
          <p:cNvPr id="7" name="Text 4"/>
          <p:cNvSpPr/>
          <p:nvPr/>
        </p:nvSpPr>
        <p:spPr>
          <a:xfrm>
            <a:off x="2788920" y="1801368"/>
            <a:ext cx="7360920" cy="585216"/>
          </a:xfrm>
          <a:prstGeom prst="rect">
            <a:avLst/>
          </a:prstGeom>
          <a:noFill/>
          <a:ln/>
        </p:spPr>
        <p:txBody>
          <a:bodyPr wrap="square" lIns="0" tIns="0" rIns="0" bIns="0" rtlCol="0" anchor="ctr">
            <a:normAutofit/>
          </a:bodyPr>
          <a:lstStyle/>
          <a:p>
            <a:pPr marL="0" indent="0" algn="r" rtl="1">
              <a:buNone/>
            </a:pPr>
            <a:r>
              <a:rPr lang="en-US" sz="1820" b="1" dirty="0">
                <a:solidFill>
                  <a:srgbClr val="FFFFFF"/>
                </a:solidFill>
                <a:latin typeface="Noto Sans Arabic" pitchFamily="34" charset="0"/>
                <a:ea typeface="Noto Sans Arabic" pitchFamily="34" charset="-122"/>
                <a:cs typeface="Noto Sans Arabic" pitchFamily="34" charset="-120"/>
              </a:rPr>
              <a:t>سامانه کامل ثبت، پردازش و طبقه‌بندی طراحی و پیاده‌سازی شد.</a:t>
            </a:r>
            <a:endParaRPr lang="en-US" sz="1820" dirty="0"/>
          </a:p>
        </p:txBody>
      </p:sp>
      <p:sp>
        <p:nvSpPr>
          <p:cNvPr id="8" name="Shape 5"/>
          <p:cNvSpPr/>
          <p:nvPr/>
        </p:nvSpPr>
        <p:spPr>
          <a:xfrm>
            <a:off x="10378440" y="2761488"/>
            <a:ext cx="512064" cy="512064"/>
          </a:xfrm>
          <a:prstGeom prst="ellipse">
            <a:avLst/>
          </a:prstGeom>
          <a:solidFill>
            <a:srgbClr val="1D8AB5"/>
          </a:solidFill>
          <a:ln w="12700">
            <a:solidFill>
              <a:srgbClr val="1D8AB5"/>
            </a:solidFill>
            <a:prstDash val="solid"/>
          </a:ln>
        </p:spPr>
      </p:sp>
      <p:sp>
        <p:nvSpPr>
          <p:cNvPr id="9" name="Text 6"/>
          <p:cNvSpPr/>
          <p:nvPr/>
        </p:nvSpPr>
        <p:spPr>
          <a:xfrm>
            <a:off x="10378440" y="2788920"/>
            <a:ext cx="512064" cy="393192"/>
          </a:xfrm>
          <a:prstGeom prst="rect">
            <a:avLst/>
          </a:prstGeom>
          <a:noFill/>
          <a:ln/>
        </p:spPr>
        <p:txBody>
          <a:bodyPr wrap="square" lIns="0" tIns="0" rIns="0" bIns="0" rtlCol="0" anchor="ctr">
            <a:normAutofit/>
          </a:bodyPr>
          <a:lstStyle/>
          <a:p>
            <a:pPr marL="0" indent="0" algn="ctr" rtl="1">
              <a:buNone/>
            </a:pPr>
            <a:r>
              <a:rPr lang="en-US" sz="1800" b="1" dirty="0">
                <a:solidFill>
                  <a:srgbClr val="FFFFFF"/>
                </a:solidFill>
                <a:latin typeface="Noto Sans Arabic" pitchFamily="34" charset="0"/>
                <a:ea typeface="Noto Sans Arabic" pitchFamily="34" charset="-122"/>
                <a:cs typeface="Noto Sans Arabic" pitchFamily="34" charset="-120"/>
              </a:rPr>
              <a:t>۲</a:t>
            </a:r>
            <a:endParaRPr lang="en-US" sz="1800" dirty="0"/>
          </a:p>
        </p:txBody>
      </p:sp>
      <p:sp>
        <p:nvSpPr>
          <p:cNvPr id="10" name="Text 7"/>
          <p:cNvSpPr/>
          <p:nvPr/>
        </p:nvSpPr>
        <p:spPr>
          <a:xfrm>
            <a:off x="2788920" y="2734056"/>
            <a:ext cx="7360920" cy="585216"/>
          </a:xfrm>
          <a:prstGeom prst="rect">
            <a:avLst/>
          </a:prstGeom>
          <a:noFill/>
          <a:ln/>
        </p:spPr>
        <p:txBody>
          <a:bodyPr wrap="square" lIns="0" tIns="0" rIns="0" bIns="0" rtlCol="0" anchor="ctr">
            <a:normAutofit/>
          </a:bodyPr>
          <a:lstStyle/>
          <a:p>
            <a:pPr marL="0" indent="0" algn="r" rtl="1">
              <a:buNone/>
            </a:pPr>
            <a:r>
              <a:rPr lang="en-US" sz="1820" b="1" dirty="0">
                <a:solidFill>
                  <a:srgbClr val="FFFFFF"/>
                </a:solidFill>
                <a:latin typeface="Noto Sans Arabic" pitchFamily="34" charset="0"/>
                <a:ea typeface="Noto Sans Arabic" pitchFamily="34" charset="-122"/>
                <a:cs typeface="Noto Sans Arabic" pitchFamily="34" charset="-120"/>
              </a:rPr>
              <a:t>بردار ۶۹۰ ویژگی با PCA به فضایی شامل ۱۰ تا ۱۵ مؤلفه کاهش یافت.</a:t>
            </a:r>
            <a:endParaRPr lang="en-US" sz="1820" dirty="0"/>
          </a:p>
        </p:txBody>
      </p:sp>
      <p:sp>
        <p:nvSpPr>
          <p:cNvPr id="11" name="Shape 8"/>
          <p:cNvSpPr/>
          <p:nvPr/>
        </p:nvSpPr>
        <p:spPr>
          <a:xfrm>
            <a:off x="10378440" y="3694176"/>
            <a:ext cx="512064" cy="512064"/>
          </a:xfrm>
          <a:prstGeom prst="ellipse">
            <a:avLst/>
          </a:prstGeom>
          <a:solidFill>
            <a:srgbClr val="1D8AB5"/>
          </a:solidFill>
          <a:ln w="12700">
            <a:solidFill>
              <a:srgbClr val="1D8AB5"/>
            </a:solidFill>
            <a:prstDash val="solid"/>
          </a:ln>
        </p:spPr>
      </p:sp>
      <p:sp>
        <p:nvSpPr>
          <p:cNvPr id="12" name="Text 9"/>
          <p:cNvSpPr/>
          <p:nvPr/>
        </p:nvSpPr>
        <p:spPr>
          <a:xfrm>
            <a:off x="10378440" y="3721608"/>
            <a:ext cx="512064" cy="393192"/>
          </a:xfrm>
          <a:prstGeom prst="rect">
            <a:avLst/>
          </a:prstGeom>
          <a:noFill/>
          <a:ln/>
        </p:spPr>
        <p:txBody>
          <a:bodyPr wrap="square" lIns="0" tIns="0" rIns="0" bIns="0" rtlCol="0" anchor="ctr">
            <a:normAutofit/>
          </a:bodyPr>
          <a:lstStyle/>
          <a:p>
            <a:pPr marL="0" indent="0" algn="ctr" rtl="1">
              <a:buNone/>
            </a:pPr>
            <a:r>
              <a:rPr lang="en-US" sz="1800" b="1" dirty="0">
                <a:solidFill>
                  <a:srgbClr val="FFFFFF"/>
                </a:solidFill>
                <a:latin typeface="Noto Sans Arabic" pitchFamily="34" charset="0"/>
                <a:ea typeface="Noto Sans Arabic" pitchFamily="34" charset="-122"/>
                <a:cs typeface="Noto Sans Arabic" pitchFamily="34" charset="-120"/>
              </a:rPr>
              <a:t>۳</a:t>
            </a:r>
            <a:endParaRPr lang="en-US" sz="1800" dirty="0"/>
          </a:p>
        </p:txBody>
      </p:sp>
      <p:sp>
        <p:nvSpPr>
          <p:cNvPr id="13" name="Text 10"/>
          <p:cNvSpPr/>
          <p:nvPr/>
        </p:nvSpPr>
        <p:spPr>
          <a:xfrm>
            <a:off x="2788920" y="3666744"/>
            <a:ext cx="7360920" cy="585216"/>
          </a:xfrm>
          <a:prstGeom prst="rect">
            <a:avLst/>
          </a:prstGeom>
          <a:noFill/>
          <a:ln/>
        </p:spPr>
        <p:txBody>
          <a:bodyPr wrap="square" lIns="0" tIns="0" rIns="0" bIns="0" rtlCol="0" anchor="ctr">
            <a:normAutofit/>
          </a:bodyPr>
          <a:lstStyle/>
          <a:p>
            <a:pPr marL="0" indent="0" algn="r" rtl="1">
              <a:buNone/>
            </a:pPr>
            <a:r>
              <a:rPr lang="en-US" sz="1820" b="1" dirty="0">
                <a:solidFill>
                  <a:srgbClr val="FFFFFF"/>
                </a:solidFill>
                <a:latin typeface="Noto Sans Arabic" pitchFamily="34" charset="0"/>
                <a:ea typeface="Noto Sans Arabic" pitchFamily="34" charset="-122"/>
                <a:cs typeface="Noto Sans Arabic" pitchFamily="34" charset="-120"/>
              </a:rPr>
              <a:t>سطوح عملکردی شبیه‌سازی‌شده در پنج فعالیت قابل تفکیک بودند.</a:t>
            </a:r>
            <a:endParaRPr lang="en-US" sz="1820" dirty="0"/>
          </a:p>
        </p:txBody>
      </p:sp>
      <p:sp>
        <p:nvSpPr>
          <p:cNvPr id="14" name="Shape 11"/>
          <p:cNvSpPr/>
          <p:nvPr/>
        </p:nvSpPr>
        <p:spPr>
          <a:xfrm>
            <a:off x="1874520" y="4736592"/>
            <a:ext cx="8549640" cy="841248"/>
          </a:xfrm>
          <a:prstGeom prst="roundRect">
            <a:avLst>
              <a:gd name="adj" fmla="val 15217"/>
            </a:avLst>
          </a:prstGeom>
          <a:solidFill>
            <a:srgbClr val="183B56"/>
          </a:solidFill>
          <a:ln w="15240">
            <a:solidFill>
              <a:srgbClr val="335A75"/>
            </a:solidFill>
            <a:prstDash val="solid"/>
          </a:ln>
        </p:spPr>
      </p:sp>
      <p:sp>
        <p:nvSpPr>
          <p:cNvPr id="15" name="Text 12"/>
          <p:cNvSpPr/>
          <p:nvPr/>
        </p:nvSpPr>
        <p:spPr>
          <a:xfrm>
            <a:off x="2176272" y="4919472"/>
            <a:ext cx="7955280" cy="420624"/>
          </a:xfrm>
          <a:prstGeom prst="rect">
            <a:avLst/>
          </a:prstGeom>
          <a:noFill/>
          <a:ln/>
        </p:spPr>
        <p:txBody>
          <a:bodyPr wrap="square" lIns="0" tIns="0" rIns="0" bIns="0" rtlCol="0" anchor="ctr">
            <a:normAutofit/>
          </a:bodyPr>
          <a:lstStyle/>
          <a:p>
            <a:pPr marL="0" indent="0" algn="ctr" rtl="1">
              <a:buNone/>
            </a:pPr>
            <a:r>
              <a:rPr lang="en-US" sz="1800" b="1" dirty="0">
                <a:solidFill>
                  <a:srgbClr val="66E0D0"/>
                </a:solidFill>
                <a:latin typeface="Noto Sans Arabic" pitchFamily="34" charset="0"/>
                <a:ea typeface="Noto Sans Arabic" pitchFamily="34" charset="-122"/>
                <a:cs typeface="Noto Sans Arabic" pitchFamily="34" charset="-120"/>
              </a:rPr>
              <a:t>دستاورد اصلی: اثبات امکان‌پذیری فنی چارچوب — نه اثبات کاربرد بالینی</a:t>
            </a:r>
            <a:endParaRPr lang="en-US" sz="1800" dirty="0"/>
          </a:p>
        </p:txBody>
      </p:sp>
      <p:sp>
        <p:nvSpPr>
          <p:cNvPr id="16" name="Text 13"/>
          <p:cNvSpPr/>
          <p:nvPr/>
        </p:nvSpPr>
        <p:spPr>
          <a:xfrm>
            <a:off x="4626864" y="5596128"/>
            <a:ext cx="2926080" cy="384048"/>
          </a:xfrm>
          <a:prstGeom prst="rect">
            <a:avLst/>
          </a:prstGeom>
          <a:noFill/>
          <a:ln/>
        </p:spPr>
        <p:txBody>
          <a:bodyPr wrap="square" lIns="0" tIns="0" rIns="0" bIns="0" rtlCol="0" anchor="ctr">
            <a:normAutofit/>
          </a:bodyPr>
          <a:lstStyle/>
          <a:p>
            <a:pPr marL="0" indent="0" algn="ctr" rtl="1">
              <a:buNone/>
            </a:pPr>
            <a:r>
              <a:rPr lang="en-US" sz="2400" b="1" dirty="0">
                <a:solidFill>
                  <a:srgbClr val="FFFFFF"/>
                </a:solidFill>
                <a:latin typeface="Noto Sans Arabic" pitchFamily="34" charset="0"/>
                <a:ea typeface="Noto Sans Arabic" pitchFamily="34" charset="-122"/>
                <a:cs typeface="Noto Sans Arabic" pitchFamily="34" charset="-120"/>
              </a:rPr>
              <a:t>سپاسگزارم</a:t>
            </a:r>
            <a:endParaRPr lang="en-US" sz="2400" dirty="0"/>
          </a:p>
        </p:txBody>
      </p:sp>
      <p:sp>
        <p:nvSpPr>
          <p:cNvPr id="17" name="Text 14"/>
          <p:cNvSpPr/>
          <p:nvPr/>
        </p:nvSpPr>
        <p:spPr>
          <a:xfrm>
            <a:off x="4901184" y="6144768"/>
            <a:ext cx="2377440" cy="256032"/>
          </a:xfrm>
          <a:prstGeom prst="rect">
            <a:avLst/>
          </a:prstGeom>
          <a:noFill/>
          <a:ln/>
        </p:spPr>
        <p:txBody>
          <a:bodyPr wrap="square" lIns="0" tIns="0" rIns="0" bIns="0" rtlCol="0" anchor="ctr">
            <a:normAutofit/>
          </a:bodyPr>
          <a:lstStyle/>
          <a:p>
            <a:pPr marL="0" indent="0" algn="ctr" rtl="1">
              <a:buNone/>
            </a:pPr>
            <a:r>
              <a:rPr lang="en-US" sz="1700" dirty="0">
                <a:solidFill>
                  <a:srgbClr val="B7D5E4"/>
                </a:solidFill>
                <a:latin typeface="Noto Sans Arabic" pitchFamily="34" charset="0"/>
                <a:ea typeface="Noto Sans Arabic" pitchFamily="34" charset="-122"/>
                <a:cs typeface="Noto Sans Arabic" pitchFamily="34" charset="-120"/>
              </a:rPr>
              <a:t>پرسش‌ها؟</a:t>
            </a:r>
            <a:endParaRPr lang="en-US" sz="1700" dirty="0"/>
          </a:p>
        </p:txBody>
      </p:sp>
      <p:sp>
        <p:nvSpPr>
          <p:cNvPr id="18" name="Shape 15"/>
          <p:cNvSpPr/>
          <p:nvPr/>
        </p:nvSpPr>
        <p:spPr>
          <a:xfrm>
            <a:off x="658368" y="6473952"/>
            <a:ext cx="10881360" cy="0"/>
          </a:xfrm>
          <a:prstGeom prst="line">
            <a:avLst/>
          </a:prstGeom>
          <a:noFill/>
          <a:ln w="10160">
            <a:solidFill>
              <a:srgbClr val="335A75"/>
            </a:solidFill>
            <a:prstDash val="solid"/>
          </a:ln>
        </p:spPr>
      </p:sp>
      <p:sp>
        <p:nvSpPr>
          <p:cNvPr id="19" name="Text 16"/>
          <p:cNvSpPr/>
          <p:nvPr/>
        </p:nvSpPr>
        <p:spPr>
          <a:xfrm>
            <a:off x="8046720" y="6528816"/>
            <a:ext cx="3429000" cy="219456"/>
          </a:xfrm>
          <a:prstGeom prst="rect">
            <a:avLst/>
          </a:prstGeom>
          <a:noFill/>
          <a:ln/>
        </p:spPr>
        <p:txBody>
          <a:bodyPr wrap="square" lIns="0" tIns="0" rIns="0" bIns="0" rtlCol="0" anchor="ctr">
            <a:normAutofit/>
          </a:bodyPr>
          <a:lstStyle/>
          <a:p>
            <a:pPr marL="0" indent="0" algn="r" rtl="1">
              <a:buNone/>
            </a:pPr>
            <a:r>
              <a:rPr lang="en-US" sz="920" dirty="0">
                <a:solidFill>
                  <a:srgbClr val="B7D5E4"/>
                </a:solidFill>
                <a:latin typeface="Noto Sans Arabic" pitchFamily="34" charset="0"/>
                <a:ea typeface="Noto Sans Arabic" pitchFamily="34" charset="-122"/>
                <a:cs typeface="Noto Sans Arabic" pitchFamily="34" charset="-120"/>
              </a:rPr>
              <a:t>پایان‌نامه کارشناسی مهندسی مکانیک</a:t>
            </a:r>
            <a:endParaRPr lang="en-US" sz="920" dirty="0"/>
          </a:p>
        </p:txBody>
      </p:sp>
      <p:sp>
        <p:nvSpPr>
          <p:cNvPr id="20" name="Text 17"/>
          <p:cNvSpPr/>
          <p:nvPr/>
        </p:nvSpPr>
        <p:spPr>
          <a:xfrm>
            <a:off x="2267712" y="6528816"/>
            <a:ext cx="5303520" cy="219456"/>
          </a:xfrm>
          <a:prstGeom prst="rect">
            <a:avLst/>
          </a:prstGeom>
          <a:noFill/>
          <a:ln/>
        </p:spPr>
        <p:txBody>
          <a:bodyPr wrap="square" lIns="0" tIns="0" rIns="0" bIns="0" rtlCol="0" anchor="ctr">
            <a:normAutofit/>
          </a:bodyPr>
          <a:lstStyle/>
          <a:p>
            <a:pPr marL="0" indent="0" algn="ctr" rtl="1">
              <a:buNone/>
            </a:pPr>
            <a:r>
              <a:rPr lang="en-US" sz="920" dirty="0">
                <a:solidFill>
                  <a:srgbClr val="B7D5E4"/>
                </a:solidFill>
                <a:latin typeface="Noto Sans Arabic" pitchFamily="34" charset="0"/>
                <a:ea typeface="Noto Sans Arabic" pitchFamily="34" charset="-122"/>
                <a:cs typeface="Noto Sans Arabic" pitchFamily="34" charset="-120"/>
              </a:rPr>
              <a:t>فصل ارائه ۶ از ۶: جمع‌بندی | ۰ اسلاید تا پایان</a:t>
            </a:r>
            <a:endParaRPr lang="en-US" sz="920" dirty="0"/>
          </a:p>
        </p:txBody>
      </p:sp>
      <p:sp>
        <p:nvSpPr>
          <p:cNvPr id="21" name="Text 18"/>
          <p:cNvSpPr/>
          <p:nvPr/>
        </p:nvSpPr>
        <p:spPr>
          <a:xfrm>
            <a:off x="713232" y="6528816"/>
            <a:ext cx="960120" cy="219456"/>
          </a:xfrm>
          <a:prstGeom prst="rect">
            <a:avLst/>
          </a:prstGeom>
          <a:noFill/>
          <a:ln/>
        </p:spPr>
        <p:txBody>
          <a:bodyPr wrap="square" lIns="0" tIns="0" rIns="0" bIns="0" rtlCol="0" anchor="ctr">
            <a:normAutofit/>
          </a:bodyPr>
          <a:lstStyle/>
          <a:p>
            <a:pPr marL="0" indent="0" algn="l" rtl="1">
              <a:buNone/>
            </a:pPr>
            <a:r>
              <a:rPr lang="en-US" sz="1020" b="1" dirty="0">
                <a:solidFill>
                  <a:srgbClr val="66E0D0"/>
                </a:solidFill>
                <a:latin typeface="Noto Sans Arabic" pitchFamily="34" charset="0"/>
                <a:ea typeface="Noto Sans Arabic" pitchFamily="34" charset="-122"/>
                <a:cs typeface="Noto Sans Arabic" pitchFamily="34" charset="-120"/>
              </a:rPr>
              <a:t>۱۴ / ۱۴</a:t>
            </a:r>
            <a:endParaRPr lang="en-US" sz="1020" dirty="0"/>
          </a:p>
        </p:txBody>
      </p:sp>
      <p:sp>
        <p:nvSpPr>
          <p:cNvPr id="22" name="Shape 19"/>
          <p:cNvSpPr/>
          <p:nvPr/>
        </p:nvSpPr>
        <p:spPr>
          <a:xfrm>
            <a:off x="2560320" y="6766560"/>
            <a:ext cx="6583680" cy="41148"/>
          </a:xfrm>
          <a:prstGeom prst="rect">
            <a:avLst/>
          </a:prstGeom>
          <a:solidFill>
            <a:srgbClr val="66E0D0"/>
          </a:solidFill>
          <a:ln w="12700">
            <a:solidFill>
              <a:srgbClr val="66E0D0"/>
            </a:solidFill>
            <a:prstDash val="solid"/>
          </a:ln>
        </p:spPr>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TotalTime>
  <Words>2380</Words>
  <Application>Microsoft Macintosh PowerPoint</Application>
  <PresentationFormat>Widescreen</PresentationFormat>
  <Paragraphs>362</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Noto Sans Arabic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Sharif University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ارزیابی شاخص‌های عملکرد موتوری در بیماران دوشن به کمک حسگرهای اینرسیایی</dc:title>
  <dc:subject>Bachelor Thesis Defense - DMD motor performance assessment using inertial sensors</dc:subject>
  <dc:creator>Mohammad Rahmanitalab</dc:creator>
  <cp:lastModifiedBy>mohammad rahmanitalab</cp:lastModifiedBy>
  <cp:revision>2</cp:revision>
  <dcterms:created xsi:type="dcterms:W3CDTF">2026-07-19T14:42:07Z</dcterms:created>
  <dcterms:modified xsi:type="dcterms:W3CDTF">2026-07-19T16:59:27Z</dcterms:modified>
</cp:coreProperties>
</file>