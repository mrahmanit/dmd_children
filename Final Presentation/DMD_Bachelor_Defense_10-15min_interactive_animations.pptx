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88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25 ثانیه
در این ارائه، ابتدا مسئله و ایده اصلی پروژه را معرفی می‌کنم، سپس سامانه داده‌برداری و مسیر پردازش را توضیح می‌دهم و در پایان، نتایج پنج فعالیت، محدودیت‌ها و گام بعدی برای اعتبارسنجی بالینی را مرور می‌کنم.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دوشن یک بیماری پیشرونده است و تغییرات عملکرد حرکتی برای تصمیم‌گیری درمانی اهمیت زیادی دارد. NSAA یک ابزار معتبر و رایج است، اما امتیازدهی آن بر مشاهده درمانگر استوار است. پرسش پروژه این بود که آیا داده‌های شتاب و سرعت زاویه‌ای می‌توانند سطوح صفر، یک و دو را از هم تفکیک کنند.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این مهم‌ترین نکته تفسیری پروژه است. داده‌ها از بیمار واقعی جمع‌آوری نشدند. یک فرد سالم که با بیماری و معیار امتیازدهی آشنا بود، الگوهای حرکتی را در شرایط کنترل‌شده شبیه‌سازی کرد. بنابراین اعداد گزارش‌شده، توان تفکیک الگوهای شبیه‌سازی‌شده را نشان می‌دهند و نباید به‌عنوان دقت بالینی سامانه بیان شوند.</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سامانه از پنج واحد T-Wristband استفاده می‌کند. یک حسگر روی پیشانی، دو حسگر روی پشت مچ دست‌ها و دو حسگر بالای قوزک خارجی پاها نصب شدند. هر واحد سه محور شتاب و سه محور سرعت زاویه‌ای را با نرخ حدود ۹۰ تا ۱۰۰ هرتز ثبت و از طریق بلوتوث ارسال می‌کرد. این چیدمان به‌طور هم‌زمان حرکت اصلی و الگوهای جبرانی را پوشش می‌دهد.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جریان داده از اجرای فعالیت شروع می‌شود. حسگرها داده را ثبت می‌کنند و نرم‌افزار متلب آن را هم‌زمان دریافت و ذخیره می‌کند. سپس در پایتون پیش‌پردازش، استخراج ویژگی، کاهش ابعاد و مقایسه مدل‌ها انجام می‌شود. معماری به‌صورت ماژولار طراحی شد تا هر بخش مستقل قابل توسعه باشد.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داده خام ابتدا از نظر بایاس ژیروسکوپ اصلاح شد و فیلتر باترورث مرتبه چهارم با فرکانس قطع چهار هرتز به‌صورت دوطرفه اعمال شد. سپس از هر یک از شش کانال هر حسگر، ۲۳ ویژگی زمانی و آماری استخراج شد. حاصل پنج حسگر ضربدر شش سیگنال ضربدر ۲۳ ویژگی، یک بردار ۶۹۰ بعدی برای هر نمونه بود.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برای جلوگیری از نشت اطلاعات، تمام تبدیل‌ها داخل یک Pipeline قرار گرفتند. در هر تکرار اعتبارسنجی، استانداردسازی و PCA فقط بر داده آموزش برازش شدند. سه مدل SVM، KNN و جنگل تصادفی مقایسه شدند. ارزیابی اصلی با اعتبارسنجی متقاطع طبقه‌بندی‌شده پنج‌بخشی و پنج تکرار و چند معیار مکمل انجام شد.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70 ثانیه
ایستادن به‌عنوان فعالیت مرجع برای توسعه روند تحلیل انتخاب شد. با وجود دامنه حرکت کم، ویژگی‌های آماری نوسان بدن و حرکت جبرانی دست‌ها و سر اطلاعات تفکیک‌کننده داشتند. SVM با ۱۳ مؤلفه اصلی به دقت ۹۶ درصد رسید و از KNN و جنگل تصادفی بهتر بود. در ماتریس درهم‌ریختگی، سطح یک دشوارترین کلاس بود.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در هر پنج فعالیت، SVM همراه با PCA مدل منتخب شد، اما تعداد مؤلفه مناسب متفاوت بود و بین ۱۰ تا ۱۵ قرار گرفت. این تفاوت نشان می‌دهد که ماهیت هر فعالیت بر حجم اطلاعات موردنیاز اثر دارد. حد نصاب‌های ۸۰ و ۹۰ درصد صرفاً برای انتخاب داخلی مدل‌ها تعریف شدند و معادل دقت بالینی نیستند.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مقایسه فعالیت‌ها نشان داد که یک مجموعه ویژگی یا تعداد مؤلفه ثابت برای همه حرکات مناسب نیست. در ایستادن، نوسان‌های ظریف مهم‌اند؛ در برخاستن هماهنگی چند اندام؛ در پریدن انرژی و فرود؛ در بالا آوردن سر، حسگر پیشانی؛ و در بالا رفتن از جعبه، انتقال وزن و حسگرهای پا. بنابراین تحلیل فعالیت‌محور منطقی‌تر است.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سه محدودیت اصلی وجود دارد: اول، همه داده‌ها از یک فرد سالم گرفته شده‌اند؛ دوم، تعداد نمونه نسبت به فضای اولیه ویژگی‌ها محدود است؛ و سوم، نتیجه به شرایط نصب و ثبت وابسته است. بنابراین اعتبارسنجی متقاطع فعلی تعمیم به بیمار یا حتی فرد سالم جدید را اثبات نمی‌کند.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مهم‌ترین گام بعدی، جمع‌آوری داده از بیماران با امتیازدهی هم‌زمان متخصص است. پس از آن باید ارزیابی مستقل از آزمودنی انجام شود. در مرحله مدل‌سازی نیز تنظیم ابرپارامترها، ویژگی‌های فرکانسی و مدل‌های زمانی قابل بررسی‌اند. در نهایت باید تعداد حسگرها و نرم‌افزار برای کاربرد بالینی ساده‌تر شوند.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35 ثانیه
در جمع‌بندی، یک سامانه کامل از ثبت داده تا طبقه‌بندی ساخته شد. کاهش ابعاد نشان داد بخش عمده اطلاعات موردنیاز در فضای بسیار کوچک‌تری از ۶۹۰ ویژگی قرار دارد و سطوح شبیه‌سازی‌شده قابل تفکیک‌اند. با این حال، دستاورد اصلی پروژه یک چارچوب فنی و روش‌مند است و اعتبار بالینی آن باید در مطالعه بعدی بررسی شود.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3886200" cy="6858000"/>
          </a:xfrm>
          <a:prstGeom prst="rect">
            <a:avLst/>
          </a:prstGeom>
          <a:solidFill>
            <a:srgbClr val="102A43"/>
          </a:solidFill>
          <a:ln w="12700">
            <a:solidFill>
              <a:srgbClr val="102A43"/>
            </a:solidFill>
            <a:prstDash val="solid"/>
          </a:ln>
        </p:spPr>
      </p:sp>
      <p:sp>
        <p:nvSpPr>
          <p:cNvPr id="3" name="Shape 1"/>
          <p:cNvSpPr/>
          <p:nvPr/>
        </p:nvSpPr>
        <p:spPr>
          <a:xfrm>
            <a:off x="3886200" y="0"/>
            <a:ext cx="118872" cy="6858000"/>
          </a:xfrm>
          <a:prstGeom prst="rect">
            <a:avLst/>
          </a:prstGeom>
          <a:solidFill>
            <a:srgbClr val="1D8AB5"/>
          </a:solidFill>
          <a:ln w="12700">
            <a:solidFill>
              <a:srgbClr val="1D8AB5"/>
            </a:solidFill>
            <a:prstDash val="solid"/>
          </a:ln>
        </p:spPr>
      </p:sp>
      <p:sp>
        <p:nvSpPr>
          <p:cNvPr id="4" name="Shape 2"/>
          <p:cNvSpPr/>
          <p:nvPr/>
        </p:nvSpPr>
        <p:spPr>
          <a:xfrm>
            <a:off x="420624" y="1417320"/>
            <a:ext cx="3017520" cy="2084832"/>
          </a:xfrm>
          <a:prstGeom prst="roundRect">
            <a:avLst>
              <a:gd name="adj" fmla="val 5263"/>
            </a:avLst>
          </a:prstGeom>
          <a:solidFill>
            <a:srgbClr val="FFFFFF"/>
          </a:solidFill>
          <a:ln w="12700">
            <a:solidFill>
              <a:srgbClr val="4B6A85">
                <a:alpha val="40000"/>
              </a:srgbClr>
            </a:solidFill>
            <a:prstDash val="solid"/>
          </a:ln>
        </p:spPr>
      </p:sp>
      <p:pic>
        <p:nvPicPr>
          <p:cNvPr id="5" name="Image 0" descr="/mnt/data/dmd_assets/crops/sensor_photos.png"/>
          <p:cNvPicPr>
            <a:picLocks noChangeAspect="1"/>
          </p:cNvPicPr>
          <p:nvPr/>
        </p:nvPicPr>
        <p:blipFill>
          <a:blip r:embed="rId3"/>
          <a:srcRect l="4080" r="4080"/>
          <a:stretch/>
        </p:blipFill>
        <p:spPr>
          <a:xfrm>
            <a:off x="484632" y="1481328"/>
            <a:ext cx="2889504" cy="1956816"/>
          </a:xfrm>
          <a:prstGeom prst="rect">
            <a:avLst/>
          </a:prstGeom>
        </p:spPr>
      </p:pic>
      <p:sp>
        <p:nvSpPr>
          <p:cNvPr id="6" name="Shape 3"/>
          <p:cNvSpPr/>
          <p:nvPr/>
        </p:nvSpPr>
        <p:spPr>
          <a:xfrm>
            <a:off x="768096" y="3813048"/>
            <a:ext cx="2267712" cy="420624"/>
          </a:xfrm>
          <a:prstGeom prst="roundRect">
            <a:avLst>
              <a:gd name="adj" fmla="val 39130"/>
            </a:avLst>
          </a:prstGeom>
          <a:solidFill>
            <a:srgbClr val="183B56"/>
          </a:solidFill>
          <a:ln w="12700">
            <a:solidFill>
              <a:srgbClr val="335A75"/>
            </a:solidFill>
            <a:prstDash val="solid"/>
          </a:ln>
        </p:spPr>
      </p:sp>
      <p:sp>
        <p:nvSpPr>
          <p:cNvPr id="7" name="Text 4"/>
          <p:cNvSpPr/>
          <p:nvPr/>
        </p:nvSpPr>
        <p:spPr>
          <a:xfrm>
            <a:off x="877824" y="3831336"/>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Noto Sans Arabic" pitchFamily="34" charset="0"/>
                <a:ea typeface="Noto Sans Arabic" pitchFamily="34" charset="-122"/>
                <a:cs typeface="Noto Sans Arabic" pitchFamily="34" charset="-120"/>
              </a:rPr>
              <a:t>۵ حسگر پوشیدنی</a:t>
            </a:r>
            <a:endParaRPr lang="en-US" sz="1350" dirty="0"/>
          </a:p>
        </p:txBody>
      </p:sp>
      <p:sp>
        <p:nvSpPr>
          <p:cNvPr id="8" name="Shape 5"/>
          <p:cNvSpPr/>
          <p:nvPr/>
        </p:nvSpPr>
        <p:spPr>
          <a:xfrm>
            <a:off x="768096" y="4334256"/>
            <a:ext cx="2267712" cy="420624"/>
          </a:xfrm>
          <a:prstGeom prst="roundRect">
            <a:avLst>
              <a:gd name="adj" fmla="val 39130"/>
            </a:avLst>
          </a:prstGeom>
          <a:solidFill>
            <a:srgbClr val="183B56"/>
          </a:solidFill>
          <a:ln w="12700">
            <a:solidFill>
              <a:srgbClr val="335A75"/>
            </a:solidFill>
            <a:prstDash val="solid"/>
          </a:ln>
        </p:spPr>
      </p:sp>
      <p:sp>
        <p:nvSpPr>
          <p:cNvPr id="9" name="Text 6"/>
          <p:cNvSpPr/>
          <p:nvPr/>
        </p:nvSpPr>
        <p:spPr>
          <a:xfrm>
            <a:off x="877824" y="4352544"/>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Noto Sans Arabic" pitchFamily="34" charset="0"/>
                <a:ea typeface="Noto Sans Arabic" pitchFamily="34" charset="-122"/>
                <a:cs typeface="Noto Sans Arabic" pitchFamily="34" charset="-120"/>
              </a:rPr>
              <a:t>یادگیری ماشین</a:t>
            </a:r>
            <a:endParaRPr lang="en-US" sz="1350" dirty="0"/>
          </a:p>
        </p:txBody>
      </p:sp>
      <p:sp>
        <p:nvSpPr>
          <p:cNvPr id="10" name="Shape 7"/>
          <p:cNvSpPr/>
          <p:nvPr/>
        </p:nvSpPr>
        <p:spPr>
          <a:xfrm>
            <a:off x="768096" y="4855464"/>
            <a:ext cx="2267712" cy="420624"/>
          </a:xfrm>
          <a:prstGeom prst="roundRect">
            <a:avLst>
              <a:gd name="adj" fmla="val 39130"/>
            </a:avLst>
          </a:prstGeom>
          <a:solidFill>
            <a:srgbClr val="183B56"/>
          </a:solidFill>
          <a:ln w="12700">
            <a:solidFill>
              <a:srgbClr val="335A75"/>
            </a:solidFill>
            <a:prstDash val="solid"/>
          </a:ln>
        </p:spPr>
      </p:sp>
      <p:sp>
        <p:nvSpPr>
          <p:cNvPr id="11" name="Text 8"/>
          <p:cNvSpPr/>
          <p:nvPr/>
        </p:nvSpPr>
        <p:spPr>
          <a:xfrm>
            <a:off x="877824" y="4873752"/>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Noto Sans Arabic" pitchFamily="34" charset="0"/>
                <a:ea typeface="Noto Sans Arabic" pitchFamily="34" charset="-122"/>
                <a:cs typeface="Noto Sans Arabic" pitchFamily="34" charset="-120"/>
              </a:rPr>
              <a:t>مقیاس NSAA</a:t>
            </a:r>
            <a:endParaRPr lang="en-US" sz="1350" dirty="0"/>
          </a:p>
        </p:txBody>
      </p:sp>
      <p:pic>
        <p:nvPicPr>
          <p:cNvPr id="12" name="Image 1" descr="/mnt/data/dmd_assets/crops/sharif_logo.png"/>
          <p:cNvPicPr>
            <a:picLocks noChangeAspect="1"/>
          </p:cNvPicPr>
          <p:nvPr/>
        </p:nvPicPr>
        <p:blipFill>
          <a:blip r:embed="rId4"/>
          <a:stretch>
            <a:fillRect/>
          </a:stretch>
        </p:blipFill>
        <p:spPr>
          <a:xfrm>
            <a:off x="10235930" y="329184"/>
            <a:ext cx="1062260" cy="960120"/>
          </a:xfrm>
          <a:prstGeom prst="rect">
            <a:avLst/>
          </a:prstGeom>
        </p:spPr>
      </p:pic>
      <p:sp>
        <p:nvSpPr>
          <p:cNvPr id="13" name="Text 9"/>
          <p:cNvSpPr/>
          <p:nvPr/>
        </p:nvSpPr>
        <p:spPr>
          <a:xfrm>
            <a:off x="4526280" y="1417320"/>
            <a:ext cx="6583680" cy="1847088"/>
          </a:xfrm>
          <a:prstGeom prst="rect">
            <a:avLst/>
          </a:prstGeom>
          <a:noFill/>
          <a:ln/>
        </p:spPr>
        <p:txBody>
          <a:bodyPr wrap="square" lIns="0" tIns="0" rIns="0" bIns="0" rtlCol="0" anchor="ctr">
            <a:normAutofit/>
          </a:bodyPr>
          <a:lstStyle/>
          <a:p>
            <a:pPr marL="0" indent="0" algn="r" rtl="1">
              <a:buNone/>
            </a:pPr>
            <a:r>
              <a:rPr lang="en-US" sz="3000" b="1" dirty="0">
                <a:solidFill>
                  <a:srgbClr val="102A43"/>
                </a:solidFill>
                <a:latin typeface="Noto Sans Arabic" pitchFamily="34" charset="0"/>
                <a:ea typeface="Noto Sans Arabic" pitchFamily="34" charset="-122"/>
                <a:cs typeface="Noto Sans Arabic" pitchFamily="34" charset="-120"/>
              </a:rPr>
              <a:t>ارزیابی شاخص‌های عملکرد موتوری</a:t>
            </a:r>
            <a:endParaRPr lang="en-US" sz="3000" dirty="0"/>
          </a:p>
          <a:p>
            <a:pPr marL="0" indent="0" algn="r" rtl="1">
              <a:buNone/>
            </a:pPr>
            <a:r>
              <a:rPr lang="en-US" sz="3000" b="1" dirty="0">
                <a:solidFill>
                  <a:srgbClr val="102A43"/>
                </a:solidFill>
                <a:latin typeface="Noto Sans Arabic" pitchFamily="34" charset="0"/>
                <a:ea typeface="Noto Sans Arabic" pitchFamily="34" charset="-122"/>
                <a:cs typeface="Noto Sans Arabic" pitchFamily="34" charset="-120"/>
              </a:rPr>
              <a:t>در بیماران دوشن به کمک</a:t>
            </a:r>
            <a:endParaRPr lang="en-US" sz="3000" dirty="0"/>
          </a:p>
          <a:p>
            <a:pPr marL="0" indent="0" algn="r" rtl="1">
              <a:buNone/>
            </a:pPr>
            <a:r>
              <a:rPr lang="en-US" sz="3000" b="1" dirty="0">
                <a:solidFill>
                  <a:srgbClr val="102A43"/>
                </a:solidFill>
                <a:latin typeface="Noto Sans Arabic" pitchFamily="34" charset="0"/>
                <a:ea typeface="Noto Sans Arabic" pitchFamily="34" charset="-122"/>
                <a:cs typeface="Noto Sans Arabic" pitchFamily="34" charset="-120"/>
              </a:rPr>
              <a:t>حسگرهای اینرسیایی</a:t>
            </a:r>
            <a:endParaRPr lang="en-US" sz="3000" dirty="0"/>
          </a:p>
        </p:txBody>
      </p:sp>
      <p:sp>
        <p:nvSpPr>
          <p:cNvPr id="14" name="Shape 10"/>
          <p:cNvSpPr/>
          <p:nvPr/>
        </p:nvSpPr>
        <p:spPr>
          <a:xfrm>
            <a:off x="4892040" y="3520440"/>
            <a:ext cx="6108192" cy="0"/>
          </a:xfrm>
          <a:prstGeom prst="line">
            <a:avLst/>
          </a:prstGeom>
          <a:noFill/>
          <a:ln w="38100">
            <a:solidFill>
              <a:srgbClr val="0B6E99"/>
            </a:solidFill>
            <a:prstDash val="solid"/>
          </a:ln>
        </p:spPr>
      </p:sp>
      <p:sp>
        <p:nvSpPr>
          <p:cNvPr id="15" name="Text 11"/>
          <p:cNvSpPr/>
          <p:nvPr/>
        </p:nvSpPr>
        <p:spPr>
          <a:xfrm>
            <a:off x="6126480" y="3794760"/>
            <a:ext cx="4892040" cy="402336"/>
          </a:xfrm>
          <a:prstGeom prst="rect">
            <a:avLst/>
          </a:prstGeom>
          <a:noFill/>
          <a:ln/>
        </p:spPr>
        <p:txBody>
          <a:bodyPr wrap="square" lIns="0" tIns="0" rIns="0" bIns="0" rtlCol="0" anchor="ctr">
            <a:normAutofit/>
          </a:bodyPr>
          <a:lstStyle/>
          <a:p>
            <a:pPr marL="0" indent="0" algn="r" rtl="1">
              <a:buNone/>
            </a:pPr>
            <a:r>
              <a:rPr lang="en-US" sz="1600" b="1" dirty="0">
                <a:solidFill>
                  <a:srgbClr val="0B6E99"/>
                </a:solidFill>
                <a:latin typeface="Noto Sans Arabic" pitchFamily="34" charset="0"/>
                <a:ea typeface="Noto Sans Arabic" pitchFamily="34" charset="-122"/>
                <a:cs typeface="Noto Sans Arabic" pitchFamily="34" charset="-120"/>
              </a:rPr>
              <a:t>ارائه دفاع کارشناسی مهندسی مکانیک</a:t>
            </a:r>
            <a:endParaRPr lang="en-US" sz="1600" dirty="0"/>
          </a:p>
        </p:txBody>
      </p:sp>
      <p:sp>
        <p:nvSpPr>
          <p:cNvPr id="16" name="Text 12"/>
          <p:cNvSpPr/>
          <p:nvPr/>
        </p:nvSpPr>
        <p:spPr>
          <a:xfrm>
            <a:off x="7360920" y="4590288"/>
            <a:ext cx="3657600" cy="384048"/>
          </a:xfrm>
          <a:prstGeom prst="rect">
            <a:avLst/>
          </a:prstGeom>
          <a:noFill/>
          <a:ln/>
        </p:spPr>
        <p:txBody>
          <a:bodyPr wrap="square" lIns="0" tIns="0" rIns="0" bIns="0" rtlCol="0" anchor="ctr">
            <a:normAutofit/>
          </a:bodyPr>
          <a:lstStyle/>
          <a:p>
            <a:pPr marL="0" indent="0" algn="r" rtl="1">
              <a:buNone/>
            </a:pPr>
            <a:r>
              <a:rPr lang="en-US" sz="1900" b="1" dirty="0">
                <a:solidFill>
                  <a:srgbClr val="1F2937"/>
                </a:solidFill>
                <a:latin typeface="Noto Sans Arabic" pitchFamily="34" charset="0"/>
                <a:ea typeface="Noto Sans Arabic" pitchFamily="34" charset="-122"/>
                <a:cs typeface="Noto Sans Arabic" pitchFamily="34" charset="-120"/>
              </a:rPr>
              <a:t>محمد رحمانی‌طلب</a:t>
            </a:r>
            <a:endParaRPr lang="en-US" sz="1900" dirty="0"/>
          </a:p>
        </p:txBody>
      </p:sp>
      <p:sp>
        <p:nvSpPr>
          <p:cNvPr id="17" name="Text 13"/>
          <p:cNvSpPr/>
          <p:nvPr/>
        </p:nvSpPr>
        <p:spPr>
          <a:xfrm>
            <a:off x="6263640" y="5065776"/>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Noto Sans Arabic" pitchFamily="34" charset="0"/>
                <a:ea typeface="Noto Sans Arabic" pitchFamily="34" charset="-122"/>
                <a:cs typeface="Noto Sans Arabic" pitchFamily="34" charset="-120"/>
              </a:rPr>
              <a:t>استاد راهنما: دکتر سعید بهزادی‌پور</a:t>
            </a:r>
            <a:endParaRPr lang="en-US" sz="1400" dirty="0"/>
          </a:p>
        </p:txBody>
      </p:sp>
      <p:sp>
        <p:nvSpPr>
          <p:cNvPr id="18" name="Text 14"/>
          <p:cNvSpPr/>
          <p:nvPr/>
        </p:nvSpPr>
        <p:spPr>
          <a:xfrm>
            <a:off x="6263640" y="5440680"/>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Noto Sans Arabic" pitchFamily="34" charset="0"/>
                <a:ea typeface="Noto Sans Arabic" pitchFamily="34" charset="-122"/>
                <a:cs typeface="Noto Sans Arabic" pitchFamily="34" charset="-120"/>
              </a:rPr>
              <a:t>استاد مشاور: دکتر مرضیه بابایی</a:t>
            </a:r>
            <a:endParaRPr lang="en-US" sz="1400" dirty="0"/>
          </a:p>
        </p:txBody>
      </p:sp>
      <p:sp>
        <p:nvSpPr>
          <p:cNvPr id="19" name="Text 15"/>
          <p:cNvSpPr/>
          <p:nvPr/>
        </p:nvSpPr>
        <p:spPr>
          <a:xfrm>
            <a:off x="8869680" y="6053328"/>
            <a:ext cx="2148840" cy="292608"/>
          </a:xfrm>
          <a:prstGeom prst="rect">
            <a:avLst/>
          </a:prstGeom>
          <a:noFill/>
          <a:ln/>
        </p:spPr>
        <p:txBody>
          <a:bodyPr wrap="square" lIns="0" tIns="0" rIns="0" bIns="0" rtlCol="0" anchor="ctr">
            <a:normAutofit/>
          </a:bodyPr>
          <a:lstStyle/>
          <a:p>
            <a:pPr marL="0" indent="0" algn="r" rtl="1">
              <a:buNone/>
            </a:pPr>
            <a:r>
              <a:rPr lang="en-US" sz="1250" dirty="0">
                <a:solidFill>
                  <a:srgbClr val="94A3B8"/>
                </a:solidFill>
                <a:latin typeface="Noto Sans Arabic" pitchFamily="34" charset="0"/>
                <a:ea typeface="Noto Sans Arabic" pitchFamily="34" charset="-122"/>
                <a:cs typeface="Noto Sans Arabic" pitchFamily="34" charset="-120"/>
              </a:rPr>
              <a:t>تیر ۱۴۰۵</a:t>
            </a:r>
            <a:endParaRPr lang="en-US" sz="1250" dirty="0"/>
          </a:p>
        </p:txBody>
      </p:sp>
      <p:sp>
        <p:nvSpPr>
          <p:cNvPr id="20" name="Text 16"/>
          <p:cNvSpPr/>
          <p:nvPr/>
        </p:nvSpPr>
        <p:spPr>
          <a:xfrm>
            <a:off x="5230368" y="6519672"/>
            <a:ext cx="4315968"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۱ از ۶: شروع | ۱۳ اسلاید تا پایان</a:t>
            </a:r>
            <a:endParaRPr lang="en-US" sz="920" dirty="0"/>
          </a:p>
        </p:txBody>
      </p:sp>
      <p:sp>
        <p:nvSpPr>
          <p:cNvPr id="21" name="Text 17"/>
          <p:cNvSpPr/>
          <p:nvPr/>
        </p:nvSpPr>
        <p:spPr>
          <a:xfrm>
            <a:off x="9948672" y="6519672"/>
            <a:ext cx="868680" cy="219456"/>
          </a:xfrm>
          <a:prstGeom prst="rect">
            <a:avLst/>
          </a:prstGeom>
          <a:noFill/>
          <a:ln/>
        </p:spPr>
        <p:txBody>
          <a:bodyPr wrap="square" lIns="0" tIns="0" rIns="0" bIns="0" rtlCol="0" anchor="ctr">
            <a:normAutofit/>
          </a:bodyPr>
          <a:lstStyle/>
          <a:p>
            <a:pPr marL="0" indent="0" algn="ctr" rtl="1">
              <a:buNone/>
            </a:pPr>
            <a:r>
              <a:rPr lang="en-US" sz="1020" b="1" dirty="0">
                <a:solidFill>
                  <a:srgbClr val="0B6E99"/>
                </a:solidFill>
                <a:latin typeface="Noto Sans Arabic" pitchFamily="34" charset="0"/>
                <a:ea typeface="Noto Sans Arabic" pitchFamily="34" charset="-122"/>
                <a:cs typeface="Noto Sans Arabic" pitchFamily="34" charset="-120"/>
              </a:rPr>
              <a:t>۱ / ۱۴</a:t>
            </a:r>
            <a:endParaRPr lang="en-US" sz="102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زمینه و مسئله</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مسئله پژوهش چیست؟</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۲ / ۱۴</a:t>
            </a:r>
            <a:endParaRPr lang="en-US" sz="1080" dirty="0"/>
          </a:p>
        </p:txBody>
      </p:sp>
      <p:sp>
        <p:nvSpPr>
          <p:cNvPr id="7" name="Shape 5"/>
          <p:cNvSpPr/>
          <p:nvPr/>
        </p:nvSpPr>
        <p:spPr>
          <a:xfrm>
            <a:off x="658368" y="1508760"/>
            <a:ext cx="5029200" cy="3931920"/>
          </a:xfrm>
          <a:prstGeom prst="roundRect">
            <a:avLst>
              <a:gd name="adj" fmla="val 1860"/>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3822192" y="1755648"/>
            <a:ext cx="1572768" cy="347472"/>
          </a:xfrm>
          <a:prstGeom prst="roundRect">
            <a:avLst>
              <a:gd name="adj" fmla="val 47368"/>
            </a:avLst>
          </a:prstGeom>
          <a:solidFill>
            <a:srgbClr val="FDECEA"/>
          </a:solidFill>
          <a:ln w="12700">
            <a:solidFill>
              <a:srgbClr val="FDECEA"/>
            </a:solidFill>
            <a:prstDash val="solid"/>
          </a:ln>
        </p:spPr>
      </p:sp>
      <p:sp>
        <p:nvSpPr>
          <p:cNvPr id="9" name="Text 7"/>
          <p:cNvSpPr/>
          <p:nvPr/>
        </p:nvSpPr>
        <p:spPr>
          <a:xfrm>
            <a:off x="3931920" y="1773936"/>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C0392B"/>
                </a:solidFill>
                <a:latin typeface="Noto Sans Arabic" pitchFamily="34" charset="0"/>
                <a:ea typeface="Noto Sans Arabic" pitchFamily="34" charset="-122"/>
                <a:cs typeface="Noto Sans Arabic" pitchFamily="34" charset="-120"/>
              </a:rPr>
              <a:t>چالش بالینی</a:t>
            </a:r>
            <a:endParaRPr lang="en-US" sz="1350" dirty="0"/>
          </a:p>
        </p:txBody>
      </p:sp>
      <p:sp>
        <p:nvSpPr>
          <p:cNvPr id="10" name="Text 8"/>
          <p:cNvSpPr/>
          <p:nvPr/>
        </p:nvSpPr>
        <p:spPr>
          <a:xfrm>
            <a:off x="987552" y="2304288"/>
            <a:ext cx="4343400" cy="804672"/>
          </a:xfrm>
          <a:prstGeom prst="rect">
            <a:avLst/>
          </a:prstGeom>
          <a:noFill/>
          <a:ln/>
        </p:spPr>
        <p:txBody>
          <a:bodyPr wrap="square" lIns="0" tIns="0" rIns="0" bIns="0" rtlCol="0" anchor="t">
            <a:normAutofit/>
          </a:bodyPr>
          <a:lstStyle/>
          <a:p>
            <a:pPr marL="0" indent="0" algn="r" rtl="1">
              <a:buNone/>
            </a:pPr>
            <a:r>
              <a:rPr lang="en-US" sz="1850" b="1" dirty="0">
                <a:solidFill>
                  <a:srgbClr val="102A43"/>
                </a:solidFill>
                <a:latin typeface="Noto Sans Arabic" pitchFamily="34" charset="0"/>
                <a:ea typeface="Noto Sans Arabic" pitchFamily="34" charset="-122"/>
                <a:cs typeface="Noto Sans Arabic" pitchFamily="34" charset="-120"/>
              </a:rPr>
              <a:t>دیستروفی عضلانی دوشن با ضعف پیشرونده عضلات و کاهش تدریجی توانایی‌های حرکتی همراه است.</a:t>
            </a:r>
            <a:endParaRPr lang="en-US" sz="1850" dirty="0"/>
          </a:p>
        </p:txBody>
      </p:sp>
      <p:sp>
        <p:nvSpPr>
          <p:cNvPr id="11" name="Shape 9"/>
          <p:cNvSpPr/>
          <p:nvPr/>
        </p:nvSpPr>
        <p:spPr>
          <a:xfrm>
            <a:off x="5074920" y="3273552"/>
            <a:ext cx="118872" cy="118872"/>
          </a:xfrm>
          <a:prstGeom prst="ellipse">
            <a:avLst/>
          </a:prstGeom>
          <a:solidFill>
            <a:srgbClr val="0B6E99"/>
          </a:solidFill>
          <a:ln w="12700">
            <a:solidFill>
              <a:srgbClr val="0B6E99"/>
            </a:solidFill>
            <a:prstDash val="solid"/>
          </a:ln>
        </p:spPr>
      </p:sp>
      <p:sp>
        <p:nvSpPr>
          <p:cNvPr id="12" name="Text 10"/>
          <p:cNvSpPr/>
          <p:nvPr/>
        </p:nvSpPr>
        <p:spPr>
          <a:xfrm>
            <a:off x="1024128" y="3108960"/>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Noto Sans Arabic" pitchFamily="34" charset="0"/>
                <a:ea typeface="Noto Sans Arabic" pitchFamily="34" charset="-122"/>
                <a:cs typeface="Noto Sans Arabic" pitchFamily="34" charset="-120"/>
              </a:rPr>
              <a:t>پایش روند بیماری به ارزیابی تکرارپذیر عملکرد حرکتی نیاز دارد.</a:t>
            </a:r>
            <a:endParaRPr lang="en-US" sz="1520" dirty="0"/>
          </a:p>
        </p:txBody>
      </p:sp>
      <p:sp>
        <p:nvSpPr>
          <p:cNvPr id="13" name="Shape 11"/>
          <p:cNvSpPr/>
          <p:nvPr/>
        </p:nvSpPr>
        <p:spPr>
          <a:xfrm>
            <a:off x="5074920" y="3931920"/>
            <a:ext cx="118872" cy="118872"/>
          </a:xfrm>
          <a:prstGeom prst="ellipse">
            <a:avLst/>
          </a:prstGeom>
          <a:solidFill>
            <a:srgbClr val="0B6E99"/>
          </a:solidFill>
          <a:ln w="12700">
            <a:solidFill>
              <a:srgbClr val="0B6E99"/>
            </a:solidFill>
            <a:prstDash val="solid"/>
          </a:ln>
        </p:spPr>
      </p:sp>
      <p:sp>
        <p:nvSpPr>
          <p:cNvPr id="14" name="Text 12"/>
          <p:cNvSpPr/>
          <p:nvPr/>
        </p:nvSpPr>
        <p:spPr>
          <a:xfrm>
            <a:off x="1024128" y="3767328"/>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Noto Sans Arabic" pitchFamily="34" charset="0"/>
                <a:ea typeface="Noto Sans Arabic" pitchFamily="34" charset="-122"/>
                <a:cs typeface="Noto Sans Arabic" pitchFamily="34" charset="-120"/>
              </a:rPr>
              <a:t>امتیازدهی NSAA تا حدی به مشاهده و قضاوت ارزیاب وابسته است.</a:t>
            </a:r>
            <a:endParaRPr lang="en-US" sz="1520" dirty="0"/>
          </a:p>
        </p:txBody>
      </p:sp>
      <p:sp>
        <p:nvSpPr>
          <p:cNvPr id="15" name="Shape 13"/>
          <p:cNvSpPr/>
          <p:nvPr/>
        </p:nvSpPr>
        <p:spPr>
          <a:xfrm>
            <a:off x="5074920" y="4590288"/>
            <a:ext cx="118872" cy="118872"/>
          </a:xfrm>
          <a:prstGeom prst="ellipse">
            <a:avLst/>
          </a:prstGeom>
          <a:solidFill>
            <a:srgbClr val="2F855A"/>
          </a:solidFill>
          <a:ln w="12700">
            <a:solidFill>
              <a:srgbClr val="2F855A"/>
            </a:solidFill>
            <a:prstDash val="solid"/>
          </a:ln>
        </p:spPr>
      </p:sp>
      <p:sp>
        <p:nvSpPr>
          <p:cNvPr id="16" name="Text 14"/>
          <p:cNvSpPr/>
          <p:nvPr/>
        </p:nvSpPr>
        <p:spPr>
          <a:xfrm>
            <a:off x="1024128" y="4425696"/>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Noto Sans Arabic" pitchFamily="34" charset="0"/>
                <a:ea typeface="Noto Sans Arabic" pitchFamily="34" charset="-122"/>
                <a:cs typeface="Noto Sans Arabic" pitchFamily="34" charset="-120"/>
              </a:rPr>
              <a:t>داده‌های IMU امکان ثبت کمی شتاب و سرعت زاویه‌ای را فراهم می‌کنند.</a:t>
            </a:r>
            <a:endParaRPr lang="en-US" sz="1520" dirty="0"/>
          </a:p>
        </p:txBody>
      </p:sp>
      <p:sp>
        <p:nvSpPr>
          <p:cNvPr id="17" name="Shape 15"/>
          <p:cNvSpPr/>
          <p:nvPr/>
        </p:nvSpPr>
        <p:spPr>
          <a:xfrm>
            <a:off x="5989320" y="1508760"/>
            <a:ext cx="5532120" cy="3931920"/>
          </a:xfrm>
          <a:prstGeom prst="roundRect">
            <a:avLst>
              <a:gd name="adj" fmla="val 1860"/>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18" name="Shape 16"/>
          <p:cNvSpPr/>
          <p:nvPr/>
        </p:nvSpPr>
        <p:spPr>
          <a:xfrm>
            <a:off x="8942832" y="1755648"/>
            <a:ext cx="2240280" cy="347472"/>
          </a:xfrm>
          <a:prstGeom prst="roundRect">
            <a:avLst>
              <a:gd name="adj" fmla="val 47368"/>
            </a:avLst>
          </a:prstGeom>
          <a:solidFill>
            <a:srgbClr val="E7F4F8"/>
          </a:solidFill>
          <a:ln w="12700">
            <a:solidFill>
              <a:srgbClr val="E7F4F8"/>
            </a:solidFill>
            <a:prstDash val="solid"/>
          </a:ln>
        </p:spPr>
      </p:sp>
      <p:sp>
        <p:nvSpPr>
          <p:cNvPr id="19" name="Text 17"/>
          <p:cNvSpPr/>
          <p:nvPr/>
        </p:nvSpPr>
        <p:spPr>
          <a:xfrm>
            <a:off x="9052560" y="1773936"/>
            <a:ext cx="202082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Noto Sans Arabic" pitchFamily="34" charset="0"/>
                <a:ea typeface="Noto Sans Arabic" pitchFamily="34" charset="-122"/>
                <a:cs typeface="Noto Sans Arabic" pitchFamily="34" charset="-120"/>
              </a:rPr>
              <a:t>مرجع ارزیابی: NSAA</a:t>
            </a:r>
            <a:endParaRPr lang="en-US" sz="1320" dirty="0"/>
          </a:p>
        </p:txBody>
      </p:sp>
      <p:sp>
        <p:nvSpPr>
          <p:cNvPr id="20" name="Text 18"/>
          <p:cNvSpPr/>
          <p:nvPr/>
        </p:nvSpPr>
        <p:spPr>
          <a:xfrm>
            <a:off x="6446520" y="2267712"/>
            <a:ext cx="4663440" cy="411480"/>
          </a:xfrm>
          <a:prstGeom prst="rect">
            <a:avLst/>
          </a:prstGeom>
          <a:noFill/>
          <a:ln/>
        </p:spPr>
        <p:txBody>
          <a:bodyPr wrap="square" lIns="0" tIns="0" rIns="0" bIns="0" rtlCol="0" anchor="ctr">
            <a:normAutofit/>
          </a:bodyPr>
          <a:lstStyle/>
          <a:p>
            <a:pPr marL="0" indent="0" algn="ctr" rtl="1">
              <a:buNone/>
            </a:pPr>
            <a:r>
              <a:rPr lang="en-US" sz="1650" b="1" dirty="0">
                <a:solidFill>
                  <a:srgbClr val="102A43"/>
                </a:solidFill>
                <a:latin typeface="Noto Sans Arabic" pitchFamily="34" charset="0"/>
                <a:ea typeface="Noto Sans Arabic" pitchFamily="34" charset="-122"/>
                <a:cs typeface="Noto Sans Arabic" pitchFamily="34" charset="-120"/>
              </a:rPr>
              <a:t>هر فعالیت با یک نمره گسسته ارزیابی می‌شود</a:t>
            </a:r>
            <a:endParaRPr lang="en-US" sz="1650" dirty="0"/>
          </a:p>
        </p:txBody>
      </p:sp>
      <p:sp>
        <p:nvSpPr>
          <p:cNvPr id="21" name="Shape 19"/>
          <p:cNvSpPr/>
          <p:nvPr/>
        </p:nvSpPr>
        <p:spPr>
          <a:xfrm>
            <a:off x="6492240" y="2816352"/>
            <a:ext cx="4498848" cy="658368"/>
          </a:xfrm>
          <a:prstGeom prst="roundRect">
            <a:avLst>
              <a:gd name="adj" fmla="val 11111"/>
            </a:avLst>
          </a:prstGeom>
          <a:solidFill>
            <a:srgbClr val="E8F5EE"/>
          </a:solidFill>
          <a:ln w="15240">
            <a:solidFill>
              <a:srgbClr val="2F855A"/>
            </a:solidFill>
            <a:prstDash val="solid"/>
          </a:ln>
        </p:spPr>
      </p:sp>
      <p:sp>
        <p:nvSpPr>
          <p:cNvPr id="22" name="Shape 20"/>
          <p:cNvSpPr/>
          <p:nvPr/>
        </p:nvSpPr>
        <p:spPr>
          <a:xfrm>
            <a:off x="10314432" y="2907792"/>
            <a:ext cx="457200" cy="457200"/>
          </a:xfrm>
          <a:prstGeom prst="ellipse">
            <a:avLst/>
          </a:prstGeom>
          <a:solidFill>
            <a:srgbClr val="2F855A"/>
          </a:solidFill>
          <a:ln w="12700">
            <a:solidFill>
              <a:srgbClr val="2F855A"/>
            </a:solidFill>
            <a:prstDash val="solid"/>
          </a:ln>
        </p:spPr>
      </p:sp>
      <p:sp>
        <p:nvSpPr>
          <p:cNvPr id="23" name="Text 21"/>
          <p:cNvSpPr/>
          <p:nvPr/>
        </p:nvSpPr>
        <p:spPr>
          <a:xfrm>
            <a:off x="10314432" y="2907792"/>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Noto Sans Arabic" pitchFamily="34" charset="0"/>
                <a:ea typeface="Noto Sans Arabic" pitchFamily="34" charset="-122"/>
                <a:cs typeface="Noto Sans Arabic" pitchFamily="34" charset="-120"/>
              </a:rPr>
              <a:t>۲</a:t>
            </a:r>
            <a:endParaRPr lang="en-US" sz="1900" dirty="0"/>
          </a:p>
        </p:txBody>
      </p:sp>
      <p:sp>
        <p:nvSpPr>
          <p:cNvPr id="24" name="Text 22"/>
          <p:cNvSpPr/>
          <p:nvPr/>
        </p:nvSpPr>
        <p:spPr>
          <a:xfrm>
            <a:off x="7360920" y="2880360"/>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Noto Sans Arabic" pitchFamily="34" charset="0"/>
                <a:ea typeface="Noto Sans Arabic" pitchFamily="34" charset="-122"/>
                <a:cs typeface="Noto Sans Arabic" pitchFamily="34" charset="-120"/>
              </a:rPr>
              <a:t>اجرای طبیعی و مستقل</a:t>
            </a:r>
            <a:endParaRPr lang="en-US" sz="1420" dirty="0"/>
          </a:p>
        </p:txBody>
      </p:sp>
      <p:sp>
        <p:nvSpPr>
          <p:cNvPr id="25" name="Text 23"/>
          <p:cNvSpPr/>
          <p:nvPr/>
        </p:nvSpPr>
        <p:spPr>
          <a:xfrm>
            <a:off x="6711696" y="3145536"/>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بدون الگوی جبرانی</a:t>
            </a:r>
            <a:endParaRPr lang="en-US" sz="1120" dirty="0"/>
          </a:p>
        </p:txBody>
      </p:sp>
      <p:sp>
        <p:nvSpPr>
          <p:cNvPr id="26" name="Shape 24"/>
          <p:cNvSpPr/>
          <p:nvPr/>
        </p:nvSpPr>
        <p:spPr>
          <a:xfrm>
            <a:off x="6492240" y="3657600"/>
            <a:ext cx="4498848" cy="658368"/>
          </a:xfrm>
          <a:prstGeom prst="roundRect">
            <a:avLst>
              <a:gd name="adj" fmla="val 11111"/>
            </a:avLst>
          </a:prstGeom>
          <a:solidFill>
            <a:srgbClr val="FFF5D8"/>
          </a:solidFill>
          <a:ln w="15240">
            <a:solidFill>
              <a:srgbClr val="E69F00"/>
            </a:solidFill>
            <a:prstDash val="solid"/>
          </a:ln>
        </p:spPr>
      </p:sp>
      <p:sp>
        <p:nvSpPr>
          <p:cNvPr id="27" name="Shape 25"/>
          <p:cNvSpPr/>
          <p:nvPr/>
        </p:nvSpPr>
        <p:spPr>
          <a:xfrm>
            <a:off x="10314432" y="3749040"/>
            <a:ext cx="457200" cy="457200"/>
          </a:xfrm>
          <a:prstGeom prst="ellipse">
            <a:avLst/>
          </a:prstGeom>
          <a:solidFill>
            <a:srgbClr val="E69F00"/>
          </a:solidFill>
          <a:ln w="12700">
            <a:solidFill>
              <a:srgbClr val="E69F00"/>
            </a:solidFill>
            <a:prstDash val="solid"/>
          </a:ln>
        </p:spPr>
      </p:sp>
      <p:sp>
        <p:nvSpPr>
          <p:cNvPr id="28" name="Text 26"/>
          <p:cNvSpPr/>
          <p:nvPr/>
        </p:nvSpPr>
        <p:spPr>
          <a:xfrm>
            <a:off x="10314432" y="3749040"/>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Noto Sans Arabic" pitchFamily="34" charset="0"/>
                <a:ea typeface="Noto Sans Arabic" pitchFamily="34" charset="-122"/>
                <a:cs typeface="Noto Sans Arabic" pitchFamily="34" charset="-120"/>
              </a:rPr>
              <a:t>۱</a:t>
            </a:r>
            <a:endParaRPr lang="en-US" sz="1900" dirty="0"/>
          </a:p>
        </p:txBody>
      </p:sp>
      <p:sp>
        <p:nvSpPr>
          <p:cNvPr id="29" name="Text 27"/>
          <p:cNvSpPr/>
          <p:nvPr/>
        </p:nvSpPr>
        <p:spPr>
          <a:xfrm>
            <a:off x="7360920" y="3721608"/>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Noto Sans Arabic" pitchFamily="34" charset="0"/>
                <a:ea typeface="Noto Sans Arabic" pitchFamily="34" charset="-122"/>
                <a:cs typeface="Noto Sans Arabic" pitchFamily="34" charset="-120"/>
              </a:rPr>
              <a:t>اجرای مستقل با جبران</a:t>
            </a:r>
            <a:endParaRPr lang="en-US" sz="1420" dirty="0"/>
          </a:p>
        </p:txBody>
      </p:sp>
      <p:sp>
        <p:nvSpPr>
          <p:cNvPr id="30" name="Text 28"/>
          <p:cNvSpPr/>
          <p:nvPr/>
        </p:nvSpPr>
        <p:spPr>
          <a:xfrm>
            <a:off x="6711696" y="3986784"/>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تغییر الگوی حرکت یا استفاده جبرانی</a:t>
            </a:r>
            <a:endParaRPr lang="en-US" sz="1120" dirty="0"/>
          </a:p>
        </p:txBody>
      </p:sp>
      <p:sp>
        <p:nvSpPr>
          <p:cNvPr id="31" name="Shape 29"/>
          <p:cNvSpPr/>
          <p:nvPr/>
        </p:nvSpPr>
        <p:spPr>
          <a:xfrm>
            <a:off x="6492240" y="4498848"/>
            <a:ext cx="4498848" cy="658368"/>
          </a:xfrm>
          <a:prstGeom prst="roundRect">
            <a:avLst>
              <a:gd name="adj" fmla="val 11111"/>
            </a:avLst>
          </a:prstGeom>
          <a:solidFill>
            <a:srgbClr val="FDECEA"/>
          </a:solidFill>
          <a:ln w="15240">
            <a:solidFill>
              <a:srgbClr val="C0392B"/>
            </a:solidFill>
            <a:prstDash val="solid"/>
          </a:ln>
        </p:spPr>
      </p:sp>
      <p:sp>
        <p:nvSpPr>
          <p:cNvPr id="32" name="Shape 30"/>
          <p:cNvSpPr/>
          <p:nvPr/>
        </p:nvSpPr>
        <p:spPr>
          <a:xfrm>
            <a:off x="10314432" y="4590288"/>
            <a:ext cx="457200" cy="457200"/>
          </a:xfrm>
          <a:prstGeom prst="ellipse">
            <a:avLst/>
          </a:prstGeom>
          <a:solidFill>
            <a:srgbClr val="C0392B"/>
          </a:solidFill>
          <a:ln w="12700">
            <a:solidFill>
              <a:srgbClr val="C0392B"/>
            </a:solidFill>
            <a:prstDash val="solid"/>
          </a:ln>
        </p:spPr>
      </p:sp>
      <p:sp>
        <p:nvSpPr>
          <p:cNvPr id="33" name="Text 31"/>
          <p:cNvSpPr/>
          <p:nvPr/>
        </p:nvSpPr>
        <p:spPr>
          <a:xfrm>
            <a:off x="10314432" y="4590288"/>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Noto Sans Arabic" pitchFamily="34" charset="0"/>
                <a:ea typeface="Noto Sans Arabic" pitchFamily="34" charset="-122"/>
                <a:cs typeface="Noto Sans Arabic" pitchFamily="34" charset="-120"/>
              </a:rPr>
              <a:t>۰</a:t>
            </a:r>
            <a:endParaRPr lang="en-US" sz="1900" dirty="0"/>
          </a:p>
        </p:txBody>
      </p:sp>
      <p:sp>
        <p:nvSpPr>
          <p:cNvPr id="34" name="Text 32"/>
          <p:cNvSpPr/>
          <p:nvPr/>
        </p:nvSpPr>
        <p:spPr>
          <a:xfrm>
            <a:off x="7360920" y="4562856"/>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Noto Sans Arabic" pitchFamily="34" charset="0"/>
                <a:ea typeface="Noto Sans Arabic" pitchFamily="34" charset="-122"/>
                <a:cs typeface="Noto Sans Arabic" pitchFamily="34" charset="-120"/>
              </a:rPr>
              <a:t>ناتوانی در اجرای مستقل</a:t>
            </a:r>
            <a:endParaRPr lang="en-US" sz="1420" dirty="0"/>
          </a:p>
        </p:txBody>
      </p:sp>
      <p:sp>
        <p:nvSpPr>
          <p:cNvPr id="35" name="Text 33"/>
          <p:cNvSpPr/>
          <p:nvPr/>
        </p:nvSpPr>
        <p:spPr>
          <a:xfrm>
            <a:off x="6711696" y="4828032"/>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فعالیت به‌طور مستقل کامل نمی‌شود</a:t>
            </a:r>
            <a:endParaRPr lang="en-US" sz="1120" dirty="0"/>
          </a:p>
        </p:txBody>
      </p:sp>
      <p:sp>
        <p:nvSpPr>
          <p:cNvPr id="36" name="Shape 34"/>
          <p:cNvSpPr/>
          <p:nvPr/>
        </p:nvSpPr>
        <p:spPr>
          <a:xfrm>
            <a:off x="1874520" y="5577840"/>
            <a:ext cx="8458200" cy="530352"/>
          </a:xfrm>
          <a:prstGeom prst="roundRect">
            <a:avLst>
              <a:gd name="adj" fmla="val 20690"/>
            </a:avLst>
          </a:prstGeom>
          <a:solidFill>
            <a:srgbClr val="102A43"/>
          </a:solidFill>
          <a:ln w="12700">
            <a:solidFill>
              <a:srgbClr val="102A43"/>
            </a:solidFill>
            <a:prstDash val="solid"/>
          </a:ln>
        </p:spPr>
      </p:sp>
      <p:sp>
        <p:nvSpPr>
          <p:cNvPr id="37" name="Text 35"/>
          <p:cNvSpPr/>
          <p:nvPr/>
        </p:nvSpPr>
        <p:spPr>
          <a:xfrm>
            <a:off x="2103120" y="5650992"/>
            <a:ext cx="8001000" cy="329184"/>
          </a:xfrm>
          <a:prstGeom prst="rect">
            <a:avLst/>
          </a:prstGeom>
          <a:noFill/>
          <a:ln/>
        </p:spPr>
        <p:txBody>
          <a:bodyPr wrap="square" lIns="0" tIns="0" rIns="0" bIns="0" rtlCol="0" anchor="ctr">
            <a:normAutofit/>
          </a:bodyPr>
          <a:lstStyle/>
          <a:p>
            <a:pPr marL="0" indent="0" algn="ctr" rtl="1">
              <a:buNone/>
            </a:pPr>
            <a:r>
              <a:rPr lang="en-US" sz="1720" b="1" dirty="0">
                <a:solidFill>
                  <a:srgbClr val="FFFFFF"/>
                </a:solidFill>
                <a:latin typeface="Noto Sans Arabic" pitchFamily="34" charset="0"/>
                <a:ea typeface="Noto Sans Arabic" pitchFamily="34" charset="-122"/>
                <a:cs typeface="Noto Sans Arabic" pitchFamily="34" charset="-120"/>
              </a:rPr>
              <a:t>پرسش اصلی: آیا می‌توان سطوح عملکردی تعریف‌شده را از داده‌های حسگرهای اینرسیایی تفکیک کرد؟</a:t>
            </a:r>
            <a:endParaRPr lang="en-US" sz="1720" dirty="0"/>
          </a:p>
        </p:txBody>
      </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0" name="Text 38"/>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۲ از ۶: مقدمه و تعریف مسئله | ۱۲ اسلاید تا پایان</a:t>
            </a:r>
            <a:endParaRPr lang="en-US" sz="920" dirty="0"/>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۲ / ۱۴</a:t>
            </a:r>
            <a:endParaRPr lang="en-US" sz="1020" dirty="0"/>
          </a:p>
        </p:txBody>
      </p:sp>
      <p:sp>
        <p:nvSpPr>
          <p:cNvPr id="42" name="Shape 40"/>
          <p:cNvSpPr/>
          <p:nvPr/>
        </p:nvSpPr>
        <p:spPr>
          <a:xfrm>
            <a:off x="2560320" y="6766560"/>
            <a:ext cx="940526" cy="41148"/>
          </a:xfrm>
          <a:prstGeom prst="rect">
            <a:avLst/>
          </a:prstGeom>
          <a:solidFill>
            <a:srgbClr val="0B6E99"/>
          </a:solidFill>
          <a:ln w="12700">
            <a:solidFill>
              <a:srgbClr val="0B6E99"/>
            </a:solidFill>
            <a:prstDash val="solid"/>
          </a:ln>
        </p:spPr>
      </p:sp>
      <p:sp>
        <p:nvSpPr>
          <p:cNvPr id="43" name="Shape 41"/>
          <p:cNvSpPr/>
          <p:nvPr/>
        </p:nvSpPr>
        <p:spPr>
          <a:xfrm>
            <a:off x="3500846" y="6766560"/>
            <a:ext cx="5643154"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400" fill="hold"/>
                            <p:tgtEl>
                              <p:spTgt spid="7"/>
                            </p:tgtEl>
                          </p:cBhvr>
                        </p:animEffect>
                        <p:animEffect transition="in" filter="fade">
                          <p:cBhvr>
                            <p:cTn id="5" dur="400" fill="hold"/>
                            <p:tgtEl>
                              <p:spTgt spid="8"/>
                            </p:tgtEl>
                          </p:cBhvr>
                        </p:animEffect>
                        <p:animEffect transition="in" filter="fade">
                          <p:cBhvr>
                            <p:cTn id="6" dur="400" fill="hold"/>
                            <p:tgtEl>
                              <p:spTgt spid="9"/>
                            </p:tgtEl>
                          </p:cBhvr>
                        </p:animEffect>
                        <p:animEffect transition="in" filter="fade">
                          <p:cBhvr>
                            <p:cTn id="7" dur="400" fill="hold"/>
                            <p:tgtEl>
                              <p:spTgt spid="10"/>
                            </p:tgtEl>
                          </p:cBhvr>
                        </p:animEffect>
                        <p:animEffect transition="in" filter="fade">
                          <p:cBhvr>
                            <p:cTn id="8" dur="400" fill="hold"/>
                            <p:tgtEl>
                              <p:spTgt spid="11"/>
                            </p:tgtEl>
                          </p:cBhvr>
                        </p:animEffect>
                        <p:animEffect transition="in" filter="fade">
                          <p:cBhvr>
                            <p:cTn id="9" dur="400" fill="hold"/>
                            <p:tgtEl>
                              <p:spTgt spid="12"/>
                            </p:tgtEl>
                          </p:cBhvr>
                        </p:animEffect>
                        <p:animEffect transition="in" filter="fade">
                          <p:cBhvr>
                            <p:cTn id="10" dur="400" fill="hold"/>
                            <p:tgtEl>
                              <p:spTgt spid="13"/>
                            </p:tgtEl>
                          </p:cBhvr>
                        </p:animEffect>
                        <p:animEffect transition="in" filter="fade">
                          <p:cBhvr>
                            <p:cTn id="11" dur="400" fill="hold"/>
                            <p:tgtEl>
                              <p:spTgt spid="14"/>
                            </p:tgtEl>
                          </p:cBhvr>
                        </p:animEffect>
                        <p:animEffect transition="in" filter="fade">
                          <p:cBhvr>
                            <p:cTn id="12" dur="400" fill="hold"/>
                            <p:tgtEl>
                              <p:spTgt spid="15"/>
                            </p:tgtEl>
                          </p:cBhvr>
                        </p:animEffect>
                        <p:animEffect transition="in" filter="fade">
                          <p:cBhvr>
                            <p:cTn id="13" dur="400" fill="hold"/>
                            <p:tgtEl>
                              <p:spTgt spid="16"/>
                            </p:tgtEl>
                          </p:cBhvr>
                        </p:animEffect>
                      </p:childTnLst>
                    </p:cTn>
                  </p:par>
                  <p:par>
                    <p:cTn id="14" fill="hold">
                      <p:stCondLst>
                        <p:cond delay="0"/>
                      </p:stCondLst>
                      <p:childTnLst>
                        <p:animEffect transition="in" filter="fade">
                          <p:cBhvr>
                            <p:cTn id="15" dur="400" fill="hold"/>
                            <p:tgtEl>
                              <p:spTgt spid="17"/>
                            </p:tgtEl>
                          </p:cBhvr>
                        </p:animEffect>
                        <p:animEffect transition="in" filter="fade">
                          <p:cBhvr>
                            <p:cTn id="16" dur="400" fill="hold"/>
                            <p:tgtEl>
                              <p:spTgt spid="18"/>
                            </p:tgtEl>
                          </p:cBhvr>
                        </p:animEffect>
                        <p:animEffect transition="in" filter="fade">
                          <p:cBhvr>
                            <p:cTn id="17" dur="400" fill="hold"/>
                            <p:tgtEl>
                              <p:spTgt spid="19"/>
                            </p:tgtEl>
                          </p:cBhvr>
                        </p:animEffect>
                        <p:animEffect transition="in" filter="fade">
                          <p:cBhvr>
                            <p:cTn id="18" dur="400" fill="hold"/>
                            <p:tgtEl>
                              <p:spTgt spid="20"/>
                            </p:tgtEl>
                          </p:cBhvr>
                        </p:animEffect>
                      </p:childTnLst>
                    </p:cTn>
                  </p:par>
                  <p:par>
                    <p:cTn id="19" fill="hold">
                      <p:stCondLst>
                        <p:cond delay="0"/>
                      </p:stCondLst>
                      <p:childTnLst>
                        <p:animEffect transition="in" filter="zoom">
                          <p:cBhvr>
                            <p:cTn id="20" dur="450" fill="hold"/>
                            <p:tgtEl>
                              <p:spTgt spid="21"/>
                            </p:tgtEl>
                          </p:cBhvr>
                        </p:animEffect>
                        <p:animEffect transition="in" filter="zoom">
                          <p:cBhvr>
                            <p:cTn id="21" dur="450" fill="hold"/>
                            <p:tgtEl>
                              <p:spTgt spid="22"/>
                            </p:tgtEl>
                          </p:cBhvr>
                        </p:animEffect>
                        <p:animEffect transition="in" filter="zoom">
                          <p:cBhvr>
                            <p:cTn id="22" dur="450" fill="hold"/>
                            <p:tgtEl>
                              <p:spTgt spid="23"/>
                            </p:tgtEl>
                          </p:cBhvr>
                        </p:animEffect>
                        <p:animEffect transition="in" filter="zoom">
                          <p:cBhvr>
                            <p:cTn id="23" dur="450" fill="hold"/>
                            <p:tgtEl>
                              <p:spTgt spid="24"/>
                            </p:tgtEl>
                          </p:cBhvr>
                        </p:animEffect>
                        <p:animEffect transition="in" filter="zoom">
                          <p:cBhvr>
                            <p:cTn id="24" dur="450" fill="hold"/>
                            <p:tgtEl>
                              <p:spTgt spid="25"/>
                            </p:tgtEl>
                          </p:cBhvr>
                        </p:animEffect>
                      </p:childTnLst>
                    </p:cTn>
                  </p:par>
                  <p:par>
                    <p:cTn id="25" fill="hold">
                      <p:stCondLst>
                        <p:cond delay="0"/>
                      </p:stCondLst>
                      <p:childTnLst>
                        <p:animEffect transition="in" filter="zoom">
                          <p:cBhvr>
                            <p:cTn id="26" dur="450" fill="hold"/>
                            <p:tgtEl>
                              <p:spTgt spid="26"/>
                            </p:tgtEl>
                          </p:cBhvr>
                        </p:animEffect>
                        <p:animEffect transition="in" filter="zoom">
                          <p:cBhvr>
                            <p:cTn id="27" dur="450" fill="hold"/>
                            <p:tgtEl>
                              <p:spTgt spid="27"/>
                            </p:tgtEl>
                          </p:cBhvr>
                        </p:animEffect>
                        <p:animEffect transition="in" filter="zoom">
                          <p:cBhvr>
                            <p:cTn id="28" dur="450" fill="hold"/>
                            <p:tgtEl>
                              <p:spTgt spid="28"/>
                            </p:tgtEl>
                          </p:cBhvr>
                        </p:animEffect>
                        <p:animEffect transition="in" filter="zoom">
                          <p:cBhvr>
                            <p:cTn id="29" dur="450" fill="hold"/>
                            <p:tgtEl>
                              <p:spTgt spid="29"/>
                            </p:tgtEl>
                          </p:cBhvr>
                        </p:animEffect>
                        <p:animEffect transition="in" filter="zoom">
                          <p:cBhvr>
                            <p:cTn id="30" dur="450" fill="hold"/>
                            <p:tgtEl>
                              <p:spTgt spid="30"/>
                            </p:tgtEl>
                          </p:cBhvr>
                        </p:animEffect>
                      </p:childTnLst>
                    </p:cTn>
                  </p:par>
                  <p:par>
                    <p:cTn id="31" fill="hold">
                      <p:stCondLst>
                        <p:cond delay="0"/>
                      </p:stCondLst>
                      <p:childTnLst>
                        <p:animEffect transition="in" filter="zoom">
                          <p:cBhvr>
                            <p:cTn id="32" dur="450" fill="hold"/>
                            <p:tgtEl>
                              <p:spTgt spid="31"/>
                            </p:tgtEl>
                          </p:cBhvr>
                        </p:animEffect>
                        <p:animEffect transition="in" filter="zoom">
                          <p:cBhvr>
                            <p:cTn id="33" dur="450" fill="hold"/>
                            <p:tgtEl>
                              <p:spTgt spid="32"/>
                            </p:tgtEl>
                          </p:cBhvr>
                        </p:animEffect>
                        <p:animEffect transition="in" filter="zoom">
                          <p:cBhvr>
                            <p:cTn id="34" dur="450" fill="hold"/>
                            <p:tgtEl>
                              <p:spTgt spid="33"/>
                            </p:tgtEl>
                          </p:cBhvr>
                        </p:animEffect>
                        <p:animEffect transition="in" filter="zoom">
                          <p:cBhvr>
                            <p:cTn id="35" dur="450" fill="hold"/>
                            <p:tgtEl>
                              <p:spTgt spid="34"/>
                            </p:tgtEl>
                          </p:cBhvr>
                        </p:animEffect>
                        <p:animEffect transition="in" filter="zoom">
                          <p:cBhvr>
                            <p:cTn id="36" dur="450" fill="hold"/>
                            <p:tgtEl>
                              <p:spTgt spid="35"/>
                            </p:tgtEl>
                          </p:cBhvr>
                        </p:animEffect>
                      </p:childTnLst>
                    </p:cTn>
                  </p:par>
                  <p:par>
                    <p:cTn id="37" fill="hold">
                      <p:stCondLst>
                        <p:cond delay="0"/>
                      </p:stCondLst>
                      <p:childTnLst>
                        <p:animEffect transition="in" filter="fade">
                          <p:cBhvr>
                            <p:cTn id="38" dur="500" fill="hold"/>
                            <p:tgtEl>
                              <p:spTgt spid="36"/>
                            </p:tgtEl>
                          </p:cBhvr>
                        </p:animEffect>
                        <p:animEffect transition="in" filter="fade">
                          <p:cBhvr>
                            <p:cTn id="39" dur="500" fill="hold"/>
                            <p:tgtEl>
                              <p:spTgt spid="37"/>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تعریف پروژه</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دامنه و دستاوردهای پروژه</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۳ / ۱۴</a:t>
            </a:r>
            <a:endParaRPr lang="en-US" sz="1080" dirty="0"/>
          </a:p>
        </p:txBody>
      </p:sp>
      <p:sp>
        <p:nvSpPr>
          <p:cNvPr id="7" name="Text 5"/>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Noto Sans Arabic" pitchFamily="34" charset="0"/>
                <a:ea typeface="Noto Sans Arabic" pitchFamily="34" charset="-122"/>
                <a:cs typeface="Noto Sans Arabic" pitchFamily="34" charset="-120"/>
              </a:rPr>
              <a:t>از ۱۷ فعالیت NSAA، پنج فعالیت با ماهیت حرکتی متفاوت انتخاب شد</a:t>
            </a:r>
            <a:endParaRPr lang="en-US" sz="1900" dirty="0"/>
          </a:p>
        </p:txBody>
      </p:sp>
      <p:sp>
        <p:nvSpPr>
          <p:cNvPr id="8" name="Shape 6"/>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1389888" y="3182112"/>
            <a:ext cx="658368" cy="658368"/>
          </a:xfrm>
          <a:prstGeom prst="ellipse">
            <a:avLst/>
          </a:prstGeom>
          <a:solidFill>
            <a:srgbClr val="0B6E99"/>
          </a:solidFill>
          <a:ln w="12700">
            <a:solidFill>
              <a:srgbClr val="0B6E99"/>
            </a:solidFill>
            <a:prstDash val="solid"/>
          </a:ln>
        </p:spPr>
      </p:sp>
      <p:sp>
        <p:nvSpPr>
          <p:cNvPr id="10" name="Text 8"/>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11" name="Text 9"/>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ایستادن</a:t>
            </a:r>
            <a:endParaRPr lang="en-US" sz="1700" dirty="0"/>
          </a:p>
        </p:txBody>
      </p:sp>
      <p:sp>
        <p:nvSpPr>
          <p:cNvPr id="12" name="Text 10"/>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Noto Sans Arabic" pitchFamily="34" charset="0"/>
                <a:ea typeface="Noto Sans Arabic" pitchFamily="34" charset="-122"/>
                <a:cs typeface="Noto Sans Arabic" pitchFamily="34" charset="-120"/>
              </a:rPr>
              <a:t>تعادل و نوسان کم‌دامنه</a:t>
            </a:r>
            <a:endParaRPr lang="en-US" sz="1150" dirty="0"/>
          </a:p>
        </p:txBody>
      </p:sp>
      <p:sp>
        <p:nvSpPr>
          <p:cNvPr id="13" name="Shape 11"/>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4" name="Shape 12"/>
          <p:cNvSpPr/>
          <p:nvPr/>
        </p:nvSpPr>
        <p:spPr>
          <a:xfrm>
            <a:off x="3657600" y="3182112"/>
            <a:ext cx="658368" cy="658368"/>
          </a:xfrm>
          <a:prstGeom prst="ellipse">
            <a:avLst/>
          </a:prstGeom>
          <a:solidFill>
            <a:srgbClr val="0B7A75"/>
          </a:solidFill>
          <a:ln w="12700">
            <a:solidFill>
              <a:srgbClr val="0B7A75"/>
            </a:solidFill>
            <a:prstDash val="solid"/>
          </a:ln>
        </p:spPr>
      </p:sp>
      <p:sp>
        <p:nvSpPr>
          <p:cNvPr id="15" name="Text 13"/>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6" name="Text 14"/>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برخاستن از صندلی</a:t>
            </a:r>
            <a:endParaRPr lang="en-US" sz="1700" dirty="0"/>
          </a:p>
        </p:txBody>
      </p:sp>
      <p:sp>
        <p:nvSpPr>
          <p:cNvPr id="17" name="Text 15"/>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Noto Sans Arabic" pitchFamily="34" charset="0"/>
                <a:ea typeface="Noto Sans Arabic" pitchFamily="34" charset="-122"/>
                <a:cs typeface="Noto Sans Arabic" pitchFamily="34" charset="-120"/>
              </a:rPr>
              <a:t>هماهنگی تنه، دست و پا</a:t>
            </a:r>
            <a:endParaRPr lang="en-US" sz="1150" dirty="0"/>
          </a:p>
        </p:txBody>
      </p:sp>
      <p:sp>
        <p:nvSpPr>
          <p:cNvPr id="18" name="Shape 16"/>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9" name="Shape 17"/>
          <p:cNvSpPr/>
          <p:nvPr/>
        </p:nvSpPr>
        <p:spPr>
          <a:xfrm>
            <a:off x="5925312" y="3182112"/>
            <a:ext cx="658368" cy="658368"/>
          </a:xfrm>
          <a:prstGeom prst="ellipse">
            <a:avLst/>
          </a:prstGeom>
          <a:solidFill>
            <a:srgbClr val="E69F00"/>
          </a:solidFill>
          <a:ln w="12700">
            <a:solidFill>
              <a:srgbClr val="E69F00"/>
            </a:solidFill>
            <a:prstDash val="solid"/>
          </a:ln>
        </p:spPr>
      </p:sp>
      <p:sp>
        <p:nvSpPr>
          <p:cNvPr id="20" name="Text 18"/>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پریدن</a:t>
            </a:r>
            <a:endParaRPr lang="en-US" sz="1700" dirty="0"/>
          </a:p>
        </p:txBody>
      </p:sp>
      <p:sp>
        <p:nvSpPr>
          <p:cNvPr id="22" name="Text 20"/>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Noto Sans Arabic" pitchFamily="34" charset="0"/>
                <a:ea typeface="Noto Sans Arabic" pitchFamily="34" charset="-122"/>
                <a:cs typeface="Noto Sans Arabic" pitchFamily="34" charset="-120"/>
              </a:rPr>
              <a:t>حرکت سریع و انفجاری</a:t>
            </a:r>
            <a:endParaRPr lang="en-US" sz="1150" dirty="0"/>
          </a:p>
        </p:txBody>
      </p:sp>
      <p:sp>
        <p:nvSpPr>
          <p:cNvPr id="23" name="Shape 21"/>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4" name="Shape 22"/>
          <p:cNvSpPr/>
          <p:nvPr/>
        </p:nvSpPr>
        <p:spPr>
          <a:xfrm>
            <a:off x="8193024" y="3182112"/>
            <a:ext cx="658368" cy="658368"/>
          </a:xfrm>
          <a:prstGeom prst="ellipse">
            <a:avLst/>
          </a:prstGeom>
          <a:solidFill>
            <a:srgbClr val="2F855A"/>
          </a:solidFill>
          <a:ln w="12700">
            <a:solidFill>
              <a:srgbClr val="2F855A"/>
            </a:solidFill>
            <a:prstDash val="solid"/>
          </a:ln>
        </p:spPr>
      </p:sp>
      <p:sp>
        <p:nvSpPr>
          <p:cNvPr id="25" name="Text 23"/>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6" name="Text 24"/>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بالا آوردن سر</a:t>
            </a:r>
            <a:endParaRPr lang="en-US" sz="1700" dirty="0"/>
          </a:p>
        </p:txBody>
      </p:sp>
      <p:sp>
        <p:nvSpPr>
          <p:cNvPr id="27" name="Text 25"/>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Noto Sans Arabic" pitchFamily="34" charset="0"/>
                <a:ea typeface="Noto Sans Arabic" pitchFamily="34" charset="-122"/>
                <a:cs typeface="Noto Sans Arabic" pitchFamily="34" charset="-120"/>
              </a:rPr>
              <a:t>حرکت ضدجاذبه گردن</a:t>
            </a:r>
            <a:endParaRPr lang="en-US" sz="1150" dirty="0"/>
          </a:p>
        </p:txBody>
      </p:sp>
      <p:sp>
        <p:nvSpPr>
          <p:cNvPr id="28" name="Shape 26"/>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9" name="Shape 27"/>
          <p:cNvSpPr/>
          <p:nvPr/>
        </p:nvSpPr>
        <p:spPr>
          <a:xfrm>
            <a:off x="10460736" y="3182112"/>
            <a:ext cx="658368" cy="658368"/>
          </a:xfrm>
          <a:prstGeom prst="ellipse">
            <a:avLst/>
          </a:prstGeom>
          <a:solidFill>
            <a:srgbClr val="C0392B"/>
          </a:solidFill>
          <a:ln w="12700">
            <a:solidFill>
              <a:srgbClr val="C0392B"/>
            </a:solidFill>
            <a:prstDash val="solid"/>
          </a:ln>
        </p:spPr>
      </p:sp>
      <p:sp>
        <p:nvSpPr>
          <p:cNvPr id="30" name="Text 28"/>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1" name="Text 29"/>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بالا رفتن از جعبه</a:t>
            </a:r>
            <a:endParaRPr lang="en-US" sz="1700" dirty="0"/>
          </a:p>
        </p:txBody>
      </p:sp>
      <p:sp>
        <p:nvSpPr>
          <p:cNvPr id="32" name="Text 30"/>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Noto Sans Arabic" pitchFamily="34" charset="0"/>
                <a:ea typeface="Noto Sans Arabic" pitchFamily="34" charset="-122"/>
                <a:cs typeface="Noto Sans Arabic" pitchFamily="34" charset="-120"/>
              </a:rPr>
              <a:t>انتقال وزن و تعادل</a:t>
            </a:r>
            <a:endParaRPr lang="en-US" sz="1150" dirty="0"/>
          </a:p>
        </p:txBody>
      </p:sp>
      <p:sp>
        <p:nvSpPr>
          <p:cNvPr id="33" name="Shape 31"/>
          <p:cNvSpPr/>
          <p:nvPr/>
        </p:nvSpPr>
        <p:spPr>
          <a:xfrm>
            <a:off x="713232" y="5303520"/>
            <a:ext cx="10771632" cy="859536"/>
          </a:xfrm>
          <a:prstGeom prst="roundRect">
            <a:avLst>
              <a:gd name="adj" fmla="val 8511"/>
            </a:avLst>
          </a:prstGeom>
          <a:solidFill>
            <a:srgbClr val="102A43"/>
          </a:solidFill>
          <a:ln w="12700">
            <a:solidFill>
              <a:srgbClr val="102A43"/>
            </a:solidFill>
            <a:prstDash val="solid"/>
          </a:ln>
        </p:spPr>
      </p:sp>
      <p:sp>
        <p:nvSpPr>
          <p:cNvPr id="34" name="Shape 32"/>
          <p:cNvSpPr/>
          <p:nvPr/>
        </p:nvSpPr>
        <p:spPr>
          <a:xfrm>
            <a:off x="3703320" y="5504688"/>
            <a:ext cx="438912" cy="438912"/>
          </a:xfrm>
          <a:prstGeom prst="ellipse">
            <a:avLst/>
          </a:prstGeom>
          <a:solidFill>
            <a:srgbClr val="1D8AB5"/>
          </a:solidFill>
          <a:ln w="12700">
            <a:solidFill>
              <a:srgbClr val="1D8AB5"/>
            </a:solidFill>
            <a:prstDash val="solid"/>
          </a:ln>
        </p:spPr>
      </p:sp>
      <p:sp>
        <p:nvSpPr>
          <p:cNvPr id="35" name="Text 33"/>
          <p:cNvSpPr/>
          <p:nvPr/>
        </p:nvSpPr>
        <p:spPr>
          <a:xfrm>
            <a:off x="3703320"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36" name="Text 34"/>
          <p:cNvSpPr/>
          <p:nvPr/>
        </p:nvSpPr>
        <p:spPr>
          <a:xfrm>
            <a:off x="868680"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Noto Sans Arabic" pitchFamily="34" charset="0"/>
                <a:ea typeface="Noto Sans Arabic" pitchFamily="34" charset="-122"/>
                <a:cs typeface="Noto Sans Arabic" pitchFamily="34" charset="-120"/>
              </a:rPr>
              <a:t>سامانه پوشیدنی پنج‌حسگری</a:t>
            </a:r>
            <a:endParaRPr lang="en-US" sz="1350" dirty="0"/>
          </a:p>
        </p:txBody>
      </p:sp>
      <p:sp>
        <p:nvSpPr>
          <p:cNvPr id="37" name="Text 35"/>
          <p:cNvSpPr/>
          <p:nvPr/>
        </p:nvSpPr>
        <p:spPr>
          <a:xfrm>
            <a:off x="868680"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Noto Sans Arabic" pitchFamily="34" charset="0"/>
                <a:ea typeface="Noto Sans Arabic" pitchFamily="34" charset="-122"/>
                <a:cs typeface="Noto Sans Arabic" pitchFamily="34" charset="-120"/>
              </a:rPr>
              <a:t>ثبت هم‌زمان حرکات سر، دست‌ها و پاها</a:t>
            </a:r>
            <a:endParaRPr lang="en-US" sz="1050" dirty="0"/>
          </a:p>
        </p:txBody>
      </p:sp>
      <p:sp>
        <p:nvSpPr>
          <p:cNvPr id="38" name="Shape 36"/>
          <p:cNvSpPr/>
          <p:nvPr/>
        </p:nvSpPr>
        <p:spPr>
          <a:xfrm>
            <a:off x="7260336" y="5504688"/>
            <a:ext cx="438912" cy="438912"/>
          </a:xfrm>
          <a:prstGeom prst="ellipse">
            <a:avLst/>
          </a:prstGeom>
          <a:solidFill>
            <a:srgbClr val="1D8AB5"/>
          </a:solidFill>
          <a:ln w="12700">
            <a:solidFill>
              <a:srgbClr val="1D8AB5"/>
            </a:solidFill>
            <a:prstDash val="solid"/>
          </a:ln>
        </p:spPr>
      </p:sp>
      <p:sp>
        <p:nvSpPr>
          <p:cNvPr id="39" name="Text 37"/>
          <p:cNvSpPr/>
          <p:nvPr/>
        </p:nvSpPr>
        <p:spPr>
          <a:xfrm>
            <a:off x="7260336"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40" name="Text 38"/>
          <p:cNvSpPr/>
          <p:nvPr/>
        </p:nvSpPr>
        <p:spPr>
          <a:xfrm>
            <a:off x="4425696"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Noto Sans Arabic" pitchFamily="34" charset="0"/>
                <a:ea typeface="Noto Sans Arabic" pitchFamily="34" charset="-122"/>
                <a:cs typeface="Noto Sans Arabic" pitchFamily="34" charset="-120"/>
              </a:rPr>
              <a:t>زنجیره کامل پردازش</a:t>
            </a:r>
            <a:endParaRPr lang="en-US" sz="1350" dirty="0"/>
          </a:p>
        </p:txBody>
      </p:sp>
      <p:sp>
        <p:nvSpPr>
          <p:cNvPr id="41" name="Text 39"/>
          <p:cNvSpPr/>
          <p:nvPr/>
        </p:nvSpPr>
        <p:spPr>
          <a:xfrm>
            <a:off x="4425696"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Noto Sans Arabic" pitchFamily="34" charset="0"/>
                <a:ea typeface="Noto Sans Arabic" pitchFamily="34" charset="-122"/>
                <a:cs typeface="Noto Sans Arabic" pitchFamily="34" charset="-120"/>
              </a:rPr>
              <a:t>از سیگنال خام تا بردار ویژگی و مدل طبقه‌بند</a:t>
            </a:r>
            <a:endParaRPr lang="en-US" sz="1050" dirty="0"/>
          </a:p>
        </p:txBody>
      </p:sp>
      <p:sp>
        <p:nvSpPr>
          <p:cNvPr id="42" name="Shape 40"/>
          <p:cNvSpPr/>
          <p:nvPr/>
        </p:nvSpPr>
        <p:spPr>
          <a:xfrm>
            <a:off x="10817352" y="5504688"/>
            <a:ext cx="438912" cy="438912"/>
          </a:xfrm>
          <a:prstGeom prst="ellipse">
            <a:avLst/>
          </a:prstGeom>
          <a:solidFill>
            <a:srgbClr val="1D8AB5"/>
          </a:solidFill>
          <a:ln w="12700">
            <a:solidFill>
              <a:srgbClr val="1D8AB5"/>
            </a:solidFill>
            <a:prstDash val="solid"/>
          </a:ln>
        </p:spPr>
      </p:sp>
      <p:sp>
        <p:nvSpPr>
          <p:cNvPr id="43" name="Text 41"/>
          <p:cNvSpPr/>
          <p:nvPr/>
        </p:nvSpPr>
        <p:spPr>
          <a:xfrm>
            <a:off x="10817352"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44" name="Text 42"/>
          <p:cNvSpPr/>
          <p:nvPr/>
        </p:nvSpPr>
        <p:spPr>
          <a:xfrm>
            <a:off x="7982712"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Noto Sans Arabic" pitchFamily="34" charset="0"/>
                <a:ea typeface="Noto Sans Arabic" pitchFamily="34" charset="-122"/>
                <a:cs typeface="Noto Sans Arabic" pitchFamily="34" charset="-120"/>
              </a:rPr>
              <a:t>مدل‌سازی مستقل هر فعالیت</a:t>
            </a:r>
            <a:endParaRPr lang="en-US" sz="1350" dirty="0"/>
          </a:p>
        </p:txBody>
      </p:sp>
      <p:sp>
        <p:nvSpPr>
          <p:cNvPr id="45" name="Text 43"/>
          <p:cNvSpPr/>
          <p:nvPr/>
        </p:nvSpPr>
        <p:spPr>
          <a:xfrm>
            <a:off x="7982712"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Noto Sans Arabic" pitchFamily="34" charset="0"/>
                <a:ea typeface="Noto Sans Arabic" pitchFamily="34" charset="-122"/>
                <a:cs typeface="Noto Sans Arabic" pitchFamily="34" charset="-120"/>
              </a:rPr>
              <a:t>انتخاب تعداد مؤلفه و مدل مناسب برای هر حرکت</a:t>
            </a:r>
            <a:endParaRPr lang="en-US" sz="1050" dirty="0"/>
          </a:p>
        </p:txBody>
      </p:sp>
      <p:sp>
        <p:nvSpPr>
          <p:cNvPr id="46" name="Shape 44"/>
          <p:cNvSpPr/>
          <p:nvPr/>
        </p:nvSpPr>
        <p:spPr>
          <a:xfrm>
            <a:off x="658368" y="6473952"/>
            <a:ext cx="10881360" cy="0"/>
          </a:xfrm>
          <a:prstGeom prst="line">
            <a:avLst/>
          </a:prstGeom>
          <a:noFill/>
          <a:ln w="10160">
            <a:solidFill>
              <a:srgbClr val="E9EEF2"/>
            </a:solidFill>
            <a:prstDash val="solid"/>
          </a:ln>
        </p:spPr>
      </p:sp>
      <p:sp>
        <p:nvSpPr>
          <p:cNvPr id="47" name="Text 45"/>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8" name="Text 46"/>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۲ از ۶: مقدمه و تعریف مسئله | ۱۱ اسلاید تا پایان</a:t>
            </a:r>
            <a:endParaRPr lang="en-US" sz="920" dirty="0"/>
          </a:p>
        </p:txBody>
      </p:sp>
      <p:sp>
        <p:nvSpPr>
          <p:cNvPr id="49" name="Text 47"/>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۳ / ۱۴</a:t>
            </a:r>
            <a:endParaRPr lang="en-US" sz="1020" dirty="0"/>
          </a:p>
        </p:txBody>
      </p:sp>
      <p:sp>
        <p:nvSpPr>
          <p:cNvPr id="50" name="Shape 48"/>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p:cNvSpPr/>
          <p:nvPr/>
        </p:nvSpPr>
        <p:spPr>
          <a:xfrm>
            <a:off x="3971109" y="6766560"/>
            <a:ext cx="5172891"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zoom">
                          <p:cBhvr>
                            <p:cTn id="4" dur="450" fill="hold"/>
                            <p:tgtEl>
                              <p:spTgt spid="8"/>
                            </p:tgtEl>
                          </p:cBhvr>
                        </p:animEffect>
                        <p:animEffect transition="in" filter="zoom">
                          <p:cBhvr>
                            <p:cTn id="5" dur="450" fill="hold"/>
                            <p:tgtEl>
                              <p:spTgt spid="9"/>
                            </p:tgtEl>
                          </p:cBhvr>
                        </p:animEffect>
                        <p:animEffect transition="in" filter="zoom">
                          <p:cBhvr>
                            <p:cTn id="6" dur="450" fill="hold"/>
                            <p:tgtEl>
                              <p:spTgt spid="10"/>
                            </p:tgtEl>
                          </p:cBhvr>
                        </p:animEffect>
                        <p:animEffect transition="in" filter="zoom">
                          <p:cBhvr>
                            <p:cTn id="7" dur="450" fill="hold"/>
                            <p:tgtEl>
                              <p:spTgt spid="11"/>
                            </p:tgtEl>
                          </p:cBhvr>
                        </p:animEffect>
                        <p:animEffect transition="in" filter="zoom">
                          <p:cBhvr>
                            <p:cTn id="8" dur="450" fill="hold"/>
                            <p:tgtEl>
                              <p:spTgt spid="12"/>
                            </p:tgtEl>
                          </p:cBhvr>
                        </p:animEffect>
                      </p:childTnLst>
                    </p:cTn>
                  </p:par>
                  <p:par>
                    <p:cTn id="9" fill="hold">
                      <p:stCondLst>
                        <p:cond delay="0"/>
                      </p:stCondLst>
                      <p:childTnLst>
                        <p:animEffect transition="in" filter="zoom">
                          <p:cBhvr>
                            <p:cTn id="10" dur="450" fill="hold"/>
                            <p:tgtEl>
                              <p:spTgt spid="13"/>
                            </p:tgtEl>
                          </p:cBhvr>
                        </p:animEffect>
                        <p:animEffect transition="in" filter="zoom">
                          <p:cBhvr>
                            <p:cTn id="11" dur="450" fill="hold"/>
                            <p:tgtEl>
                              <p:spTgt spid="14"/>
                            </p:tgtEl>
                          </p:cBhvr>
                        </p:animEffect>
                        <p:animEffect transition="in" filter="zoom">
                          <p:cBhvr>
                            <p:cTn id="12" dur="450" fill="hold"/>
                            <p:tgtEl>
                              <p:spTgt spid="15"/>
                            </p:tgtEl>
                          </p:cBhvr>
                        </p:animEffect>
                        <p:animEffect transition="in" filter="zoom">
                          <p:cBhvr>
                            <p:cTn id="13" dur="450" fill="hold"/>
                            <p:tgtEl>
                              <p:spTgt spid="16"/>
                            </p:tgtEl>
                          </p:cBhvr>
                        </p:animEffect>
                        <p:animEffect transition="in" filter="zoom">
                          <p:cBhvr>
                            <p:cTn id="14" dur="450" fill="hold"/>
                            <p:tgtEl>
                              <p:spTgt spid="17"/>
                            </p:tgtEl>
                          </p:cBhvr>
                        </p:animEffect>
                      </p:childTnLst>
                    </p:cTn>
                  </p:par>
                  <p:par>
                    <p:cTn id="15" fill="hold">
                      <p:stCondLst>
                        <p:cond delay="0"/>
                      </p:stCondLst>
                      <p:childTnLst>
                        <p:animEffect transition="in" filter="zoom">
                          <p:cBhvr>
                            <p:cTn id="16" dur="450" fill="hold"/>
                            <p:tgtEl>
                              <p:spTgt spid="18"/>
                            </p:tgtEl>
                          </p:cBhvr>
                        </p:animEffect>
                        <p:animEffect transition="in" filter="zoom">
                          <p:cBhvr>
                            <p:cTn id="17" dur="450" fill="hold"/>
                            <p:tgtEl>
                              <p:spTgt spid="19"/>
                            </p:tgtEl>
                          </p:cBhvr>
                        </p:animEffect>
                        <p:animEffect transition="in" filter="zoom">
                          <p:cBhvr>
                            <p:cTn id="18" dur="450" fill="hold"/>
                            <p:tgtEl>
                              <p:spTgt spid="20"/>
                            </p:tgtEl>
                          </p:cBhvr>
                        </p:animEffect>
                        <p:animEffect transition="in" filter="zoom">
                          <p:cBhvr>
                            <p:cTn id="19" dur="450" fill="hold"/>
                            <p:tgtEl>
                              <p:spTgt spid="21"/>
                            </p:tgtEl>
                          </p:cBhvr>
                        </p:animEffect>
                        <p:animEffect transition="in" filter="zoom">
                          <p:cBhvr>
                            <p:cTn id="20" dur="450" fill="hold"/>
                            <p:tgtEl>
                              <p:spTgt spid="22"/>
                            </p:tgtEl>
                          </p:cBhvr>
                        </p:animEffect>
                      </p:childTnLst>
                    </p:cTn>
                  </p:par>
                  <p:par>
                    <p:cTn id="21" fill="hold">
                      <p:stCondLst>
                        <p:cond delay="0"/>
                      </p:stCondLst>
                      <p:childTnLst>
                        <p:animEffect transition="in" filter="zoom">
                          <p:cBhvr>
                            <p:cTn id="22" dur="450" fill="hold"/>
                            <p:tgtEl>
                              <p:spTgt spid="23"/>
                            </p:tgtEl>
                          </p:cBhvr>
                        </p:animEffect>
                        <p:animEffect transition="in" filter="zoom">
                          <p:cBhvr>
                            <p:cTn id="23" dur="450" fill="hold"/>
                            <p:tgtEl>
                              <p:spTgt spid="24"/>
                            </p:tgtEl>
                          </p:cBhvr>
                        </p:animEffect>
                        <p:animEffect transition="in" filter="zoom">
                          <p:cBhvr>
                            <p:cTn id="24" dur="450" fill="hold"/>
                            <p:tgtEl>
                              <p:spTgt spid="25"/>
                            </p:tgtEl>
                          </p:cBhvr>
                        </p:animEffect>
                        <p:animEffect transition="in" filter="zoom">
                          <p:cBhvr>
                            <p:cTn id="25" dur="450" fill="hold"/>
                            <p:tgtEl>
                              <p:spTgt spid="26"/>
                            </p:tgtEl>
                          </p:cBhvr>
                        </p:animEffect>
                        <p:animEffect transition="in" filter="zoom">
                          <p:cBhvr>
                            <p:cTn id="26" dur="450" fill="hold"/>
                            <p:tgtEl>
                              <p:spTgt spid="27"/>
                            </p:tgtEl>
                          </p:cBhvr>
                        </p:animEffect>
                      </p:childTnLst>
                    </p:cTn>
                  </p:par>
                  <p:par>
                    <p:cTn id="27" fill="hold">
                      <p:stCondLst>
                        <p:cond delay="0"/>
                      </p:stCondLst>
                      <p:childTnLst>
                        <p:animEffect transition="in" filter="zoom">
                          <p:cBhvr>
                            <p:cTn id="28" dur="450" fill="hold"/>
                            <p:tgtEl>
                              <p:spTgt spid="28"/>
                            </p:tgtEl>
                          </p:cBhvr>
                        </p:animEffect>
                        <p:animEffect transition="in" filter="zoom">
                          <p:cBhvr>
                            <p:cTn id="29" dur="450" fill="hold"/>
                            <p:tgtEl>
                              <p:spTgt spid="29"/>
                            </p:tgtEl>
                          </p:cBhvr>
                        </p:animEffect>
                        <p:animEffect transition="in" filter="zoom">
                          <p:cBhvr>
                            <p:cTn id="30" dur="450" fill="hold"/>
                            <p:tgtEl>
                              <p:spTgt spid="30"/>
                            </p:tgtEl>
                          </p:cBhvr>
                        </p:animEffect>
                        <p:animEffect transition="in" filter="zoom">
                          <p:cBhvr>
                            <p:cTn id="31" dur="450" fill="hold"/>
                            <p:tgtEl>
                              <p:spTgt spid="31"/>
                            </p:tgtEl>
                          </p:cBhvr>
                        </p:animEffect>
                        <p:animEffect transition="in" filter="zoom">
                          <p:cBhvr>
                            <p:cTn id="32" dur="450" fill="hold"/>
                            <p:tgtEl>
                              <p:spTgt spid="32"/>
                            </p:tgtEl>
                          </p:cBhvr>
                        </p:animEffect>
                      </p:childTnLst>
                    </p:cTn>
                  </p:par>
                  <p:par>
                    <p:cTn id="33" fill="hold">
                      <p:stCondLst>
                        <p:cond delay="0"/>
                      </p:stCondLst>
                      <p:childTnLst>
                        <p:animEffect transition="in" filter="fade">
                          <p:cBhvr>
                            <p:cTn id="34" dur="400" fill="hold"/>
                            <p:tgtEl>
                              <p:spTgt spid="33"/>
                            </p:tgtEl>
                          </p:cBhvr>
                        </p:animEffect>
                        <p:animEffect transition="in" filter="fade">
                          <p:cBhvr>
                            <p:cTn id="35" dur="400" fill="hold"/>
                            <p:tgtEl>
                              <p:spTgt spid="34"/>
                            </p:tgtEl>
                          </p:cBhvr>
                        </p:animEffect>
                        <p:animEffect transition="in" filter="fade">
                          <p:cBhvr>
                            <p:cTn id="36" dur="400" fill="hold"/>
                            <p:tgtEl>
                              <p:spTgt spid="35"/>
                            </p:tgtEl>
                          </p:cBhvr>
                        </p:animEffect>
                        <p:animEffect transition="in" filter="fade">
                          <p:cBhvr>
                            <p:cTn id="37" dur="400" fill="hold"/>
                            <p:tgtEl>
                              <p:spTgt spid="36"/>
                            </p:tgtEl>
                          </p:cBhvr>
                        </p:animEffect>
                        <p:animEffect transition="in" filter="fade">
                          <p:cBhvr>
                            <p:cTn id="38" dur="400" fill="hold"/>
                            <p:tgtEl>
                              <p:spTgt spid="37"/>
                            </p:tgtEl>
                          </p:cBhvr>
                        </p:animEffect>
                      </p:childTnLst>
                    </p:cTn>
                  </p:par>
                  <p:par>
                    <p:cTn id="39" fill="hold">
                      <p:stCondLst>
                        <p:cond delay="0"/>
                      </p:stCondLst>
                      <p:childTnLst>
                        <p:animEffect transition="in" filter="fade">
                          <p:cBhvr>
                            <p:cTn id="40" dur="400" fill="hold"/>
                            <p:tgtEl>
                              <p:spTgt spid="38"/>
                            </p:tgtEl>
                          </p:cBhvr>
                        </p:animEffect>
                        <p:animEffect transition="in" filter="fade">
                          <p:cBhvr>
                            <p:cTn id="41" dur="400" fill="hold"/>
                            <p:tgtEl>
                              <p:spTgt spid="39"/>
                            </p:tgtEl>
                          </p:cBhvr>
                        </p:animEffect>
                        <p:animEffect transition="in" filter="fade">
                          <p:cBhvr>
                            <p:cTn id="42" dur="400" fill="hold"/>
                            <p:tgtEl>
                              <p:spTgt spid="40"/>
                            </p:tgtEl>
                          </p:cBhvr>
                        </p:animEffect>
                        <p:animEffect transition="in" filter="fade">
                          <p:cBhvr>
                            <p:cTn id="43" dur="400" fill="hold"/>
                            <p:tgtEl>
                              <p:spTgt spid="41"/>
                            </p:tgtEl>
                          </p:cBhvr>
                        </p:animEffect>
                      </p:childTnLst>
                    </p:cTn>
                  </p:par>
                  <p:par>
                    <p:cTn id="44" fill="hold">
                      <p:stCondLst>
                        <p:cond delay="0"/>
                      </p:stCondLst>
                      <p:childTnLst>
                        <p:animEffect transition="in" filter="fade">
                          <p:cBhvr>
                            <p:cTn id="45" dur="400" fill="hold"/>
                            <p:tgtEl>
                              <p:spTgt spid="42"/>
                            </p:tgtEl>
                          </p:cBhvr>
                        </p:animEffect>
                        <p:animEffect transition="in" filter="fade">
                          <p:cBhvr>
                            <p:cTn id="46" dur="400" fill="hold"/>
                            <p:tgtEl>
                              <p:spTgt spid="43"/>
                            </p:tgtEl>
                          </p:cBhvr>
                        </p:animEffect>
                        <p:animEffect transition="in" filter="fade">
                          <p:cBhvr>
                            <p:cTn id="47" dur="400" fill="hold"/>
                            <p:tgtEl>
                              <p:spTgt spid="44"/>
                            </p:tgtEl>
                          </p:cBhvr>
                        </p:animEffect>
                        <p:animEffect transition="in" filter="fade">
                          <p:cBhvr>
                            <p:cTn id="48" dur="400" fill="hold"/>
                            <p:tgtEl>
                              <p:spTgt spid="45"/>
                            </p:tgtEl>
                          </p:cBhvr>
                        </p:animEffect>
                      </p:childTnLst>
                    </p:cTn>
                  </p:par>
                </p:childTnLst>
              </p:cTn>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روش‌شناسی و تفسیر</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نکته کلیدی درباره داده‌ها</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۴ / ۱۴</a:t>
            </a:r>
            <a:endParaRPr lang="en-US" sz="1080" dirty="0"/>
          </a:p>
        </p:txBody>
      </p:sp>
      <p:sp>
        <p:nvSpPr>
          <p:cNvPr id="7" name="Shape 5"/>
          <p:cNvSpPr/>
          <p:nvPr/>
        </p:nvSpPr>
        <p:spPr>
          <a:xfrm>
            <a:off x="777240" y="1572768"/>
            <a:ext cx="10652760" cy="4526280"/>
          </a:xfrm>
          <a:prstGeom prst="roundRect">
            <a:avLst>
              <a:gd name="adj" fmla="val 1616"/>
            </a:avLst>
          </a:prstGeom>
          <a:solidFill>
            <a:srgbClr val="FFF5D8"/>
          </a:solidFill>
          <a:ln w="17780">
            <a:solidFill>
              <a:srgbClr val="F2C15C"/>
            </a:solidFill>
            <a:prstDash val="solid"/>
          </a:ln>
          <a:effectLst>
            <a:outerShdw blurRad="12700" dist="50800" dir="2700000" algn="bl" rotWithShape="0">
              <a:srgbClr val="B0BEC5">
                <a:alpha val="12000"/>
              </a:srgbClr>
            </a:outerShdw>
          </a:effectLst>
        </p:spPr>
      </p:sp>
      <p:sp>
        <p:nvSpPr>
          <p:cNvPr id="8" name="Shape 6"/>
          <p:cNvSpPr/>
          <p:nvPr/>
        </p:nvSpPr>
        <p:spPr>
          <a:xfrm>
            <a:off x="8924544" y="1810512"/>
            <a:ext cx="2103120" cy="347472"/>
          </a:xfrm>
          <a:prstGeom prst="roundRect">
            <a:avLst>
              <a:gd name="adj" fmla="val 47368"/>
            </a:avLst>
          </a:prstGeom>
          <a:solidFill>
            <a:srgbClr val="FFE6A6"/>
          </a:solidFill>
          <a:ln w="12700">
            <a:solidFill>
              <a:srgbClr val="FFE6A6"/>
            </a:solidFill>
            <a:prstDash val="solid"/>
          </a:ln>
        </p:spPr>
      </p:sp>
      <p:sp>
        <p:nvSpPr>
          <p:cNvPr id="9" name="Text 7"/>
          <p:cNvSpPr/>
          <p:nvPr/>
        </p:nvSpPr>
        <p:spPr>
          <a:xfrm>
            <a:off x="9034272" y="1828800"/>
            <a:ext cx="1883664" cy="310896"/>
          </a:xfrm>
          <a:prstGeom prst="rect">
            <a:avLst/>
          </a:prstGeom>
          <a:noFill/>
          <a:ln/>
        </p:spPr>
        <p:txBody>
          <a:bodyPr wrap="square" lIns="0" tIns="0" rIns="0" bIns="0" rtlCol="0" anchor="ctr">
            <a:normAutofit/>
          </a:bodyPr>
          <a:lstStyle/>
          <a:p>
            <a:pPr marL="0" indent="0" algn="ctr" rtl="1">
              <a:buNone/>
            </a:pPr>
            <a:r>
              <a:rPr lang="en-US" sz="1400" b="1" dirty="0">
                <a:solidFill>
                  <a:srgbClr val="8A5A00"/>
                </a:solidFill>
                <a:latin typeface="Noto Sans Arabic" pitchFamily="34" charset="0"/>
                <a:ea typeface="Noto Sans Arabic" pitchFamily="34" charset="-122"/>
                <a:cs typeface="Noto Sans Arabic" pitchFamily="34" charset="-120"/>
              </a:rPr>
              <a:t>شفاف‌سازی ضروری</a:t>
            </a:r>
            <a:endParaRPr lang="en-US" sz="1400" dirty="0"/>
          </a:p>
        </p:txBody>
      </p:sp>
      <p:sp>
        <p:nvSpPr>
          <p:cNvPr id="10" name="Shape 8"/>
          <p:cNvSpPr/>
          <p:nvPr/>
        </p:nvSpPr>
        <p:spPr>
          <a:xfrm>
            <a:off x="8778240" y="2423160"/>
            <a:ext cx="1965960" cy="1389888"/>
          </a:xfrm>
          <a:prstGeom prst="roundRect">
            <a:avLst>
              <a:gd name="adj" fmla="val 5263"/>
            </a:avLst>
          </a:prstGeom>
          <a:solidFill>
            <a:srgbClr val="FFFFFF"/>
          </a:solidFill>
          <a:ln w="19050">
            <a:solidFill>
              <a:srgbClr val="0B6E99"/>
            </a:solidFill>
            <a:prstDash val="solid"/>
          </a:ln>
        </p:spPr>
      </p:sp>
      <p:sp>
        <p:nvSpPr>
          <p:cNvPr id="11" name="Shape 9"/>
          <p:cNvSpPr/>
          <p:nvPr/>
        </p:nvSpPr>
        <p:spPr>
          <a:xfrm>
            <a:off x="9482328" y="2624328"/>
            <a:ext cx="548640" cy="548640"/>
          </a:xfrm>
          <a:prstGeom prst="ellipse">
            <a:avLst/>
          </a:prstGeom>
          <a:solidFill>
            <a:srgbClr val="0B6E99"/>
          </a:solidFill>
          <a:ln w="12700">
            <a:solidFill>
              <a:srgbClr val="0B6E99"/>
            </a:solidFill>
            <a:prstDash val="solid"/>
          </a:ln>
        </p:spPr>
      </p:sp>
      <p:sp>
        <p:nvSpPr>
          <p:cNvPr id="12" name="Text 10"/>
          <p:cNvSpPr/>
          <p:nvPr/>
        </p:nvSpPr>
        <p:spPr>
          <a:xfrm>
            <a:off x="9482328"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13" name="Text 11"/>
          <p:cNvSpPr/>
          <p:nvPr/>
        </p:nvSpPr>
        <p:spPr>
          <a:xfrm>
            <a:off x="8915400"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Noto Sans Arabic" pitchFamily="34" charset="0"/>
                <a:ea typeface="Noto Sans Arabic" pitchFamily="34" charset="-122"/>
                <a:cs typeface="Noto Sans Arabic" pitchFamily="34" charset="-120"/>
              </a:rPr>
              <a:t>فرد سالم</a:t>
            </a:r>
            <a:endParaRPr lang="en-US" sz="1450" dirty="0"/>
          </a:p>
        </p:txBody>
      </p:sp>
      <p:sp>
        <p:nvSpPr>
          <p:cNvPr id="14" name="Text 12"/>
          <p:cNvSpPr/>
          <p:nvPr/>
        </p:nvSpPr>
        <p:spPr>
          <a:xfrm>
            <a:off x="8915400"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آشنا با دوشن و معیار NSAA</a:t>
            </a:r>
            <a:endParaRPr lang="en-US" sz="1050" dirty="0"/>
          </a:p>
        </p:txBody>
      </p:sp>
      <p:sp>
        <p:nvSpPr>
          <p:cNvPr id="15" name="Shape 13"/>
          <p:cNvSpPr/>
          <p:nvPr/>
        </p:nvSpPr>
        <p:spPr>
          <a:xfrm>
            <a:off x="8595360" y="3127248"/>
            <a:ext cx="0" cy="0"/>
          </a:xfrm>
          <a:prstGeom prst="line">
            <a:avLst/>
          </a:prstGeom>
          <a:noFill/>
          <a:ln w="27940">
            <a:solidFill>
              <a:srgbClr val="E69F00"/>
            </a:solidFill>
            <a:prstDash val="solid"/>
            <a:headEnd type="none"/>
            <a:tailEnd type="triangle"/>
          </a:ln>
        </p:spPr>
      </p:sp>
      <p:sp>
        <p:nvSpPr>
          <p:cNvPr id="16" name="Shape 14"/>
          <p:cNvSpPr/>
          <p:nvPr/>
        </p:nvSpPr>
        <p:spPr>
          <a:xfrm>
            <a:off x="6199632" y="2423160"/>
            <a:ext cx="1965960" cy="1389888"/>
          </a:xfrm>
          <a:prstGeom prst="roundRect">
            <a:avLst>
              <a:gd name="adj" fmla="val 5263"/>
            </a:avLst>
          </a:prstGeom>
          <a:solidFill>
            <a:srgbClr val="FFFFFF"/>
          </a:solidFill>
          <a:ln w="19050">
            <a:solidFill>
              <a:srgbClr val="E69F00"/>
            </a:solidFill>
            <a:prstDash val="solid"/>
          </a:ln>
        </p:spPr>
      </p:sp>
      <p:sp>
        <p:nvSpPr>
          <p:cNvPr id="17" name="Shape 15"/>
          <p:cNvSpPr/>
          <p:nvPr/>
        </p:nvSpPr>
        <p:spPr>
          <a:xfrm>
            <a:off x="6903720" y="2624328"/>
            <a:ext cx="548640" cy="548640"/>
          </a:xfrm>
          <a:prstGeom prst="ellipse">
            <a:avLst/>
          </a:prstGeom>
          <a:solidFill>
            <a:srgbClr val="E69F00"/>
          </a:solidFill>
          <a:ln w="12700">
            <a:solidFill>
              <a:srgbClr val="E69F00"/>
            </a:solidFill>
            <a:prstDash val="solid"/>
          </a:ln>
        </p:spPr>
      </p:sp>
      <p:sp>
        <p:nvSpPr>
          <p:cNvPr id="18" name="Text 16"/>
          <p:cNvSpPr/>
          <p:nvPr/>
        </p:nvSpPr>
        <p:spPr>
          <a:xfrm>
            <a:off x="6903720"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9" name="Text 17"/>
          <p:cNvSpPr/>
          <p:nvPr/>
        </p:nvSpPr>
        <p:spPr>
          <a:xfrm>
            <a:off x="6336792"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Noto Sans Arabic" pitchFamily="34" charset="0"/>
                <a:ea typeface="Noto Sans Arabic" pitchFamily="34" charset="-122"/>
                <a:cs typeface="Noto Sans Arabic" pitchFamily="34" charset="-120"/>
              </a:rPr>
              <a:t>شبیه‌سازی کنترل‌شده</a:t>
            </a:r>
            <a:endParaRPr lang="en-US" sz="1450" dirty="0"/>
          </a:p>
        </p:txBody>
      </p:sp>
      <p:sp>
        <p:nvSpPr>
          <p:cNvPr id="20" name="Text 18"/>
          <p:cNvSpPr/>
          <p:nvPr/>
        </p:nvSpPr>
        <p:spPr>
          <a:xfrm>
            <a:off x="6336792"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اجرای الگوهای متناظر با نمره‌های ۰، ۱ و ۲</a:t>
            </a:r>
            <a:endParaRPr lang="en-US" sz="1050" dirty="0"/>
          </a:p>
        </p:txBody>
      </p:sp>
      <p:sp>
        <p:nvSpPr>
          <p:cNvPr id="21" name="Shape 19"/>
          <p:cNvSpPr/>
          <p:nvPr/>
        </p:nvSpPr>
        <p:spPr>
          <a:xfrm>
            <a:off x="6016752" y="3127248"/>
            <a:ext cx="0" cy="0"/>
          </a:xfrm>
          <a:prstGeom prst="line">
            <a:avLst/>
          </a:prstGeom>
          <a:noFill/>
          <a:ln w="27940">
            <a:solidFill>
              <a:srgbClr val="E69F00"/>
            </a:solidFill>
            <a:prstDash val="solid"/>
            <a:headEnd type="none"/>
            <a:tailEnd type="triangle"/>
          </a:ln>
        </p:spPr>
      </p:sp>
      <p:sp>
        <p:nvSpPr>
          <p:cNvPr id="22" name="Shape 20"/>
          <p:cNvSpPr/>
          <p:nvPr/>
        </p:nvSpPr>
        <p:spPr>
          <a:xfrm>
            <a:off x="3621024" y="2423160"/>
            <a:ext cx="1965960" cy="1389888"/>
          </a:xfrm>
          <a:prstGeom prst="roundRect">
            <a:avLst>
              <a:gd name="adj" fmla="val 5263"/>
            </a:avLst>
          </a:prstGeom>
          <a:solidFill>
            <a:srgbClr val="FFFFFF"/>
          </a:solidFill>
          <a:ln w="19050">
            <a:solidFill>
              <a:srgbClr val="0B7A75"/>
            </a:solidFill>
            <a:prstDash val="solid"/>
          </a:ln>
        </p:spPr>
      </p:sp>
      <p:sp>
        <p:nvSpPr>
          <p:cNvPr id="23" name="Shape 21"/>
          <p:cNvSpPr/>
          <p:nvPr/>
        </p:nvSpPr>
        <p:spPr>
          <a:xfrm>
            <a:off x="4325112" y="2624328"/>
            <a:ext cx="548640" cy="548640"/>
          </a:xfrm>
          <a:prstGeom prst="ellipse">
            <a:avLst/>
          </a:prstGeom>
          <a:solidFill>
            <a:srgbClr val="0B7A75"/>
          </a:solidFill>
          <a:ln w="12700">
            <a:solidFill>
              <a:srgbClr val="0B7A75"/>
            </a:solidFill>
            <a:prstDash val="solid"/>
          </a:ln>
        </p:spPr>
      </p:sp>
      <p:sp>
        <p:nvSpPr>
          <p:cNvPr id="24" name="Text 22"/>
          <p:cNvSpPr/>
          <p:nvPr/>
        </p:nvSpPr>
        <p:spPr>
          <a:xfrm>
            <a:off x="4325112"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25" name="Text 23"/>
          <p:cNvSpPr/>
          <p:nvPr/>
        </p:nvSpPr>
        <p:spPr>
          <a:xfrm>
            <a:off x="3758184"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Noto Sans Arabic" pitchFamily="34" charset="0"/>
                <a:ea typeface="Noto Sans Arabic" pitchFamily="34" charset="-122"/>
                <a:cs typeface="Noto Sans Arabic" pitchFamily="34" charset="-120"/>
              </a:rPr>
              <a:t>ثبت با پنج حسگر</a:t>
            </a:r>
            <a:endParaRPr lang="en-US" sz="1450" dirty="0"/>
          </a:p>
        </p:txBody>
      </p:sp>
      <p:sp>
        <p:nvSpPr>
          <p:cNvPr id="26" name="Text 24"/>
          <p:cNvSpPr/>
          <p:nvPr/>
        </p:nvSpPr>
        <p:spPr>
          <a:xfrm>
            <a:off x="3758184"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داده‌های شتاب و سرعت زاویه‌ای</a:t>
            </a:r>
            <a:endParaRPr lang="en-US" sz="1050" dirty="0"/>
          </a:p>
        </p:txBody>
      </p:sp>
      <p:sp>
        <p:nvSpPr>
          <p:cNvPr id="27" name="Shape 25"/>
          <p:cNvSpPr/>
          <p:nvPr/>
        </p:nvSpPr>
        <p:spPr>
          <a:xfrm>
            <a:off x="3438144" y="3127248"/>
            <a:ext cx="0" cy="0"/>
          </a:xfrm>
          <a:prstGeom prst="line">
            <a:avLst/>
          </a:prstGeom>
          <a:noFill/>
          <a:ln w="27940">
            <a:solidFill>
              <a:srgbClr val="E69F00"/>
            </a:solidFill>
            <a:prstDash val="solid"/>
            <a:headEnd type="none"/>
            <a:tailEnd type="triangle"/>
          </a:ln>
        </p:spPr>
      </p:sp>
      <p:sp>
        <p:nvSpPr>
          <p:cNvPr id="28" name="Shape 26"/>
          <p:cNvSpPr/>
          <p:nvPr/>
        </p:nvSpPr>
        <p:spPr>
          <a:xfrm>
            <a:off x="1042416" y="2423160"/>
            <a:ext cx="1965960" cy="1389888"/>
          </a:xfrm>
          <a:prstGeom prst="roundRect">
            <a:avLst>
              <a:gd name="adj" fmla="val 5263"/>
            </a:avLst>
          </a:prstGeom>
          <a:solidFill>
            <a:srgbClr val="FFFFFF"/>
          </a:solidFill>
          <a:ln w="19050">
            <a:solidFill>
              <a:srgbClr val="2F855A"/>
            </a:solidFill>
            <a:prstDash val="solid"/>
          </a:ln>
        </p:spPr>
      </p:sp>
      <p:sp>
        <p:nvSpPr>
          <p:cNvPr id="29" name="Shape 27"/>
          <p:cNvSpPr/>
          <p:nvPr/>
        </p:nvSpPr>
        <p:spPr>
          <a:xfrm>
            <a:off x="1746504" y="2624328"/>
            <a:ext cx="548640" cy="548640"/>
          </a:xfrm>
          <a:prstGeom prst="ellipse">
            <a:avLst/>
          </a:prstGeom>
          <a:solidFill>
            <a:srgbClr val="2F855A"/>
          </a:solidFill>
          <a:ln w="12700">
            <a:solidFill>
              <a:srgbClr val="2F855A"/>
            </a:solidFill>
            <a:prstDash val="solid"/>
          </a:ln>
        </p:spPr>
      </p:sp>
      <p:sp>
        <p:nvSpPr>
          <p:cNvPr id="30" name="Text 28"/>
          <p:cNvSpPr/>
          <p:nvPr/>
        </p:nvSpPr>
        <p:spPr>
          <a:xfrm>
            <a:off x="1746504"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31" name="Text 29"/>
          <p:cNvSpPr/>
          <p:nvPr/>
        </p:nvSpPr>
        <p:spPr>
          <a:xfrm>
            <a:off x="1179576"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Noto Sans Arabic" pitchFamily="34" charset="0"/>
                <a:ea typeface="Noto Sans Arabic" pitchFamily="34" charset="-122"/>
                <a:cs typeface="Noto Sans Arabic" pitchFamily="34" charset="-120"/>
              </a:rPr>
              <a:t>توسعه مدل</a:t>
            </a:r>
            <a:endParaRPr lang="en-US" sz="1450" dirty="0"/>
          </a:p>
        </p:txBody>
      </p:sp>
      <p:sp>
        <p:nvSpPr>
          <p:cNvPr id="32" name="Text 30"/>
          <p:cNvSpPr/>
          <p:nvPr/>
        </p:nvSpPr>
        <p:spPr>
          <a:xfrm>
            <a:off x="1179576"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امکان‌سنجی تفکیک سطوح</a:t>
            </a:r>
            <a:endParaRPr lang="en-US" sz="1050" dirty="0"/>
          </a:p>
        </p:txBody>
      </p:sp>
      <p:sp>
        <p:nvSpPr>
          <p:cNvPr id="33" name="Shape 31"/>
          <p:cNvSpPr/>
          <p:nvPr/>
        </p:nvSpPr>
        <p:spPr>
          <a:xfrm>
            <a:off x="1051560" y="4297680"/>
            <a:ext cx="9189720" cy="1024128"/>
          </a:xfrm>
          <a:prstGeom prst="roundRect">
            <a:avLst>
              <a:gd name="adj" fmla="val 10714"/>
            </a:avLst>
          </a:prstGeom>
          <a:solidFill>
            <a:srgbClr val="FFFFFF"/>
          </a:solidFill>
          <a:ln w="20320">
            <a:solidFill>
              <a:srgbClr val="C0392B"/>
            </a:solidFill>
            <a:prstDash val="solid"/>
          </a:ln>
        </p:spPr>
      </p:sp>
      <p:sp>
        <p:nvSpPr>
          <p:cNvPr id="34" name="Shape 32"/>
          <p:cNvSpPr/>
          <p:nvPr/>
        </p:nvSpPr>
        <p:spPr>
          <a:xfrm>
            <a:off x="9665208" y="4553712"/>
            <a:ext cx="438912" cy="438912"/>
          </a:xfrm>
          <a:prstGeom prst="ellipse">
            <a:avLst/>
          </a:prstGeom>
          <a:solidFill>
            <a:srgbClr val="C0392B"/>
          </a:solidFill>
          <a:ln w="12700">
            <a:solidFill>
              <a:srgbClr val="C0392B"/>
            </a:solidFill>
            <a:prstDash val="solid"/>
          </a:ln>
        </p:spPr>
      </p:sp>
      <p:sp>
        <p:nvSpPr>
          <p:cNvPr id="35" name="Text 33"/>
          <p:cNvSpPr/>
          <p:nvPr/>
        </p:nvSpPr>
        <p:spPr>
          <a:xfrm>
            <a:off x="9665208" y="4572000"/>
            <a:ext cx="438912" cy="31089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Noto Sans Arabic" pitchFamily="34" charset="0"/>
                <a:ea typeface="Noto Sans Arabic" pitchFamily="34" charset="-122"/>
                <a:cs typeface="Noto Sans Arabic" pitchFamily="34" charset="-120"/>
              </a:rPr>
              <a:t>!</a:t>
            </a:r>
            <a:endParaRPr lang="en-US" sz="1900" dirty="0"/>
          </a:p>
        </p:txBody>
      </p:sp>
      <p:sp>
        <p:nvSpPr>
          <p:cNvPr id="36" name="Text 34"/>
          <p:cNvSpPr/>
          <p:nvPr/>
        </p:nvSpPr>
        <p:spPr>
          <a:xfrm>
            <a:off x="2103120" y="4443984"/>
            <a:ext cx="7360920" cy="347472"/>
          </a:xfrm>
          <a:prstGeom prst="rect">
            <a:avLst/>
          </a:prstGeom>
          <a:noFill/>
          <a:ln/>
        </p:spPr>
        <p:txBody>
          <a:bodyPr wrap="square" lIns="0" tIns="0" rIns="0" bIns="0" rtlCol="0" anchor="ctr">
            <a:normAutofit/>
          </a:bodyPr>
          <a:lstStyle/>
          <a:p>
            <a:pPr marL="0" indent="0" algn="ctr" rtl="1">
              <a:buNone/>
            </a:pPr>
            <a:r>
              <a:rPr lang="en-US" sz="2000" b="1" dirty="0">
                <a:solidFill>
                  <a:srgbClr val="C0392B"/>
                </a:solidFill>
                <a:latin typeface="Noto Sans Arabic" pitchFamily="34" charset="0"/>
                <a:ea typeface="Noto Sans Arabic" pitchFamily="34" charset="-122"/>
                <a:cs typeface="Noto Sans Arabic" pitchFamily="34" charset="-120"/>
              </a:rPr>
              <a:t>هیچ داده‌ای از بیمار مبتلا به دوشن برای آموزش مدل‌ها استفاده نشده است.</a:t>
            </a:r>
            <a:endParaRPr lang="en-US" sz="2000" dirty="0"/>
          </a:p>
        </p:txBody>
      </p:sp>
      <p:sp>
        <p:nvSpPr>
          <p:cNvPr id="37" name="Text 35"/>
          <p:cNvSpPr/>
          <p:nvPr/>
        </p:nvSpPr>
        <p:spPr>
          <a:xfrm>
            <a:off x="2103120" y="4828032"/>
            <a:ext cx="7360920" cy="274320"/>
          </a:xfrm>
          <a:prstGeom prst="rect">
            <a:avLst/>
          </a:prstGeom>
          <a:noFill/>
          <a:ln/>
        </p:spPr>
        <p:txBody>
          <a:bodyPr wrap="square" lIns="0" tIns="0" rIns="0" bIns="0" rtlCol="0" anchor="ctr">
            <a:normAutofit/>
          </a:bodyPr>
          <a:lstStyle/>
          <a:p>
            <a:pPr marL="0" indent="0" algn="ctr" rtl="1">
              <a:buNone/>
            </a:pPr>
            <a:r>
              <a:rPr lang="en-US" sz="1350" dirty="0">
                <a:solidFill>
                  <a:srgbClr val="1F2937"/>
                </a:solidFill>
                <a:latin typeface="Noto Sans Arabic" pitchFamily="34" charset="0"/>
                <a:ea typeface="Noto Sans Arabic" pitchFamily="34" charset="-122"/>
                <a:cs typeface="Noto Sans Arabic" pitchFamily="34" charset="-120"/>
              </a:rPr>
              <a:t>نتایج این پژوهش باید به‌عنوان امکان‌سنجی فنی تفسیر شوند، نه اثبات کاربرد بالینی.</a:t>
            </a:r>
            <a:endParaRPr lang="en-US" sz="1350" dirty="0"/>
          </a:p>
        </p:txBody>
      </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0" name="Text 38"/>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۲ از ۶: مقدمه و تعریف مسئله | ۱۰ اسلاید تا پایان</a:t>
            </a:r>
            <a:endParaRPr lang="en-US" sz="920" dirty="0"/>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۴ / ۱۴</a:t>
            </a:r>
            <a:endParaRPr lang="en-US" sz="1020" dirty="0"/>
          </a:p>
        </p:txBody>
      </p:sp>
      <p:sp>
        <p:nvSpPr>
          <p:cNvPr id="42" name="Shape 40"/>
          <p:cNvSpPr/>
          <p:nvPr/>
        </p:nvSpPr>
        <p:spPr>
          <a:xfrm>
            <a:off x="2560320" y="6766560"/>
            <a:ext cx="1881051" cy="41148"/>
          </a:xfrm>
          <a:prstGeom prst="rect">
            <a:avLst/>
          </a:prstGeom>
          <a:solidFill>
            <a:srgbClr val="0B6E99"/>
          </a:solidFill>
          <a:ln w="12700">
            <a:solidFill>
              <a:srgbClr val="0B6E99"/>
            </a:solidFill>
            <a:prstDash val="solid"/>
          </a:ln>
        </p:spPr>
      </p:sp>
      <p:sp>
        <p:nvSpPr>
          <p:cNvPr id="43" name="Shape 41"/>
          <p:cNvSpPr/>
          <p:nvPr/>
        </p:nvSpPr>
        <p:spPr>
          <a:xfrm>
            <a:off x="4441371" y="6766560"/>
            <a:ext cx="4702629"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ly">
                          <p:cBhvr>
                            <p:cTn id="4" dur="450" fill="hold"/>
                            <p:tgtEl>
                              <p:spTgt spid="28"/>
                            </p:tgtEl>
                          </p:cBhvr>
                        </p:animEffect>
                        <p:animEffect transition="in" filter="fly">
                          <p:cBhvr>
                            <p:cTn id="5" dur="450" fill="hold"/>
                            <p:tgtEl>
                              <p:spTgt spid="29"/>
                            </p:tgtEl>
                          </p:cBhvr>
                        </p:animEffect>
                        <p:animEffect transition="in" filter="fly">
                          <p:cBhvr>
                            <p:cTn id="6" dur="450" fill="hold"/>
                            <p:tgtEl>
                              <p:spTgt spid="30"/>
                            </p:tgtEl>
                          </p:cBhvr>
                        </p:animEffect>
                        <p:animEffect transition="in" filter="fly">
                          <p:cBhvr>
                            <p:cTn id="7" dur="450" fill="hold"/>
                            <p:tgtEl>
                              <p:spTgt spid="31"/>
                            </p:tgtEl>
                          </p:cBhvr>
                        </p:animEffect>
                        <p:animEffect transition="in" filter="fly">
                          <p:cBhvr>
                            <p:cTn id="8" dur="450" fill="hold"/>
                            <p:tgtEl>
                              <p:spTgt spid="32"/>
                            </p:tgtEl>
                          </p:cBhvr>
                        </p:animEffect>
                      </p:childTnLst>
                    </p:cTn>
                  </p:par>
                  <p:par>
                    <p:cTn id="9" fill="hold">
                      <p:stCondLst>
                        <p:cond delay="0"/>
                      </p:stCondLst>
                      <p:childTnLst>
                        <p:animEffect transition="in" filter="fly">
                          <p:cBhvr>
                            <p:cTn id="10" dur="450" fill="hold"/>
                            <p:tgtEl>
                              <p:spTgt spid="22"/>
                            </p:tgtEl>
                          </p:cBhvr>
                        </p:animEffect>
                        <p:animEffect transition="in" filter="fly">
                          <p:cBhvr>
                            <p:cTn id="11" dur="450" fill="hold"/>
                            <p:tgtEl>
                              <p:spTgt spid="23"/>
                            </p:tgtEl>
                          </p:cBhvr>
                        </p:animEffect>
                        <p:animEffect transition="in" filter="fly">
                          <p:cBhvr>
                            <p:cTn id="12" dur="450" fill="hold"/>
                            <p:tgtEl>
                              <p:spTgt spid="24"/>
                            </p:tgtEl>
                          </p:cBhvr>
                        </p:animEffect>
                        <p:animEffect transition="in" filter="fly">
                          <p:cBhvr>
                            <p:cTn id="13" dur="450" fill="hold"/>
                            <p:tgtEl>
                              <p:spTgt spid="25"/>
                            </p:tgtEl>
                          </p:cBhvr>
                        </p:animEffect>
                        <p:animEffect transition="in" filter="fly">
                          <p:cBhvr>
                            <p:cTn id="14" dur="450" fill="hold"/>
                            <p:tgtEl>
                              <p:spTgt spid="26"/>
                            </p:tgtEl>
                          </p:cBhvr>
                        </p:animEffect>
                        <p:animEffect transition="in" filter="fly">
                          <p:cBhvr>
                            <p:cTn id="15" dur="450" fill="hold"/>
                            <p:tgtEl>
                              <p:spTgt spid="27"/>
                            </p:tgtEl>
                          </p:cBhvr>
                        </p:animEffect>
                      </p:childTnLst>
                    </p:cTn>
                  </p:par>
                  <p:par>
                    <p:cTn id="16" fill="hold">
                      <p:stCondLst>
                        <p:cond delay="0"/>
                      </p:stCondLst>
                      <p:childTnLst>
                        <p:animEffect transition="in" filter="fly">
                          <p:cBhvr>
                            <p:cTn id="17" dur="450" fill="hold"/>
                            <p:tgtEl>
                              <p:spTgt spid="16"/>
                            </p:tgtEl>
                          </p:cBhvr>
                        </p:animEffect>
                        <p:animEffect transition="in" filter="fly">
                          <p:cBhvr>
                            <p:cTn id="18" dur="450" fill="hold"/>
                            <p:tgtEl>
                              <p:spTgt spid="17"/>
                            </p:tgtEl>
                          </p:cBhvr>
                        </p:animEffect>
                        <p:animEffect transition="in" filter="fly">
                          <p:cBhvr>
                            <p:cTn id="19" dur="450" fill="hold"/>
                            <p:tgtEl>
                              <p:spTgt spid="18"/>
                            </p:tgtEl>
                          </p:cBhvr>
                        </p:animEffect>
                        <p:animEffect transition="in" filter="fly">
                          <p:cBhvr>
                            <p:cTn id="20" dur="450" fill="hold"/>
                            <p:tgtEl>
                              <p:spTgt spid="19"/>
                            </p:tgtEl>
                          </p:cBhvr>
                        </p:animEffect>
                        <p:animEffect transition="in" filter="fly">
                          <p:cBhvr>
                            <p:cTn id="21" dur="450" fill="hold"/>
                            <p:tgtEl>
                              <p:spTgt spid="20"/>
                            </p:tgtEl>
                          </p:cBhvr>
                        </p:animEffect>
                        <p:animEffect transition="in" filter="fly">
                          <p:cBhvr>
                            <p:cTn id="22" dur="450" fill="hold"/>
                            <p:tgtEl>
                              <p:spTgt spid="21"/>
                            </p:tgtEl>
                          </p:cBhvr>
                        </p:animEffect>
                      </p:childTnLst>
                    </p:cTn>
                  </p:par>
                  <p:par>
                    <p:cTn id="23" fill="hold">
                      <p:stCondLst>
                        <p:cond delay="0"/>
                      </p:stCondLst>
                      <p:childTnLst>
                        <p:animEffect transition="in" filter="fly">
                          <p:cBhvr>
                            <p:cTn id="24" dur="450" fill="hold"/>
                            <p:tgtEl>
                              <p:spTgt spid="10"/>
                            </p:tgtEl>
                          </p:cBhvr>
                        </p:animEffect>
                        <p:animEffect transition="in" filter="fly">
                          <p:cBhvr>
                            <p:cTn id="25" dur="450" fill="hold"/>
                            <p:tgtEl>
                              <p:spTgt spid="11"/>
                            </p:tgtEl>
                          </p:cBhvr>
                        </p:animEffect>
                        <p:animEffect transition="in" filter="fly">
                          <p:cBhvr>
                            <p:cTn id="26" dur="450" fill="hold"/>
                            <p:tgtEl>
                              <p:spTgt spid="12"/>
                            </p:tgtEl>
                          </p:cBhvr>
                        </p:animEffect>
                        <p:animEffect transition="in" filter="fly">
                          <p:cBhvr>
                            <p:cTn id="27" dur="450" fill="hold"/>
                            <p:tgtEl>
                              <p:spTgt spid="13"/>
                            </p:tgtEl>
                          </p:cBhvr>
                        </p:animEffect>
                        <p:animEffect transition="in" filter="fly">
                          <p:cBhvr>
                            <p:cTn id="28" dur="450" fill="hold"/>
                            <p:tgtEl>
                              <p:spTgt spid="14"/>
                            </p:tgtEl>
                          </p:cBhvr>
                        </p:animEffect>
                        <p:animEffect transition="in" filter="fly">
                          <p:cBhvr>
                            <p:cTn id="29" dur="450" fill="hold"/>
                            <p:tgtEl>
                              <p:spTgt spid="15"/>
                            </p:tgtEl>
                          </p:cBhvr>
                        </p:animEffect>
                      </p:childTnLst>
                    </p:cTn>
                  </p:par>
                  <p:par>
                    <p:cTn id="30" fill="hold">
                      <p:stCondLst>
                        <p:cond delay="0"/>
                      </p:stCondLst>
                      <p:childTnLst>
                        <p:animEffect transition="in" filter="zoom">
                          <p:cBhvr>
                            <p:cTn id="31" dur="500" fill="hold"/>
                            <p:tgtEl>
                              <p:spTgt spid="33"/>
                            </p:tgtEl>
                          </p:cBhvr>
                        </p:animEffect>
                        <p:animEffect transition="in" filter="zoom">
                          <p:cBhvr>
                            <p:cTn id="32" dur="500" fill="hold"/>
                            <p:tgtEl>
                              <p:spTgt spid="34"/>
                            </p:tgtEl>
                          </p:cBhvr>
                        </p:animEffect>
                        <p:animEffect transition="in" filter="zoom">
                          <p:cBhvr>
                            <p:cTn id="33" dur="500" fill="hold"/>
                            <p:tgtEl>
                              <p:spTgt spid="35"/>
                            </p:tgtEl>
                          </p:cBhvr>
                        </p:animEffect>
                        <p:animEffect transition="in" filter="zoom">
                          <p:cBhvr>
                            <p:cTn id="34" dur="500" fill="hold"/>
                            <p:tgtEl>
                              <p:spTgt spid="36"/>
                            </p:tgtEl>
                          </p:cBhvr>
                        </p:animEffect>
                        <p:animEffect transition="in" filter="zoom">
                          <p:cBhvr>
                            <p:cTn id="35" dur="500" fill="hold"/>
                            <p:tgtEl>
                              <p:spTgt spid="37"/>
                            </p:tgtEl>
                          </p:cBhvr>
                        </p:animEffect>
                      </p:childTnLst>
                    </p:cTn>
                  </p:par>
                </p:childTnLst>
              </p:cTn>
            </p:seq>
          </p:childTnLst>
        </p:cTn>
      </p:par>
    </p:tnLst>
    <p:bldLst>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پیاده‌سازی سخت‌افزار</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سامانه داده‌برداری و محل نصب حسگرها</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۵ / ۱۴</a:t>
            </a:r>
            <a:endParaRPr lang="en-US" sz="1080" dirty="0"/>
          </a:p>
        </p:txBody>
      </p:sp>
      <p:sp>
        <p:nvSpPr>
          <p:cNvPr id="7" name="Shape 5"/>
          <p:cNvSpPr/>
          <p:nvPr/>
        </p:nvSpPr>
        <p:spPr>
          <a:xfrm>
            <a:off x="658368" y="1463040"/>
            <a:ext cx="5166360" cy="4681728"/>
          </a:xfrm>
          <a:prstGeom prst="roundRect">
            <a:avLst>
              <a:gd name="adj" fmla="val 1563"/>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pic>
        <p:nvPicPr>
          <p:cNvPr id="8" name="Image 0" descr="/mnt/data/dmd_assets/crops/sensor_photos.png"/>
          <p:cNvPicPr>
            <a:picLocks noChangeAspect="1"/>
          </p:cNvPicPr>
          <p:nvPr/>
        </p:nvPicPr>
        <p:blipFill>
          <a:blip r:embed="rId3"/>
          <a:srcRect t="12484" b="12484"/>
          <a:stretch/>
        </p:blipFill>
        <p:spPr>
          <a:xfrm>
            <a:off x="841248" y="1691640"/>
            <a:ext cx="4800600" cy="2240280"/>
          </a:xfrm>
          <a:prstGeom prst="rect">
            <a:avLst/>
          </a:prstGeom>
        </p:spPr>
      </p:pic>
      <p:sp>
        <p:nvSpPr>
          <p:cNvPr id="9" name="Text 6"/>
          <p:cNvSpPr/>
          <p:nvPr/>
        </p:nvSpPr>
        <p:spPr>
          <a:xfrm>
            <a:off x="932688" y="4023360"/>
            <a:ext cx="4617720" cy="329184"/>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Noto Sans Arabic" pitchFamily="34" charset="0"/>
                <a:ea typeface="Noto Sans Arabic" pitchFamily="34" charset="-122"/>
                <a:cs typeface="Noto Sans Arabic" pitchFamily="34" charset="-120"/>
              </a:rPr>
              <a:t>نمونه نصب حسگر روی مچ دست و بالای قوزک خارجی</a:t>
            </a:r>
            <a:endParaRPr lang="en-US" sz="1220" dirty="0"/>
          </a:p>
        </p:txBody>
      </p:sp>
      <p:sp>
        <p:nvSpPr>
          <p:cNvPr id="10" name="Shape 7"/>
          <p:cNvSpPr/>
          <p:nvPr/>
        </p:nvSpPr>
        <p:spPr>
          <a:xfrm>
            <a:off x="896112" y="4617720"/>
            <a:ext cx="1051560" cy="1005840"/>
          </a:xfrm>
          <a:prstGeom prst="roundRect">
            <a:avLst>
              <a:gd name="adj" fmla="val 7273"/>
            </a:avLst>
          </a:prstGeom>
          <a:solidFill>
            <a:srgbClr val="EEF4F8"/>
          </a:solidFill>
          <a:ln w="12700">
            <a:solidFill>
              <a:srgbClr val="D8E5EC"/>
            </a:solidFill>
            <a:prstDash val="solid"/>
          </a:ln>
        </p:spPr>
      </p:sp>
      <p:sp>
        <p:nvSpPr>
          <p:cNvPr id="11" name="Text 8"/>
          <p:cNvSpPr/>
          <p:nvPr/>
        </p:nvSpPr>
        <p:spPr>
          <a:xfrm>
            <a:off x="95097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Noto Sans Arabic" pitchFamily="34" charset="0"/>
                <a:ea typeface="Noto Sans Arabic" pitchFamily="34" charset="-122"/>
                <a:cs typeface="Noto Sans Arabic" pitchFamily="34" charset="-120"/>
              </a:rPr>
              <a:t>۵</a:t>
            </a:r>
            <a:endParaRPr lang="en-US" sz="1900" dirty="0"/>
          </a:p>
        </p:txBody>
      </p:sp>
      <p:sp>
        <p:nvSpPr>
          <p:cNvPr id="12" name="Text 9"/>
          <p:cNvSpPr/>
          <p:nvPr/>
        </p:nvSpPr>
        <p:spPr>
          <a:xfrm>
            <a:off x="95097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حسگر</a:t>
            </a:r>
            <a:endParaRPr lang="en-US" sz="1050" dirty="0"/>
          </a:p>
        </p:txBody>
      </p:sp>
      <p:sp>
        <p:nvSpPr>
          <p:cNvPr id="13" name="Shape 10"/>
          <p:cNvSpPr/>
          <p:nvPr/>
        </p:nvSpPr>
        <p:spPr>
          <a:xfrm>
            <a:off x="2084832" y="4617720"/>
            <a:ext cx="1051560" cy="1005840"/>
          </a:xfrm>
          <a:prstGeom prst="roundRect">
            <a:avLst>
              <a:gd name="adj" fmla="val 7273"/>
            </a:avLst>
          </a:prstGeom>
          <a:solidFill>
            <a:srgbClr val="EEF4F8"/>
          </a:solidFill>
          <a:ln w="12700">
            <a:solidFill>
              <a:srgbClr val="D8E5EC"/>
            </a:solidFill>
            <a:prstDash val="solid"/>
          </a:ln>
        </p:spPr>
      </p:sp>
      <p:sp>
        <p:nvSpPr>
          <p:cNvPr id="14" name="Text 11"/>
          <p:cNvSpPr/>
          <p:nvPr/>
        </p:nvSpPr>
        <p:spPr>
          <a:xfrm>
            <a:off x="213969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Noto Sans Arabic" pitchFamily="34" charset="0"/>
                <a:ea typeface="Noto Sans Arabic" pitchFamily="34" charset="-122"/>
                <a:cs typeface="Noto Sans Arabic" pitchFamily="34" charset="-120"/>
              </a:rPr>
              <a:t>۹۰–۱۰۰</a:t>
            </a:r>
            <a:endParaRPr lang="en-US" sz="1900" dirty="0"/>
          </a:p>
        </p:txBody>
      </p:sp>
      <p:sp>
        <p:nvSpPr>
          <p:cNvPr id="15" name="Text 12"/>
          <p:cNvSpPr/>
          <p:nvPr/>
        </p:nvSpPr>
        <p:spPr>
          <a:xfrm>
            <a:off x="213969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هرتز</a:t>
            </a:r>
            <a:endParaRPr lang="en-US" sz="1050" dirty="0"/>
          </a:p>
        </p:txBody>
      </p:sp>
      <p:sp>
        <p:nvSpPr>
          <p:cNvPr id="16" name="Shape 13"/>
          <p:cNvSpPr/>
          <p:nvPr/>
        </p:nvSpPr>
        <p:spPr>
          <a:xfrm>
            <a:off x="3273552" y="4617720"/>
            <a:ext cx="1051560" cy="1005840"/>
          </a:xfrm>
          <a:prstGeom prst="roundRect">
            <a:avLst>
              <a:gd name="adj" fmla="val 7273"/>
            </a:avLst>
          </a:prstGeom>
          <a:solidFill>
            <a:srgbClr val="EEF4F8"/>
          </a:solidFill>
          <a:ln w="12700">
            <a:solidFill>
              <a:srgbClr val="D8E5EC"/>
            </a:solidFill>
            <a:prstDash val="solid"/>
          </a:ln>
        </p:spPr>
      </p:sp>
      <p:sp>
        <p:nvSpPr>
          <p:cNvPr id="17" name="Text 14"/>
          <p:cNvSpPr/>
          <p:nvPr/>
        </p:nvSpPr>
        <p:spPr>
          <a:xfrm>
            <a:off x="332841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Noto Sans Arabic" pitchFamily="34" charset="0"/>
                <a:ea typeface="Noto Sans Arabic" pitchFamily="34" charset="-122"/>
                <a:cs typeface="Noto Sans Arabic" pitchFamily="34" charset="-120"/>
              </a:rPr>
              <a:t>۶</a:t>
            </a:r>
            <a:endParaRPr lang="en-US" sz="1900" dirty="0"/>
          </a:p>
        </p:txBody>
      </p:sp>
      <p:sp>
        <p:nvSpPr>
          <p:cNvPr id="18" name="Text 15"/>
          <p:cNvSpPr/>
          <p:nvPr/>
        </p:nvSpPr>
        <p:spPr>
          <a:xfrm>
            <a:off x="332841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سیگنال/حسگر</a:t>
            </a:r>
            <a:endParaRPr lang="en-US" sz="1050" dirty="0"/>
          </a:p>
        </p:txBody>
      </p:sp>
      <p:sp>
        <p:nvSpPr>
          <p:cNvPr id="19" name="Shape 16"/>
          <p:cNvSpPr/>
          <p:nvPr/>
        </p:nvSpPr>
        <p:spPr>
          <a:xfrm>
            <a:off x="4462272" y="4617720"/>
            <a:ext cx="1051560" cy="1005840"/>
          </a:xfrm>
          <a:prstGeom prst="roundRect">
            <a:avLst>
              <a:gd name="adj" fmla="val 7273"/>
            </a:avLst>
          </a:prstGeom>
          <a:solidFill>
            <a:srgbClr val="E7F4F8"/>
          </a:solidFill>
          <a:ln w="12700">
            <a:solidFill>
              <a:srgbClr val="D8E5EC"/>
            </a:solidFill>
            <a:prstDash val="solid"/>
          </a:ln>
        </p:spPr>
      </p:sp>
      <p:sp>
        <p:nvSpPr>
          <p:cNvPr id="20" name="Text 17"/>
          <p:cNvSpPr/>
          <p:nvPr/>
        </p:nvSpPr>
        <p:spPr>
          <a:xfrm>
            <a:off x="4507992" y="4773168"/>
            <a:ext cx="960120" cy="256032"/>
          </a:xfrm>
          <a:prstGeom prst="rect">
            <a:avLst/>
          </a:prstGeom>
          <a:noFill/>
          <a:ln/>
        </p:spPr>
        <p:txBody>
          <a:bodyPr wrap="square" lIns="0" tIns="0" rIns="0" bIns="0" rtlCol="0" anchor="ctr">
            <a:normAutofit/>
          </a:bodyPr>
          <a:lstStyle/>
          <a:p>
            <a:pPr marL="0" indent="0" algn="ctr">
              <a:buNone/>
            </a:pPr>
            <a:r>
              <a:rPr lang="en-US" sz="1150" b="1" dirty="0">
                <a:solidFill>
                  <a:srgbClr val="0B6E99"/>
                </a:solidFill>
                <a:latin typeface="Aptos" pitchFamily="34" charset="0"/>
                <a:ea typeface="Aptos" pitchFamily="34" charset="-122"/>
                <a:cs typeface="Aptos" pitchFamily="34" charset="-120"/>
              </a:rPr>
              <a:t>Bluetooth</a:t>
            </a:r>
            <a:endParaRPr lang="en-US" sz="1150" dirty="0"/>
          </a:p>
        </p:txBody>
      </p:sp>
      <p:sp>
        <p:nvSpPr>
          <p:cNvPr id="21" name="Text 18"/>
          <p:cNvSpPr/>
          <p:nvPr/>
        </p:nvSpPr>
        <p:spPr>
          <a:xfrm>
            <a:off x="451713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Noto Sans Arabic" pitchFamily="34" charset="0"/>
                <a:ea typeface="Noto Sans Arabic" pitchFamily="34" charset="-122"/>
                <a:cs typeface="Noto Sans Arabic" pitchFamily="34" charset="-120"/>
              </a:rPr>
              <a:t>ارتباط</a:t>
            </a:r>
            <a:endParaRPr lang="en-US" sz="1050" dirty="0"/>
          </a:p>
        </p:txBody>
      </p:sp>
      <p:sp>
        <p:nvSpPr>
          <p:cNvPr id="22" name="Shape 19"/>
          <p:cNvSpPr/>
          <p:nvPr/>
        </p:nvSpPr>
        <p:spPr>
          <a:xfrm>
            <a:off x="6080760" y="1463040"/>
            <a:ext cx="5440680" cy="4681728"/>
          </a:xfrm>
          <a:prstGeom prst="roundRect">
            <a:avLst>
              <a:gd name="adj" fmla="val 1563"/>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pic>
        <p:nvPicPr>
          <p:cNvPr id="23" name="Image 1" descr="/mnt/data/dmd_assets/crops/sensor_body.png"/>
          <p:cNvPicPr>
            <a:picLocks noChangeAspect="1"/>
          </p:cNvPicPr>
          <p:nvPr/>
        </p:nvPicPr>
        <p:blipFill>
          <a:blip r:embed="rId4"/>
          <a:stretch>
            <a:fillRect/>
          </a:stretch>
        </p:blipFill>
        <p:spPr>
          <a:xfrm>
            <a:off x="6565392" y="2218073"/>
            <a:ext cx="2194560" cy="2037806"/>
          </a:xfrm>
          <a:prstGeom prst="rect">
            <a:avLst/>
          </a:prstGeom>
        </p:spPr>
      </p:pic>
      <p:sp>
        <p:nvSpPr>
          <p:cNvPr id="24" name="Shape 20"/>
          <p:cNvSpPr/>
          <p:nvPr/>
        </p:nvSpPr>
        <p:spPr>
          <a:xfrm>
            <a:off x="8851392" y="1847088"/>
            <a:ext cx="2331720" cy="804672"/>
          </a:xfrm>
          <a:prstGeom prst="roundRect">
            <a:avLst>
              <a:gd name="adj" fmla="val 9091"/>
            </a:avLst>
          </a:prstGeom>
          <a:solidFill>
            <a:srgbClr val="FFFFFF"/>
          </a:solidFill>
          <a:ln w="15875">
            <a:solidFill>
              <a:srgbClr val="0B6E99"/>
            </a:solidFill>
            <a:prstDash val="solid"/>
          </a:ln>
        </p:spPr>
      </p:sp>
      <p:sp>
        <p:nvSpPr>
          <p:cNvPr id="25" name="Text 21"/>
          <p:cNvSpPr/>
          <p:nvPr/>
        </p:nvSpPr>
        <p:spPr>
          <a:xfrm>
            <a:off x="9052560" y="1938528"/>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Noto Sans Arabic" pitchFamily="34" charset="0"/>
                <a:ea typeface="Noto Sans Arabic" pitchFamily="34" charset="-122"/>
                <a:cs typeface="Noto Sans Arabic" pitchFamily="34" charset="-120"/>
              </a:rPr>
              <a:t>پیشانی</a:t>
            </a:r>
            <a:endParaRPr lang="en-US" sz="1400" dirty="0"/>
          </a:p>
        </p:txBody>
      </p:sp>
      <p:sp>
        <p:nvSpPr>
          <p:cNvPr id="26" name="Text 22"/>
          <p:cNvSpPr/>
          <p:nvPr/>
        </p:nvSpPr>
        <p:spPr>
          <a:xfrm>
            <a:off x="9052560" y="2212848"/>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حرکت سر و کنترل تنه</a:t>
            </a:r>
            <a:endParaRPr lang="en-US" sz="1070" dirty="0"/>
          </a:p>
        </p:txBody>
      </p:sp>
      <p:sp>
        <p:nvSpPr>
          <p:cNvPr id="27" name="Shape 23"/>
          <p:cNvSpPr/>
          <p:nvPr/>
        </p:nvSpPr>
        <p:spPr>
          <a:xfrm>
            <a:off x="8851392" y="2926080"/>
            <a:ext cx="2331720" cy="804672"/>
          </a:xfrm>
          <a:prstGeom prst="roundRect">
            <a:avLst>
              <a:gd name="adj" fmla="val 9091"/>
            </a:avLst>
          </a:prstGeom>
          <a:solidFill>
            <a:srgbClr val="FFFFFF"/>
          </a:solidFill>
          <a:ln w="15875">
            <a:solidFill>
              <a:srgbClr val="0B7A75"/>
            </a:solidFill>
            <a:prstDash val="solid"/>
          </a:ln>
        </p:spPr>
      </p:sp>
      <p:sp>
        <p:nvSpPr>
          <p:cNvPr id="28" name="Text 24"/>
          <p:cNvSpPr/>
          <p:nvPr/>
        </p:nvSpPr>
        <p:spPr>
          <a:xfrm>
            <a:off x="9052560" y="3017520"/>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Noto Sans Arabic" pitchFamily="34" charset="0"/>
                <a:ea typeface="Noto Sans Arabic" pitchFamily="34" charset="-122"/>
                <a:cs typeface="Noto Sans Arabic" pitchFamily="34" charset="-120"/>
              </a:rPr>
              <a:t>پشت مچ دو دست</a:t>
            </a:r>
            <a:endParaRPr lang="en-US" sz="1400" dirty="0"/>
          </a:p>
        </p:txBody>
      </p:sp>
      <p:sp>
        <p:nvSpPr>
          <p:cNvPr id="29" name="Text 25"/>
          <p:cNvSpPr/>
          <p:nvPr/>
        </p:nvSpPr>
        <p:spPr>
          <a:xfrm>
            <a:off x="9052560" y="3291840"/>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الگوهای جبرانی اندام فوقانی</a:t>
            </a:r>
            <a:endParaRPr lang="en-US" sz="1070" dirty="0"/>
          </a:p>
        </p:txBody>
      </p:sp>
      <p:sp>
        <p:nvSpPr>
          <p:cNvPr id="30" name="Shape 26"/>
          <p:cNvSpPr/>
          <p:nvPr/>
        </p:nvSpPr>
        <p:spPr>
          <a:xfrm>
            <a:off x="8851392" y="4005072"/>
            <a:ext cx="2331720" cy="804672"/>
          </a:xfrm>
          <a:prstGeom prst="roundRect">
            <a:avLst>
              <a:gd name="adj" fmla="val 9091"/>
            </a:avLst>
          </a:prstGeom>
          <a:solidFill>
            <a:srgbClr val="FFFFFF"/>
          </a:solidFill>
          <a:ln w="15875">
            <a:solidFill>
              <a:srgbClr val="2F855A"/>
            </a:solidFill>
            <a:prstDash val="solid"/>
          </a:ln>
        </p:spPr>
      </p:sp>
      <p:sp>
        <p:nvSpPr>
          <p:cNvPr id="31" name="Text 27"/>
          <p:cNvSpPr/>
          <p:nvPr/>
        </p:nvSpPr>
        <p:spPr>
          <a:xfrm>
            <a:off x="9052560" y="4096512"/>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Noto Sans Arabic" pitchFamily="34" charset="0"/>
                <a:ea typeface="Noto Sans Arabic" pitchFamily="34" charset="-122"/>
                <a:cs typeface="Noto Sans Arabic" pitchFamily="34" charset="-120"/>
              </a:rPr>
              <a:t>بالای قوزک خارجی دو پا</a:t>
            </a:r>
            <a:endParaRPr lang="en-US" sz="1400" dirty="0"/>
          </a:p>
        </p:txBody>
      </p:sp>
      <p:sp>
        <p:nvSpPr>
          <p:cNvPr id="32" name="Text 28"/>
          <p:cNvSpPr/>
          <p:nvPr/>
        </p:nvSpPr>
        <p:spPr>
          <a:xfrm>
            <a:off x="9052560" y="4370832"/>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حرکت اندام تحتانی و تعادل</a:t>
            </a:r>
            <a:endParaRPr lang="en-US" sz="1070" dirty="0"/>
          </a:p>
        </p:txBody>
      </p:sp>
      <p:sp>
        <p:nvSpPr>
          <p:cNvPr id="33" name="Text 29"/>
          <p:cNvSpPr/>
          <p:nvPr/>
        </p:nvSpPr>
        <p:spPr>
          <a:xfrm>
            <a:off x="6492240" y="5239512"/>
            <a:ext cx="4572000" cy="384048"/>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Noto Sans Arabic" pitchFamily="34" charset="0"/>
                <a:ea typeface="Noto Sans Arabic" pitchFamily="34" charset="-122"/>
                <a:cs typeface="Noto Sans Arabic" pitchFamily="34" charset="-120"/>
              </a:rPr>
              <a:t>برد: LILYGO T-Wristband  |  حسگر: MPU9250  |  پردازنده: ESP32-Pico-D4</a:t>
            </a:r>
            <a:endParaRPr lang="en-US" sz="1220" dirty="0"/>
          </a:p>
        </p:txBody>
      </p:sp>
      <p:sp>
        <p:nvSpPr>
          <p:cNvPr id="34" name="Shape 30"/>
          <p:cNvSpPr/>
          <p:nvPr/>
        </p:nvSpPr>
        <p:spPr>
          <a:xfrm>
            <a:off x="658368" y="6473952"/>
            <a:ext cx="10881360" cy="0"/>
          </a:xfrm>
          <a:prstGeom prst="line">
            <a:avLst/>
          </a:prstGeom>
          <a:noFill/>
          <a:ln w="10160">
            <a:solidFill>
              <a:srgbClr val="E9EEF2"/>
            </a:solidFill>
            <a:prstDash val="solid"/>
          </a:ln>
        </p:spPr>
      </p:sp>
      <p:sp>
        <p:nvSpPr>
          <p:cNvPr id="35" name="Text 31"/>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36" name="Text 32"/>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۳ از ۶: روش و پیاده‌سازی | ۹ اسلاید تا پایان</a:t>
            </a:r>
            <a:endParaRPr lang="en-US" sz="920" dirty="0"/>
          </a:p>
        </p:txBody>
      </p:sp>
      <p:sp>
        <p:nvSpPr>
          <p:cNvPr id="37" name="Text 33"/>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۵ / ۱۴</a:t>
            </a:r>
            <a:endParaRPr lang="en-US" sz="1020" dirty="0"/>
          </a:p>
        </p:txBody>
      </p:sp>
      <p:sp>
        <p:nvSpPr>
          <p:cNvPr id="38" name="Shape 34"/>
          <p:cNvSpPr/>
          <p:nvPr/>
        </p:nvSpPr>
        <p:spPr>
          <a:xfrm>
            <a:off x="2560320" y="6766560"/>
            <a:ext cx="2351314" cy="41148"/>
          </a:xfrm>
          <a:prstGeom prst="rect">
            <a:avLst/>
          </a:prstGeom>
          <a:solidFill>
            <a:srgbClr val="0B6E99"/>
          </a:solidFill>
          <a:ln w="12700">
            <a:solidFill>
              <a:srgbClr val="0B6E99"/>
            </a:solidFill>
            <a:prstDash val="solid"/>
          </a:ln>
        </p:spPr>
      </p:sp>
      <p:sp>
        <p:nvSpPr>
          <p:cNvPr id="39" name="Shape 35"/>
          <p:cNvSpPr/>
          <p:nvPr/>
        </p:nvSpPr>
        <p:spPr>
          <a:xfrm>
            <a:off x="4911634" y="6766560"/>
            <a:ext cx="4232366" cy="41148"/>
          </a:xfrm>
          <a:prstGeom prst="rect">
            <a:avLst/>
          </a:prstGeom>
          <a:solidFill>
            <a:srgbClr val="E6EDF2"/>
          </a:solidFill>
          <a:ln w="12700">
            <a:solidFill>
              <a:srgbClr val="E6EDF2"/>
            </a:solidFill>
            <a:prstDash val="solid"/>
          </a:ln>
        </p:spPr>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450" fill="hold"/>
                            <p:tgtEl>
                              <p:spTgt spid="7"/>
                            </p:tgtEl>
                          </p:cBhvr>
                        </p:animEffect>
                        <p:animEffect transition="in" filter="fade">
                          <p:cBhvr>
                            <p:cTn id="5" dur="450" fill="hold"/>
                            <p:tgtEl>
                              <p:spTgt spid="8"/>
                            </p:tgtEl>
                          </p:cBhvr>
                        </p:animEffect>
                        <p:animEffect transition="in" filter="fade">
                          <p:cBhvr>
                            <p:cTn id="6" dur="450" fill="hold"/>
                            <p:tgtEl>
                              <p:spTgt spid="9"/>
                            </p:tgtEl>
                          </p:cBhvr>
                        </p:animEffect>
                      </p:childTnLst>
                    </p:cTn>
                  </p:par>
                  <p:par>
                    <p:cTn id="7" fill="hold">
                      <p:stCondLst>
                        <p:cond delay="0"/>
                      </p:stCondLst>
                      <p:childTnLst>
                        <p:animEffect transition="in" filter="zoom">
                          <p:cBhvr>
                            <p:cTn id="8" dur="450" fill="hold"/>
                            <p:tgtEl>
                              <p:spTgt spid="10"/>
                            </p:tgtEl>
                          </p:cBhvr>
                        </p:animEffect>
                        <p:animEffect transition="in" filter="zoom">
                          <p:cBhvr>
                            <p:cTn id="9" dur="450" fill="hold"/>
                            <p:tgtEl>
                              <p:spTgt spid="11"/>
                            </p:tgtEl>
                          </p:cBhvr>
                        </p:animEffect>
                        <p:animEffect transition="in" filter="zoom">
                          <p:cBhvr>
                            <p:cTn id="10" dur="450" fill="hold"/>
                            <p:tgtEl>
                              <p:spTgt spid="12"/>
                            </p:tgtEl>
                          </p:cBhvr>
                        </p:animEffect>
                        <p:animEffect transition="in" filter="zoom">
                          <p:cBhvr>
                            <p:cTn id="11" dur="450" fill="hold"/>
                            <p:tgtEl>
                              <p:spTgt spid="13"/>
                            </p:tgtEl>
                          </p:cBhvr>
                        </p:animEffect>
                        <p:animEffect transition="in" filter="zoom">
                          <p:cBhvr>
                            <p:cTn id="12" dur="450" fill="hold"/>
                            <p:tgtEl>
                              <p:spTgt spid="14"/>
                            </p:tgtEl>
                          </p:cBhvr>
                        </p:animEffect>
                        <p:animEffect transition="in" filter="zoom">
                          <p:cBhvr>
                            <p:cTn id="13" dur="450" fill="hold"/>
                            <p:tgtEl>
                              <p:spTgt spid="15"/>
                            </p:tgtEl>
                          </p:cBhvr>
                        </p:animEffect>
                        <p:animEffect transition="in" filter="zoom">
                          <p:cBhvr>
                            <p:cTn id="14" dur="450" fill="hold"/>
                            <p:tgtEl>
                              <p:spTgt spid="16"/>
                            </p:tgtEl>
                          </p:cBhvr>
                        </p:animEffect>
                        <p:animEffect transition="in" filter="zoom">
                          <p:cBhvr>
                            <p:cTn id="15" dur="450" fill="hold"/>
                            <p:tgtEl>
                              <p:spTgt spid="17"/>
                            </p:tgtEl>
                          </p:cBhvr>
                        </p:animEffect>
                        <p:animEffect transition="in" filter="zoom">
                          <p:cBhvr>
                            <p:cTn id="16" dur="450" fill="hold"/>
                            <p:tgtEl>
                              <p:spTgt spid="18"/>
                            </p:tgtEl>
                          </p:cBhvr>
                        </p:animEffect>
                        <p:animEffect transition="in" filter="zoom">
                          <p:cBhvr>
                            <p:cTn id="17" dur="450" fill="hold"/>
                            <p:tgtEl>
                              <p:spTgt spid="19"/>
                            </p:tgtEl>
                          </p:cBhvr>
                        </p:animEffect>
                        <p:animEffect transition="in" filter="zoom">
                          <p:cBhvr>
                            <p:cTn id="18" dur="450" fill="hold"/>
                            <p:tgtEl>
                              <p:spTgt spid="20"/>
                            </p:tgtEl>
                          </p:cBhvr>
                        </p:animEffect>
                        <p:animEffect transition="in" filter="zoom">
                          <p:cBhvr>
                            <p:cTn id="19" dur="450" fill="hold"/>
                            <p:tgtEl>
                              <p:spTgt spid="21"/>
                            </p:tgtEl>
                          </p:cBhvr>
                        </p:animEffect>
                      </p:childTnLst>
                    </p:cTn>
                  </p:par>
                  <p:par>
                    <p:cTn id="20" fill="hold">
                      <p:stCondLst>
                        <p:cond delay="0"/>
                      </p:stCondLst>
                      <p:childTnLst>
                        <p:animEffect transition="in" filter="fly">
                          <p:cBhvr>
                            <p:cTn id="21" dur="450" fill="hold"/>
                            <p:tgtEl>
                              <p:spTgt spid="22"/>
                            </p:tgtEl>
                          </p:cBhvr>
                        </p:animEffect>
                        <p:animEffect transition="in" filter="fly">
                          <p:cBhvr>
                            <p:cTn id="22" dur="450" fill="hold"/>
                            <p:tgtEl>
                              <p:spTgt spid="23"/>
                            </p:tgtEl>
                          </p:cBhvr>
                        </p:animEffect>
                        <p:animEffect transition="in" filter="fly">
                          <p:cBhvr>
                            <p:cTn id="23" dur="450" fill="hold"/>
                            <p:tgtEl>
                              <p:spTgt spid="24"/>
                            </p:tgtEl>
                          </p:cBhvr>
                        </p:animEffect>
                        <p:animEffect transition="in" filter="fly">
                          <p:cBhvr>
                            <p:cTn id="24" dur="450" fill="hold"/>
                            <p:tgtEl>
                              <p:spTgt spid="25"/>
                            </p:tgtEl>
                          </p:cBhvr>
                        </p:animEffect>
                        <p:animEffect transition="in" filter="fly">
                          <p:cBhvr>
                            <p:cTn id="25" dur="450" fill="hold"/>
                            <p:tgtEl>
                              <p:spTgt spid="26"/>
                            </p:tgtEl>
                          </p:cBhvr>
                        </p:animEffect>
                      </p:childTnLst>
                    </p:cTn>
                  </p:par>
                  <p:par>
                    <p:cTn id="26" fill="hold">
                      <p:stCondLst>
                        <p:cond delay="0"/>
                      </p:stCondLst>
                      <p:childTnLst>
                        <p:animEffect transition="in" filter="fly">
                          <p:cBhvr>
                            <p:cTn id="27" dur="450" fill="hold"/>
                            <p:tgtEl>
                              <p:spTgt spid="27"/>
                            </p:tgtEl>
                          </p:cBhvr>
                        </p:animEffect>
                        <p:animEffect transition="in" filter="fly">
                          <p:cBhvr>
                            <p:cTn id="28" dur="450" fill="hold"/>
                            <p:tgtEl>
                              <p:spTgt spid="28"/>
                            </p:tgtEl>
                          </p:cBhvr>
                        </p:animEffect>
                        <p:animEffect transition="in" filter="fly">
                          <p:cBhvr>
                            <p:cTn id="29" dur="450" fill="hold"/>
                            <p:tgtEl>
                              <p:spTgt spid="29"/>
                            </p:tgtEl>
                          </p:cBhvr>
                        </p:animEffect>
                      </p:childTnLst>
                    </p:cTn>
                  </p:par>
                  <p:par>
                    <p:cTn id="30" fill="hold">
                      <p:stCondLst>
                        <p:cond delay="0"/>
                      </p:stCondLst>
                      <p:childTnLst>
                        <p:animEffect transition="in" filter="fly">
                          <p:cBhvr>
                            <p:cTn id="31" dur="450" fill="hold"/>
                            <p:tgtEl>
                              <p:spTgt spid="30"/>
                            </p:tgtEl>
                          </p:cBhvr>
                        </p:animEffect>
                        <p:animEffect transition="in" filter="fly">
                          <p:cBhvr>
                            <p:cTn id="32" dur="450" fill="hold"/>
                            <p:tgtEl>
                              <p:spTgt spid="31"/>
                            </p:tgtEl>
                          </p:cBhvr>
                        </p:animEffect>
                        <p:animEffect transition="in" filter="fly">
                          <p:cBhvr>
                            <p:cTn id="33" dur="450" fill="hold"/>
                            <p:tgtEl>
                              <p:spTgt spid="32"/>
                            </p:tgtEl>
                          </p:cBhvr>
                        </p:animEffect>
                      </p:childTnLst>
                    </p:cTn>
                  </p:par>
                  <p:par>
                    <p:cTn id="34" fill="hold">
                      <p:stCondLst>
                        <p:cond delay="0"/>
                      </p:stCondLst>
                      <p:childTnLst>
                        <p:animEffect transition="in" filter="fade">
                          <p:cBhvr>
                            <p:cTn id="35" dur="400" fill="hold"/>
                            <p:tgtEl>
                              <p:spTgt spid="33"/>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معماری سامانه</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مسیر کامل داده تا پیش‌بینی نمره</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۶ / ۱۴</a:t>
            </a:r>
            <a:endParaRPr lang="en-US" sz="1080" dirty="0"/>
          </a:p>
        </p:txBody>
      </p:sp>
      <p:sp>
        <p:nvSpPr>
          <p:cNvPr id="7" name="Text 5"/>
          <p:cNvSpPr/>
          <p:nvPr/>
        </p:nvSpPr>
        <p:spPr>
          <a:xfrm>
            <a:off x="4023360" y="1417320"/>
            <a:ext cx="69951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Noto Sans Arabic" pitchFamily="34" charset="0"/>
                <a:ea typeface="Noto Sans Arabic" pitchFamily="34" charset="-122"/>
                <a:cs typeface="Noto Sans Arabic" pitchFamily="34" charset="-120"/>
              </a:rPr>
              <a:t>یک زنجیره یکپارچه از ثبت حرکت تا انتخاب مدل نهایی</a:t>
            </a:r>
            <a:endParaRPr lang="en-US" sz="1850" dirty="0"/>
          </a:p>
        </p:txBody>
      </p:sp>
      <p:sp>
        <p:nvSpPr>
          <p:cNvPr id="8" name="Shape 6"/>
          <p:cNvSpPr/>
          <p:nvPr/>
        </p:nvSpPr>
        <p:spPr>
          <a:xfrm>
            <a:off x="530352" y="2267712"/>
            <a:ext cx="1563624" cy="2148840"/>
          </a:xfrm>
          <a:prstGeom prst="roundRect">
            <a:avLst>
              <a:gd name="adj" fmla="val 4678"/>
            </a:avLst>
          </a:prstGeom>
          <a:solidFill>
            <a:srgbClr val="FFFFFF"/>
          </a:solidFill>
          <a:ln w="17780">
            <a:solidFill>
              <a:srgbClr val="0B6E99"/>
            </a:solidFill>
            <a:prstDash val="solid"/>
          </a:ln>
        </p:spPr>
      </p:sp>
      <p:sp>
        <p:nvSpPr>
          <p:cNvPr id="9" name="Shape 7"/>
          <p:cNvSpPr/>
          <p:nvPr/>
        </p:nvSpPr>
        <p:spPr>
          <a:xfrm>
            <a:off x="1024128" y="2523744"/>
            <a:ext cx="576072" cy="576072"/>
          </a:xfrm>
          <a:prstGeom prst="ellipse">
            <a:avLst/>
          </a:prstGeom>
          <a:solidFill>
            <a:srgbClr val="0B6E99"/>
          </a:solidFill>
          <a:ln w="12700">
            <a:solidFill>
              <a:srgbClr val="0B6E99"/>
            </a:solidFill>
            <a:prstDash val="solid"/>
          </a:ln>
        </p:spPr>
      </p:sp>
      <p:sp>
        <p:nvSpPr>
          <p:cNvPr id="10" name="Text 8"/>
          <p:cNvSpPr/>
          <p:nvPr/>
        </p:nvSpPr>
        <p:spPr>
          <a:xfrm>
            <a:off x="102412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64922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اجرای فعالیت</a:t>
            </a:r>
            <a:endParaRPr lang="en-US" sz="1420" dirty="0"/>
          </a:p>
        </p:txBody>
      </p:sp>
      <p:sp>
        <p:nvSpPr>
          <p:cNvPr id="12" name="Text 10"/>
          <p:cNvSpPr/>
          <p:nvPr/>
        </p:nvSpPr>
        <p:spPr>
          <a:xfrm>
            <a:off x="64922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سطح ۰، ۱ یا ۲</a:t>
            </a:r>
            <a:endParaRPr lang="en-US" sz="1080" dirty="0"/>
          </a:p>
        </p:txBody>
      </p:sp>
      <p:sp>
        <p:nvSpPr>
          <p:cNvPr id="13" name="Shape 11"/>
          <p:cNvSpPr/>
          <p:nvPr/>
        </p:nvSpPr>
        <p:spPr>
          <a:xfrm>
            <a:off x="2103120" y="3337560"/>
            <a:ext cx="73152" cy="0"/>
          </a:xfrm>
          <a:prstGeom prst="line">
            <a:avLst/>
          </a:prstGeom>
          <a:noFill/>
          <a:ln w="17780">
            <a:solidFill>
              <a:srgbClr val="94A3B8"/>
            </a:solidFill>
            <a:prstDash val="solid"/>
            <a:headEnd type="none"/>
            <a:tailEnd type="triangle"/>
          </a:ln>
        </p:spPr>
      </p:sp>
      <p:sp>
        <p:nvSpPr>
          <p:cNvPr id="14" name="Shape 12"/>
          <p:cNvSpPr/>
          <p:nvPr/>
        </p:nvSpPr>
        <p:spPr>
          <a:xfrm>
            <a:off x="2185416" y="2267712"/>
            <a:ext cx="1563624" cy="2148840"/>
          </a:xfrm>
          <a:prstGeom prst="roundRect">
            <a:avLst>
              <a:gd name="adj" fmla="val 4678"/>
            </a:avLst>
          </a:prstGeom>
          <a:solidFill>
            <a:srgbClr val="FFFFFF"/>
          </a:solidFill>
          <a:ln w="17780">
            <a:solidFill>
              <a:srgbClr val="1D8AB5"/>
            </a:solidFill>
            <a:prstDash val="solid"/>
          </a:ln>
        </p:spPr>
      </p:sp>
      <p:sp>
        <p:nvSpPr>
          <p:cNvPr id="15" name="Shape 13"/>
          <p:cNvSpPr/>
          <p:nvPr/>
        </p:nvSpPr>
        <p:spPr>
          <a:xfrm>
            <a:off x="2679192" y="2523744"/>
            <a:ext cx="576072" cy="576072"/>
          </a:xfrm>
          <a:prstGeom prst="ellipse">
            <a:avLst/>
          </a:prstGeom>
          <a:solidFill>
            <a:srgbClr val="1D8AB5"/>
          </a:solidFill>
          <a:ln w="12700">
            <a:solidFill>
              <a:srgbClr val="1D8AB5"/>
            </a:solidFill>
            <a:prstDash val="solid"/>
          </a:ln>
        </p:spPr>
      </p:sp>
      <p:sp>
        <p:nvSpPr>
          <p:cNvPr id="16" name="Text 14"/>
          <p:cNvSpPr/>
          <p:nvPr/>
        </p:nvSpPr>
        <p:spPr>
          <a:xfrm>
            <a:off x="267919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7" name="Text 15"/>
          <p:cNvSpPr/>
          <p:nvPr/>
        </p:nvSpPr>
        <p:spPr>
          <a:xfrm>
            <a:off x="230428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ثبت پنج‌حسگری</a:t>
            </a:r>
            <a:endParaRPr lang="en-US" sz="1420" dirty="0"/>
          </a:p>
        </p:txBody>
      </p:sp>
      <p:sp>
        <p:nvSpPr>
          <p:cNvPr id="18" name="Text 16"/>
          <p:cNvSpPr/>
          <p:nvPr/>
        </p:nvSpPr>
        <p:spPr>
          <a:xfrm>
            <a:off x="230428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شتاب و ژیروسکوپ</a:t>
            </a:r>
            <a:endParaRPr lang="en-US" sz="1080" dirty="0"/>
          </a:p>
        </p:txBody>
      </p:sp>
      <p:sp>
        <p:nvSpPr>
          <p:cNvPr id="19" name="Shape 17"/>
          <p:cNvSpPr/>
          <p:nvPr/>
        </p:nvSpPr>
        <p:spPr>
          <a:xfrm>
            <a:off x="3758184" y="3337560"/>
            <a:ext cx="73152" cy="0"/>
          </a:xfrm>
          <a:prstGeom prst="line">
            <a:avLst/>
          </a:prstGeom>
          <a:noFill/>
          <a:ln w="17780">
            <a:solidFill>
              <a:srgbClr val="94A3B8"/>
            </a:solidFill>
            <a:prstDash val="solid"/>
            <a:headEnd type="none"/>
            <a:tailEnd type="triangle"/>
          </a:ln>
        </p:spPr>
      </p:sp>
      <p:sp>
        <p:nvSpPr>
          <p:cNvPr id="20" name="Shape 18"/>
          <p:cNvSpPr/>
          <p:nvPr/>
        </p:nvSpPr>
        <p:spPr>
          <a:xfrm>
            <a:off x="3840480" y="2267712"/>
            <a:ext cx="1563624" cy="2148840"/>
          </a:xfrm>
          <a:prstGeom prst="roundRect">
            <a:avLst>
              <a:gd name="adj" fmla="val 4678"/>
            </a:avLst>
          </a:prstGeom>
          <a:solidFill>
            <a:srgbClr val="FFFFFF"/>
          </a:solidFill>
          <a:ln w="17780">
            <a:solidFill>
              <a:srgbClr val="0B7A75"/>
            </a:solidFill>
            <a:prstDash val="solid"/>
          </a:ln>
        </p:spPr>
      </p:sp>
      <p:sp>
        <p:nvSpPr>
          <p:cNvPr id="21" name="Shape 19"/>
          <p:cNvSpPr/>
          <p:nvPr/>
        </p:nvSpPr>
        <p:spPr>
          <a:xfrm>
            <a:off x="4334256" y="2523744"/>
            <a:ext cx="576072" cy="576072"/>
          </a:xfrm>
          <a:prstGeom prst="ellipse">
            <a:avLst/>
          </a:prstGeom>
          <a:solidFill>
            <a:srgbClr val="0B7A75"/>
          </a:solidFill>
          <a:ln w="12700">
            <a:solidFill>
              <a:srgbClr val="0B7A75"/>
            </a:solidFill>
            <a:prstDash val="solid"/>
          </a:ln>
        </p:spPr>
      </p:sp>
      <p:sp>
        <p:nvSpPr>
          <p:cNvPr id="22" name="Text 20"/>
          <p:cNvSpPr/>
          <p:nvPr/>
        </p:nvSpPr>
        <p:spPr>
          <a:xfrm>
            <a:off x="4334256"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3" name="Text 21"/>
          <p:cNvSpPr/>
          <p:nvPr/>
        </p:nvSpPr>
        <p:spPr>
          <a:xfrm>
            <a:off x="3959352"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دریافت در MATLAB</a:t>
            </a:r>
            <a:endParaRPr lang="en-US" sz="1420" dirty="0"/>
          </a:p>
        </p:txBody>
      </p:sp>
      <p:sp>
        <p:nvSpPr>
          <p:cNvPr id="24" name="Text 22"/>
          <p:cNvSpPr/>
          <p:nvPr/>
        </p:nvSpPr>
        <p:spPr>
          <a:xfrm>
            <a:off x="3959352"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نمایش و ذخیره‌سازی</a:t>
            </a:r>
            <a:endParaRPr lang="en-US" sz="1080" dirty="0"/>
          </a:p>
        </p:txBody>
      </p:sp>
      <p:sp>
        <p:nvSpPr>
          <p:cNvPr id="25" name="Shape 23"/>
          <p:cNvSpPr/>
          <p:nvPr/>
        </p:nvSpPr>
        <p:spPr>
          <a:xfrm>
            <a:off x="5413248" y="3337560"/>
            <a:ext cx="73152" cy="0"/>
          </a:xfrm>
          <a:prstGeom prst="line">
            <a:avLst/>
          </a:prstGeom>
          <a:noFill/>
          <a:ln w="17780">
            <a:solidFill>
              <a:srgbClr val="94A3B8"/>
            </a:solidFill>
            <a:prstDash val="solid"/>
            <a:headEnd type="none"/>
            <a:tailEnd type="triangle"/>
          </a:ln>
        </p:spPr>
      </p:sp>
      <p:sp>
        <p:nvSpPr>
          <p:cNvPr id="26" name="Shape 24"/>
          <p:cNvSpPr/>
          <p:nvPr/>
        </p:nvSpPr>
        <p:spPr>
          <a:xfrm>
            <a:off x="5495544" y="2267712"/>
            <a:ext cx="1563624" cy="2148840"/>
          </a:xfrm>
          <a:prstGeom prst="roundRect">
            <a:avLst>
              <a:gd name="adj" fmla="val 4678"/>
            </a:avLst>
          </a:prstGeom>
          <a:solidFill>
            <a:srgbClr val="FFFFFF"/>
          </a:solidFill>
          <a:ln w="17780">
            <a:solidFill>
              <a:srgbClr val="E69F00"/>
            </a:solidFill>
            <a:prstDash val="solid"/>
          </a:ln>
        </p:spPr>
      </p:sp>
      <p:sp>
        <p:nvSpPr>
          <p:cNvPr id="27" name="Shape 25"/>
          <p:cNvSpPr/>
          <p:nvPr/>
        </p:nvSpPr>
        <p:spPr>
          <a:xfrm>
            <a:off x="5989320" y="2523744"/>
            <a:ext cx="576072" cy="576072"/>
          </a:xfrm>
          <a:prstGeom prst="ellipse">
            <a:avLst/>
          </a:prstGeom>
          <a:solidFill>
            <a:srgbClr val="E69F00"/>
          </a:solidFill>
          <a:ln w="12700">
            <a:solidFill>
              <a:srgbClr val="E69F00"/>
            </a:solidFill>
            <a:prstDash val="solid"/>
          </a:ln>
        </p:spPr>
      </p:sp>
      <p:sp>
        <p:nvSpPr>
          <p:cNvPr id="28" name="Text 26"/>
          <p:cNvSpPr/>
          <p:nvPr/>
        </p:nvSpPr>
        <p:spPr>
          <a:xfrm>
            <a:off x="5989320"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5614416"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پیش‌پردازش</a:t>
            </a:r>
            <a:endParaRPr lang="en-US" sz="1420" dirty="0"/>
          </a:p>
        </p:txBody>
      </p:sp>
      <p:sp>
        <p:nvSpPr>
          <p:cNvPr id="30" name="Text 28"/>
          <p:cNvSpPr/>
          <p:nvPr/>
        </p:nvSpPr>
        <p:spPr>
          <a:xfrm>
            <a:off x="5614416"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بایاس، فیلتر و آماده‌سازی</a:t>
            </a:r>
            <a:endParaRPr lang="en-US" sz="1080" dirty="0"/>
          </a:p>
        </p:txBody>
      </p:sp>
      <p:sp>
        <p:nvSpPr>
          <p:cNvPr id="31" name="Shape 29"/>
          <p:cNvSpPr/>
          <p:nvPr/>
        </p:nvSpPr>
        <p:spPr>
          <a:xfrm>
            <a:off x="7068312" y="3337560"/>
            <a:ext cx="73152" cy="0"/>
          </a:xfrm>
          <a:prstGeom prst="line">
            <a:avLst/>
          </a:prstGeom>
          <a:noFill/>
          <a:ln w="17780">
            <a:solidFill>
              <a:srgbClr val="94A3B8"/>
            </a:solidFill>
            <a:prstDash val="solid"/>
            <a:headEnd type="none"/>
            <a:tailEnd type="triangle"/>
          </a:ln>
        </p:spPr>
      </p:sp>
      <p:sp>
        <p:nvSpPr>
          <p:cNvPr id="32" name="Shape 30"/>
          <p:cNvSpPr/>
          <p:nvPr/>
        </p:nvSpPr>
        <p:spPr>
          <a:xfrm>
            <a:off x="7150608" y="2267712"/>
            <a:ext cx="1563624" cy="2148840"/>
          </a:xfrm>
          <a:prstGeom prst="roundRect">
            <a:avLst>
              <a:gd name="adj" fmla="val 4678"/>
            </a:avLst>
          </a:prstGeom>
          <a:solidFill>
            <a:srgbClr val="FFFFFF"/>
          </a:solidFill>
          <a:ln w="17780">
            <a:solidFill>
              <a:srgbClr val="2F855A"/>
            </a:solidFill>
            <a:prstDash val="solid"/>
          </a:ln>
        </p:spPr>
      </p:sp>
      <p:sp>
        <p:nvSpPr>
          <p:cNvPr id="33" name="Shape 31"/>
          <p:cNvSpPr/>
          <p:nvPr/>
        </p:nvSpPr>
        <p:spPr>
          <a:xfrm>
            <a:off x="7644384" y="2523744"/>
            <a:ext cx="576072" cy="576072"/>
          </a:xfrm>
          <a:prstGeom prst="ellipse">
            <a:avLst/>
          </a:prstGeom>
          <a:solidFill>
            <a:srgbClr val="2F855A"/>
          </a:solidFill>
          <a:ln w="12700">
            <a:solidFill>
              <a:srgbClr val="2F855A"/>
            </a:solidFill>
            <a:prstDash val="solid"/>
          </a:ln>
        </p:spPr>
      </p:sp>
      <p:sp>
        <p:nvSpPr>
          <p:cNvPr id="34" name="Text 32"/>
          <p:cNvSpPr/>
          <p:nvPr/>
        </p:nvSpPr>
        <p:spPr>
          <a:xfrm>
            <a:off x="7644384"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5" name="Text 33"/>
          <p:cNvSpPr/>
          <p:nvPr/>
        </p:nvSpPr>
        <p:spPr>
          <a:xfrm>
            <a:off x="7269480"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استخراج ویژگی</a:t>
            </a:r>
            <a:endParaRPr lang="en-US" sz="1420" dirty="0"/>
          </a:p>
        </p:txBody>
      </p:sp>
      <p:sp>
        <p:nvSpPr>
          <p:cNvPr id="36" name="Text 34"/>
          <p:cNvSpPr/>
          <p:nvPr/>
        </p:nvSpPr>
        <p:spPr>
          <a:xfrm>
            <a:off x="7269480"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۶۹۰ ویژگی برای هر نمونه</a:t>
            </a:r>
            <a:endParaRPr lang="en-US" sz="1080" dirty="0"/>
          </a:p>
        </p:txBody>
      </p:sp>
      <p:sp>
        <p:nvSpPr>
          <p:cNvPr id="37" name="Shape 35"/>
          <p:cNvSpPr/>
          <p:nvPr/>
        </p:nvSpPr>
        <p:spPr>
          <a:xfrm>
            <a:off x="8723376" y="3337560"/>
            <a:ext cx="73152" cy="0"/>
          </a:xfrm>
          <a:prstGeom prst="line">
            <a:avLst/>
          </a:prstGeom>
          <a:noFill/>
          <a:ln w="17780">
            <a:solidFill>
              <a:srgbClr val="94A3B8"/>
            </a:solidFill>
            <a:prstDash val="solid"/>
            <a:headEnd type="none"/>
            <a:tailEnd type="triangle"/>
          </a:ln>
        </p:spPr>
      </p:sp>
      <p:sp>
        <p:nvSpPr>
          <p:cNvPr id="38" name="Shape 36"/>
          <p:cNvSpPr/>
          <p:nvPr/>
        </p:nvSpPr>
        <p:spPr>
          <a:xfrm>
            <a:off x="8805672" y="2267712"/>
            <a:ext cx="1563624" cy="2148840"/>
          </a:xfrm>
          <a:prstGeom prst="roundRect">
            <a:avLst>
              <a:gd name="adj" fmla="val 4678"/>
            </a:avLst>
          </a:prstGeom>
          <a:solidFill>
            <a:srgbClr val="FFFFFF"/>
          </a:solidFill>
          <a:ln w="17780">
            <a:solidFill>
              <a:srgbClr val="6B5BA6"/>
            </a:solidFill>
            <a:prstDash val="solid"/>
          </a:ln>
        </p:spPr>
      </p:sp>
      <p:sp>
        <p:nvSpPr>
          <p:cNvPr id="39" name="Shape 37"/>
          <p:cNvSpPr/>
          <p:nvPr/>
        </p:nvSpPr>
        <p:spPr>
          <a:xfrm>
            <a:off x="9299448" y="2523744"/>
            <a:ext cx="576072" cy="576072"/>
          </a:xfrm>
          <a:prstGeom prst="ellipse">
            <a:avLst/>
          </a:prstGeom>
          <a:solidFill>
            <a:srgbClr val="6B5BA6"/>
          </a:solidFill>
          <a:ln w="12700">
            <a:solidFill>
              <a:srgbClr val="6B5BA6"/>
            </a:solidFill>
            <a:prstDash val="solid"/>
          </a:ln>
        </p:spPr>
      </p:sp>
      <p:sp>
        <p:nvSpPr>
          <p:cNvPr id="40" name="Text 38"/>
          <p:cNvSpPr/>
          <p:nvPr/>
        </p:nvSpPr>
        <p:spPr>
          <a:xfrm>
            <a:off x="929944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6</a:t>
            </a:r>
            <a:endParaRPr lang="en-US" sz="1700" dirty="0"/>
          </a:p>
        </p:txBody>
      </p:sp>
      <p:sp>
        <p:nvSpPr>
          <p:cNvPr id="41" name="Text 39"/>
          <p:cNvSpPr/>
          <p:nvPr/>
        </p:nvSpPr>
        <p:spPr>
          <a:xfrm>
            <a:off x="892454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PCA و مدل‌ها</a:t>
            </a:r>
            <a:endParaRPr lang="en-US" sz="1420" dirty="0"/>
          </a:p>
        </p:txBody>
      </p:sp>
      <p:sp>
        <p:nvSpPr>
          <p:cNvPr id="42" name="Text 40"/>
          <p:cNvSpPr/>
          <p:nvPr/>
        </p:nvSpPr>
        <p:spPr>
          <a:xfrm>
            <a:off x="892454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SVM / KNN / RF</a:t>
            </a:r>
            <a:endParaRPr lang="en-US" sz="1080" dirty="0"/>
          </a:p>
        </p:txBody>
      </p:sp>
      <p:sp>
        <p:nvSpPr>
          <p:cNvPr id="43" name="Shape 41"/>
          <p:cNvSpPr/>
          <p:nvPr/>
        </p:nvSpPr>
        <p:spPr>
          <a:xfrm>
            <a:off x="10378440" y="3337560"/>
            <a:ext cx="73152" cy="0"/>
          </a:xfrm>
          <a:prstGeom prst="line">
            <a:avLst/>
          </a:prstGeom>
          <a:noFill/>
          <a:ln w="17780">
            <a:solidFill>
              <a:srgbClr val="94A3B8"/>
            </a:solidFill>
            <a:prstDash val="solid"/>
            <a:headEnd type="none"/>
            <a:tailEnd type="triangle"/>
          </a:ln>
        </p:spPr>
      </p:sp>
      <p:sp>
        <p:nvSpPr>
          <p:cNvPr id="44" name="Shape 42"/>
          <p:cNvSpPr/>
          <p:nvPr/>
        </p:nvSpPr>
        <p:spPr>
          <a:xfrm>
            <a:off x="10460736" y="2267712"/>
            <a:ext cx="1563624" cy="2148840"/>
          </a:xfrm>
          <a:prstGeom prst="roundRect">
            <a:avLst>
              <a:gd name="adj" fmla="val 4678"/>
            </a:avLst>
          </a:prstGeom>
          <a:solidFill>
            <a:srgbClr val="FFFFFF"/>
          </a:solidFill>
          <a:ln w="17780">
            <a:solidFill>
              <a:srgbClr val="C0392B"/>
            </a:solidFill>
            <a:prstDash val="solid"/>
          </a:ln>
        </p:spPr>
      </p:sp>
      <p:sp>
        <p:nvSpPr>
          <p:cNvPr id="45" name="Shape 43"/>
          <p:cNvSpPr/>
          <p:nvPr/>
        </p:nvSpPr>
        <p:spPr>
          <a:xfrm>
            <a:off x="10954512" y="2523744"/>
            <a:ext cx="576072" cy="576072"/>
          </a:xfrm>
          <a:prstGeom prst="ellipse">
            <a:avLst/>
          </a:prstGeom>
          <a:solidFill>
            <a:srgbClr val="C0392B"/>
          </a:solidFill>
          <a:ln w="12700">
            <a:solidFill>
              <a:srgbClr val="C0392B"/>
            </a:solidFill>
            <a:prstDash val="solid"/>
          </a:ln>
        </p:spPr>
      </p:sp>
      <p:sp>
        <p:nvSpPr>
          <p:cNvPr id="46" name="Text 44"/>
          <p:cNvSpPr/>
          <p:nvPr/>
        </p:nvSpPr>
        <p:spPr>
          <a:xfrm>
            <a:off x="1095451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7</a:t>
            </a:r>
            <a:endParaRPr lang="en-US" sz="1700" dirty="0"/>
          </a:p>
        </p:txBody>
      </p:sp>
      <p:sp>
        <p:nvSpPr>
          <p:cNvPr id="47" name="Text 45"/>
          <p:cNvSpPr/>
          <p:nvPr/>
        </p:nvSpPr>
        <p:spPr>
          <a:xfrm>
            <a:off x="1057960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Noto Sans Arabic" pitchFamily="34" charset="0"/>
                <a:ea typeface="Noto Sans Arabic" pitchFamily="34" charset="-122"/>
                <a:cs typeface="Noto Sans Arabic" pitchFamily="34" charset="-120"/>
              </a:rPr>
              <a:t>ارزیابی و انتخاب</a:t>
            </a:r>
            <a:endParaRPr lang="en-US" sz="1420" dirty="0"/>
          </a:p>
        </p:txBody>
      </p:sp>
      <p:sp>
        <p:nvSpPr>
          <p:cNvPr id="48" name="Text 46"/>
          <p:cNvSpPr/>
          <p:nvPr/>
        </p:nvSpPr>
        <p:spPr>
          <a:xfrm>
            <a:off x="1057960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Noto Sans Arabic" pitchFamily="34" charset="0"/>
                <a:ea typeface="Noto Sans Arabic" pitchFamily="34" charset="-122"/>
                <a:cs typeface="Noto Sans Arabic" pitchFamily="34" charset="-120"/>
              </a:rPr>
              <a:t>اعتبارسنجی متقاطع</a:t>
            </a:r>
            <a:endParaRPr lang="en-US" sz="1080" dirty="0"/>
          </a:p>
        </p:txBody>
      </p:sp>
      <p:sp>
        <p:nvSpPr>
          <p:cNvPr id="49" name="Shape 47"/>
          <p:cNvSpPr/>
          <p:nvPr/>
        </p:nvSpPr>
        <p:spPr>
          <a:xfrm>
            <a:off x="941832" y="4983480"/>
            <a:ext cx="10241280" cy="841248"/>
          </a:xfrm>
          <a:prstGeom prst="roundRect">
            <a:avLst>
              <a:gd name="adj" fmla="val 8696"/>
            </a:avLst>
          </a:prstGeom>
          <a:solidFill>
            <a:srgbClr val="102A43"/>
          </a:solidFill>
          <a:ln w="12700">
            <a:solidFill>
              <a:srgbClr val="102A43"/>
            </a:solidFill>
            <a:prstDash val="solid"/>
          </a:ln>
        </p:spPr>
      </p:sp>
      <p:sp>
        <p:nvSpPr>
          <p:cNvPr id="50" name="Text 48"/>
          <p:cNvSpPr/>
          <p:nvPr/>
        </p:nvSpPr>
        <p:spPr>
          <a:xfrm>
            <a:off x="120700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Arduino</a:t>
            </a:r>
            <a:endParaRPr lang="en-US" sz="1500" dirty="0"/>
          </a:p>
        </p:txBody>
      </p:sp>
      <p:sp>
        <p:nvSpPr>
          <p:cNvPr id="51" name="Text 49"/>
          <p:cNvSpPr/>
          <p:nvPr/>
        </p:nvSpPr>
        <p:spPr>
          <a:xfrm>
            <a:off x="3794760"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MATLAB</a:t>
            </a:r>
            <a:endParaRPr lang="en-US" sz="1500" dirty="0"/>
          </a:p>
        </p:txBody>
      </p:sp>
      <p:sp>
        <p:nvSpPr>
          <p:cNvPr id="52" name="Text 50"/>
          <p:cNvSpPr/>
          <p:nvPr/>
        </p:nvSpPr>
        <p:spPr>
          <a:xfrm>
            <a:off x="641908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Python</a:t>
            </a:r>
            <a:endParaRPr lang="en-US" sz="1500" dirty="0"/>
          </a:p>
        </p:txBody>
      </p:sp>
      <p:sp>
        <p:nvSpPr>
          <p:cNvPr id="53" name="Text 51"/>
          <p:cNvSpPr/>
          <p:nvPr/>
        </p:nvSpPr>
        <p:spPr>
          <a:xfrm>
            <a:off x="8906256" y="5193792"/>
            <a:ext cx="1508760"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Scikit-learn</a:t>
            </a:r>
            <a:endParaRPr lang="en-US" sz="1500" dirty="0"/>
          </a:p>
        </p:txBody>
      </p:sp>
      <p:sp>
        <p:nvSpPr>
          <p:cNvPr id="54" name="Text 52"/>
          <p:cNvSpPr/>
          <p:nvPr/>
        </p:nvSpPr>
        <p:spPr>
          <a:xfrm>
            <a:off x="120700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Noto Sans Arabic" pitchFamily="34" charset="0"/>
                <a:ea typeface="Noto Sans Arabic" pitchFamily="34" charset="-122"/>
                <a:cs typeface="Noto Sans Arabic" pitchFamily="34" charset="-120"/>
              </a:rPr>
              <a:t>نمونه‌برداری</a:t>
            </a:r>
            <a:endParaRPr lang="en-US" sz="970" dirty="0"/>
          </a:p>
        </p:txBody>
      </p:sp>
      <p:sp>
        <p:nvSpPr>
          <p:cNvPr id="55" name="Text 53"/>
          <p:cNvSpPr/>
          <p:nvPr/>
        </p:nvSpPr>
        <p:spPr>
          <a:xfrm>
            <a:off x="3794760"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Noto Sans Arabic" pitchFamily="34" charset="0"/>
                <a:ea typeface="Noto Sans Arabic" pitchFamily="34" charset="-122"/>
                <a:cs typeface="Noto Sans Arabic" pitchFamily="34" charset="-120"/>
              </a:rPr>
              <a:t>دریافت و ذخیره</a:t>
            </a:r>
            <a:endParaRPr lang="en-US" sz="970" dirty="0"/>
          </a:p>
        </p:txBody>
      </p:sp>
      <p:sp>
        <p:nvSpPr>
          <p:cNvPr id="56" name="Text 54"/>
          <p:cNvSpPr/>
          <p:nvPr/>
        </p:nvSpPr>
        <p:spPr>
          <a:xfrm>
            <a:off x="641908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Noto Sans Arabic" pitchFamily="34" charset="0"/>
                <a:ea typeface="Noto Sans Arabic" pitchFamily="34" charset="-122"/>
                <a:cs typeface="Noto Sans Arabic" pitchFamily="34" charset="-120"/>
              </a:rPr>
              <a:t>ویژگی و تحلیل</a:t>
            </a:r>
            <a:endParaRPr lang="en-US" sz="970" dirty="0"/>
          </a:p>
        </p:txBody>
      </p:sp>
      <p:sp>
        <p:nvSpPr>
          <p:cNvPr id="57" name="Text 55"/>
          <p:cNvSpPr/>
          <p:nvPr/>
        </p:nvSpPr>
        <p:spPr>
          <a:xfrm>
            <a:off x="8906256" y="5513832"/>
            <a:ext cx="1508760"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Noto Sans Arabic" pitchFamily="34" charset="0"/>
                <a:ea typeface="Noto Sans Arabic" pitchFamily="34" charset="-122"/>
                <a:cs typeface="Noto Sans Arabic" pitchFamily="34" charset="-120"/>
              </a:rPr>
              <a:t>مدل‌سازی</a:t>
            </a:r>
            <a:endParaRPr lang="en-US" sz="970" dirty="0"/>
          </a:p>
        </p:txBody>
      </p:sp>
      <p:sp>
        <p:nvSpPr>
          <p:cNvPr id="58" name="Shape 56"/>
          <p:cNvSpPr/>
          <p:nvPr/>
        </p:nvSpPr>
        <p:spPr>
          <a:xfrm>
            <a:off x="658368" y="6473952"/>
            <a:ext cx="10881360" cy="0"/>
          </a:xfrm>
          <a:prstGeom prst="line">
            <a:avLst/>
          </a:prstGeom>
          <a:noFill/>
          <a:ln w="10160">
            <a:solidFill>
              <a:srgbClr val="E9EEF2"/>
            </a:solidFill>
            <a:prstDash val="solid"/>
          </a:ln>
        </p:spPr>
      </p:sp>
      <p:sp>
        <p:nvSpPr>
          <p:cNvPr id="59" name="Text 5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60" name="Text 58"/>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۳ از ۶: روش و پیاده‌سازی | ۸ اسلاید تا پایان</a:t>
            </a:r>
            <a:endParaRPr lang="en-US" sz="920" dirty="0"/>
          </a:p>
        </p:txBody>
      </p:sp>
      <p:sp>
        <p:nvSpPr>
          <p:cNvPr id="61" name="Text 5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۶ / ۱۴</a:t>
            </a:r>
            <a:endParaRPr lang="en-US" sz="1020" dirty="0"/>
          </a:p>
        </p:txBody>
      </p:sp>
      <p:sp>
        <p:nvSpPr>
          <p:cNvPr id="62" name="Shape 60"/>
          <p:cNvSpPr/>
          <p:nvPr/>
        </p:nvSpPr>
        <p:spPr>
          <a:xfrm>
            <a:off x="2560320" y="6766560"/>
            <a:ext cx="2821577" cy="41148"/>
          </a:xfrm>
          <a:prstGeom prst="rect">
            <a:avLst/>
          </a:prstGeom>
          <a:solidFill>
            <a:srgbClr val="0B6E99"/>
          </a:solidFill>
          <a:ln w="12700">
            <a:solidFill>
              <a:srgbClr val="0B6E99"/>
            </a:solidFill>
            <a:prstDash val="solid"/>
          </a:ln>
        </p:spPr>
      </p:sp>
      <p:sp>
        <p:nvSpPr>
          <p:cNvPr id="63" name="Shape 61"/>
          <p:cNvSpPr/>
          <p:nvPr/>
        </p:nvSpPr>
        <p:spPr>
          <a:xfrm>
            <a:off x="5381897" y="6766560"/>
            <a:ext cx="3762103" cy="41148"/>
          </a:xfrm>
          <a:prstGeom prst="rect">
            <a:avLst/>
          </a:prstGeom>
          <a:solidFill>
            <a:srgbClr val="E6EDF2"/>
          </a:solidFill>
          <a:ln w="12700">
            <a:solidFill>
              <a:srgbClr val="E6EDF2"/>
            </a:solidFill>
            <a:prstDash val="solid"/>
          </a:ln>
        </p:spPr>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350" fill="hold"/>
                            <p:tgtEl>
                              <p:spTgt spid="8"/>
                            </p:tgtEl>
                          </p:cBhvr>
                        </p:animEffect>
                        <p:animEffect transition="in" filter="fade">
                          <p:cBhvr>
                            <p:cTn id="5" dur="350" fill="hold"/>
                            <p:tgtEl>
                              <p:spTgt spid="9"/>
                            </p:tgtEl>
                          </p:cBhvr>
                        </p:animEffect>
                        <p:animEffect transition="in" filter="fade">
                          <p:cBhvr>
                            <p:cTn id="6" dur="350" fill="hold"/>
                            <p:tgtEl>
                              <p:spTgt spid="10"/>
                            </p:tgtEl>
                          </p:cBhvr>
                        </p:animEffect>
                        <p:animEffect transition="in" filter="fade">
                          <p:cBhvr>
                            <p:cTn id="7" dur="350" fill="hold"/>
                            <p:tgtEl>
                              <p:spTgt spid="11"/>
                            </p:tgtEl>
                          </p:cBhvr>
                        </p:animEffect>
                        <p:animEffect transition="in" filter="fade">
                          <p:cBhvr>
                            <p:cTn id="8" dur="350" fill="hold"/>
                            <p:tgtEl>
                              <p:spTgt spid="12"/>
                            </p:tgtEl>
                          </p:cBhvr>
                        </p:animEffect>
                      </p:childTnLst>
                    </p:cTn>
                  </p:par>
                  <p:par>
                    <p:cTn id="9" fill="hold">
                      <p:stCondLst>
                        <p:cond delay="0"/>
                      </p:stCondLst>
                      <p:childTnLst>
                        <p:animEffect transition="in" filter="fade">
                          <p:cBhvr>
                            <p:cTn id="10" dur="350" fill="hold"/>
                            <p:tgtEl>
                              <p:spTgt spid="13"/>
                            </p:tgtEl>
                          </p:cBhvr>
                        </p:animEffect>
                        <p:animEffect transition="in" filter="fade">
                          <p:cBhvr>
                            <p:cTn id="11" dur="350" fill="hold"/>
                            <p:tgtEl>
                              <p:spTgt spid="14"/>
                            </p:tgtEl>
                          </p:cBhvr>
                        </p:animEffect>
                        <p:animEffect transition="in" filter="fade">
                          <p:cBhvr>
                            <p:cTn id="12" dur="350" fill="hold"/>
                            <p:tgtEl>
                              <p:spTgt spid="15"/>
                            </p:tgtEl>
                          </p:cBhvr>
                        </p:animEffect>
                        <p:animEffect transition="in" filter="fade">
                          <p:cBhvr>
                            <p:cTn id="13" dur="350" fill="hold"/>
                            <p:tgtEl>
                              <p:spTgt spid="16"/>
                            </p:tgtEl>
                          </p:cBhvr>
                        </p:animEffect>
                        <p:animEffect transition="in" filter="fade">
                          <p:cBhvr>
                            <p:cTn id="14" dur="350" fill="hold"/>
                            <p:tgtEl>
                              <p:spTgt spid="17"/>
                            </p:tgtEl>
                          </p:cBhvr>
                        </p:animEffect>
                        <p:animEffect transition="in" filter="fade">
                          <p:cBhvr>
                            <p:cTn id="15" dur="350" fill="hold"/>
                            <p:tgtEl>
                              <p:spTgt spid="18"/>
                            </p:tgtEl>
                          </p:cBhvr>
                        </p:animEffect>
                      </p:childTnLst>
                    </p:cTn>
                  </p:par>
                  <p:par>
                    <p:cTn id="16" fill="hold">
                      <p:stCondLst>
                        <p:cond delay="0"/>
                      </p:stCondLst>
                      <p:childTnLst>
                        <p:animEffect transition="in" filter="fade">
                          <p:cBhvr>
                            <p:cTn id="17" dur="350" fill="hold"/>
                            <p:tgtEl>
                              <p:spTgt spid="19"/>
                            </p:tgtEl>
                          </p:cBhvr>
                        </p:animEffect>
                        <p:animEffect transition="in" filter="fade">
                          <p:cBhvr>
                            <p:cTn id="18" dur="350" fill="hold"/>
                            <p:tgtEl>
                              <p:spTgt spid="20"/>
                            </p:tgtEl>
                          </p:cBhvr>
                        </p:animEffect>
                        <p:animEffect transition="in" filter="fade">
                          <p:cBhvr>
                            <p:cTn id="19" dur="350" fill="hold"/>
                            <p:tgtEl>
                              <p:spTgt spid="21"/>
                            </p:tgtEl>
                          </p:cBhvr>
                        </p:animEffect>
                        <p:animEffect transition="in" filter="fade">
                          <p:cBhvr>
                            <p:cTn id="20" dur="350" fill="hold"/>
                            <p:tgtEl>
                              <p:spTgt spid="22"/>
                            </p:tgtEl>
                          </p:cBhvr>
                        </p:animEffect>
                        <p:animEffect transition="in" filter="fade">
                          <p:cBhvr>
                            <p:cTn id="21" dur="350" fill="hold"/>
                            <p:tgtEl>
                              <p:spTgt spid="23"/>
                            </p:tgtEl>
                          </p:cBhvr>
                        </p:animEffect>
                        <p:animEffect transition="in" filter="fade">
                          <p:cBhvr>
                            <p:cTn id="22" dur="350" fill="hold"/>
                            <p:tgtEl>
                              <p:spTgt spid="24"/>
                            </p:tgtEl>
                          </p:cBhvr>
                        </p:animEffect>
                      </p:childTnLst>
                    </p:cTn>
                  </p:par>
                  <p:par>
                    <p:cTn id="23" fill="hold">
                      <p:stCondLst>
                        <p:cond delay="0"/>
                      </p:stCondLst>
                      <p:childTnLst>
                        <p:animEffect transition="in" filter="fade">
                          <p:cBhvr>
                            <p:cTn id="24" dur="350" fill="hold"/>
                            <p:tgtEl>
                              <p:spTgt spid="25"/>
                            </p:tgtEl>
                          </p:cBhvr>
                        </p:animEffect>
                        <p:animEffect transition="in" filter="fade">
                          <p:cBhvr>
                            <p:cTn id="25" dur="350" fill="hold"/>
                            <p:tgtEl>
                              <p:spTgt spid="26"/>
                            </p:tgtEl>
                          </p:cBhvr>
                        </p:animEffect>
                        <p:animEffect transition="in" filter="fade">
                          <p:cBhvr>
                            <p:cTn id="26" dur="350" fill="hold"/>
                            <p:tgtEl>
                              <p:spTgt spid="27"/>
                            </p:tgtEl>
                          </p:cBhvr>
                        </p:animEffect>
                        <p:animEffect transition="in" filter="fade">
                          <p:cBhvr>
                            <p:cTn id="27" dur="350" fill="hold"/>
                            <p:tgtEl>
                              <p:spTgt spid="28"/>
                            </p:tgtEl>
                          </p:cBhvr>
                        </p:animEffect>
                        <p:animEffect transition="in" filter="fade">
                          <p:cBhvr>
                            <p:cTn id="28" dur="350" fill="hold"/>
                            <p:tgtEl>
                              <p:spTgt spid="29"/>
                            </p:tgtEl>
                          </p:cBhvr>
                        </p:animEffect>
                        <p:animEffect transition="in" filter="fade">
                          <p:cBhvr>
                            <p:cTn id="29" dur="350" fill="hold"/>
                            <p:tgtEl>
                              <p:spTgt spid="30"/>
                            </p:tgtEl>
                          </p:cBhvr>
                        </p:animEffect>
                      </p:childTnLst>
                    </p:cTn>
                  </p:par>
                  <p:par>
                    <p:cTn id="30" fill="hold">
                      <p:stCondLst>
                        <p:cond delay="0"/>
                      </p:stCondLst>
                      <p:childTnLst>
                        <p:animEffect transition="in" filter="fade">
                          <p:cBhvr>
                            <p:cTn id="31" dur="350" fill="hold"/>
                            <p:tgtEl>
                              <p:spTgt spid="31"/>
                            </p:tgtEl>
                          </p:cBhvr>
                        </p:animEffect>
                        <p:animEffect transition="in" filter="fade">
                          <p:cBhvr>
                            <p:cTn id="32" dur="350" fill="hold"/>
                            <p:tgtEl>
                              <p:spTgt spid="32"/>
                            </p:tgtEl>
                          </p:cBhvr>
                        </p:animEffect>
                        <p:animEffect transition="in" filter="fade">
                          <p:cBhvr>
                            <p:cTn id="33" dur="350" fill="hold"/>
                            <p:tgtEl>
                              <p:spTgt spid="33"/>
                            </p:tgtEl>
                          </p:cBhvr>
                        </p:animEffect>
                        <p:animEffect transition="in" filter="fade">
                          <p:cBhvr>
                            <p:cTn id="34" dur="350" fill="hold"/>
                            <p:tgtEl>
                              <p:spTgt spid="34"/>
                            </p:tgtEl>
                          </p:cBhvr>
                        </p:animEffect>
                        <p:animEffect transition="in" filter="fade">
                          <p:cBhvr>
                            <p:cTn id="35" dur="350" fill="hold"/>
                            <p:tgtEl>
                              <p:spTgt spid="35"/>
                            </p:tgtEl>
                          </p:cBhvr>
                        </p:animEffect>
                        <p:animEffect transition="in" filter="fade">
                          <p:cBhvr>
                            <p:cTn id="36" dur="350" fill="hold"/>
                            <p:tgtEl>
                              <p:spTgt spid="36"/>
                            </p:tgtEl>
                          </p:cBhvr>
                        </p:animEffect>
                      </p:childTnLst>
                    </p:cTn>
                  </p:par>
                  <p:par>
                    <p:cTn id="37" fill="hold">
                      <p:stCondLst>
                        <p:cond delay="0"/>
                      </p:stCondLst>
                      <p:childTnLst>
                        <p:animEffect transition="in" filter="fade">
                          <p:cBhvr>
                            <p:cTn id="38" dur="350" fill="hold"/>
                            <p:tgtEl>
                              <p:spTgt spid="37"/>
                            </p:tgtEl>
                          </p:cBhvr>
                        </p:animEffect>
                        <p:animEffect transition="in" filter="fade">
                          <p:cBhvr>
                            <p:cTn id="39" dur="350" fill="hold"/>
                            <p:tgtEl>
                              <p:spTgt spid="38"/>
                            </p:tgtEl>
                          </p:cBhvr>
                        </p:animEffect>
                        <p:animEffect transition="in" filter="fade">
                          <p:cBhvr>
                            <p:cTn id="40" dur="350" fill="hold"/>
                            <p:tgtEl>
                              <p:spTgt spid="39"/>
                            </p:tgtEl>
                          </p:cBhvr>
                        </p:animEffect>
                        <p:animEffect transition="in" filter="fade">
                          <p:cBhvr>
                            <p:cTn id="41" dur="350" fill="hold"/>
                            <p:tgtEl>
                              <p:spTgt spid="40"/>
                            </p:tgtEl>
                          </p:cBhvr>
                        </p:animEffect>
                        <p:animEffect transition="in" filter="fade">
                          <p:cBhvr>
                            <p:cTn id="42" dur="350" fill="hold"/>
                            <p:tgtEl>
                              <p:spTgt spid="41"/>
                            </p:tgtEl>
                          </p:cBhvr>
                        </p:animEffect>
                        <p:animEffect transition="in" filter="fade">
                          <p:cBhvr>
                            <p:cTn id="43" dur="350" fill="hold"/>
                            <p:tgtEl>
                              <p:spTgt spid="42"/>
                            </p:tgtEl>
                          </p:cBhvr>
                        </p:animEffect>
                      </p:childTnLst>
                    </p:cTn>
                  </p:par>
                  <p:par>
                    <p:cTn id="44" fill="hold">
                      <p:stCondLst>
                        <p:cond delay="0"/>
                      </p:stCondLst>
                      <p:childTnLst>
                        <p:animEffect transition="in" filter="fade">
                          <p:cBhvr>
                            <p:cTn id="45" dur="350" fill="hold"/>
                            <p:tgtEl>
                              <p:spTgt spid="43"/>
                            </p:tgtEl>
                          </p:cBhvr>
                        </p:animEffect>
                        <p:animEffect transition="in" filter="fade">
                          <p:cBhvr>
                            <p:cTn id="46" dur="350" fill="hold"/>
                            <p:tgtEl>
                              <p:spTgt spid="44"/>
                            </p:tgtEl>
                          </p:cBhvr>
                        </p:animEffect>
                        <p:animEffect transition="in" filter="fade">
                          <p:cBhvr>
                            <p:cTn id="47" dur="350" fill="hold"/>
                            <p:tgtEl>
                              <p:spTgt spid="45"/>
                            </p:tgtEl>
                          </p:cBhvr>
                        </p:animEffect>
                        <p:animEffect transition="in" filter="fade">
                          <p:cBhvr>
                            <p:cTn id="48" dur="350" fill="hold"/>
                            <p:tgtEl>
                              <p:spTgt spid="46"/>
                            </p:tgtEl>
                          </p:cBhvr>
                        </p:animEffect>
                        <p:animEffect transition="in" filter="fade">
                          <p:cBhvr>
                            <p:cTn id="49" dur="350" fill="hold"/>
                            <p:tgtEl>
                              <p:spTgt spid="47"/>
                            </p:tgtEl>
                          </p:cBhvr>
                        </p:animEffect>
                        <p:animEffect transition="in" filter="fade">
                          <p:cBhvr>
                            <p:cTn id="50" dur="350" fill="hold"/>
                            <p:tgtEl>
                              <p:spTgt spid="48"/>
                            </p:tgtEl>
                          </p:cBhvr>
                        </p:animEffect>
                      </p:childTnLst>
                    </p:cTn>
                  </p:par>
                  <p:par>
                    <p:cTn id="51" fill="hold">
                      <p:stCondLst>
                        <p:cond delay="0"/>
                      </p:stCondLst>
                      <p:childTnLst>
                        <p:animEffect transition="in" filter="zoom">
                          <p:cBhvr>
                            <p:cTn id="52" dur="450" fill="hold"/>
                            <p:tgtEl>
                              <p:spTgt spid="49"/>
                            </p:tgtEl>
                          </p:cBhvr>
                        </p:animEffect>
                        <p:animEffect transition="in" filter="zoom">
                          <p:cBhvr>
                            <p:cTn id="53" dur="450" fill="hold"/>
                            <p:tgtEl>
                              <p:spTgt spid="50"/>
                            </p:tgtEl>
                          </p:cBhvr>
                        </p:animEffect>
                        <p:animEffect transition="in" filter="zoom">
                          <p:cBhvr>
                            <p:cTn id="54" dur="450" fill="hold"/>
                            <p:tgtEl>
                              <p:spTgt spid="51"/>
                            </p:tgtEl>
                          </p:cBhvr>
                        </p:animEffect>
                        <p:animEffect transition="in" filter="zoom">
                          <p:cBhvr>
                            <p:cTn id="55" dur="450" fill="hold"/>
                            <p:tgtEl>
                              <p:spTgt spid="52"/>
                            </p:tgtEl>
                          </p:cBhvr>
                        </p:animEffect>
                        <p:animEffect transition="in" filter="zoom">
                          <p:cBhvr>
                            <p:cTn id="56" dur="450" fill="hold"/>
                            <p:tgtEl>
                              <p:spTgt spid="53"/>
                            </p:tgtEl>
                          </p:cBhvr>
                        </p:animEffect>
                        <p:animEffect transition="in" filter="zoom">
                          <p:cBhvr>
                            <p:cTn id="57" dur="450" fill="hold"/>
                            <p:tgtEl>
                              <p:spTgt spid="54"/>
                            </p:tgtEl>
                          </p:cBhvr>
                        </p:animEffect>
                        <p:animEffect transition="in" filter="zoom">
                          <p:cBhvr>
                            <p:cTn id="58" dur="450" fill="hold"/>
                            <p:tgtEl>
                              <p:spTgt spid="55"/>
                            </p:tgtEl>
                          </p:cBhvr>
                        </p:animEffect>
                        <p:animEffect transition="in" filter="zoom">
                          <p:cBhvr>
                            <p:cTn id="59" dur="450" fill="hold"/>
                            <p:tgtEl>
                              <p:spTgt spid="56"/>
                            </p:tgtEl>
                          </p:cBhvr>
                        </p:animEffect>
                        <p:animEffect transition="in" filter="zoom">
                          <p:cBhvr>
                            <p:cTn id="60" dur="450" fill="hold"/>
                            <p:tgtEl>
                              <p:spTgt spid="57"/>
                            </p:tgtEl>
                          </p:cBhvr>
                        </p:animEffect>
                      </p:childTnLst>
                    </p:cTn>
                  </p:par>
                </p:childTnLst>
              </p:cTn>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پردازش سیگنال و ویژگی‌ها</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از سیگنال خام تا بردار ۶۹۰ ویژگی</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۷ / ۱۴</a:t>
            </a:r>
            <a:endParaRPr lang="en-US" sz="1080" dirty="0"/>
          </a:p>
        </p:txBody>
      </p:sp>
      <p:sp>
        <p:nvSpPr>
          <p:cNvPr id="7" name="Shape 5"/>
          <p:cNvSpPr/>
          <p:nvPr/>
        </p:nvSpPr>
        <p:spPr>
          <a:xfrm>
            <a:off x="658368" y="1481328"/>
            <a:ext cx="55321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4370832" y="1737360"/>
            <a:ext cx="146304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4480560" y="1755648"/>
            <a:ext cx="1243584" cy="310896"/>
          </a:xfrm>
          <a:prstGeom prst="rect">
            <a:avLst/>
          </a:prstGeom>
          <a:noFill/>
          <a:ln/>
        </p:spPr>
        <p:txBody>
          <a:bodyPr wrap="square" lIns="0" tIns="0" rIns="0" bIns="0" rtlCol="0" anchor="ctr">
            <a:normAutofit/>
          </a:bodyPr>
          <a:lstStyle/>
          <a:p>
            <a:pPr marL="0" indent="0" algn="ctr" rtl="1">
              <a:buNone/>
            </a:pPr>
            <a:r>
              <a:rPr lang="en-US" sz="1350" b="1" dirty="0">
                <a:solidFill>
                  <a:srgbClr val="0B6E99"/>
                </a:solidFill>
                <a:latin typeface="Noto Sans Arabic" pitchFamily="34" charset="0"/>
                <a:ea typeface="Noto Sans Arabic" pitchFamily="34" charset="-122"/>
                <a:cs typeface="Noto Sans Arabic" pitchFamily="34" charset="-120"/>
              </a:rPr>
              <a:t>پیش‌پردازش</a:t>
            </a:r>
            <a:endParaRPr lang="en-US" sz="1350" dirty="0"/>
          </a:p>
        </p:txBody>
      </p:sp>
      <p:pic>
        <p:nvPicPr>
          <p:cNvPr id="10" name="Image 0" descr="/mnt/data/dmd_assets/crops/signal_schematic.png"/>
          <p:cNvPicPr>
            <a:picLocks noChangeAspect="1"/>
          </p:cNvPicPr>
          <p:nvPr/>
        </p:nvPicPr>
        <p:blipFill>
          <a:blip r:embed="rId3"/>
          <a:stretch>
            <a:fillRect/>
          </a:stretch>
        </p:blipFill>
        <p:spPr>
          <a:xfrm>
            <a:off x="1071786" y="2130552"/>
            <a:ext cx="4513260" cy="1591056"/>
          </a:xfrm>
          <a:prstGeom prst="rect">
            <a:avLst/>
          </a:prstGeom>
        </p:spPr>
      </p:pic>
      <p:sp>
        <p:nvSpPr>
          <p:cNvPr id="11" name="Text 8"/>
          <p:cNvSpPr/>
          <p:nvPr/>
        </p:nvSpPr>
        <p:spPr>
          <a:xfrm>
            <a:off x="1042416" y="3877056"/>
            <a:ext cx="594360" cy="237744"/>
          </a:xfrm>
          <a:prstGeom prst="rect">
            <a:avLst/>
          </a:prstGeom>
          <a:noFill/>
          <a:ln/>
        </p:spPr>
        <p:txBody>
          <a:bodyPr wrap="square" lIns="0" tIns="0" rIns="0" bIns="0" rtlCol="0" anchor="ctr">
            <a:normAutofit/>
          </a:bodyPr>
          <a:lstStyle/>
          <a:p>
            <a:pPr marL="0" indent="0" algn="l" rtl="1">
              <a:buNone/>
            </a:pPr>
            <a:r>
              <a:rPr lang="en-US" sz="1150" dirty="0">
                <a:solidFill>
                  <a:srgbClr val="94A3B8"/>
                </a:solidFill>
                <a:latin typeface="Noto Sans Arabic" pitchFamily="34" charset="0"/>
                <a:ea typeface="Noto Sans Arabic" pitchFamily="34" charset="-122"/>
                <a:cs typeface="Noto Sans Arabic" pitchFamily="34" charset="-120"/>
              </a:rPr>
              <a:t>خام</a:t>
            </a:r>
            <a:endParaRPr lang="en-US" sz="1150" dirty="0"/>
          </a:p>
        </p:txBody>
      </p:sp>
      <p:sp>
        <p:nvSpPr>
          <p:cNvPr id="12" name="Shape 9"/>
          <p:cNvSpPr/>
          <p:nvPr/>
        </p:nvSpPr>
        <p:spPr>
          <a:xfrm>
            <a:off x="1536192" y="3995928"/>
            <a:ext cx="475488" cy="0"/>
          </a:xfrm>
          <a:prstGeom prst="line">
            <a:avLst/>
          </a:prstGeom>
          <a:noFill/>
          <a:ln w="25400">
            <a:solidFill>
              <a:srgbClr val="94A3B8"/>
            </a:solidFill>
            <a:prstDash val="solid"/>
          </a:ln>
        </p:spPr>
      </p:sp>
      <p:sp>
        <p:nvSpPr>
          <p:cNvPr id="13" name="Text 10"/>
          <p:cNvSpPr/>
          <p:nvPr/>
        </p:nvSpPr>
        <p:spPr>
          <a:xfrm>
            <a:off x="2167128" y="3877056"/>
            <a:ext cx="914400" cy="237744"/>
          </a:xfrm>
          <a:prstGeom prst="rect">
            <a:avLst/>
          </a:prstGeom>
          <a:noFill/>
          <a:ln/>
        </p:spPr>
        <p:txBody>
          <a:bodyPr wrap="square" lIns="0" tIns="0" rIns="0" bIns="0" rtlCol="0" anchor="ctr">
            <a:normAutofit/>
          </a:bodyPr>
          <a:lstStyle/>
          <a:p>
            <a:pPr marL="0" indent="0" algn="l" rtl="1">
              <a:buNone/>
            </a:pPr>
            <a:r>
              <a:rPr lang="en-US" sz="1150" dirty="0">
                <a:solidFill>
                  <a:srgbClr val="0B6E99"/>
                </a:solidFill>
                <a:latin typeface="Noto Sans Arabic" pitchFamily="34" charset="0"/>
                <a:ea typeface="Noto Sans Arabic" pitchFamily="34" charset="-122"/>
                <a:cs typeface="Noto Sans Arabic" pitchFamily="34" charset="-120"/>
              </a:rPr>
              <a:t>فیلترشده</a:t>
            </a:r>
            <a:endParaRPr lang="en-US" sz="1150" dirty="0"/>
          </a:p>
        </p:txBody>
      </p:sp>
      <p:sp>
        <p:nvSpPr>
          <p:cNvPr id="14" name="Shape 11"/>
          <p:cNvSpPr/>
          <p:nvPr/>
        </p:nvSpPr>
        <p:spPr>
          <a:xfrm>
            <a:off x="2980944" y="3995928"/>
            <a:ext cx="475488" cy="0"/>
          </a:xfrm>
          <a:prstGeom prst="line">
            <a:avLst/>
          </a:prstGeom>
          <a:noFill/>
          <a:ln w="25400">
            <a:solidFill>
              <a:srgbClr val="0B6E99"/>
            </a:solidFill>
            <a:prstDash val="solid"/>
          </a:ln>
        </p:spPr>
      </p:sp>
      <p:sp>
        <p:nvSpPr>
          <p:cNvPr id="15" name="Shape 12"/>
          <p:cNvSpPr/>
          <p:nvPr/>
        </p:nvSpPr>
        <p:spPr>
          <a:xfrm>
            <a:off x="5605272" y="4517136"/>
            <a:ext cx="91440" cy="91440"/>
          </a:xfrm>
          <a:prstGeom prst="ellipse">
            <a:avLst/>
          </a:prstGeom>
          <a:solidFill>
            <a:srgbClr val="0B6E99"/>
          </a:solidFill>
          <a:ln w="12700">
            <a:solidFill>
              <a:srgbClr val="0B6E99"/>
            </a:solidFill>
            <a:prstDash val="solid"/>
          </a:ln>
        </p:spPr>
      </p:sp>
      <p:sp>
        <p:nvSpPr>
          <p:cNvPr id="16" name="Text 13"/>
          <p:cNvSpPr/>
          <p:nvPr/>
        </p:nvSpPr>
        <p:spPr>
          <a:xfrm>
            <a:off x="1051560" y="4370832"/>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Noto Sans Arabic" pitchFamily="34" charset="0"/>
                <a:ea typeface="Noto Sans Arabic" pitchFamily="34" charset="-122"/>
                <a:cs typeface="Noto Sans Arabic" pitchFamily="34" charset="-120"/>
              </a:rPr>
              <a:t>حذف خطای پیش‌مقدار ژیروسکوپ</a:t>
            </a:r>
            <a:endParaRPr lang="en-US" sz="1250" dirty="0"/>
          </a:p>
        </p:txBody>
      </p:sp>
      <p:sp>
        <p:nvSpPr>
          <p:cNvPr id="17" name="Shape 14"/>
          <p:cNvSpPr/>
          <p:nvPr/>
        </p:nvSpPr>
        <p:spPr>
          <a:xfrm>
            <a:off x="5605272" y="4901184"/>
            <a:ext cx="91440" cy="91440"/>
          </a:xfrm>
          <a:prstGeom prst="ellipse">
            <a:avLst/>
          </a:prstGeom>
          <a:solidFill>
            <a:srgbClr val="0B6E99"/>
          </a:solidFill>
          <a:ln w="12700">
            <a:solidFill>
              <a:srgbClr val="0B6E99"/>
            </a:solidFill>
            <a:prstDash val="solid"/>
          </a:ln>
        </p:spPr>
      </p:sp>
      <p:sp>
        <p:nvSpPr>
          <p:cNvPr id="18" name="Text 15"/>
          <p:cNvSpPr/>
          <p:nvPr/>
        </p:nvSpPr>
        <p:spPr>
          <a:xfrm>
            <a:off x="1051560" y="4754880"/>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Noto Sans Arabic" pitchFamily="34" charset="0"/>
                <a:ea typeface="Noto Sans Arabic" pitchFamily="34" charset="-122"/>
                <a:cs typeface="Noto Sans Arabic" pitchFamily="34" charset="-120"/>
              </a:rPr>
              <a:t>فیلتر پایین‌گذر باترورث مرتبه ۴، قطع ۴ هرتز</a:t>
            </a:r>
            <a:endParaRPr lang="en-US" sz="1250" dirty="0"/>
          </a:p>
        </p:txBody>
      </p:sp>
      <p:sp>
        <p:nvSpPr>
          <p:cNvPr id="19" name="Shape 16"/>
          <p:cNvSpPr/>
          <p:nvPr/>
        </p:nvSpPr>
        <p:spPr>
          <a:xfrm>
            <a:off x="5605272" y="5285232"/>
            <a:ext cx="91440" cy="91440"/>
          </a:xfrm>
          <a:prstGeom prst="ellipse">
            <a:avLst/>
          </a:prstGeom>
          <a:solidFill>
            <a:srgbClr val="0B6E99"/>
          </a:solidFill>
          <a:ln w="12700">
            <a:solidFill>
              <a:srgbClr val="0B6E99"/>
            </a:solidFill>
            <a:prstDash val="solid"/>
          </a:ln>
        </p:spPr>
      </p:sp>
      <p:sp>
        <p:nvSpPr>
          <p:cNvPr id="20" name="Text 17"/>
          <p:cNvSpPr/>
          <p:nvPr/>
        </p:nvSpPr>
        <p:spPr>
          <a:xfrm>
            <a:off x="1051560" y="5138928"/>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Noto Sans Arabic" pitchFamily="34" charset="0"/>
                <a:ea typeface="Noto Sans Arabic" pitchFamily="34" charset="-122"/>
                <a:cs typeface="Noto Sans Arabic" pitchFamily="34" charset="-120"/>
              </a:rPr>
              <a:t>اعمال دوطرفه برای جلوگیری از تأخیر فازی</a:t>
            </a:r>
            <a:endParaRPr lang="en-US" sz="1250" dirty="0"/>
          </a:p>
        </p:txBody>
      </p:sp>
      <p:sp>
        <p:nvSpPr>
          <p:cNvPr id="21" name="Shape 18"/>
          <p:cNvSpPr/>
          <p:nvPr/>
        </p:nvSpPr>
        <p:spPr>
          <a:xfrm>
            <a:off x="6419088" y="1481328"/>
            <a:ext cx="5102352" cy="4526280"/>
          </a:xfrm>
          <a:prstGeom prst="roundRect">
            <a:avLst>
              <a:gd name="adj" fmla="val 16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2" name="Shape 19"/>
          <p:cNvSpPr/>
          <p:nvPr/>
        </p:nvSpPr>
        <p:spPr>
          <a:xfrm>
            <a:off x="9601200" y="1737360"/>
            <a:ext cx="1572768" cy="347472"/>
          </a:xfrm>
          <a:prstGeom prst="roundRect">
            <a:avLst>
              <a:gd name="adj" fmla="val 47368"/>
            </a:avLst>
          </a:prstGeom>
          <a:solidFill>
            <a:srgbClr val="E8F5EE"/>
          </a:solidFill>
          <a:ln w="12700">
            <a:solidFill>
              <a:srgbClr val="E8F5EE"/>
            </a:solidFill>
            <a:prstDash val="solid"/>
          </a:ln>
        </p:spPr>
      </p:sp>
      <p:sp>
        <p:nvSpPr>
          <p:cNvPr id="23" name="Text 20"/>
          <p:cNvSpPr/>
          <p:nvPr/>
        </p:nvSpPr>
        <p:spPr>
          <a:xfrm>
            <a:off x="9710928" y="1755648"/>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2F855A"/>
                </a:solidFill>
                <a:latin typeface="Noto Sans Arabic" pitchFamily="34" charset="0"/>
                <a:ea typeface="Noto Sans Arabic" pitchFamily="34" charset="-122"/>
                <a:cs typeface="Noto Sans Arabic" pitchFamily="34" charset="-120"/>
              </a:rPr>
              <a:t>استخراج ویژگی</a:t>
            </a:r>
            <a:endParaRPr lang="en-US" sz="1350" dirty="0"/>
          </a:p>
        </p:txBody>
      </p:sp>
      <p:sp>
        <p:nvSpPr>
          <p:cNvPr id="24" name="Text 21"/>
          <p:cNvSpPr/>
          <p:nvPr/>
        </p:nvSpPr>
        <p:spPr>
          <a:xfrm>
            <a:off x="9710928" y="2359152"/>
            <a:ext cx="1389888" cy="411480"/>
          </a:xfrm>
          <a:prstGeom prst="rect">
            <a:avLst/>
          </a:prstGeom>
          <a:noFill/>
          <a:ln/>
        </p:spPr>
        <p:txBody>
          <a:bodyPr wrap="square" lIns="0" tIns="0" rIns="0" bIns="0" rtlCol="0" anchor="ctr">
            <a:normAutofit/>
          </a:bodyPr>
          <a:lstStyle/>
          <a:p>
            <a:pPr marL="0" indent="0" algn="ctr" rtl="1">
              <a:buNone/>
            </a:pPr>
            <a:r>
              <a:rPr lang="en-US" sz="2100" b="1" dirty="0">
                <a:solidFill>
                  <a:srgbClr val="0B6E99"/>
                </a:solidFill>
                <a:latin typeface="Noto Sans Arabic" pitchFamily="34" charset="0"/>
                <a:ea typeface="Noto Sans Arabic" pitchFamily="34" charset="-122"/>
                <a:cs typeface="Noto Sans Arabic" pitchFamily="34" charset="-120"/>
              </a:rPr>
              <a:t>۵ حسگر</a:t>
            </a:r>
            <a:endParaRPr lang="en-US" sz="2100" dirty="0"/>
          </a:p>
        </p:txBody>
      </p:sp>
      <p:sp>
        <p:nvSpPr>
          <p:cNvPr id="25" name="Text 22"/>
          <p:cNvSpPr/>
          <p:nvPr/>
        </p:nvSpPr>
        <p:spPr>
          <a:xfrm>
            <a:off x="9217152" y="2377440"/>
            <a:ext cx="347472" cy="347472"/>
          </a:xfrm>
          <a:prstGeom prst="rect">
            <a:avLst/>
          </a:prstGeom>
          <a:noFill/>
          <a:ln/>
        </p:spPr>
        <p:txBody>
          <a:bodyPr wrap="square" lIns="0" tIns="0" rIns="0" bIns="0" rtlCol="0" anchor="ctr">
            <a:normAutofit/>
          </a:bodyPr>
          <a:lstStyle/>
          <a:p>
            <a:pPr marL="0" indent="0" algn="ctr">
              <a:buNone/>
            </a:pPr>
            <a:r>
              <a:rPr lang="en-US" sz="2400" b="1" dirty="0">
                <a:solidFill>
                  <a:srgbClr val="64748B"/>
                </a:solidFill>
                <a:latin typeface="Aptos" pitchFamily="34" charset="0"/>
                <a:ea typeface="Aptos" pitchFamily="34" charset="-122"/>
                <a:cs typeface="Aptos" pitchFamily="34" charset="-120"/>
              </a:rPr>
              <a:t>×</a:t>
            </a:r>
            <a:endParaRPr lang="en-US" sz="2400" dirty="0"/>
          </a:p>
        </p:txBody>
      </p:sp>
      <p:sp>
        <p:nvSpPr>
          <p:cNvPr id="26" name="Text 23"/>
          <p:cNvSpPr/>
          <p:nvPr/>
        </p:nvSpPr>
        <p:spPr>
          <a:xfrm>
            <a:off x="7717536" y="2359152"/>
            <a:ext cx="1353312" cy="411480"/>
          </a:xfrm>
          <a:prstGeom prst="rect">
            <a:avLst/>
          </a:prstGeom>
          <a:noFill/>
          <a:ln/>
        </p:spPr>
        <p:txBody>
          <a:bodyPr wrap="square" lIns="0" tIns="0" rIns="0" bIns="0" rtlCol="0" anchor="ctr">
            <a:normAutofit/>
          </a:bodyPr>
          <a:lstStyle/>
          <a:p>
            <a:pPr marL="0" indent="0" algn="ctr" rtl="1">
              <a:buNone/>
            </a:pPr>
            <a:r>
              <a:rPr lang="en-US" sz="2100" b="1" dirty="0">
                <a:solidFill>
                  <a:srgbClr val="0B7A75"/>
                </a:solidFill>
                <a:latin typeface="Noto Sans Arabic" pitchFamily="34" charset="0"/>
                <a:ea typeface="Noto Sans Arabic" pitchFamily="34" charset="-122"/>
                <a:cs typeface="Noto Sans Arabic" pitchFamily="34" charset="-120"/>
              </a:rPr>
              <a:t>۶ سیگنال</a:t>
            </a:r>
            <a:endParaRPr lang="en-US" sz="2100" dirty="0"/>
          </a:p>
        </p:txBody>
      </p:sp>
      <p:sp>
        <p:nvSpPr>
          <p:cNvPr id="27" name="Text 24"/>
          <p:cNvSpPr/>
          <p:nvPr/>
        </p:nvSpPr>
        <p:spPr>
          <a:xfrm>
            <a:off x="7388352" y="2377440"/>
            <a:ext cx="256032" cy="347472"/>
          </a:xfrm>
          <a:prstGeom prst="rect">
            <a:avLst/>
          </a:prstGeom>
          <a:noFill/>
          <a:ln/>
        </p:spPr>
        <p:txBody>
          <a:bodyPr wrap="square" lIns="0" tIns="0" rIns="0" bIns="0" rtlCol="0" anchor="ctr">
            <a:normAutofit/>
          </a:bodyPr>
          <a:lstStyle/>
          <a:p>
            <a:pPr marL="0" indent="0" algn="ctr">
              <a:buNone/>
            </a:pPr>
            <a:r>
              <a:rPr lang="en-US" sz="2400" b="1" dirty="0">
                <a:solidFill>
                  <a:srgbClr val="64748B"/>
                </a:solidFill>
                <a:latin typeface="Aptos" pitchFamily="34" charset="0"/>
                <a:ea typeface="Aptos" pitchFamily="34" charset="-122"/>
                <a:cs typeface="Aptos" pitchFamily="34" charset="-120"/>
              </a:rPr>
              <a:t>×</a:t>
            </a:r>
            <a:endParaRPr lang="en-US" sz="2400" dirty="0"/>
          </a:p>
        </p:txBody>
      </p:sp>
      <p:sp>
        <p:nvSpPr>
          <p:cNvPr id="28" name="Text 25"/>
          <p:cNvSpPr/>
          <p:nvPr/>
        </p:nvSpPr>
        <p:spPr>
          <a:xfrm>
            <a:off x="6419088" y="2359152"/>
            <a:ext cx="896112" cy="411480"/>
          </a:xfrm>
          <a:prstGeom prst="rect">
            <a:avLst/>
          </a:prstGeom>
          <a:noFill/>
          <a:ln/>
        </p:spPr>
        <p:txBody>
          <a:bodyPr wrap="square" lIns="0" tIns="0" rIns="0" bIns="0" rtlCol="0" anchor="ctr">
            <a:normAutofit/>
          </a:bodyPr>
          <a:lstStyle/>
          <a:p>
            <a:pPr marL="0" indent="0" algn="ctr" rtl="1">
              <a:buNone/>
            </a:pPr>
            <a:r>
              <a:rPr lang="en-US" sz="1850" b="1" dirty="0">
                <a:solidFill>
                  <a:srgbClr val="2F855A"/>
                </a:solidFill>
                <a:latin typeface="Noto Sans Arabic" pitchFamily="34" charset="0"/>
                <a:ea typeface="Noto Sans Arabic" pitchFamily="34" charset="-122"/>
                <a:cs typeface="Noto Sans Arabic" pitchFamily="34" charset="-120"/>
              </a:rPr>
              <a:t>۲۳ ویژگی</a:t>
            </a:r>
            <a:endParaRPr lang="en-US" sz="1850" dirty="0"/>
          </a:p>
        </p:txBody>
      </p:sp>
      <p:sp>
        <p:nvSpPr>
          <p:cNvPr id="29" name="Text 26"/>
          <p:cNvSpPr/>
          <p:nvPr/>
        </p:nvSpPr>
        <p:spPr>
          <a:xfrm>
            <a:off x="9290304" y="2944368"/>
            <a:ext cx="420624" cy="384048"/>
          </a:xfrm>
          <a:prstGeom prst="rect">
            <a:avLst/>
          </a:prstGeom>
          <a:noFill/>
          <a:ln/>
        </p:spPr>
        <p:txBody>
          <a:bodyPr wrap="square" lIns="0" tIns="0" rIns="0" bIns="0" rtlCol="0" anchor="ctr">
            <a:normAutofit/>
          </a:bodyPr>
          <a:lstStyle/>
          <a:p>
            <a:pPr marL="0" indent="0" algn="ctr">
              <a:buNone/>
            </a:pPr>
            <a:r>
              <a:rPr lang="en-US" sz="2700" b="1" dirty="0">
                <a:solidFill>
                  <a:srgbClr val="64748B"/>
                </a:solidFill>
                <a:latin typeface="Aptos" pitchFamily="34" charset="0"/>
                <a:ea typeface="Aptos" pitchFamily="34" charset="-122"/>
                <a:cs typeface="Aptos" pitchFamily="34" charset="-120"/>
              </a:rPr>
              <a:t>=</a:t>
            </a:r>
            <a:endParaRPr lang="en-US" sz="2700" dirty="0"/>
          </a:p>
        </p:txBody>
      </p:sp>
      <p:sp>
        <p:nvSpPr>
          <p:cNvPr id="30" name="Text 27"/>
          <p:cNvSpPr/>
          <p:nvPr/>
        </p:nvSpPr>
        <p:spPr>
          <a:xfrm>
            <a:off x="6766560" y="2880360"/>
            <a:ext cx="2377440" cy="502920"/>
          </a:xfrm>
          <a:prstGeom prst="rect">
            <a:avLst/>
          </a:prstGeom>
          <a:noFill/>
          <a:ln/>
        </p:spPr>
        <p:txBody>
          <a:bodyPr wrap="square" lIns="0" tIns="0" rIns="0" bIns="0" rtlCol="0" anchor="ctr">
            <a:normAutofit/>
          </a:bodyPr>
          <a:lstStyle/>
          <a:p>
            <a:pPr marL="0" indent="0" algn="ctr" rtl="1">
              <a:buNone/>
            </a:pPr>
            <a:r>
              <a:rPr lang="en-US" sz="2300" b="1" dirty="0">
                <a:solidFill>
                  <a:srgbClr val="102A43"/>
                </a:solidFill>
                <a:latin typeface="Noto Sans Arabic" pitchFamily="34" charset="0"/>
                <a:ea typeface="Noto Sans Arabic" pitchFamily="34" charset="-122"/>
                <a:cs typeface="Noto Sans Arabic" pitchFamily="34" charset="-120"/>
              </a:rPr>
              <a:t>۶۹۰ ویژگی برای هر نمونه</a:t>
            </a:r>
            <a:endParaRPr lang="en-US" sz="2300" dirty="0"/>
          </a:p>
        </p:txBody>
      </p:sp>
      <p:sp>
        <p:nvSpPr>
          <p:cNvPr id="31" name="Text 28"/>
          <p:cNvSpPr/>
          <p:nvPr/>
        </p:nvSpPr>
        <p:spPr>
          <a:xfrm>
            <a:off x="9326880" y="3703320"/>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Noto Sans Arabic" pitchFamily="34" charset="0"/>
                <a:ea typeface="Noto Sans Arabic" pitchFamily="34" charset="-122"/>
                <a:cs typeface="Noto Sans Arabic" pitchFamily="34" charset="-120"/>
              </a:rPr>
              <a:t>مرکزی</a:t>
            </a:r>
            <a:endParaRPr lang="en-US" sz="1170" dirty="0"/>
          </a:p>
        </p:txBody>
      </p:sp>
      <p:sp>
        <p:nvSpPr>
          <p:cNvPr id="32" name="Text 29"/>
          <p:cNvSpPr/>
          <p:nvPr/>
        </p:nvSpPr>
        <p:spPr>
          <a:xfrm>
            <a:off x="6812280" y="3703320"/>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میانگین، میانه</a:t>
            </a:r>
            <a:endParaRPr lang="en-US" sz="1070" dirty="0"/>
          </a:p>
        </p:txBody>
      </p:sp>
      <p:sp>
        <p:nvSpPr>
          <p:cNvPr id="33" name="Text 30"/>
          <p:cNvSpPr/>
          <p:nvPr/>
        </p:nvSpPr>
        <p:spPr>
          <a:xfrm>
            <a:off x="9326880" y="4087368"/>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Noto Sans Arabic" pitchFamily="34" charset="0"/>
                <a:ea typeface="Noto Sans Arabic" pitchFamily="34" charset="-122"/>
                <a:cs typeface="Noto Sans Arabic" pitchFamily="34" charset="-120"/>
              </a:rPr>
              <a:t>پراکندگی</a:t>
            </a:r>
            <a:endParaRPr lang="en-US" sz="1170" dirty="0"/>
          </a:p>
        </p:txBody>
      </p:sp>
      <p:sp>
        <p:nvSpPr>
          <p:cNvPr id="34" name="Text 31"/>
          <p:cNvSpPr/>
          <p:nvPr/>
        </p:nvSpPr>
        <p:spPr>
          <a:xfrm>
            <a:off x="6812280" y="4087368"/>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انحراف معیار، IQR، دامنه</a:t>
            </a:r>
            <a:endParaRPr lang="en-US" sz="1070" dirty="0"/>
          </a:p>
        </p:txBody>
      </p:sp>
      <p:sp>
        <p:nvSpPr>
          <p:cNvPr id="35" name="Text 32"/>
          <p:cNvSpPr/>
          <p:nvPr/>
        </p:nvSpPr>
        <p:spPr>
          <a:xfrm>
            <a:off x="9326880" y="4471416"/>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Noto Sans Arabic" pitchFamily="34" charset="0"/>
                <a:ea typeface="Noto Sans Arabic" pitchFamily="34" charset="-122"/>
                <a:cs typeface="Noto Sans Arabic" pitchFamily="34" charset="-120"/>
              </a:rPr>
              <a:t>شدت</a:t>
            </a:r>
            <a:endParaRPr lang="en-US" sz="1170" dirty="0"/>
          </a:p>
        </p:txBody>
      </p:sp>
      <p:sp>
        <p:nvSpPr>
          <p:cNvPr id="36" name="Text 33"/>
          <p:cNvSpPr/>
          <p:nvPr/>
        </p:nvSpPr>
        <p:spPr>
          <a:xfrm>
            <a:off x="6812280" y="4471416"/>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RMS، انرژی، قدر مطلق</a:t>
            </a:r>
            <a:endParaRPr lang="en-US" sz="1070" dirty="0"/>
          </a:p>
        </p:txBody>
      </p:sp>
      <p:sp>
        <p:nvSpPr>
          <p:cNvPr id="37" name="Text 34"/>
          <p:cNvSpPr/>
          <p:nvPr/>
        </p:nvSpPr>
        <p:spPr>
          <a:xfrm>
            <a:off x="9326880" y="4855464"/>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Noto Sans Arabic" pitchFamily="34" charset="0"/>
                <a:ea typeface="Noto Sans Arabic" pitchFamily="34" charset="-122"/>
                <a:cs typeface="Noto Sans Arabic" pitchFamily="34" charset="-120"/>
              </a:rPr>
              <a:t>شکل توزیع</a:t>
            </a:r>
            <a:endParaRPr lang="en-US" sz="1170" dirty="0"/>
          </a:p>
        </p:txBody>
      </p:sp>
      <p:sp>
        <p:nvSpPr>
          <p:cNvPr id="38" name="Text 35"/>
          <p:cNvSpPr/>
          <p:nvPr/>
        </p:nvSpPr>
        <p:spPr>
          <a:xfrm>
            <a:off x="6812280" y="4855464"/>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چولگی، کشیدگی، آنتروپی</a:t>
            </a:r>
            <a:endParaRPr lang="en-US" sz="1070" dirty="0"/>
          </a:p>
        </p:txBody>
      </p:sp>
      <p:sp>
        <p:nvSpPr>
          <p:cNvPr id="39" name="Text 36"/>
          <p:cNvSpPr/>
          <p:nvPr/>
        </p:nvSpPr>
        <p:spPr>
          <a:xfrm>
            <a:off x="9326880" y="5239512"/>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Noto Sans Arabic" pitchFamily="34" charset="0"/>
                <a:ea typeface="Noto Sans Arabic" pitchFamily="34" charset="-122"/>
                <a:cs typeface="Noto Sans Arabic" pitchFamily="34" charset="-120"/>
              </a:rPr>
              <a:t>تغییرات زمانی</a:t>
            </a:r>
            <a:endParaRPr lang="en-US" sz="1170" dirty="0"/>
          </a:p>
        </p:txBody>
      </p:sp>
      <p:sp>
        <p:nvSpPr>
          <p:cNvPr id="40" name="Text 37"/>
          <p:cNvSpPr/>
          <p:nvPr/>
        </p:nvSpPr>
        <p:spPr>
          <a:xfrm>
            <a:off x="6812280" y="5239512"/>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Noto Sans Arabic" pitchFamily="34" charset="0"/>
                <a:ea typeface="Noto Sans Arabic" pitchFamily="34" charset="-122"/>
                <a:cs typeface="Noto Sans Arabic" pitchFamily="34" charset="-120"/>
              </a:rPr>
              <a:t>تفاضل‌ها، عبور از صفر، خودهمبستگی</a:t>
            </a:r>
            <a:endParaRPr lang="en-US" sz="1070" dirty="0"/>
          </a:p>
        </p:txBody>
      </p:sp>
      <p:sp>
        <p:nvSpPr>
          <p:cNvPr id="41" name="Shape 38"/>
          <p:cNvSpPr/>
          <p:nvPr/>
        </p:nvSpPr>
        <p:spPr>
          <a:xfrm>
            <a:off x="658368" y="6473952"/>
            <a:ext cx="10881360" cy="0"/>
          </a:xfrm>
          <a:prstGeom prst="line">
            <a:avLst/>
          </a:prstGeom>
          <a:noFill/>
          <a:ln w="10160">
            <a:solidFill>
              <a:srgbClr val="E9EEF2"/>
            </a:solidFill>
            <a:prstDash val="solid"/>
          </a:ln>
        </p:spPr>
      </p:sp>
      <p:sp>
        <p:nvSpPr>
          <p:cNvPr id="42" name="Text 3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3" name="Text 40"/>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۳ از ۶: روش و پیاده‌سازی | ۷ اسلاید تا پایان</a:t>
            </a:r>
            <a:endParaRPr lang="en-US" sz="920" dirty="0"/>
          </a:p>
        </p:txBody>
      </p:sp>
      <p:sp>
        <p:nvSpPr>
          <p:cNvPr id="44" name="Text 4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۷ / ۱۴</a:t>
            </a:r>
            <a:endParaRPr lang="en-US" sz="1020" dirty="0"/>
          </a:p>
        </p:txBody>
      </p:sp>
      <p:sp>
        <p:nvSpPr>
          <p:cNvPr id="45" name="Shape 42"/>
          <p:cNvSpPr/>
          <p:nvPr/>
        </p:nvSpPr>
        <p:spPr>
          <a:xfrm>
            <a:off x="2560320" y="6766560"/>
            <a:ext cx="3291840" cy="41148"/>
          </a:xfrm>
          <a:prstGeom prst="rect">
            <a:avLst/>
          </a:prstGeom>
          <a:solidFill>
            <a:srgbClr val="0B6E99"/>
          </a:solidFill>
          <a:ln w="12700">
            <a:solidFill>
              <a:srgbClr val="0B6E99"/>
            </a:solidFill>
            <a:prstDash val="solid"/>
          </a:ln>
        </p:spPr>
      </p:sp>
      <p:sp>
        <p:nvSpPr>
          <p:cNvPr id="46" name="Shape 43"/>
          <p:cNvSpPr/>
          <p:nvPr/>
        </p:nvSpPr>
        <p:spPr>
          <a:xfrm>
            <a:off x="5852160" y="6766560"/>
            <a:ext cx="3291840"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450" fill="hold"/>
                            <p:tgtEl>
                              <p:spTgt spid="7"/>
                            </p:tgtEl>
                          </p:cBhvr>
                        </p:animEffect>
                        <p:animEffect transition="in" filter="fade">
                          <p:cBhvr>
                            <p:cTn id="5" dur="450" fill="hold"/>
                            <p:tgtEl>
                              <p:spTgt spid="8"/>
                            </p:tgtEl>
                          </p:cBhvr>
                        </p:animEffect>
                        <p:animEffect transition="in" filter="fade">
                          <p:cBhvr>
                            <p:cTn id="6" dur="450" fill="hold"/>
                            <p:tgtEl>
                              <p:spTgt spid="9"/>
                            </p:tgtEl>
                          </p:cBhvr>
                        </p:animEffect>
                        <p:animEffect transition="in" filter="fade">
                          <p:cBhvr>
                            <p:cTn id="7" dur="450" fill="hold"/>
                            <p:tgtEl>
                              <p:spTgt spid="10"/>
                            </p:tgtEl>
                          </p:cBhvr>
                        </p:animEffect>
                        <p:animEffect transition="in" filter="fade">
                          <p:cBhvr>
                            <p:cTn id="8" dur="450" fill="hold"/>
                            <p:tgtEl>
                              <p:spTgt spid="11"/>
                            </p:tgtEl>
                          </p:cBhvr>
                        </p:animEffect>
                        <p:animEffect transition="in" filter="fade">
                          <p:cBhvr>
                            <p:cTn id="9" dur="450" fill="hold"/>
                            <p:tgtEl>
                              <p:spTgt spid="12"/>
                            </p:tgtEl>
                          </p:cBhvr>
                        </p:animEffect>
                        <p:animEffect transition="in" filter="fade">
                          <p:cBhvr>
                            <p:cTn id="10" dur="450" fill="hold"/>
                            <p:tgtEl>
                              <p:spTgt spid="13"/>
                            </p:tgtEl>
                          </p:cBhvr>
                        </p:animEffect>
                        <p:animEffect transition="in" filter="fade">
                          <p:cBhvr>
                            <p:cTn id="11" dur="450" fill="hold"/>
                            <p:tgtEl>
                              <p:spTgt spid="14"/>
                            </p:tgtEl>
                          </p:cBhvr>
                        </p:animEffect>
                        <p:animEffect transition="in" filter="fade">
                          <p:cBhvr>
                            <p:cTn id="12" dur="450" fill="hold"/>
                            <p:tgtEl>
                              <p:spTgt spid="15"/>
                            </p:tgtEl>
                          </p:cBhvr>
                        </p:animEffect>
                      </p:childTnLst>
                    </p:cTn>
                  </p:par>
                  <p:par>
                    <p:cTn id="13" fill="hold">
                      <p:stCondLst>
                        <p:cond delay="0"/>
                      </p:stCondLst>
                      <p:childTnLst>
                        <p:animEffect transition="in" filter="fly">
                          <p:cBhvr>
                            <p:cTn id="14" dur="400" fill="hold"/>
                            <p:tgtEl>
                              <p:spTgt spid="16"/>
                            </p:tgtEl>
                          </p:cBhvr>
                        </p:animEffect>
                        <p:animEffect transition="in" filter="fly">
                          <p:cBhvr>
                            <p:cTn id="15" dur="400" fill="hold"/>
                            <p:tgtEl>
                              <p:spTgt spid="17"/>
                            </p:tgtEl>
                          </p:cBhvr>
                        </p:animEffect>
                        <p:animEffect transition="in" filter="fly">
                          <p:cBhvr>
                            <p:cTn id="16" dur="400" fill="hold"/>
                            <p:tgtEl>
                              <p:spTgt spid="18"/>
                            </p:tgtEl>
                          </p:cBhvr>
                        </p:animEffect>
                        <p:animEffect transition="in" filter="fly">
                          <p:cBhvr>
                            <p:cTn id="17" dur="400" fill="hold"/>
                            <p:tgtEl>
                              <p:spTgt spid="19"/>
                            </p:tgtEl>
                          </p:cBhvr>
                        </p:animEffect>
                        <p:animEffect transition="in" filter="fly">
                          <p:cBhvr>
                            <p:cTn id="18" dur="400" fill="hold"/>
                            <p:tgtEl>
                              <p:spTgt spid="20"/>
                            </p:tgtEl>
                          </p:cBhvr>
                        </p:animEffect>
                      </p:childTnLst>
                    </p:cTn>
                  </p:par>
                  <p:par>
                    <p:cTn id="19" fill="hold">
                      <p:stCondLst>
                        <p:cond delay="0"/>
                      </p:stCondLst>
                      <p:childTnLst>
                        <p:animEffect transition="in" filter="zoom">
                          <p:cBhvr>
                            <p:cTn id="20" dur="500" fill="hold"/>
                            <p:tgtEl>
                              <p:spTgt spid="21"/>
                            </p:tgtEl>
                          </p:cBhvr>
                        </p:animEffect>
                        <p:animEffect transition="in" filter="zoom">
                          <p:cBhvr>
                            <p:cTn id="21" dur="500" fill="hold"/>
                            <p:tgtEl>
                              <p:spTgt spid="22"/>
                            </p:tgtEl>
                          </p:cBhvr>
                        </p:animEffect>
                        <p:animEffect transition="in" filter="zoom">
                          <p:cBhvr>
                            <p:cTn id="22" dur="500" fill="hold"/>
                            <p:tgtEl>
                              <p:spTgt spid="23"/>
                            </p:tgtEl>
                          </p:cBhvr>
                        </p:animEffect>
                        <p:animEffect transition="in" filter="zoom">
                          <p:cBhvr>
                            <p:cTn id="23" dur="500" fill="hold"/>
                            <p:tgtEl>
                              <p:spTgt spid="24"/>
                            </p:tgtEl>
                          </p:cBhvr>
                        </p:animEffect>
                        <p:animEffect transition="in" filter="zoom">
                          <p:cBhvr>
                            <p:cTn id="24" dur="500" fill="hold"/>
                            <p:tgtEl>
                              <p:spTgt spid="25"/>
                            </p:tgtEl>
                          </p:cBhvr>
                        </p:animEffect>
                        <p:animEffect transition="in" filter="zoom">
                          <p:cBhvr>
                            <p:cTn id="25" dur="500" fill="hold"/>
                            <p:tgtEl>
                              <p:spTgt spid="26"/>
                            </p:tgtEl>
                          </p:cBhvr>
                        </p:animEffect>
                        <p:animEffect transition="in" filter="zoom">
                          <p:cBhvr>
                            <p:cTn id="26" dur="500" fill="hold"/>
                            <p:tgtEl>
                              <p:spTgt spid="27"/>
                            </p:tgtEl>
                          </p:cBhvr>
                        </p:animEffect>
                        <p:animEffect transition="in" filter="zoom">
                          <p:cBhvr>
                            <p:cTn id="27" dur="500" fill="hold"/>
                            <p:tgtEl>
                              <p:spTgt spid="28"/>
                            </p:tgtEl>
                          </p:cBhvr>
                        </p:animEffect>
                        <p:animEffect transition="in" filter="zoom">
                          <p:cBhvr>
                            <p:cTn id="28" dur="500" fill="hold"/>
                            <p:tgtEl>
                              <p:spTgt spid="29"/>
                            </p:tgtEl>
                          </p:cBhvr>
                        </p:animEffect>
                        <p:animEffect transition="in" filter="zoom">
                          <p:cBhvr>
                            <p:cTn id="29" dur="500" fill="hold"/>
                            <p:tgtEl>
                              <p:spTgt spid="30"/>
                            </p:tgtEl>
                          </p:cBhvr>
                        </p:animEffect>
                      </p:childTnLst>
                    </p:cTn>
                  </p:par>
                  <p:par>
                    <p:cTn id="30" fill="hold">
                      <p:stCondLst>
                        <p:cond delay="0"/>
                      </p:stCondLst>
                      <p:childTnLst>
                        <p:animEffect transition="in" filter="fade">
                          <p:cBhvr>
                            <p:cTn id="31" dur="450" fill="hold"/>
                            <p:tgtEl>
                              <p:spTgt spid="31"/>
                            </p:tgtEl>
                          </p:cBhvr>
                        </p:animEffect>
                        <p:animEffect transition="in" filter="fade">
                          <p:cBhvr>
                            <p:cTn id="32" dur="450" fill="hold"/>
                            <p:tgtEl>
                              <p:spTgt spid="32"/>
                            </p:tgtEl>
                          </p:cBhvr>
                        </p:animEffect>
                        <p:animEffect transition="in" filter="fade">
                          <p:cBhvr>
                            <p:cTn id="33" dur="450" fill="hold"/>
                            <p:tgtEl>
                              <p:spTgt spid="33"/>
                            </p:tgtEl>
                          </p:cBhvr>
                        </p:animEffect>
                        <p:animEffect transition="in" filter="fade">
                          <p:cBhvr>
                            <p:cTn id="34" dur="450" fill="hold"/>
                            <p:tgtEl>
                              <p:spTgt spid="34"/>
                            </p:tgtEl>
                          </p:cBhvr>
                        </p:animEffect>
                        <p:animEffect transition="in" filter="fade">
                          <p:cBhvr>
                            <p:cTn id="35" dur="450" fill="hold"/>
                            <p:tgtEl>
                              <p:spTgt spid="35"/>
                            </p:tgtEl>
                          </p:cBhvr>
                        </p:animEffect>
                        <p:animEffect transition="in" filter="fade">
                          <p:cBhvr>
                            <p:cTn id="36" dur="450" fill="hold"/>
                            <p:tgtEl>
                              <p:spTgt spid="36"/>
                            </p:tgtEl>
                          </p:cBhvr>
                        </p:animEffect>
                        <p:animEffect transition="in" filter="fade">
                          <p:cBhvr>
                            <p:cTn id="37" dur="450" fill="hold"/>
                            <p:tgtEl>
                              <p:spTgt spid="37"/>
                            </p:tgtEl>
                          </p:cBhvr>
                        </p:animEffect>
                        <p:animEffect transition="in" filter="fade">
                          <p:cBhvr>
                            <p:cTn id="38" dur="450" fill="hold"/>
                            <p:tgtEl>
                              <p:spTgt spid="38"/>
                            </p:tgtEl>
                          </p:cBhvr>
                        </p:animEffect>
                        <p:animEffect transition="in" filter="fade">
                          <p:cBhvr>
                            <p:cTn id="39" dur="450" fill="hold"/>
                            <p:tgtEl>
                              <p:spTgt spid="39"/>
                            </p:tgtEl>
                          </p:cBhvr>
                        </p:animEffect>
                        <p:animEffect transition="in" filter="fade">
                          <p:cBhvr>
                            <p:cTn id="40" dur="450" fill="hold"/>
                            <p:tgtEl>
                              <p:spTgt spid="40"/>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یادگیری ماشین و ارزیابی</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مدل‌سازی بدون نشت اطلاعات</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۸ / ۱۴</a:t>
            </a:r>
            <a:endParaRPr lang="en-US" sz="1080" dirty="0"/>
          </a:p>
        </p:txBody>
      </p:sp>
      <p:sp>
        <p:nvSpPr>
          <p:cNvPr id="7" name="Shape 5"/>
          <p:cNvSpPr/>
          <p:nvPr/>
        </p:nvSpPr>
        <p:spPr>
          <a:xfrm>
            <a:off x="685800" y="1481328"/>
            <a:ext cx="71323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5806440" y="1746504"/>
            <a:ext cx="164592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5916168" y="1764792"/>
            <a:ext cx="142646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Noto Sans Arabic" pitchFamily="34" charset="0"/>
                <a:ea typeface="Noto Sans Arabic" pitchFamily="34" charset="-122"/>
                <a:cs typeface="Noto Sans Arabic" pitchFamily="34" charset="-120"/>
              </a:rPr>
              <a:t>Pipeline پردازش</a:t>
            </a:r>
            <a:endParaRPr lang="en-US" sz="1320" dirty="0"/>
          </a:p>
        </p:txBody>
      </p:sp>
      <p:sp>
        <p:nvSpPr>
          <p:cNvPr id="10" name="Shape 8"/>
          <p:cNvSpPr/>
          <p:nvPr/>
        </p:nvSpPr>
        <p:spPr>
          <a:xfrm>
            <a:off x="6080760" y="2404872"/>
            <a:ext cx="1389888" cy="1353312"/>
          </a:xfrm>
          <a:prstGeom prst="roundRect">
            <a:avLst>
              <a:gd name="adj" fmla="val 5405"/>
            </a:avLst>
          </a:prstGeom>
          <a:solidFill>
            <a:srgbClr val="F8FBFD"/>
          </a:solidFill>
          <a:ln w="17780">
            <a:solidFill>
              <a:srgbClr val="0B6E99"/>
            </a:solidFill>
            <a:prstDash val="solid"/>
          </a:ln>
        </p:spPr>
      </p:sp>
      <p:sp>
        <p:nvSpPr>
          <p:cNvPr id="11" name="Text 9"/>
          <p:cNvSpPr/>
          <p:nvPr/>
        </p:nvSpPr>
        <p:spPr>
          <a:xfrm>
            <a:off x="6153912"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0B6E99"/>
                </a:solidFill>
                <a:latin typeface="Noto Sans Arabic" pitchFamily="34" charset="0"/>
                <a:ea typeface="Noto Sans Arabic" pitchFamily="34" charset="-122"/>
                <a:cs typeface="Noto Sans Arabic" pitchFamily="34" charset="-120"/>
              </a:rPr>
              <a:t>تقسیم داده</a:t>
            </a:r>
            <a:endParaRPr lang="en-US" sz="1420" dirty="0"/>
          </a:p>
        </p:txBody>
      </p:sp>
      <p:sp>
        <p:nvSpPr>
          <p:cNvPr id="12" name="Text 10"/>
          <p:cNvSpPr/>
          <p:nvPr/>
        </p:nvSpPr>
        <p:spPr>
          <a:xfrm>
            <a:off x="6172200"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Noto Sans Arabic" pitchFamily="34" charset="0"/>
                <a:ea typeface="Noto Sans Arabic" pitchFamily="34" charset="-122"/>
                <a:cs typeface="Noto Sans Arabic" pitchFamily="34" charset="-120"/>
              </a:rPr>
              <a:t>آموزش / آزمون</a:t>
            </a:r>
            <a:endParaRPr lang="en-US" sz="1020" dirty="0"/>
          </a:p>
        </p:txBody>
      </p:sp>
      <p:sp>
        <p:nvSpPr>
          <p:cNvPr id="13" name="Shape 11"/>
          <p:cNvSpPr/>
          <p:nvPr/>
        </p:nvSpPr>
        <p:spPr>
          <a:xfrm>
            <a:off x="5897880" y="3081528"/>
            <a:ext cx="0" cy="0"/>
          </a:xfrm>
          <a:prstGeom prst="line">
            <a:avLst/>
          </a:prstGeom>
          <a:noFill/>
          <a:ln w="20320">
            <a:solidFill>
              <a:srgbClr val="94A3B8"/>
            </a:solidFill>
            <a:prstDash val="solid"/>
            <a:headEnd type="none"/>
            <a:tailEnd type="triangle"/>
          </a:ln>
        </p:spPr>
      </p:sp>
      <p:sp>
        <p:nvSpPr>
          <p:cNvPr id="14" name="Shape 12"/>
          <p:cNvSpPr/>
          <p:nvPr/>
        </p:nvSpPr>
        <p:spPr>
          <a:xfrm>
            <a:off x="4398264" y="2404872"/>
            <a:ext cx="1389888" cy="1353312"/>
          </a:xfrm>
          <a:prstGeom prst="roundRect">
            <a:avLst>
              <a:gd name="adj" fmla="val 5405"/>
            </a:avLst>
          </a:prstGeom>
          <a:solidFill>
            <a:srgbClr val="F8FBFD"/>
          </a:solidFill>
          <a:ln w="17780">
            <a:solidFill>
              <a:srgbClr val="0B7A75"/>
            </a:solidFill>
            <a:prstDash val="solid"/>
          </a:ln>
        </p:spPr>
      </p:sp>
      <p:sp>
        <p:nvSpPr>
          <p:cNvPr id="15" name="Text 13"/>
          <p:cNvSpPr/>
          <p:nvPr/>
        </p:nvSpPr>
        <p:spPr>
          <a:xfrm>
            <a:off x="4471416"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0B7A75"/>
                </a:solidFill>
                <a:latin typeface="Aptos" pitchFamily="34" charset="0"/>
                <a:ea typeface="Aptos" pitchFamily="34" charset="-122"/>
                <a:cs typeface="Aptos" pitchFamily="34" charset="-120"/>
              </a:rPr>
              <a:t>StandardScaler</a:t>
            </a:r>
            <a:endParaRPr lang="en-US" sz="1450" dirty="0"/>
          </a:p>
        </p:txBody>
      </p:sp>
      <p:sp>
        <p:nvSpPr>
          <p:cNvPr id="16" name="Text 14"/>
          <p:cNvSpPr/>
          <p:nvPr/>
        </p:nvSpPr>
        <p:spPr>
          <a:xfrm>
            <a:off x="4489704"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Noto Sans Arabic" pitchFamily="34" charset="0"/>
                <a:ea typeface="Noto Sans Arabic" pitchFamily="34" charset="-122"/>
                <a:cs typeface="Noto Sans Arabic" pitchFamily="34" charset="-120"/>
              </a:rPr>
              <a:t>برازش فقط روی آموزش</a:t>
            </a:r>
            <a:endParaRPr lang="en-US" sz="1020" dirty="0"/>
          </a:p>
        </p:txBody>
      </p:sp>
      <p:sp>
        <p:nvSpPr>
          <p:cNvPr id="17" name="Shape 15"/>
          <p:cNvSpPr/>
          <p:nvPr/>
        </p:nvSpPr>
        <p:spPr>
          <a:xfrm>
            <a:off x="4215384" y="3081528"/>
            <a:ext cx="0" cy="0"/>
          </a:xfrm>
          <a:prstGeom prst="line">
            <a:avLst/>
          </a:prstGeom>
          <a:noFill/>
          <a:ln w="20320">
            <a:solidFill>
              <a:srgbClr val="94A3B8"/>
            </a:solidFill>
            <a:prstDash val="solid"/>
            <a:headEnd type="none"/>
            <a:tailEnd type="triangle"/>
          </a:ln>
        </p:spPr>
      </p:sp>
      <p:sp>
        <p:nvSpPr>
          <p:cNvPr id="18" name="Shape 16"/>
          <p:cNvSpPr/>
          <p:nvPr/>
        </p:nvSpPr>
        <p:spPr>
          <a:xfrm>
            <a:off x="2715768" y="2404872"/>
            <a:ext cx="1389888" cy="1353312"/>
          </a:xfrm>
          <a:prstGeom prst="roundRect">
            <a:avLst>
              <a:gd name="adj" fmla="val 5405"/>
            </a:avLst>
          </a:prstGeom>
          <a:solidFill>
            <a:srgbClr val="F8FBFD"/>
          </a:solidFill>
          <a:ln w="17780">
            <a:solidFill>
              <a:srgbClr val="6B5BA6"/>
            </a:solidFill>
            <a:prstDash val="solid"/>
          </a:ln>
        </p:spPr>
      </p:sp>
      <p:sp>
        <p:nvSpPr>
          <p:cNvPr id="19" name="Text 17"/>
          <p:cNvSpPr/>
          <p:nvPr/>
        </p:nvSpPr>
        <p:spPr>
          <a:xfrm>
            <a:off x="2788920"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6B5BA6"/>
                </a:solidFill>
                <a:latin typeface="Aptos" pitchFamily="34" charset="0"/>
                <a:ea typeface="Aptos" pitchFamily="34" charset="-122"/>
                <a:cs typeface="Aptos" pitchFamily="34" charset="-120"/>
              </a:rPr>
              <a:t>PCA</a:t>
            </a:r>
            <a:endParaRPr lang="en-US" sz="1450" dirty="0"/>
          </a:p>
        </p:txBody>
      </p:sp>
      <p:sp>
        <p:nvSpPr>
          <p:cNvPr id="20" name="Text 18"/>
          <p:cNvSpPr/>
          <p:nvPr/>
        </p:nvSpPr>
        <p:spPr>
          <a:xfrm>
            <a:off x="2807208"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Noto Sans Arabic" pitchFamily="34" charset="0"/>
                <a:ea typeface="Noto Sans Arabic" pitchFamily="34" charset="-122"/>
                <a:cs typeface="Noto Sans Arabic" pitchFamily="34" charset="-120"/>
              </a:rPr>
              <a:t>کاهش ابعاد</a:t>
            </a:r>
            <a:endParaRPr lang="en-US" sz="1020" dirty="0"/>
          </a:p>
        </p:txBody>
      </p:sp>
      <p:sp>
        <p:nvSpPr>
          <p:cNvPr id="21" name="Shape 19"/>
          <p:cNvSpPr/>
          <p:nvPr/>
        </p:nvSpPr>
        <p:spPr>
          <a:xfrm>
            <a:off x="2532888" y="3081528"/>
            <a:ext cx="0" cy="0"/>
          </a:xfrm>
          <a:prstGeom prst="line">
            <a:avLst/>
          </a:prstGeom>
          <a:noFill/>
          <a:ln w="20320">
            <a:solidFill>
              <a:srgbClr val="94A3B8"/>
            </a:solidFill>
            <a:prstDash val="solid"/>
            <a:headEnd type="none"/>
            <a:tailEnd type="triangle"/>
          </a:ln>
        </p:spPr>
      </p:sp>
      <p:sp>
        <p:nvSpPr>
          <p:cNvPr id="22" name="Shape 20"/>
          <p:cNvSpPr/>
          <p:nvPr/>
        </p:nvSpPr>
        <p:spPr>
          <a:xfrm>
            <a:off x="1033272" y="2404872"/>
            <a:ext cx="1389888" cy="1353312"/>
          </a:xfrm>
          <a:prstGeom prst="roundRect">
            <a:avLst>
              <a:gd name="adj" fmla="val 5405"/>
            </a:avLst>
          </a:prstGeom>
          <a:solidFill>
            <a:srgbClr val="F8FBFD"/>
          </a:solidFill>
          <a:ln w="17780">
            <a:solidFill>
              <a:srgbClr val="2F855A"/>
            </a:solidFill>
            <a:prstDash val="solid"/>
          </a:ln>
        </p:spPr>
      </p:sp>
      <p:sp>
        <p:nvSpPr>
          <p:cNvPr id="23" name="Text 21"/>
          <p:cNvSpPr/>
          <p:nvPr/>
        </p:nvSpPr>
        <p:spPr>
          <a:xfrm>
            <a:off x="1106424"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2F855A"/>
                </a:solidFill>
                <a:latin typeface="Noto Sans Arabic" pitchFamily="34" charset="0"/>
                <a:ea typeface="Noto Sans Arabic" pitchFamily="34" charset="-122"/>
                <a:cs typeface="Noto Sans Arabic" pitchFamily="34" charset="-120"/>
              </a:rPr>
              <a:t>طبقه‌بند</a:t>
            </a:r>
            <a:endParaRPr lang="en-US" sz="1420" dirty="0"/>
          </a:p>
        </p:txBody>
      </p:sp>
      <p:sp>
        <p:nvSpPr>
          <p:cNvPr id="24" name="Text 22"/>
          <p:cNvSpPr/>
          <p:nvPr/>
        </p:nvSpPr>
        <p:spPr>
          <a:xfrm>
            <a:off x="1124712"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Noto Sans Arabic" pitchFamily="34" charset="0"/>
                <a:ea typeface="Noto Sans Arabic" pitchFamily="34" charset="-122"/>
                <a:cs typeface="Noto Sans Arabic" pitchFamily="34" charset="-120"/>
              </a:rPr>
              <a:t>پیش‌بینی سطح عملکرد</a:t>
            </a:r>
            <a:endParaRPr lang="en-US" sz="1020" dirty="0"/>
          </a:p>
        </p:txBody>
      </p:sp>
      <p:sp>
        <p:nvSpPr>
          <p:cNvPr id="25" name="Shape 23"/>
          <p:cNvSpPr/>
          <p:nvPr/>
        </p:nvSpPr>
        <p:spPr>
          <a:xfrm>
            <a:off x="1051560" y="4224528"/>
            <a:ext cx="6355080" cy="1124712"/>
          </a:xfrm>
          <a:prstGeom prst="roundRect">
            <a:avLst>
              <a:gd name="adj" fmla="val 8130"/>
            </a:avLst>
          </a:prstGeom>
          <a:solidFill>
            <a:srgbClr val="EEF4F8"/>
          </a:solidFill>
          <a:ln w="12700">
            <a:solidFill>
              <a:srgbClr val="D9E2EC"/>
            </a:solidFill>
            <a:prstDash val="solid"/>
          </a:ln>
        </p:spPr>
      </p:sp>
      <p:sp>
        <p:nvSpPr>
          <p:cNvPr id="26" name="Text 24"/>
          <p:cNvSpPr/>
          <p:nvPr/>
        </p:nvSpPr>
        <p:spPr>
          <a:xfrm>
            <a:off x="5870448" y="4407408"/>
            <a:ext cx="1234440" cy="237744"/>
          </a:xfrm>
          <a:prstGeom prst="rect">
            <a:avLst/>
          </a:prstGeom>
          <a:noFill/>
          <a:ln/>
        </p:spPr>
        <p:txBody>
          <a:bodyPr wrap="square" lIns="0" tIns="0" rIns="0" bIns="0" rtlCol="0" anchor="ctr">
            <a:normAutofit/>
          </a:bodyPr>
          <a:lstStyle/>
          <a:p>
            <a:pPr marL="0" indent="0" algn="r" rtl="1">
              <a:buNone/>
            </a:pPr>
            <a:r>
              <a:rPr lang="en-US" sz="1250" b="1" dirty="0">
                <a:solidFill>
                  <a:srgbClr val="0B6E99"/>
                </a:solidFill>
                <a:latin typeface="Noto Sans Arabic" pitchFamily="34" charset="0"/>
                <a:ea typeface="Noto Sans Arabic" pitchFamily="34" charset="-122"/>
                <a:cs typeface="Noto Sans Arabic" pitchFamily="34" charset="-120"/>
              </a:rPr>
              <a:t>اصل روش‌شناختی</a:t>
            </a:r>
            <a:endParaRPr lang="en-US" sz="1250" dirty="0"/>
          </a:p>
        </p:txBody>
      </p:sp>
      <p:sp>
        <p:nvSpPr>
          <p:cNvPr id="27" name="Text 25"/>
          <p:cNvSpPr/>
          <p:nvPr/>
        </p:nvSpPr>
        <p:spPr>
          <a:xfrm>
            <a:off x="1325880" y="4681728"/>
            <a:ext cx="5623560" cy="429768"/>
          </a:xfrm>
          <a:prstGeom prst="rect">
            <a:avLst/>
          </a:prstGeom>
          <a:noFill/>
          <a:ln/>
        </p:spPr>
        <p:txBody>
          <a:bodyPr wrap="square" lIns="0" tIns="0" rIns="0" bIns="0" rtlCol="0" anchor="ctr">
            <a:normAutofit/>
          </a:bodyPr>
          <a:lstStyle/>
          <a:p>
            <a:pPr marL="0" indent="0" algn="ctr" rtl="1">
              <a:buNone/>
            </a:pPr>
            <a:r>
              <a:rPr lang="en-US" sz="1320" b="1" dirty="0">
                <a:solidFill>
                  <a:srgbClr val="102A43"/>
                </a:solidFill>
                <a:latin typeface="Noto Sans Arabic" pitchFamily="34" charset="0"/>
                <a:ea typeface="Noto Sans Arabic" pitchFamily="34" charset="-122"/>
                <a:cs typeface="Noto Sans Arabic" pitchFamily="34" charset="-120"/>
              </a:rPr>
              <a:t>استانداردسازی و PCA در هر تکرار فقط روی داده‌های آموزش برازش شدند؛ سپس همان تبدیل‌ها روی داده آزمون اعمال شد.</a:t>
            </a:r>
            <a:endParaRPr lang="en-US" sz="1320" dirty="0"/>
          </a:p>
        </p:txBody>
      </p:sp>
      <p:sp>
        <p:nvSpPr>
          <p:cNvPr id="28" name="Shape 26"/>
          <p:cNvSpPr/>
          <p:nvPr/>
        </p:nvSpPr>
        <p:spPr>
          <a:xfrm>
            <a:off x="8065008" y="1481328"/>
            <a:ext cx="3456432" cy="4526280"/>
          </a:xfrm>
          <a:prstGeom prst="roundRect">
            <a:avLst>
              <a:gd name="adj" fmla="val 21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9" name="Shape 27"/>
          <p:cNvSpPr/>
          <p:nvPr/>
        </p:nvSpPr>
        <p:spPr>
          <a:xfrm>
            <a:off x="9674352" y="1746504"/>
            <a:ext cx="1481328" cy="347472"/>
          </a:xfrm>
          <a:prstGeom prst="roundRect">
            <a:avLst>
              <a:gd name="adj" fmla="val 47368"/>
            </a:avLst>
          </a:prstGeom>
          <a:solidFill>
            <a:srgbClr val="E8F5EE"/>
          </a:solidFill>
          <a:ln w="12700">
            <a:solidFill>
              <a:srgbClr val="E8F5EE"/>
            </a:solidFill>
            <a:prstDash val="solid"/>
          </a:ln>
        </p:spPr>
      </p:sp>
      <p:sp>
        <p:nvSpPr>
          <p:cNvPr id="30" name="Text 28"/>
          <p:cNvSpPr/>
          <p:nvPr/>
        </p:nvSpPr>
        <p:spPr>
          <a:xfrm>
            <a:off x="9784080" y="1764792"/>
            <a:ext cx="1261872" cy="310896"/>
          </a:xfrm>
          <a:prstGeom prst="rect">
            <a:avLst/>
          </a:prstGeom>
          <a:noFill/>
          <a:ln/>
        </p:spPr>
        <p:txBody>
          <a:bodyPr wrap="square" lIns="0" tIns="0" rIns="0" bIns="0" rtlCol="0" anchor="ctr">
            <a:normAutofit/>
          </a:bodyPr>
          <a:lstStyle/>
          <a:p>
            <a:pPr marL="0" indent="0" algn="ctr" rtl="1">
              <a:buNone/>
            </a:pPr>
            <a:r>
              <a:rPr lang="en-US" sz="1300" b="1" dirty="0">
                <a:solidFill>
                  <a:srgbClr val="2F855A"/>
                </a:solidFill>
                <a:latin typeface="Noto Sans Arabic" pitchFamily="34" charset="0"/>
                <a:ea typeface="Noto Sans Arabic" pitchFamily="34" charset="-122"/>
                <a:cs typeface="Noto Sans Arabic" pitchFamily="34" charset="-120"/>
              </a:rPr>
              <a:t>مدل‌ها و ارزیابی</a:t>
            </a:r>
            <a:endParaRPr lang="en-US" sz="1300" dirty="0"/>
          </a:p>
        </p:txBody>
      </p:sp>
      <p:sp>
        <p:nvSpPr>
          <p:cNvPr id="31" name="Shape 29"/>
          <p:cNvSpPr/>
          <p:nvPr/>
        </p:nvSpPr>
        <p:spPr>
          <a:xfrm>
            <a:off x="8366760" y="2404872"/>
            <a:ext cx="2834640" cy="548640"/>
          </a:xfrm>
          <a:prstGeom prst="roundRect">
            <a:avLst>
              <a:gd name="adj" fmla="val 13333"/>
            </a:avLst>
          </a:prstGeom>
          <a:solidFill>
            <a:srgbClr val="FFFFFF"/>
          </a:solidFill>
          <a:ln w="19050">
            <a:solidFill>
              <a:srgbClr val="0B6E99"/>
            </a:solidFill>
            <a:prstDash val="solid"/>
          </a:ln>
        </p:spPr>
      </p:sp>
      <p:sp>
        <p:nvSpPr>
          <p:cNvPr id="32" name="Text 30"/>
          <p:cNvSpPr/>
          <p:nvPr/>
        </p:nvSpPr>
        <p:spPr>
          <a:xfrm>
            <a:off x="8449056" y="2496312"/>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0B6E99"/>
                </a:solidFill>
                <a:latin typeface="Aptos" pitchFamily="34" charset="0"/>
                <a:ea typeface="Aptos" pitchFamily="34" charset="-122"/>
                <a:cs typeface="Aptos" pitchFamily="34" charset="-120"/>
              </a:rPr>
              <a:t>SVM</a:t>
            </a:r>
            <a:endParaRPr lang="en-US" sz="1350" dirty="0"/>
          </a:p>
        </p:txBody>
      </p:sp>
      <p:sp>
        <p:nvSpPr>
          <p:cNvPr id="33" name="Text 31"/>
          <p:cNvSpPr/>
          <p:nvPr/>
        </p:nvSpPr>
        <p:spPr>
          <a:xfrm>
            <a:off x="9710928" y="2496312"/>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هسته RBF</a:t>
            </a:r>
            <a:endParaRPr lang="en-US" sz="1120" dirty="0"/>
          </a:p>
        </p:txBody>
      </p:sp>
      <p:sp>
        <p:nvSpPr>
          <p:cNvPr id="34" name="Shape 32"/>
          <p:cNvSpPr/>
          <p:nvPr/>
        </p:nvSpPr>
        <p:spPr>
          <a:xfrm>
            <a:off x="8366760" y="3118104"/>
            <a:ext cx="2834640" cy="548640"/>
          </a:xfrm>
          <a:prstGeom prst="roundRect">
            <a:avLst>
              <a:gd name="adj" fmla="val 13333"/>
            </a:avLst>
          </a:prstGeom>
          <a:solidFill>
            <a:srgbClr val="FFFFFF"/>
          </a:solidFill>
          <a:ln w="12700">
            <a:solidFill>
              <a:srgbClr val="D9E2EC"/>
            </a:solidFill>
            <a:prstDash val="solid"/>
          </a:ln>
        </p:spPr>
      </p:sp>
      <p:sp>
        <p:nvSpPr>
          <p:cNvPr id="35" name="Text 33"/>
          <p:cNvSpPr/>
          <p:nvPr/>
        </p:nvSpPr>
        <p:spPr>
          <a:xfrm>
            <a:off x="8449056" y="3209544"/>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Aptos" pitchFamily="34" charset="0"/>
                <a:ea typeface="Aptos" pitchFamily="34" charset="-122"/>
                <a:cs typeface="Aptos" pitchFamily="34" charset="-120"/>
              </a:rPr>
              <a:t>KNN</a:t>
            </a:r>
            <a:endParaRPr lang="en-US" sz="1350" dirty="0"/>
          </a:p>
        </p:txBody>
      </p:sp>
      <p:sp>
        <p:nvSpPr>
          <p:cNvPr id="36" name="Text 34"/>
          <p:cNvSpPr/>
          <p:nvPr/>
        </p:nvSpPr>
        <p:spPr>
          <a:xfrm>
            <a:off x="9710928" y="3209544"/>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پنج همسایه</a:t>
            </a:r>
            <a:endParaRPr lang="en-US" sz="1120" dirty="0"/>
          </a:p>
        </p:txBody>
      </p:sp>
      <p:sp>
        <p:nvSpPr>
          <p:cNvPr id="37" name="Shape 35"/>
          <p:cNvSpPr/>
          <p:nvPr/>
        </p:nvSpPr>
        <p:spPr>
          <a:xfrm>
            <a:off x="8366760" y="3831336"/>
            <a:ext cx="2834640" cy="548640"/>
          </a:xfrm>
          <a:prstGeom prst="roundRect">
            <a:avLst>
              <a:gd name="adj" fmla="val 13333"/>
            </a:avLst>
          </a:prstGeom>
          <a:solidFill>
            <a:srgbClr val="FFFFFF"/>
          </a:solidFill>
          <a:ln w="12700">
            <a:solidFill>
              <a:srgbClr val="D9E2EC"/>
            </a:solidFill>
            <a:prstDash val="solid"/>
          </a:ln>
        </p:spPr>
      </p:sp>
      <p:sp>
        <p:nvSpPr>
          <p:cNvPr id="38" name="Text 36"/>
          <p:cNvSpPr/>
          <p:nvPr/>
        </p:nvSpPr>
        <p:spPr>
          <a:xfrm>
            <a:off x="8449056" y="3922776"/>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Aptos" pitchFamily="34" charset="0"/>
                <a:ea typeface="Aptos" pitchFamily="34" charset="-122"/>
                <a:cs typeface="Aptos" pitchFamily="34" charset="-120"/>
              </a:rPr>
              <a:t>Random Forest</a:t>
            </a:r>
            <a:endParaRPr lang="en-US" sz="1350" dirty="0"/>
          </a:p>
        </p:txBody>
      </p:sp>
      <p:sp>
        <p:nvSpPr>
          <p:cNvPr id="39" name="Text 37"/>
          <p:cNvSpPr/>
          <p:nvPr/>
        </p:nvSpPr>
        <p:spPr>
          <a:xfrm>
            <a:off x="9710928" y="3922776"/>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Noto Sans Arabic" pitchFamily="34" charset="0"/>
                <a:ea typeface="Noto Sans Arabic" pitchFamily="34" charset="-122"/>
                <a:cs typeface="Noto Sans Arabic" pitchFamily="34" charset="-120"/>
              </a:rPr>
              <a:t>۵۰۰ درخت</a:t>
            </a:r>
            <a:endParaRPr lang="en-US" sz="1120" dirty="0"/>
          </a:p>
        </p:txBody>
      </p:sp>
      <p:sp>
        <p:nvSpPr>
          <p:cNvPr id="40" name="Text 38"/>
          <p:cNvSpPr/>
          <p:nvPr/>
        </p:nvSpPr>
        <p:spPr>
          <a:xfrm>
            <a:off x="8357616" y="4626864"/>
            <a:ext cx="2816352" cy="274320"/>
          </a:xfrm>
          <a:prstGeom prst="rect">
            <a:avLst/>
          </a:prstGeom>
          <a:noFill/>
          <a:ln/>
        </p:spPr>
        <p:txBody>
          <a:bodyPr wrap="square" lIns="0" tIns="0" rIns="0" bIns="0" rtlCol="0" anchor="ctr">
            <a:normAutofit/>
          </a:bodyPr>
          <a:lstStyle/>
          <a:p>
            <a:pPr marL="0" indent="0" algn="ctr" rtl="1">
              <a:buNone/>
            </a:pPr>
            <a:r>
              <a:rPr lang="en-US" sz="1300" b="1" dirty="0">
                <a:solidFill>
                  <a:srgbClr val="102A43"/>
                </a:solidFill>
                <a:latin typeface="Noto Sans Arabic" pitchFamily="34" charset="0"/>
                <a:ea typeface="Noto Sans Arabic" pitchFamily="34" charset="-122"/>
                <a:cs typeface="Noto Sans Arabic" pitchFamily="34" charset="-120"/>
              </a:rPr>
              <a:t>اعتبارسنجی متقاطع طبقه‌بندی‌شده</a:t>
            </a:r>
            <a:endParaRPr lang="en-US" sz="1300" dirty="0"/>
          </a:p>
        </p:txBody>
      </p:sp>
      <p:sp>
        <p:nvSpPr>
          <p:cNvPr id="41" name="Text 39"/>
          <p:cNvSpPr/>
          <p:nvPr/>
        </p:nvSpPr>
        <p:spPr>
          <a:xfrm>
            <a:off x="8357616" y="4928616"/>
            <a:ext cx="2816352" cy="256032"/>
          </a:xfrm>
          <a:prstGeom prst="rect">
            <a:avLst/>
          </a:prstGeom>
          <a:noFill/>
          <a:ln/>
        </p:spPr>
        <p:txBody>
          <a:bodyPr wrap="square" lIns="0" tIns="0" rIns="0" bIns="0" rtlCol="0" anchor="ctr">
            <a:normAutofit/>
          </a:bodyPr>
          <a:lstStyle/>
          <a:p>
            <a:pPr marL="0" indent="0" algn="ctr" rtl="1">
              <a:buNone/>
            </a:pPr>
            <a:r>
              <a:rPr lang="en-US" sz="1520" b="1" dirty="0">
                <a:solidFill>
                  <a:srgbClr val="0B6E99"/>
                </a:solidFill>
                <a:latin typeface="Noto Sans Arabic" pitchFamily="34" charset="0"/>
                <a:ea typeface="Noto Sans Arabic" pitchFamily="34" charset="-122"/>
                <a:cs typeface="Noto Sans Arabic" pitchFamily="34" charset="-120"/>
              </a:rPr>
              <a:t>۵ بخش × ۵ تکرار</a:t>
            </a:r>
            <a:endParaRPr lang="en-US" sz="1520" dirty="0"/>
          </a:p>
        </p:txBody>
      </p:sp>
      <p:sp>
        <p:nvSpPr>
          <p:cNvPr id="42" name="Text 40"/>
          <p:cNvSpPr/>
          <p:nvPr/>
        </p:nvSpPr>
        <p:spPr>
          <a:xfrm>
            <a:off x="8302752" y="5340096"/>
            <a:ext cx="2926080" cy="274320"/>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Aptos" pitchFamily="34" charset="0"/>
                <a:ea typeface="Aptos" pitchFamily="34" charset="-122"/>
                <a:cs typeface="Aptos" pitchFamily="34" charset="-120"/>
              </a:rPr>
              <a:t>Accuracy • Precision • Recall • Specificity • F1</a:t>
            </a:r>
            <a:endParaRPr lang="en-US" sz="1050" dirty="0"/>
          </a:p>
        </p:txBody>
      </p:sp>
      <p:sp>
        <p:nvSpPr>
          <p:cNvPr id="43" name="Shape 41"/>
          <p:cNvSpPr/>
          <p:nvPr/>
        </p:nvSpPr>
        <p:spPr>
          <a:xfrm>
            <a:off x="658368" y="6473952"/>
            <a:ext cx="10881360" cy="0"/>
          </a:xfrm>
          <a:prstGeom prst="line">
            <a:avLst/>
          </a:prstGeom>
          <a:noFill/>
          <a:ln w="10160">
            <a:solidFill>
              <a:srgbClr val="E9EEF2"/>
            </a:solidFill>
            <a:prstDash val="solid"/>
          </a:ln>
        </p:spPr>
      </p:sp>
      <p:sp>
        <p:nvSpPr>
          <p:cNvPr id="44" name="Text 4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5" name="Text 43"/>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۳ از ۶: روش و پیاده‌سازی | ۶ اسلاید تا پایان</a:t>
            </a:r>
            <a:endParaRPr lang="en-US" sz="920" dirty="0"/>
          </a:p>
        </p:txBody>
      </p:sp>
      <p:sp>
        <p:nvSpPr>
          <p:cNvPr id="46" name="Text 4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۸ / ۱۴</a:t>
            </a:r>
            <a:endParaRPr lang="en-US" sz="1020" dirty="0"/>
          </a:p>
        </p:txBody>
      </p:sp>
      <p:sp>
        <p:nvSpPr>
          <p:cNvPr id="47" name="Shape 45"/>
          <p:cNvSpPr/>
          <p:nvPr/>
        </p:nvSpPr>
        <p:spPr>
          <a:xfrm>
            <a:off x="2560320" y="6766560"/>
            <a:ext cx="3762103" cy="41148"/>
          </a:xfrm>
          <a:prstGeom prst="rect">
            <a:avLst/>
          </a:prstGeom>
          <a:solidFill>
            <a:srgbClr val="0B6E99"/>
          </a:solidFill>
          <a:ln w="12700">
            <a:solidFill>
              <a:srgbClr val="0B6E99"/>
            </a:solidFill>
            <a:prstDash val="solid"/>
          </a:ln>
        </p:spPr>
      </p:sp>
      <p:sp>
        <p:nvSpPr>
          <p:cNvPr id="48" name="Shape 46"/>
          <p:cNvSpPr/>
          <p:nvPr/>
        </p:nvSpPr>
        <p:spPr>
          <a:xfrm>
            <a:off x="6322423" y="6766560"/>
            <a:ext cx="2821577"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400" fill="hold"/>
                            <p:tgtEl>
                              <p:spTgt spid="7"/>
                            </p:tgtEl>
                          </p:cBhvr>
                        </p:animEffect>
                        <p:animEffect transition="in" filter="fade">
                          <p:cBhvr>
                            <p:cTn id="5" dur="400" fill="hold"/>
                            <p:tgtEl>
                              <p:spTgt spid="8"/>
                            </p:tgtEl>
                          </p:cBhvr>
                        </p:animEffect>
                        <p:animEffect transition="in" filter="fade">
                          <p:cBhvr>
                            <p:cTn id="6" dur="400" fill="hold"/>
                            <p:tgtEl>
                              <p:spTgt spid="9"/>
                            </p:tgtEl>
                          </p:cBhvr>
                        </p:animEffect>
                        <p:animEffect transition="in" filter="fade">
                          <p:cBhvr>
                            <p:cTn id="7" dur="400" fill="hold"/>
                            <p:tgtEl>
                              <p:spTgt spid="10"/>
                            </p:tgtEl>
                          </p:cBhvr>
                        </p:animEffect>
                        <p:animEffect transition="in" filter="fade">
                          <p:cBhvr>
                            <p:cTn id="8" dur="400" fill="hold"/>
                            <p:tgtEl>
                              <p:spTgt spid="11"/>
                            </p:tgtEl>
                          </p:cBhvr>
                        </p:animEffect>
                        <p:animEffect transition="in" filter="fade">
                          <p:cBhvr>
                            <p:cTn id="9" dur="400" fill="hold"/>
                            <p:tgtEl>
                              <p:spTgt spid="12"/>
                            </p:tgtEl>
                          </p:cBhvr>
                        </p:animEffect>
                        <p:animEffect transition="in" filter="fade">
                          <p:cBhvr>
                            <p:cTn id="10" dur="400" fill="hold"/>
                            <p:tgtEl>
                              <p:spTgt spid="13"/>
                            </p:tgtEl>
                          </p:cBhvr>
                        </p:animEffect>
                      </p:childTnLst>
                    </p:cTn>
                  </p:par>
                  <p:par>
                    <p:cTn id="11" fill="hold">
                      <p:stCondLst>
                        <p:cond delay="0"/>
                      </p:stCondLst>
                      <p:childTnLst>
                        <p:animEffect transition="in" filter="fade">
                          <p:cBhvr>
                            <p:cTn id="12" dur="400" fill="hold"/>
                            <p:tgtEl>
                              <p:spTgt spid="14"/>
                            </p:tgtEl>
                          </p:cBhvr>
                        </p:animEffect>
                        <p:animEffect transition="in" filter="fade">
                          <p:cBhvr>
                            <p:cTn id="13" dur="400" fill="hold"/>
                            <p:tgtEl>
                              <p:spTgt spid="15"/>
                            </p:tgtEl>
                          </p:cBhvr>
                        </p:animEffect>
                        <p:animEffect transition="in" filter="fade">
                          <p:cBhvr>
                            <p:cTn id="14" dur="400" fill="hold"/>
                            <p:tgtEl>
                              <p:spTgt spid="16"/>
                            </p:tgtEl>
                          </p:cBhvr>
                        </p:animEffect>
                        <p:animEffect transition="in" filter="fade">
                          <p:cBhvr>
                            <p:cTn id="15" dur="400" fill="hold"/>
                            <p:tgtEl>
                              <p:spTgt spid="17"/>
                            </p:tgtEl>
                          </p:cBhvr>
                        </p:animEffect>
                      </p:childTnLst>
                    </p:cTn>
                  </p:par>
                  <p:par>
                    <p:cTn id="16" fill="hold">
                      <p:stCondLst>
                        <p:cond delay="0"/>
                      </p:stCondLst>
                      <p:childTnLst>
                        <p:animEffect transition="in" filter="fade">
                          <p:cBhvr>
                            <p:cTn id="17" dur="400" fill="hold"/>
                            <p:tgtEl>
                              <p:spTgt spid="18"/>
                            </p:tgtEl>
                          </p:cBhvr>
                        </p:animEffect>
                        <p:animEffect transition="in" filter="fade">
                          <p:cBhvr>
                            <p:cTn id="18" dur="400" fill="hold"/>
                            <p:tgtEl>
                              <p:spTgt spid="19"/>
                            </p:tgtEl>
                          </p:cBhvr>
                        </p:animEffect>
                        <p:animEffect transition="in" filter="fade">
                          <p:cBhvr>
                            <p:cTn id="19" dur="400" fill="hold"/>
                            <p:tgtEl>
                              <p:spTgt spid="20"/>
                            </p:tgtEl>
                          </p:cBhvr>
                        </p:animEffect>
                        <p:animEffect transition="in" filter="fade">
                          <p:cBhvr>
                            <p:cTn id="20" dur="400" fill="hold"/>
                            <p:tgtEl>
                              <p:spTgt spid="21"/>
                            </p:tgtEl>
                          </p:cBhvr>
                        </p:animEffect>
                      </p:childTnLst>
                    </p:cTn>
                  </p:par>
                  <p:par>
                    <p:cTn id="21" fill="hold">
                      <p:stCondLst>
                        <p:cond delay="0"/>
                      </p:stCondLst>
                      <p:childTnLst>
                        <p:animEffect transition="in" filter="fade">
                          <p:cBhvr>
                            <p:cTn id="22" dur="400" fill="hold"/>
                            <p:tgtEl>
                              <p:spTgt spid="22"/>
                            </p:tgtEl>
                          </p:cBhvr>
                        </p:animEffect>
                        <p:animEffect transition="in" filter="fade">
                          <p:cBhvr>
                            <p:cTn id="23" dur="400" fill="hold"/>
                            <p:tgtEl>
                              <p:spTgt spid="23"/>
                            </p:tgtEl>
                          </p:cBhvr>
                        </p:animEffect>
                        <p:animEffect transition="in" filter="fade">
                          <p:cBhvr>
                            <p:cTn id="24" dur="400" fill="hold"/>
                            <p:tgtEl>
                              <p:spTgt spid="24"/>
                            </p:tgtEl>
                          </p:cBhvr>
                        </p:animEffect>
                      </p:childTnLst>
                    </p:cTn>
                  </p:par>
                  <p:par>
                    <p:cTn id="25" fill="hold">
                      <p:stCondLst>
                        <p:cond delay="0"/>
                      </p:stCondLst>
                      <p:childTnLst>
                        <p:animEffect transition="in" filter="zoom">
                          <p:cBhvr>
                            <p:cTn id="26" dur="500" fill="hold"/>
                            <p:tgtEl>
                              <p:spTgt spid="25"/>
                            </p:tgtEl>
                          </p:cBhvr>
                        </p:animEffect>
                        <p:animEffect transition="in" filter="zoom">
                          <p:cBhvr>
                            <p:cTn id="27" dur="500" fill="hold"/>
                            <p:tgtEl>
                              <p:spTgt spid="26"/>
                            </p:tgtEl>
                          </p:cBhvr>
                        </p:animEffect>
                        <p:animEffect transition="in" filter="zoom">
                          <p:cBhvr>
                            <p:cTn id="28" dur="500" fill="hold"/>
                            <p:tgtEl>
                              <p:spTgt spid="27"/>
                            </p:tgtEl>
                          </p:cBhvr>
                        </p:animEffect>
                      </p:childTnLst>
                    </p:cTn>
                  </p:par>
                  <p:par>
                    <p:cTn id="29" fill="hold">
                      <p:stCondLst>
                        <p:cond delay="0"/>
                      </p:stCondLst>
                      <p:childTnLst>
                        <p:animEffect transition="in" filter="fly">
                          <p:cBhvr>
                            <p:cTn id="30" dur="400" fill="hold"/>
                            <p:tgtEl>
                              <p:spTgt spid="28"/>
                            </p:tgtEl>
                          </p:cBhvr>
                        </p:animEffect>
                        <p:animEffect transition="in" filter="fly">
                          <p:cBhvr>
                            <p:cTn id="31" dur="400" fill="hold"/>
                            <p:tgtEl>
                              <p:spTgt spid="29"/>
                            </p:tgtEl>
                          </p:cBhvr>
                        </p:animEffect>
                        <p:animEffect transition="in" filter="fly">
                          <p:cBhvr>
                            <p:cTn id="32" dur="400" fill="hold"/>
                            <p:tgtEl>
                              <p:spTgt spid="30"/>
                            </p:tgtEl>
                          </p:cBhvr>
                        </p:animEffect>
                        <p:animEffect transition="in" filter="fly">
                          <p:cBhvr>
                            <p:cTn id="33" dur="400" fill="hold"/>
                            <p:tgtEl>
                              <p:spTgt spid="31"/>
                            </p:tgtEl>
                          </p:cBhvr>
                        </p:animEffect>
                        <p:animEffect transition="in" filter="fly">
                          <p:cBhvr>
                            <p:cTn id="34" dur="400" fill="hold"/>
                            <p:tgtEl>
                              <p:spTgt spid="32"/>
                            </p:tgtEl>
                          </p:cBhvr>
                        </p:animEffect>
                        <p:animEffect transition="in" filter="fly">
                          <p:cBhvr>
                            <p:cTn id="35" dur="400" fill="hold"/>
                            <p:tgtEl>
                              <p:spTgt spid="33"/>
                            </p:tgtEl>
                          </p:cBhvr>
                        </p:animEffect>
                      </p:childTnLst>
                    </p:cTn>
                  </p:par>
                  <p:par>
                    <p:cTn id="36" fill="hold">
                      <p:stCondLst>
                        <p:cond delay="0"/>
                      </p:stCondLst>
                      <p:childTnLst>
                        <p:animEffect transition="in" filter="fly">
                          <p:cBhvr>
                            <p:cTn id="37" dur="400" fill="hold"/>
                            <p:tgtEl>
                              <p:spTgt spid="34"/>
                            </p:tgtEl>
                          </p:cBhvr>
                        </p:animEffect>
                        <p:animEffect transition="in" filter="fly">
                          <p:cBhvr>
                            <p:cTn id="38" dur="400" fill="hold"/>
                            <p:tgtEl>
                              <p:spTgt spid="35"/>
                            </p:tgtEl>
                          </p:cBhvr>
                        </p:animEffect>
                        <p:animEffect transition="in" filter="fly">
                          <p:cBhvr>
                            <p:cTn id="39" dur="400" fill="hold"/>
                            <p:tgtEl>
                              <p:spTgt spid="36"/>
                            </p:tgtEl>
                          </p:cBhvr>
                        </p:animEffect>
                      </p:childTnLst>
                    </p:cTn>
                  </p:par>
                  <p:par>
                    <p:cTn id="40" fill="hold">
                      <p:stCondLst>
                        <p:cond delay="0"/>
                      </p:stCondLst>
                      <p:childTnLst>
                        <p:animEffect transition="in" filter="fly">
                          <p:cBhvr>
                            <p:cTn id="41" dur="400" fill="hold"/>
                            <p:tgtEl>
                              <p:spTgt spid="37"/>
                            </p:tgtEl>
                          </p:cBhvr>
                        </p:animEffect>
                        <p:animEffect transition="in" filter="fly">
                          <p:cBhvr>
                            <p:cTn id="42" dur="400" fill="hold"/>
                            <p:tgtEl>
                              <p:spTgt spid="38"/>
                            </p:tgtEl>
                          </p:cBhvr>
                        </p:animEffect>
                        <p:animEffect transition="in" filter="fly">
                          <p:cBhvr>
                            <p:cTn id="43" dur="400" fill="hold"/>
                            <p:tgtEl>
                              <p:spTgt spid="39"/>
                            </p:tgtEl>
                          </p:cBhvr>
                        </p:animEffect>
                        <p:animEffect transition="in" filter="fly">
                          <p:cBhvr>
                            <p:cTn id="44" dur="400" fill="hold"/>
                            <p:tgtEl>
                              <p:spTgt spid="40"/>
                            </p:tgtEl>
                          </p:cBhvr>
                        </p:animEffect>
                        <p:animEffect transition="in" filter="fly">
                          <p:cBhvr>
                            <p:cTn id="45" dur="400" fill="hold"/>
                            <p:tgtEl>
                              <p:spTgt spid="41"/>
                            </p:tgtEl>
                          </p:cBhvr>
                        </p:animEffect>
                        <p:animEffect transition="in" filter="fly">
                          <p:cBhvr>
                            <p:cTn id="46" dur="400" fill="hold"/>
                            <p:tgtEl>
                              <p:spTgt spid="42"/>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نتایج</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مطالعه موردی: نتیجه فعالیت ایستادن</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۹ / ۱۴</a:t>
            </a:r>
            <a:endParaRPr lang="en-US" sz="1080" dirty="0"/>
          </a:p>
        </p:txBody>
      </p:sp>
      <p:sp>
        <p:nvSpPr>
          <p:cNvPr id="7" name="Shape 5"/>
          <p:cNvSpPr/>
          <p:nvPr/>
        </p:nvSpPr>
        <p:spPr>
          <a:xfrm>
            <a:off x="658368" y="1481328"/>
            <a:ext cx="3794760" cy="4526280"/>
          </a:xfrm>
          <a:prstGeom prst="roundRect">
            <a:avLst>
              <a:gd name="adj" fmla="val 1928"/>
            </a:avLst>
          </a:prstGeom>
          <a:solidFill>
            <a:srgbClr val="102A43"/>
          </a:solidFill>
          <a:ln w="12700">
            <a:solidFill>
              <a:srgbClr val="102A43"/>
            </a:solidFill>
            <a:prstDash val="solid"/>
          </a:ln>
          <a:effectLst>
            <a:outerShdw blurRad="12700" dist="50800" dir="2700000" algn="bl" rotWithShape="0">
              <a:srgbClr val="B0BEC5">
                <a:alpha val="12000"/>
              </a:srgbClr>
            </a:outerShdw>
          </a:effectLst>
        </p:spPr>
      </p:sp>
      <p:sp>
        <p:nvSpPr>
          <p:cNvPr id="8" name="Text 6"/>
          <p:cNvSpPr/>
          <p:nvPr/>
        </p:nvSpPr>
        <p:spPr>
          <a:xfrm>
            <a:off x="1051560" y="1792224"/>
            <a:ext cx="3017520" cy="310896"/>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Noto Sans Arabic" pitchFamily="34" charset="0"/>
                <a:ea typeface="Noto Sans Arabic" pitchFamily="34" charset="-122"/>
                <a:cs typeface="Noto Sans Arabic" pitchFamily="34" charset="-120"/>
              </a:rPr>
              <a:t>مدل منتخب</a:t>
            </a:r>
            <a:endParaRPr lang="en-US" sz="1350" dirty="0"/>
          </a:p>
        </p:txBody>
      </p:sp>
      <p:sp>
        <p:nvSpPr>
          <p:cNvPr id="9" name="Text 7"/>
          <p:cNvSpPr/>
          <p:nvPr/>
        </p:nvSpPr>
        <p:spPr>
          <a:xfrm>
            <a:off x="960120" y="2148840"/>
            <a:ext cx="3200400" cy="502920"/>
          </a:xfrm>
          <a:prstGeom prst="rect">
            <a:avLst/>
          </a:prstGeom>
          <a:noFill/>
          <a:ln/>
        </p:spPr>
        <p:txBody>
          <a:bodyPr wrap="square" lIns="0" tIns="0" rIns="0" bIns="0" rtlCol="0" anchor="ctr">
            <a:normAutofit/>
          </a:bodyPr>
          <a:lstStyle/>
          <a:p>
            <a:pPr marL="0" indent="0" algn="ctr">
              <a:buNone/>
            </a:pPr>
            <a:r>
              <a:rPr lang="en-US" sz="2900" b="1" dirty="0">
                <a:solidFill>
                  <a:srgbClr val="FFFFFF"/>
                </a:solidFill>
                <a:latin typeface="Aptos" pitchFamily="34" charset="0"/>
                <a:ea typeface="Aptos" pitchFamily="34" charset="-122"/>
                <a:cs typeface="Aptos" pitchFamily="34" charset="-120"/>
              </a:rPr>
              <a:t>SVM + PCA</a:t>
            </a:r>
            <a:endParaRPr lang="en-US" sz="2900" dirty="0"/>
          </a:p>
        </p:txBody>
      </p:sp>
      <p:sp>
        <p:nvSpPr>
          <p:cNvPr id="10" name="Text 8"/>
          <p:cNvSpPr/>
          <p:nvPr/>
        </p:nvSpPr>
        <p:spPr>
          <a:xfrm>
            <a:off x="1051560" y="2880360"/>
            <a:ext cx="3017520" cy="274320"/>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Noto Sans Arabic" pitchFamily="34" charset="0"/>
                <a:ea typeface="Noto Sans Arabic" pitchFamily="34" charset="-122"/>
                <a:cs typeface="Noto Sans Arabic" pitchFamily="34" charset="-120"/>
              </a:rPr>
              <a:t>دقت</a:t>
            </a:r>
            <a:endParaRPr lang="en-US" sz="1350" dirty="0"/>
          </a:p>
        </p:txBody>
      </p:sp>
      <p:sp>
        <p:nvSpPr>
          <p:cNvPr id="11" name="Text 9"/>
          <p:cNvSpPr/>
          <p:nvPr/>
        </p:nvSpPr>
        <p:spPr>
          <a:xfrm>
            <a:off x="1097280" y="3163824"/>
            <a:ext cx="2926080" cy="786384"/>
          </a:xfrm>
          <a:prstGeom prst="rect">
            <a:avLst/>
          </a:prstGeom>
          <a:noFill/>
          <a:ln/>
        </p:spPr>
        <p:txBody>
          <a:bodyPr wrap="square" lIns="0" tIns="0" rIns="0" bIns="0" rtlCol="0" anchor="ctr">
            <a:normAutofit/>
          </a:bodyPr>
          <a:lstStyle/>
          <a:p>
            <a:pPr marL="0" indent="0" algn="ctr" rtl="1">
              <a:buNone/>
            </a:pPr>
            <a:r>
              <a:rPr lang="en-US" sz="4800" b="1" dirty="0">
                <a:solidFill>
                  <a:srgbClr val="57D6C6"/>
                </a:solidFill>
                <a:latin typeface="Noto Sans Arabic" pitchFamily="34" charset="0"/>
                <a:ea typeface="Noto Sans Arabic" pitchFamily="34" charset="-122"/>
                <a:cs typeface="Noto Sans Arabic" pitchFamily="34" charset="-120"/>
              </a:rPr>
              <a:t>۹۶٪</a:t>
            </a:r>
            <a:endParaRPr lang="en-US" sz="4800" dirty="0"/>
          </a:p>
        </p:txBody>
      </p:sp>
      <p:sp>
        <p:nvSpPr>
          <p:cNvPr id="12" name="Shape 10"/>
          <p:cNvSpPr/>
          <p:nvPr/>
        </p:nvSpPr>
        <p:spPr>
          <a:xfrm>
            <a:off x="1207008" y="4169664"/>
            <a:ext cx="2606040" cy="0"/>
          </a:xfrm>
          <a:prstGeom prst="line">
            <a:avLst/>
          </a:prstGeom>
          <a:noFill/>
          <a:ln w="12700">
            <a:solidFill>
              <a:srgbClr val="335A75"/>
            </a:solidFill>
            <a:prstDash val="solid"/>
          </a:ln>
        </p:spPr>
      </p:sp>
      <p:sp>
        <p:nvSpPr>
          <p:cNvPr id="13" name="Text 11"/>
          <p:cNvSpPr/>
          <p:nvPr/>
        </p:nvSpPr>
        <p:spPr>
          <a:xfrm>
            <a:off x="1143000" y="4370832"/>
            <a:ext cx="2788920" cy="347472"/>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Noto Sans Arabic" pitchFamily="34" charset="0"/>
                <a:ea typeface="Noto Sans Arabic" pitchFamily="34" charset="-122"/>
                <a:cs typeface="Noto Sans Arabic" pitchFamily="34" charset="-120"/>
              </a:rPr>
              <a:t>۱۳ مؤلفه اصلی</a:t>
            </a:r>
            <a:endParaRPr lang="en-US" sz="1900" dirty="0"/>
          </a:p>
        </p:txBody>
      </p:sp>
      <p:sp>
        <p:nvSpPr>
          <p:cNvPr id="14" name="Text 12"/>
          <p:cNvSpPr/>
          <p:nvPr/>
        </p:nvSpPr>
        <p:spPr>
          <a:xfrm>
            <a:off x="1143000" y="4782312"/>
            <a:ext cx="2788920" cy="274320"/>
          </a:xfrm>
          <a:prstGeom prst="rect">
            <a:avLst/>
          </a:prstGeom>
          <a:noFill/>
          <a:ln/>
        </p:spPr>
        <p:txBody>
          <a:bodyPr wrap="square" lIns="0" tIns="0" rIns="0" bIns="0" rtlCol="0" anchor="ctr">
            <a:normAutofit/>
          </a:bodyPr>
          <a:lstStyle/>
          <a:p>
            <a:pPr marL="0" indent="0" algn="ctr" rtl="1">
              <a:buNone/>
            </a:pPr>
            <a:r>
              <a:rPr lang="en-US" sz="1250" dirty="0">
                <a:solidFill>
                  <a:srgbClr val="B7D5E4"/>
                </a:solidFill>
                <a:latin typeface="Noto Sans Arabic" pitchFamily="34" charset="0"/>
                <a:ea typeface="Noto Sans Arabic" pitchFamily="34" charset="-122"/>
                <a:cs typeface="Noto Sans Arabic" pitchFamily="34" charset="-120"/>
              </a:rPr>
              <a:t>حدود ۷۰٪ واریانس داده</a:t>
            </a:r>
            <a:endParaRPr lang="en-US" sz="1250" dirty="0"/>
          </a:p>
        </p:txBody>
      </p:sp>
      <p:sp>
        <p:nvSpPr>
          <p:cNvPr id="15" name="Text 13"/>
          <p:cNvSpPr/>
          <p:nvPr/>
        </p:nvSpPr>
        <p:spPr>
          <a:xfrm>
            <a:off x="1143000" y="5230368"/>
            <a:ext cx="2788920" cy="292608"/>
          </a:xfrm>
          <a:prstGeom prst="rect">
            <a:avLst/>
          </a:prstGeom>
          <a:noFill/>
          <a:ln/>
        </p:spPr>
        <p:txBody>
          <a:bodyPr wrap="square" lIns="0" tIns="0" rIns="0" bIns="0" rtlCol="0" anchor="ctr">
            <a:normAutofit/>
          </a:bodyPr>
          <a:lstStyle/>
          <a:p>
            <a:pPr marL="0" indent="0" algn="ctr" rtl="1">
              <a:buNone/>
            </a:pPr>
            <a:r>
              <a:rPr lang="en-US" sz="1250" dirty="0">
                <a:solidFill>
                  <a:srgbClr val="D8EAF2"/>
                </a:solidFill>
                <a:latin typeface="Noto Sans Arabic" pitchFamily="34" charset="0"/>
                <a:ea typeface="Noto Sans Arabic" pitchFamily="34" charset="-122"/>
                <a:cs typeface="Noto Sans Arabic" pitchFamily="34" charset="-120"/>
              </a:rPr>
              <a:t>تفکیک سه سطح شبیه‌سازی‌شده</a:t>
            </a:r>
            <a:endParaRPr lang="en-US" sz="1250" dirty="0"/>
          </a:p>
        </p:txBody>
      </p:sp>
      <p:sp>
        <p:nvSpPr>
          <p:cNvPr id="16" name="Shape 14"/>
          <p:cNvSpPr/>
          <p:nvPr/>
        </p:nvSpPr>
        <p:spPr>
          <a:xfrm>
            <a:off x="4709160" y="1481328"/>
            <a:ext cx="681228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17" name="Shape 15"/>
          <p:cNvSpPr/>
          <p:nvPr/>
        </p:nvSpPr>
        <p:spPr>
          <a:xfrm>
            <a:off x="9738360" y="1746504"/>
            <a:ext cx="1444752" cy="347472"/>
          </a:xfrm>
          <a:prstGeom prst="roundRect">
            <a:avLst>
              <a:gd name="adj" fmla="val 47368"/>
            </a:avLst>
          </a:prstGeom>
          <a:solidFill>
            <a:srgbClr val="E7F4F8"/>
          </a:solidFill>
          <a:ln w="12700">
            <a:solidFill>
              <a:srgbClr val="E7F4F8"/>
            </a:solidFill>
            <a:prstDash val="solid"/>
          </a:ln>
        </p:spPr>
      </p:sp>
      <p:sp>
        <p:nvSpPr>
          <p:cNvPr id="18" name="Text 16"/>
          <p:cNvSpPr/>
          <p:nvPr/>
        </p:nvSpPr>
        <p:spPr>
          <a:xfrm>
            <a:off x="9848088" y="1764792"/>
            <a:ext cx="1225296" cy="310896"/>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Noto Sans Arabic" pitchFamily="34" charset="0"/>
                <a:ea typeface="Noto Sans Arabic" pitchFamily="34" charset="-122"/>
                <a:cs typeface="Noto Sans Arabic" pitchFamily="34" charset="-120"/>
              </a:rPr>
              <a:t>مقایسه مدل‌ها</a:t>
            </a:r>
            <a:endParaRPr lang="en-US" sz="1300" dirty="0"/>
          </a:p>
        </p:txBody>
      </p:sp>
      <p:sp>
        <p:nvSpPr>
          <p:cNvPr id="19" name="Text 17"/>
          <p:cNvSpPr/>
          <p:nvPr/>
        </p:nvSpPr>
        <p:spPr>
          <a:xfrm>
            <a:off x="5102352" y="253288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Aptos" pitchFamily="34" charset="0"/>
                <a:ea typeface="Aptos" pitchFamily="34" charset="-122"/>
                <a:cs typeface="Aptos" pitchFamily="34" charset="-120"/>
              </a:rPr>
              <a:t>SVM</a:t>
            </a:r>
            <a:endParaRPr lang="en-US" sz="1350" dirty="0"/>
          </a:p>
        </p:txBody>
      </p:sp>
      <p:sp>
        <p:nvSpPr>
          <p:cNvPr id="20" name="Shape 18"/>
          <p:cNvSpPr/>
          <p:nvPr/>
        </p:nvSpPr>
        <p:spPr>
          <a:xfrm>
            <a:off x="6720840" y="2423160"/>
            <a:ext cx="4069080" cy="475488"/>
          </a:xfrm>
          <a:prstGeom prst="roundRect">
            <a:avLst>
              <a:gd name="adj" fmla="val 17308"/>
            </a:avLst>
          </a:prstGeom>
          <a:solidFill>
            <a:srgbClr val="EEF4F8"/>
          </a:solidFill>
          <a:ln w="12700">
            <a:solidFill>
              <a:srgbClr val="EEF4F8"/>
            </a:solidFill>
            <a:prstDash val="solid"/>
          </a:ln>
        </p:spPr>
      </p:sp>
      <p:sp>
        <p:nvSpPr>
          <p:cNvPr id="21" name="Shape 19"/>
          <p:cNvSpPr/>
          <p:nvPr/>
        </p:nvSpPr>
        <p:spPr>
          <a:xfrm>
            <a:off x="6720840" y="2423160"/>
            <a:ext cx="3906317" cy="475488"/>
          </a:xfrm>
          <a:prstGeom prst="roundRect">
            <a:avLst>
              <a:gd name="adj" fmla="val 17308"/>
            </a:avLst>
          </a:prstGeom>
          <a:solidFill>
            <a:srgbClr val="0B6E99"/>
          </a:solidFill>
          <a:ln w="12700">
            <a:solidFill>
              <a:srgbClr val="0B6E99"/>
            </a:solidFill>
            <a:prstDash val="solid"/>
          </a:ln>
        </p:spPr>
      </p:sp>
      <p:sp>
        <p:nvSpPr>
          <p:cNvPr id="22" name="Text 20"/>
          <p:cNvSpPr/>
          <p:nvPr/>
        </p:nvSpPr>
        <p:spPr>
          <a:xfrm>
            <a:off x="10890504" y="247802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Noto Sans Arabic" pitchFamily="34" charset="0"/>
                <a:ea typeface="Noto Sans Arabic" pitchFamily="34" charset="-122"/>
                <a:cs typeface="Noto Sans Arabic" pitchFamily="34" charset="-120"/>
              </a:rPr>
              <a:t>۹۶٪</a:t>
            </a:r>
            <a:endParaRPr lang="en-US" sz="1300" dirty="0"/>
          </a:p>
        </p:txBody>
      </p:sp>
      <p:sp>
        <p:nvSpPr>
          <p:cNvPr id="23" name="Text 21"/>
          <p:cNvSpPr/>
          <p:nvPr/>
        </p:nvSpPr>
        <p:spPr>
          <a:xfrm>
            <a:off x="5102352" y="331012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Aptos" pitchFamily="34" charset="0"/>
                <a:ea typeface="Aptos" pitchFamily="34" charset="-122"/>
                <a:cs typeface="Aptos" pitchFamily="34" charset="-120"/>
              </a:rPr>
              <a:t>KNN</a:t>
            </a:r>
            <a:endParaRPr lang="en-US" sz="1350" dirty="0"/>
          </a:p>
        </p:txBody>
      </p:sp>
      <p:sp>
        <p:nvSpPr>
          <p:cNvPr id="24" name="Shape 22"/>
          <p:cNvSpPr/>
          <p:nvPr/>
        </p:nvSpPr>
        <p:spPr>
          <a:xfrm>
            <a:off x="6720840" y="3200400"/>
            <a:ext cx="4069080" cy="475488"/>
          </a:xfrm>
          <a:prstGeom prst="roundRect">
            <a:avLst>
              <a:gd name="adj" fmla="val 17308"/>
            </a:avLst>
          </a:prstGeom>
          <a:solidFill>
            <a:srgbClr val="EEF4F8"/>
          </a:solidFill>
          <a:ln w="12700">
            <a:solidFill>
              <a:srgbClr val="EEF4F8"/>
            </a:solidFill>
            <a:prstDash val="solid"/>
          </a:ln>
        </p:spPr>
      </p:sp>
      <p:sp>
        <p:nvSpPr>
          <p:cNvPr id="25" name="Shape 23"/>
          <p:cNvSpPr/>
          <p:nvPr/>
        </p:nvSpPr>
        <p:spPr>
          <a:xfrm>
            <a:off x="6720840" y="3200400"/>
            <a:ext cx="3784244" cy="475488"/>
          </a:xfrm>
          <a:prstGeom prst="roundRect">
            <a:avLst>
              <a:gd name="adj" fmla="val 17308"/>
            </a:avLst>
          </a:prstGeom>
          <a:solidFill>
            <a:srgbClr val="0B7A75"/>
          </a:solidFill>
          <a:ln w="12700">
            <a:solidFill>
              <a:srgbClr val="0B7A75"/>
            </a:solidFill>
            <a:prstDash val="solid"/>
          </a:ln>
        </p:spPr>
      </p:sp>
      <p:sp>
        <p:nvSpPr>
          <p:cNvPr id="26" name="Text 24"/>
          <p:cNvSpPr/>
          <p:nvPr/>
        </p:nvSpPr>
        <p:spPr>
          <a:xfrm>
            <a:off x="10890504" y="325526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7A75"/>
                </a:solidFill>
                <a:latin typeface="Noto Sans Arabic" pitchFamily="34" charset="0"/>
                <a:ea typeface="Noto Sans Arabic" pitchFamily="34" charset="-122"/>
                <a:cs typeface="Noto Sans Arabic" pitchFamily="34" charset="-120"/>
              </a:rPr>
              <a:t>۹۳٪</a:t>
            </a:r>
            <a:endParaRPr lang="en-US" sz="1300" dirty="0"/>
          </a:p>
        </p:txBody>
      </p:sp>
      <p:sp>
        <p:nvSpPr>
          <p:cNvPr id="27" name="Text 25"/>
          <p:cNvSpPr/>
          <p:nvPr/>
        </p:nvSpPr>
        <p:spPr>
          <a:xfrm>
            <a:off x="5102352" y="408736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Aptos" pitchFamily="34" charset="0"/>
                <a:ea typeface="Aptos" pitchFamily="34" charset="-122"/>
                <a:cs typeface="Aptos" pitchFamily="34" charset="-120"/>
              </a:rPr>
              <a:t>Random Forest</a:t>
            </a:r>
            <a:endParaRPr lang="en-US" sz="1350" dirty="0"/>
          </a:p>
        </p:txBody>
      </p:sp>
      <p:sp>
        <p:nvSpPr>
          <p:cNvPr id="28" name="Shape 26"/>
          <p:cNvSpPr/>
          <p:nvPr/>
        </p:nvSpPr>
        <p:spPr>
          <a:xfrm>
            <a:off x="6720840" y="3977640"/>
            <a:ext cx="4069080" cy="475488"/>
          </a:xfrm>
          <a:prstGeom prst="roundRect">
            <a:avLst>
              <a:gd name="adj" fmla="val 17308"/>
            </a:avLst>
          </a:prstGeom>
          <a:solidFill>
            <a:srgbClr val="EEF4F8"/>
          </a:solidFill>
          <a:ln w="12700">
            <a:solidFill>
              <a:srgbClr val="EEF4F8"/>
            </a:solidFill>
            <a:prstDash val="solid"/>
          </a:ln>
        </p:spPr>
      </p:sp>
      <p:sp>
        <p:nvSpPr>
          <p:cNvPr id="29" name="Shape 27"/>
          <p:cNvSpPr/>
          <p:nvPr/>
        </p:nvSpPr>
        <p:spPr>
          <a:xfrm>
            <a:off x="6720840" y="3977640"/>
            <a:ext cx="3743554" cy="475488"/>
          </a:xfrm>
          <a:prstGeom prst="roundRect">
            <a:avLst>
              <a:gd name="adj" fmla="val 17308"/>
            </a:avLst>
          </a:prstGeom>
          <a:solidFill>
            <a:srgbClr val="94A3B8"/>
          </a:solidFill>
          <a:ln w="12700">
            <a:solidFill>
              <a:srgbClr val="94A3B8"/>
            </a:solidFill>
            <a:prstDash val="solid"/>
          </a:ln>
        </p:spPr>
      </p:sp>
      <p:sp>
        <p:nvSpPr>
          <p:cNvPr id="30" name="Text 28"/>
          <p:cNvSpPr/>
          <p:nvPr/>
        </p:nvSpPr>
        <p:spPr>
          <a:xfrm>
            <a:off x="10890504" y="403250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94A3B8"/>
                </a:solidFill>
                <a:latin typeface="Noto Sans Arabic" pitchFamily="34" charset="0"/>
                <a:ea typeface="Noto Sans Arabic" pitchFamily="34" charset="-122"/>
                <a:cs typeface="Noto Sans Arabic" pitchFamily="34" charset="-120"/>
              </a:rPr>
              <a:t>۹۲٪</a:t>
            </a:r>
            <a:endParaRPr lang="en-US" sz="1300" dirty="0"/>
          </a:p>
        </p:txBody>
      </p:sp>
      <p:sp>
        <p:nvSpPr>
          <p:cNvPr id="31" name="Text 29"/>
          <p:cNvSpPr/>
          <p:nvPr/>
        </p:nvSpPr>
        <p:spPr>
          <a:xfrm>
            <a:off x="7882128" y="4572000"/>
            <a:ext cx="2926080" cy="256032"/>
          </a:xfrm>
          <a:prstGeom prst="rect">
            <a:avLst/>
          </a:prstGeom>
          <a:noFill/>
          <a:ln/>
        </p:spPr>
        <p:txBody>
          <a:bodyPr wrap="square" lIns="0" tIns="0" rIns="0" bIns="0" rtlCol="0" anchor="ctr">
            <a:normAutofit/>
          </a:bodyPr>
          <a:lstStyle/>
          <a:p>
            <a:pPr marL="0" indent="0" algn="r" rtl="1">
              <a:buNone/>
            </a:pPr>
            <a:r>
              <a:rPr lang="en-US" sz="1550" b="1" dirty="0">
                <a:solidFill>
                  <a:srgbClr val="102A43"/>
                </a:solidFill>
                <a:latin typeface="Noto Sans Arabic" pitchFamily="34" charset="0"/>
                <a:ea typeface="Noto Sans Arabic" pitchFamily="34" charset="-122"/>
                <a:cs typeface="Noto Sans Arabic" pitchFamily="34" charset="-120"/>
              </a:rPr>
              <a:t>چرا ایستادن قابل تفکیک بود؟</a:t>
            </a:r>
            <a:endParaRPr lang="en-US" sz="1550" dirty="0"/>
          </a:p>
        </p:txBody>
      </p:sp>
      <p:sp>
        <p:nvSpPr>
          <p:cNvPr id="32" name="Shape 30"/>
          <p:cNvSpPr/>
          <p:nvPr/>
        </p:nvSpPr>
        <p:spPr>
          <a:xfrm>
            <a:off x="10753344" y="5020056"/>
            <a:ext cx="82296" cy="82296"/>
          </a:xfrm>
          <a:prstGeom prst="ellipse">
            <a:avLst/>
          </a:prstGeom>
          <a:solidFill>
            <a:srgbClr val="0B6E99"/>
          </a:solidFill>
          <a:ln w="12700">
            <a:solidFill>
              <a:srgbClr val="0B6E99"/>
            </a:solidFill>
            <a:prstDash val="solid"/>
          </a:ln>
        </p:spPr>
      </p:sp>
      <p:sp>
        <p:nvSpPr>
          <p:cNvPr id="33" name="Text 31"/>
          <p:cNvSpPr/>
          <p:nvPr/>
        </p:nvSpPr>
        <p:spPr>
          <a:xfrm>
            <a:off x="7360920" y="4919472"/>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Noto Sans Arabic" pitchFamily="34" charset="0"/>
                <a:ea typeface="Noto Sans Arabic" pitchFamily="34" charset="-122"/>
                <a:cs typeface="Noto Sans Arabic" pitchFamily="34" charset="-120"/>
              </a:rPr>
              <a:t>نوسان‌های ظریف بدن</a:t>
            </a:r>
            <a:endParaRPr lang="en-US" sz="1150" dirty="0"/>
          </a:p>
        </p:txBody>
      </p:sp>
      <p:sp>
        <p:nvSpPr>
          <p:cNvPr id="34" name="Shape 32"/>
          <p:cNvSpPr/>
          <p:nvPr/>
        </p:nvSpPr>
        <p:spPr>
          <a:xfrm>
            <a:off x="10753344" y="5266944"/>
            <a:ext cx="82296" cy="82296"/>
          </a:xfrm>
          <a:prstGeom prst="ellipse">
            <a:avLst/>
          </a:prstGeom>
          <a:solidFill>
            <a:srgbClr val="0B6E99"/>
          </a:solidFill>
          <a:ln w="12700">
            <a:solidFill>
              <a:srgbClr val="0B6E99"/>
            </a:solidFill>
            <a:prstDash val="solid"/>
          </a:ln>
        </p:spPr>
      </p:sp>
      <p:sp>
        <p:nvSpPr>
          <p:cNvPr id="35" name="Text 33"/>
          <p:cNvSpPr/>
          <p:nvPr/>
        </p:nvSpPr>
        <p:spPr>
          <a:xfrm>
            <a:off x="7360920" y="5166360"/>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Noto Sans Arabic" pitchFamily="34" charset="0"/>
                <a:ea typeface="Noto Sans Arabic" pitchFamily="34" charset="-122"/>
                <a:cs typeface="Noto Sans Arabic" pitchFamily="34" charset="-120"/>
              </a:rPr>
              <a:t>نحوه حفظ تعادل</a:t>
            </a:r>
            <a:endParaRPr lang="en-US" sz="1150" dirty="0"/>
          </a:p>
        </p:txBody>
      </p:sp>
      <p:sp>
        <p:nvSpPr>
          <p:cNvPr id="36" name="Shape 34"/>
          <p:cNvSpPr/>
          <p:nvPr/>
        </p:nvSpPr>
        <p:spPr>
          <a:xfrm>
            <a:off x="10753344" y="5513832"/>
            <a:ext cx="82296" cy="82296"/>
          </a:xfrm>
          <a:prstGeom prst="ellipse">
            <a:avLst/>
          </a:prstGeom>
          <a:solidFill>
            <a:srgbClr val="0B6E99"/>
          </a:solidFill>
          <a:ln w="12700">
            <a:solidFill>
              <a:srgbClr val="0B6E99"/>
            </a:solidFill>
            <a:prstDash val="solid"/>
          </a:ln>
        </p:spPr>
      </p:sp>
      <p:sp>
        <p:nvSpPr>
          <p:cNvPr id="37" name="Text 35"/>
          <p:cNvSpPr/>
          <p:nvPr/>
        </p:nvSpPr>
        <p:spPr>
          <a:xfrm>
            <a:off x="7360920" y="5413248"/>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Noto Sans Arabic" pitchFamily="34" charset="0"/>
                <a:ea typeface="Noto Sans Arabic" pitchFamily="34" charset="-122"/>
                <a:cs typeface="Noto Sans Arabic" pitchFamily="34" charset="-120"/>
              </a:rPr>
              <a:t>میزان حرکت جبرانی دست‌ها و سر</a:t>
            </a:r>
            <a:endParaRPr lang="en-US" sz="1150" dirty="0"/>
          </a:p>
        </p:txBody>
      </p:sp>
      <p:sp>
        <p:nvSpPr>
          <p:cNvPr id="38" name="Text 36"/>
          <p:cNvSpPr/>
          <p:nvPr/>
        </p:nvSpPr>
        <p:spPr>
          <a:xfrm>
            <a:off x="5120640" y="5669280"/>
            <a:ext cx="5349240" cy="228600"/>
          </a:xfrm>
          <a:prstGeom prst="rect">
            <a:avLst/>
          </a:prstGeom>
          <a:noFill/>
          <a:ln/>
        </p:spPr>
        <p:txBody>
          <a:bodyPr wrap="square" lIns="0" tIns="0" rIns="0" bIns="0" rtlCol="0" anchor="ctr">
            <a:normAutofit/>
          </a:bodyPr>
          <a:lstStyle/>
          <a:p>
            <a:pPr marL="0" indent="0" algn="ctr" rtl="1">
              <a:buNone/>
            </a:pPr>
            <a:r>
              <a:rPr lang="en-US" sz="1130" dirty="0">
                <a:solidFill>
                  <a:srgbClr val="C0392B"/>
                </a:solidFill>
                <a:latin typeface="Noto Sans Arabic" pitchFamily="34" charset="0"/>
                <a:ea typeface="Noto Sans Arabic" pitchFamily="34" charset="-122"/>
                <a:cs typeface="Noto Sans Arabic" pitchFamily="34" charset="-120"/>
              </a:rPr>
              <a:t>نمره ۱ بیشترین هم‌پوشانی را با دو سطح دیگر داشت.</a:t>
            </a:r>
            <a:endParaRPr lang="en-US" sz="1130" dirty="0"/>
          </a:p>
        </p:txBody>
      </p:sp>
      <p:sp>
        <p:nvSpPr>
          <p:cNvPr id="39" name="Shape 37"/>
          <p:cNvSpPr/>
          <p:nvPr/>
        </p:nvSpPr>
        <p:spPr>
          <a:xfrm>
            <a:off x="658368" y="6473952"/>
            <a:ext cx="10881360" cy="0"/>
          </a:xfrm>
          <a:prstGeom prst="line">
            <a:avLst/>
          </a:prstGeom>
          <a:noFill/>
          <a:ln w="10160">
            <a:solidFill>
              <a:srgbClr val="E9EEF2"/>
            </a:solidFill>
            <a:prstDash val="solid"/>
          </a:ln>
        </p:spPr>
      </p:sp>
      <p:sp>
        <p:nvSpPr>
          <p:cNvPr id="40" name="Text 38"/>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1" name="Text 39"/>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۴ از ۶: نتایج و بحث | ۵ اسلاید تا پایان</a:t>
            </a:r>
            <a:endParaRPr lang="en-US" sz="920" dirty="0"/>
          </a:p>
        </p:txBody>
      </p:sp>
      <p:sp>
        <p:nvSpPr>
          <p:cNvPr id="42" name="Text 40"/>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۹ / ۱۴</a:t>
            </a:r>
            <a:endParaRPr lang="en-US" sz="1020" dirty="0"/>
          </a:p>
        </p:txBody>
      </p:sp>
      <p:sp>
        <p:nvSpPr>
          <p:cNvPr id="43" name="Shape 41"/>
          <p:cNvSpPr/>
          <p:nvPr/>
        </p:nvSpPr>
        <p:spPr>
          <a:xfrm>
            <a:off x="2560320" y="6766560"/>
            <a:ext cx="4232366" cy="41148"/>
          </a:xfrm>
          <a:prstGeom prst="rect">
            <a:avLst/>
          </a:prstGeom>
          <a:solidFill>
            <a:srgbClr val="0B6E99"/>
          </a:solidFill>
          <a:ln w="12700">
            <a:solidFill>
              <a:srgbClr val="0B6E99"/>
            </a:solidFill>
            <a:prstDash val="solid"/>
          </a:ln>
        </p:spPr>
      </p:sp>
      <p:sp>
        <p:nvSpPr>
          <p:cNvPr id="44" name="Shape 42"/>
          <p:cNvSpPr/>
          <p:nvPr/>
        </p:nvSpPr>
        <p:spPr>
          <a:xfrm>
            <a:off x="6792686" y="6766560"/>
            <a:ext cx="2351314" cy="41148"/>
          </a:xfrm>
          <a:prstGeom prst="rect">
            <a:avLst/>
          </a:prstGeom>
          <a:solidFill>
            <a:srgbClr val="E6EDF2"/>
          </a:solidFill>
          <a:ln w="12700">
            <a:solidFill>
              <a:srgbClr val="E6EDF2"/>
            </a:solidFill>
            <a:prstDash val="solid"/>
          </a:ln>
        </p:spPr>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0"/>
                      </p:stCondLst>
                      <p:childTnLst>
                        <p:animEffect transition="in" filter="zoom">
                          <p:cBhvr>
                            <p:cTn id="4" dur="500" fill="hold"/>
                            <p:tgtEl>
                              <p:spTgt spid="7"/>
                            </p:tgtEl>
                          </p:cBhvr>
                        </p:animEffect>
                        <p:animEffect transition="in" filter="zoom">
                          <p:cBhvr>
                            <p:cTn id="5" dur="500" fill="hold"/>
                            <p:tgtEl>
                              <p:spTgt spid="8"/>
                            </p:tgtEl>
                          </p:cBhvr>
                        </p:animEffect>
                        <p:animEffect transition="in" filter="zoom">
                          <p:cBhvr>
                            <p:cTn id="6" dur="500" fill="hold"/>
                            <p:tgtEl>
                              <p:spTgt spid="9"/>
                            </p:tgtEl>
                          </p:cBhvr>
                        </p:animEffect>
                        <p:animEffect transition="in" filter="zoom">
                          <p:cBhvr>
                            <p:cTn id="7" dur="500" fill="hold"/>
                            <p:tgtEl>
                              <p:spTgt spid="10"/>
                            </p:tgtEl>
                          </p:cBhvr>
                        </p:animEffect>
                        <p:animEffect transition="in" filter="zoom">
                          <p:cBhvr>
                            <p:cTn id="8" dur="500" fill="hold"/>
                            <p:tgtEl>
                              <p:spTgt spid="11"/>
                            </p:tgtEl>
                          </p:cBhvr>
                        </p:animEffect>
                        <p:animEffect transition="in" filter="zoom">
                          <p:cBhvr>
                            <p:cTn id="9" dur="500" fill="hold"/>
                            <p:tgtEl>
                              <p:spTgt spid="12"/>
                            </p:tgtEl>
                          </p:cBhvr>
                        </p:animEffect>
                        <p:animEffect transition="in" filter="zoom">
                          <p:cBhvr>
                            <p:cTn id="10" dur="500" fill="hold"/>
                            <p:tgtEl>
                              <p:spTgt spid="13"/>
                            </p:tgtEl>
                          </p:cBhvr>
                        </p:animEffect>
                        <p:animEffect transition="in" filter="zoom">
                          <p:cBhvr>
                            <p:cTn id="11" dur="500" fill="hold"/>
                            <p:tgtEl>
                              <p:spTgt spid="14"/>
                            </p:tgtEl>
                          </p:cBhvr>
                        </p:animEffect>
                        <p:animEffect transition="in" filter="zoom">
                          <p:cBhvr>
                            <p:cTn id="12" dur="500" fill="hold"/>
                            <p:tgtEl>
                              <p:spTgt spid="15"/>
                            </p:tgtEl>
                          </p:cBhvr>
                        </p:animEffect>
                      </p:childTnLst>
                    </p:cTn>
                  </p:par>
                  <p:par>
                    <p:cTn id="13" fill="hold">
                      <p:stCondLst>
                        <p:cond delay="0"/>
                      </p:stCondLst>
                      <p:childTnLst>
                        <p:animEffect transition="in" filter="fade">
                          <p:cBhvr>
                            <p:cTn id="14" dur="350" fill="hold"/>
                            <p:tgtEl>
                              <p:spTgt spid="16"/>
                            </p:tgtEl>
                          </p:cBhvr>
                        </p:animEffect>
                        <p:animEffect transition="in" filter="fade">
                          <p:cBhvr>
                            <p:cTn id="15" dur="350" fill="hold"/>
                            <p:tgtEl>
                              <p:spTgt spid="17"/>
                            </p:tgtEl>
                          </p:cBhvr>
                        </p:animEffect>
                        <p:animEffect transition="in" filter="fade">
                          <p:cBhvr>
                            <p:cTn id="16" dur="350" fill="hold"/>
                            <p:tgtEl>
                              <p:spTgt spid="18"/>
                            </p:tgtEl>
                          </p:cBhvr>
                        </p:animEffect>
                      </p:childTnLst>
                    </p:cTn>
                  </p:par>
                  <p:par>
                    <p:cTn id="17" fill="hold">
                      <p:stCondLst>
                        <p:cond delay="0"/>
                      </p:stCondLst>
                      <p:childTnLst>
                        <p:animEffect transition="in" filter="fly">
                          <p:cBhvr>
                            <p:cTn id="18" dur="400" fill="hold"/>
                            <p:tgtEl>
                              <p:spTgt spid="19"/>
                            </p:tgtEl>
                          </p:cBhvr>
                        </p:animEffect>
                        <p:animEffect transition="in" filter="fly">
                          <p:cBhvr>
                            <p:cTn id="19" dur="400" fill="hold"/>
                            <p:tgtEl>
                              <p:spTgt spid="20"/>
                            </p:tgtEl>
                          </p:cBhvr>
                        </p:animEffect>
                        <p:animEffect transition="in" filter="fly">
                          <p:cBhvr>
                            <p:cTn id="20" dur="400" fill="hold"/>
                            <p:tgtEl>
                              <p:spTgt spid="21"/>
                            </p:tgtEl>
                          </p:cBhvr>
                        </p:animEffect>
                        <p:animEffect transition="in" filter="fly">
                          <p:cBhvr>
                            <p:cTn id="21" dur="400" fill="hold"/>
                            <p:tgtEl>
                              <p:spTgt spid="22"/>
                            </p:tgtEl>
                          </p:cBhvr>
                        </p:animEffect>
                      </p:childTnLst>
                    </p:cTn>
                  </p:par>
                  <p:par>
                    <p:cTn id="22" fill="hold">
                      <p:stCondLst>
                        <p:cond delay="0"/>
                      </p:stCondLst>
                      <p:childTnLst>
                        <p:animEffect transition="in" filter="fly">
                          <p:cBhvr>
                            <p:cTn id="23" dur="400" fill="hold"/>
                            <p:tgtEl>
                              <p:spTgt spid="23"/>
                            </p:tgtEl>
                          </p:cBhvr>
                        </p:animEffect>
                        <p:animEffect transition="in" filter="fly">
                          <p:cBhvr>
                            <p:cTn id="24" dur="400" fill="hold"/>
                            <p:tgtEl>
                              <p:spTgt spid="24"/>
                            </p:tgtEl>
                          </p:cBhvr>
                        </p:animEffect>
                        <p:animEffect transition="in" filter="fly">
                          <p:cBhvr>
                            <p:cTn id="25" dur="400" fill="hold"/>
                            <p:tgtEl>
                              <p:spTgt spid="25"/>
                            </p:tgtEl>
                          </p:cBhvr>
                        </p:animEffect>
                        <p:animEffect transition="in" filter="fly">
                          <p:cBhvr>
                            <p:cTn id="26" dur="400" fill="hold"/>
                            <p:tgtEl>
                              <p:spTgt spid="26"/>
                            </p:tgtEl>
                          </p:cBhvr>
                        </p:animEffect>
                      </p:childTnLst>
                    </p:cTn>
                  </p:par>
                  <p:par>
                    <p:cTn id="27" fill="hold">
                      <p:stCondLst>
                        <p:cond delay="0"/>
                      </p:stCondLst>
                      <p:childTnLst>
                        <p:animEffect transition="in" filter="fly">
                          <p:cBhvr>
                            <p:cTn id="28" dur="400" fill="hold"/>
                            <p:tgtEl>
                              <p:spTgt spid="27"/>
                            </p:tgtEl>
                          </p:cBhvr>
                        </p:animEffect>
                        <p:animEffect transition="in" filter="fly">
                          <p:cBhvr>
                            <p:cTn id="29" dur="400" fill="hold"/>
                            <p:tgtEl>
                              <p:spTgt spid="28"/>
                            </p:tgtEl>
                          </p:cBhvr>
                        </p:animEffect>
                        <p:animEffect transition="in" filter="fly">
                          <p:cBhvr>
                            <p:cTn id="30" dur="400" fill="hold"/>
                            <p:tgtEl>
                              <p:spTgt spid="29"/>
                            </p:tgtEl>
                          </p:cBhvr>
                        </p:animEffect>
                        <p:animEffect transition="in" filter="fly">
                          <p:cBhvr>
                            <p:cTn id="31" dur="400" fill="hold"/>
                            <p:tgtEl>
                              <p:spTgt spid="30"/>
                            </p:tgtEl>
                          </p:cBhvr>
                        </p:animEffect>
                      </p:childTnLst>
                    </p:cTn>
                  </p:par>
                  <p:par>
                    <p:cTn id="32" fill="hold">
                      <p:stCondLst>
                        <p:cond delay="0"/>
                      </p:stCondLst>
                      <p:childTnLst>
                        <p:animEffect transition="in" filter="fade">
                          <p:cBhvr>
                            <p:cTn id="33" dur="450" fill="hold"/>
                            <p:tgtEl>
                              <p:spTgt spid="31"/>
                            </p:tgtEl>
                          </p:cBhvr>
                        </p:animEffect>
                        <p:animEffect transition="in" filter="fade">
                          <p:cBhvr>
                            <p:cTn id="34" dur="450" fill="hold"/>
                            <p:tgtEl>
                              <p:spTgt spid="32"/>
                            </p:tgtEl>
                          </p:cBhvr>
                        </p:animEffect>
                        <p:animEffect transition="in" filter="fade">
                          <p:cBhvr>
                            <p:cTn id="35" dur="450" fill="hold"/>
                            <p:tgtEl>
                              <p:spTgt spid="33"/>
                            </p:tgtEl>
                          </p:cBhvr>
                        </p:animEffect>
                        <p:animEffect transition="in" filter="fade">
                          <p:cBhvr>
                            <p:cTn id="36" dur="450" fill="hold"/>
                            <p:tgtEl>
                              <p:spTgt spid="34"/>
                            </p:tgtEl>
                          </p:cBhvr>
                        </p:animEffect>
                        <p:animEffect transition="in" filter="fade">
                          <p:cBhvr>
                            <p:cTn id="37" dur="450" fill="hold"/>
                            <p:tgtEl>
                              <p:spTgt spid="35"/>
                            </p:tgtEl>
                          </p:cBhvr>
                        </p:animEffect>
                        <p:animEffect transition="in" filter="fade">
                          <p:cBhvr>
                            <p:cTn id="38" dur="450" fill="hold"/>
                            <p:tgtEl>
                              <p:spTgt spid="36"/>
                            </p:tgtEl>
                          </p:cBhvr>
                        </p:animEffect>
                        <p:animEffect transition="in" filter="fade">
                          <p:cBhvr>
                            <p:cTn id="39" dur="450" fill="hold"/>
                            <p:tgtEl>
                              <p:spTgt spid="37"/>
                            </p:tgtEl>
                          </p:cBhvr>
                        </p:animEffect>
                        <p:animEffect transition="in" filter="fade">
                          <p:cBhvr>
                            <p:cTn id="40" dur="450" fill="hold"/>
                            <p:tgtEl>
                              <p:spTgt spid="38"/>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نتایج</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خلاصه نتایج پنج فعالیت</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۱۰ / ۱۴</a:t>
            </a:r>
            <a:endParaRPr lang="en-US" sz="1080" dirty="0"/>
          </a:p>
        </p:txBody>
      </p:sp>
      <p:sp>
        <p:nvSpPr>
          <p:cNvPr id="7" name="Text 5"/>
          <p:cNvSpPr/>
          <p:nvPr/>
        </p:nvSpPr>
        <p:spPr>
          <a:xfrm>
            <a:off x="4041648" y="1444752"/>
            <a:ext cx="704088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Noto Sans Arabic" pitchFamily="34" charset="0"/>
                <a:ea typeface="Noto Sans Arabic" pitchFamily="34" charset="-122"/>
                <a:cs typeface="Noto Sans Arabic" pitchFamily="34" charset="-120"/>
              </a:rPr>
              <a:t>در تمام فعالیت‌ها، ترکیب منتخب شامل SVM و PCA بود</a:t>
            </a:r>
            <a:endParaRPr lang="en-US" sz="1850" dirty="0"/>
          </a:p>
        </p:txBody>
      </p:sp>
      <p:sp>
        <p:nvSpPr>
          <p:cNvPr id="8" name="Shape 6"/>
          <p:cNvSpPr/>
          <p:nvPr/>
        </p:nvSpPr>
        <p:spPr>
          <a:xfrm>
            <a:off x="804672" y="1938528"/>
            <a:ext cx="10588752" cy="502920"/>
          </a:xfrm>
          <a:prstGeom prst="roundRect">
            <a:avLst>
              <a:gd name="adj" fmla="val 14545"/>
            </a:avLst>
          </a:prstGeom>
          <a:solidFill>
            <a:srgbClr val="102A43"/>
          </a:solidFill>
          <a:ln w="12700">
            <a:solidFill>
              <a:srgbClr val="102A43"/>
            </a:solidFill>
            <a:prstDash val="solid"/>
          </a:ln>
        </p:spPr>
      </p:sp>
      <p:sp>
        <p:nvSpPr>
          <p:cNvPr id="9" name="Text 7"/>
          <p:cNvSpPr/>
          <p:nvPr/>
        </p:nvSpPr>
        <p:spPr>
          <a:xfrm>
            <a:off x="882396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Noto Sans Arabic" pitchFamily="34" charset="0"/>
                <a:ea typeface="Noto Sans Arabic" pitchFamily="34" charset="-122"/>
                <a:cs typeface="Noto Sans Arabic" pitchFamily="34" charset="-120"/>
              </a:rPr>
              <a:t>فعالیت</a:t>
            </a:r>
            <a:endParaRPr lang="en-US" sz="1300" dirty="0"/>
          </a:p>
        </p:txBody>
      </p:sp>
      <p:sp>
        <p:nvSpPr>
          <p:cNvPr id="10" name="Text 8"/>
          <p:cNvSpPr/>
          <p:nvPr/>
        </p:nvSpPr>
        <p:spPr>
          <a:xfrm>
            <a:off x="598932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Noto Sans Arabic" pitchFamily="34" charset="0"/>
                <a:ea typeface="Noto Sans Arabic" pitchFamily="34" charset="-122"/>
                <a:cs typeface="Noto Sans Arabic" pitchFamily="34" charset="-120"/>
              </a:rPr>
              <a:t>تعداد مؤلفه اصلی</a:t>
            </a:r>
            <a:endParaRPr lang="en-US" sz="1300" dirty="0"/>
          </a:p>
        </p:txBody>
      </p:sp>
      <p:sp>
        <p:nvSpPr>
          <p:cNvPr id="11" name="Text 9"/>
          <p:cNvSpPr/>
          <p:nvPr/>
        </p:nvSpPr>
        <p:spPr>
          <a:xfrm>
            <a:off x="3721608" y="2029968"/>
            <a:ext cx="173736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Noto Sans Arabic" pitchFamily="34" charset="0"/>
                <a:ea typeface="Noto Sans Arabic" pitchFamily="34" charset="-122"/>
                <a:cs typeface="Noto Sans Arabic" pitchFamily="34" charset="-120"/>
              </a:rPr>
              <a:t>حد نصاب داخلی</a:t>
            </a:r>
            <a:endParaRPr lang="en-US" sz="1300" dirty="0"/>
          </a:p>
        </p:txBody>
      </p:sp>
      <p:sp>
        <p:nvSpPr>
          <p:cNvPr id="12" name="Text 10"/>
          <p:cNvSpPr/>
          <p:nvPr/>
        </p:nvSpPr>
        <p:spPr>
          <a:xfrm>
            <a:off x="960120" y="2029968"/>
            <a:ext cx="246888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Noto Sans Arabic" pitchFamily="34" charset="0"/>
                <a:ea typeface="Noto Sans Arabic" pitchFamily="34" charset="-122"/>
                <a:cs typeface="Noto Sans Arabic" pitchFamily="34" charset="-120"/>
              </a:rPr>
              <a:t>برداشت اصلی</a:t>
            </a:r>
            <a:endParaRPr lang="en-US" sz="1300" dirty="0"/>
          </a:p>
        </p:txBody>
      </p:sp>
      <p:sp>
        <p:nvSpPr>
          <p:cNvPr id="13" name="Shape 11"/>
          <p:cNvSpPr/>
          <p:nvPr/>
        </p:nvSpPr>
        <p:spPr>
          <a:xfrm>
            <a:off x="804672" y="2560320"/>
            <a:ext cx="10588752" cy="521208"/>
          </a:xfrm>
          <a:prstGeom prst="roundRect">
            <a:avLst>
              <a:gd name="adj" fmla="val 7018"/>
            </a:avLst>
          </a:prstGeom>
          <a:solidFill>
            <a:srgbClr val="FFFFFF"/>
          </a:solidFill>
          <a:ln w="12700">
            <a:solidFill>
              <a:srgbClr val="E0E8EE"/>
            </a:solidFill>
            <a:prstDash val="solid"/>
          </a:ln>
        </p:spPr>
      </p:sp>
      <p:sp>
        <p:nvSpPr>
          <p:cNvPr id="14" name="Shape 12"/>
          <p:cNvSpPr/>
          <p:nvPr/>
        </p:nvSpPr>
        <p:spPr>
          <a:xfrm>
            <a:off x="11219688" y="2560320"/>
            <a:ext cx="173736" cy="521208"/>
          </a:xfrm>
          <a:prstGeom prst="rect">
            <a:avLst/>
          </a:prstGeom>
          <a:solidFill>
            <a:srgbClr val="0B6E99"/>
          </a:solidFill>
          <a:ln w="12700">
            <a:solidFill>
              <a:srgbClr val="0B6E99"/>
            </a:solidFill>
            <a:prstDash val="solid"/>
          </a:ln>
        </p:spPr>
      </p:sp>
      <p:sp>
        <p:nvSpPr>
          <p:cNvPr id="15" name="Text 13"/>
          <p:cNvSpPr/>
          <p:nvPr/>
        </p:nvSpPr>
        <p:spPr>
          <a:xfrm>
            <a:off x="8668512" y="2651760"/>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Noto Sans Arabic" pitchFamily="34" charset="0"/>
                <a:ea typeface="Noto Sans Arabic" pitchFamily="34" charset="-122"/>
                <a:cs typeface="Noto Sans Arabic" pitchFamily="34" charset="-120"/>
              </a:rPr>
              <a:t>ایستادن</a:t>
            </a:r>
            <a:endParaRPr lang="en-US" sz="1370" dirty="0"/>
          </a:p>
        </p:txBody>
      </p:sp>
      <p:sp>
        <p:nvSpPr>
          <p:cNvPr id="16" name="Shape 14"/>
          <p:cNvSpPr/>
          <p:nvPr/>
        </p:nvSpPr>
        <p:spPr>
          <a:xfrm>
            <a:off x="6053328" y="2798064"/>
            <a:ext cx="2103120" cy="0"/>
          </a:xfrm>
          <a:prstGeom prst="line">
            <a:avLst/>
          </a:prstGeom>
          <a:noFill/>
          <a:ln w="101600">
            <a:solidFill>
              <a:srgbClr val="EEF4F8"/>
            </a:solidFill>
            <a:prstDash val="solid"/>
            <a:headEnd type="none"/>
            <a:tailEnd type="none"/>
          </a:ln>
        </p:spPr>
      </p:sp>
      <p:sp>
        <p:nvSpPr>
          <p:cNvPr id="17" name="Shape 15"/>
          <p:cNvSpPr/>
          <p:nvPr/>
        </p:nvSpPr>
        <p:spPr>
          <a:xfrm>
            <a:off x="6053328" y="2706624"/>
            <a:ext cx="1822704" cy="182880"/>
          </a:xfrm>
          <a:prstGeom prst="roundRect">
            <a:avLst>
              <a:gd name="adj" fmla="val 30000"/>
            </a:avLst>
          </a:prstGeom>
          <a:solidFill>
            <a:srgbClr val="0B6E99"/>
          </a:solidFill>
          <a:ln w="12700">
            <a:solidFill>
              <a:srgbClr val="0B6E99"/>
            </a:solidFill>
            <a:prstDash val="solid"/>
          </a:ln>
        </p:spPr>
      </p:sp>
      <p:sp>
        <p:nvSpPr>
          <p:cNvPr id="18" name="Text 16"/>
          <p:cNvSpPr/>
          <p:nvPr/>
        </p:nvSpPr>
        <p:spPr>
          <a:xfrm>
            <a:off x="8211312" y="2624328"/>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6E99"/>
                </a:solidFill>
                <a:latin typeface="Noto Sans Arabic" pitchFamily="34" charset="0"/>
                <a:ea typeface="Noto Sans Arabic" pitchFamily="34" charset="-122"/>
                <a:cs typeface="Noto Sans Arabic" pitchFamily="34" charset="-120"/>
              </a:rPr>
              <a:t>۱۳</a:t>
            </a:r>
            <a:endParaRPr lang="en-US" sz="1370" dirty="0"/>
          </a:p>
        </p:txBody>
      </p:sp>
      <p:sp>
        <p:nvSpPr>
          <p:cNvPr id="19" name="Shape 17"/>
          <p:cNvSpPr/>
          <p:nvPr/>
        </p:nvSpPr>
        <p:spPr>
          <a:xfrm>
            <a:off x="4005072" y="2633472"/>
            <a:ext cx="1097280" cy="356616"/>
          </a:xfrm>
          <a:prstGeom prst="roundRect">
            <a:avLst>
              <a:gd name="adj" fmla="val 46154"/>
            </a:avLst>
          </a:prstGeom>
          <a:solidFill>
            <a:srgbClr val="E8F5EE"/>
          </a:solidFill>
          <a:ln w="12700">
            <a:solidFill>
              <a:srgbClr val="E8F5EE"/>
            </a:solidFill>
            <a:prstDash val="solid"/>
          </a:ln>
        </p:spPr>
      </p:sp>
      <p:sp>
        <p:nvSpPr>
          <p:cNvPr id="20" name="Text 18"/>
          <p:cNvSpPr/>
          <p:nvPr/>
        </p:nvSpPr>
        <p:spPr>
          <a:xfrm>
            <a:off x="4114800" y="2651760"/>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Noto Sans Arabic" pitchFamily="34" charset="0"/>
                <a:ea typeface="Noto Sans Arabic" pitchFamily="34" charset="-122"/>
                <a:cs typeface="Noto Sans Arabic" pitchFamily="34" charset="-120"/>
              </a:rPr>
              <a:t>۹۰٪</a:t>
            </a:r>
            <a:endParaRPr lang="en-US" sz="1250" dirty="0"/>
          </a:p>
        </p:txBody>
      </p:sp>
      <p:sp>
        <p:nvSpPr>
          <p:cNvPr id="21" name="Text 19"/>
          <p:cNvSpPr/>
          <p:nvPr/>
        </p:nvSpPr>
        <p:spPr>
          <a:xfrm>
            <a:off x="1005840" y="2651760"/>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نتیجه گزارش‌شده: ۹۶٪</a:t>
            </a:r>
            <a:endParaRPr lang="en-US" sz="1140" dirty="0"/>
          </a:p>
        </p:txBody>
      </p:sp>
      <p:sp>
        <p:nvSpPr>
          <p:cNvPr id="22" name="Shape 20"/>
          <p:cNvSpPr/>
          <p:nvPr/>
        </p:nvSpPr>
        <p:spPr>
          <a:xfrm>
            <a:off x="804672" y="3191256"/>
            <a:ext cx="10588752" cy="521208"/>
          </a:xfrm>
          <a:prstGeom prst="roundRect">
            <a:avLst>
              <a:gd name="adj" fmla="val 7018"/>
            </a:avLst>
          </a:prstGeom>
          <a:solidFill>
            <a:srgbClr val="F3F7FA"/>
          </a:solidFill>
          <a:ln w="12700">
            <a:solidFill>
              <a:srgbClr val="E0E8EE"/>
            </a:solidFill>
            <a:prstDash val="solid"/>
          </a:ln>
        </p:spPr>
      </p:sp>
      <p:sp>
        <p:nvSpPr>
          <p:cNvPr id="23" name="Shape 21"/>
          <p:cNvSpPr/>
          <p:nvPr/>
        </p:nvSpPr>
        <p:spPr>
          <a:xfrm>
            <a:off x="11219688" y="3191256"/>
            <a:ext cx="173736" cy="521208"/>
          </a:xfrm>
          <a:prstGeom prst="rect">
            <a:avLst/>
          </a:prstGeom>
          <a:solidFill>
            <a:srgbClr val="0B7A75"/>
          </a:solidFill>
          <a:ln w="12700">
            <a:solidFill>
              <a:srgbClr val="0B7A75"/>
            </a:solidFill>
            <a:prstDash val="solid"/>
          </a:ln>
        </p:spPr>
      </p:sp>
      <p:sp>
        <p:nvSpPr>
          <p:cNvPr id="24" name="Text 22"/>
          <p:cNvSpPr/>
          <p:nvPr/>
        </p:nvSpPr>
        <p:spPr>
          <a:xfrm>
            <a:off x="8668512" y="3282696"/>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Noto Sans Arabic" pitchFamily="34" charset="0"/>
                <a:ea typeface="Noto Sans Arabic" pitchFamily="34" charset="-122"/>
                <a:cs typeface="Noto Sans Arabic" pitchFamily="34" charset="-120"/>
              </a:rPr>
              <a:t>برخاستن از صندلی</a:t>
            </a:r>
            <a:endParaRPr lang="en-US" sz="1370" dirty="0"/>
          </a:p>
        </p:txBody>
      </p:sp>
      <p:sp>
        <p:nvSpPr>
          <p:cNvPr id="25" name="Shape 23"/>
          <p:cNvSpPr/>
          <p:nvPr/>
        </p:nvSpPr>
        <p:spPr>
          <a:xfrm>
            <a:off x="6053328" y="3429000"/>
            <a:ext cx="2103120" cy="0"/>
          </a:xfrm>
          <a:prstGeom prst="line">
            <a:avLst/>
          </a:prstGeom>
          <a:noFill/>
          <a:ln w="101600">
            <a:solidFill>
              <a:srgbClr val="EEF4F8"/>
            </a:solidFill>
            <a:prstDash val="solid"/>
            <a:headEnd type="none"/>
            <a:tailEnd type="none"/>
          </a:ln>
        </p:spPr>
      </p:sp>
      <p:sp>
        <p:nvSpPr>
          <p:cNvPr id="26" name="Shape 24"/>
          <p:cNvSpPr/>
          <p:nvPr/>
        </p:nvSpPr>
        <p:spPr>
          <a:xfrm>
            <a:off x="6053328" y="3337560"/>
            <a:ext cx="1962912" cy="182880"/>
          </a:xfrm>
          <a:prstGeom prst="roundRect">
            <a:avLst>
              <a:gd name="adj" fmla="val 30000"/>
            </a:avLst>
          </a:prstGeom>
          <a:solidFill>
            <a:srgbClr val="0B7A75"/>
          </a:solidFill>
          <a:ln w="12700">
            <a:solidFill>
              <a:srgbClr val="0B7A75"/>
            </a:solidFill>
            <a:prstDash val="solid"/>
          </a:ln>
        </p:spPr>
      </p:sp>
      <p:sp>
        <p:nvSpPr>
          <p:cNvPr id="27" name="Text 25"/>
          <p:cNvSpPr/>
          <p:nvPr/>
        </p:nvSpPr>
        <p:spPr>
          <a:xfrm>
            <a:off x="8211312" y="3255264"/>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7A75"/>
                </a:solidFill>
                <a:latin typeface="Noto Sans Arabic" pitchFamily="34" charset="0"/>
                <a:ea typeface="Noto Sans Arabic" pitchFamily="34" charset="-122"/>
                <a:cs typeface="Noto Sans Arabic" pitchFamily="34" charset="-120"/>
              </a:rPr>
              <a:t>۱۴</a:t>
            </a:r>
            <a:endParaRPr lang="en-US" sz="1370" dirty="0"/>
          </a:p>
        </p:txBody>
      </p:sp>
      <p:sp>
        <p:nvSpPr>
          <p:cNvPr id="28" name="Shape 26"/>
          <p:cNvSpPr/>
          <p:nvPr/>
        </p:nvSpPr>
        <p:spPr>
          <a:xfrm>
            <a:off x="4005072" y="3264408"/>
            <a:ext cx="1097280" cy="356616"/>
          </a:xfrm>
          <a:prstGeom prst="roundRect">
            <a:avLst>
              <a:gd name="adj" fmla="val 46154"/>
            </a:avLst>
          </a:prstGeom>
          <a:solidFill>
            <a:srgbClr val="FFF5D8"/>
          </a:solidFill>
          <a:ln w="12700">
            <a:solidFill>
              <a:srgbClr val="FFF5D8"/>
            </a:solidFill>
            <a:prstDash val="solid"/>
          </a:ln>
        </p:spPr>
      </p:sp>
      <p:sp>
        <p:nvSpPr>
          <p:cNvPr id="29" name="Text 27"/>
          <p:cNvSpPr/>
          <p:nvPr/>
        </p:nvSpPr>
        <p:spPr>
          <a:xfrm>
            <a:off x="4114800" y="3282696"/>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Noto Sans Arabic" pitchFamily="34" charset="0"/>
                <a:ea typeface="Noto Sans Arabic" pitchFamily="34" charset="-122"/>
                <a:cs typeface="Noto Sans Arabic" pitchFamily="34" charset="-120"/>
              </a:rPr>
              <a:t>۸۰٪</a:t>
            </a:r>
            <a:endParaRPr lang="en-US" sz="1250" dirty="0"/>
          </a:p>
        </p:txBody>
      </p:sp>
      <p:sp>
        <p:nvSpPr>
          <p:cNvPr id="30" name="Text 28"/>
          <p:cNvSpPr/>
          <p:nvPr/>
        </p:nvSpPr>
        <p:spPr>
          <a:xfrm>
            <a:off x="1005840" y="3282696"/>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حرکت چندمرحله‌ای</a:t>
            </a:r>
            <a:endParaRPr lang="en-US" sz="1140" dirty="0"/>
          </a:p>
        </p:txBody>
      </p:sp>
      <p:sp>
        <p:nvSpPr>
          <p:cNvPr id="31" name="Shape 29"/>
          <p:cNvSpPr/>
          <p:nvPr/>
        </p:nvSpPr>
        <p:spPr>
          <a:xfrm>
            <a:off x="804672" y="3822192"/>
            <a:ext cx="10588752" cy="521208"/>
          </a:xfrm>
          <a:prstGeom prst="roundRect">
            <a:avLst>
              <a:gd name="adj" fmla="val 7018"/>
            </a:avLst>
          </a:prstGeom>
          <a:solidFill>
            <a:srgbClr val="FFFFFF"/>
          </a:solidFill>
          <a:ln w="12700">
            <a:solidFill>
              <a:srgbClr val="E0E8EE"/>
            </a:solidFill>
            <a:prstDash val="solid"/>
          </a:ln>
        </p:spPr>
      </p:sp>
      <p:sp>
        <p:nvSpPr>
          <p:cNvPr id="32" name="Shape 30"/>
          <p:cNvSpPr/>
          <p:nvPr/>
        </p:nvSpPr>
        <p:spPr>
          <a:xfrm>
            <a:off x="11219688" y="3822192"/>
            <a:ext cx="173736" cy="521208"/>
          </a:xfrm>
          <a:prstGeom prst="rect">
            <a:avLst/>
          </a:prstGeom>
          <a:solidFill>
            <a:srgbClr val="E69F00"/>
          </a:solidFill>
          <a:ln w="12700">
            <a:solidFill>
              <a:srgbClr val="E69F00"/>
            </a:solidFill>
            <a:prstDash val="solid"/>
          </a:ln>
        </p:spPr>
      </p:sp>
      <p:sp>
        <p:nvSpPr>
          <p:cNvPr id="33" name="Text 31"/>
          <p:cNvSpPr/>
          <p:nvPr/>
        </p:nvSpPr>
        <p:spPr>
          <a:xfrm>
            <a:off x="8668512" y="3913632"/>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Noto Sans Arabic" pitchFamily="34" charset="0"/>
                <a:ea typeface="Noto Sans Arabic" pitchFamily="34" charset="-122"/>
                <a:cs typeface="Noto Sans Arabic" pitchFamily="34" charset="-120"/>
              </a:rPr>
              <a:t>پریدن</a:t>
            </a:r>
            <a:endParaRPr lang="en-US" sz="1370" dirty="0"/>
          </a:p>
        </p:txBody>
      </p:sp>
      <p:sp>
        <p:nvSpPr>
          <p:cNvPr id="34" name="Shape 32"/>
          <p:cNvSpPr/>
          <p:nvPr/>
        </p:nvSpPr>
        <p:spPr>
          <a:xfrm>
            <a:off x="6053328" y="4059936"/>
            <a:ext cx="2103120" cy="0"/>
          </a:xfrm>
          <a:prstGeom prst="line">
            <a:avLst/>
          </a:prstGeom>
          <a:noFill/>
          <a:ln w="101600">
            <a:solidFill>
              <a:srgbClr val="EEF4F8"/>
            </a:solidFill>
            <a:prstDash val="solid"/>
            <a:headEnd type="none"/>
            <a:tailEnd type="none"/>
          </a:ln>
        </p:spPr>
      </p:sp>
      <p:sp>
        <p:nvSpPr>
          <p:cNvPr id="35" name="Shape 33"/>
          <p:cNvSpPr/>
          <p:nvPr/>
        </p:nvSpPr>
        <p:spPr>
          <a:xfrm>
            <a:off x="6053328" y="3968496"/>
            <a:ext cx="2103120" cy="182880"/>
          </a:xfrm>
          <a:prstGeom prst="roundRect">
            <a:avLst>
              <a:gd name="adj" fmla="val 30000"/>
            </a:avLst>
          </a:prstGeom>
          <a:solidFill>
            <a:srgbClr val="E69F00"/>
          </a:solidFill>
          <a:ln w="12700">
            <a:solidFill>
              <a:srgbClr val="E69F00"/>
            </a:solidFill>
            <a:prstDash val="solid"/>
          </a:ln>
        </p:spPr>
      </p:sp>
      <p:sp>
        <p:nvSpPr>
          <p:cNvPr id="36" name="Text 34"/>
          <p:cNvSpPr/>
          <p:nvPr/>
        </p:nvSpPr>
        <p:spPr>
          <a:xfrm>
            <a:off x="8211312" y="3886200"/>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E69F00"/>
                </a:solidFill>
                <a:latin typeface="Noto Sans Arabic" pitchFamily="34" charset="0"/>
                <a:ea typeface="Noto Sans Arabic" pitchFamily="34" charset="-122"/>
                <a:cs typeface="Noto Sans Arabic" pitchFamily="34" charset="-120"/>
              </a:rPr>
              <a:t>۱۵</a:t>
            </a:r>
            <a:endParaRPr lang="en-US" sz="1370" dirty="0"/>
          </a:p>
        </p:txBody>
      </p:sp>
      <p:sp>
        <p:nvSpPr>
          <p:cNvPr id="37" name="Shape 35"/>
          <p:cNvSpPr/>
          <p:nvPr/>
        </p:nvSpPr>
        <p:spPr>
          <a:xfrm>
            <a:off x="4005072" y="3895344"/>
            <a:ext cx="1097280" cy="356616"/>
          </a:xfrm>
          <a:prstGeom prst="roundRect">
            <a:avLst>
              <a:gd name="adj" fmla="val 46154"/>
            </a:avLst>
          </a:prstGeom>
          <a:solidFill>
            <a:srgbClr val="E8F5EE"/>
          </a:solidFill>
          <a:ln w="12700">
            <a:solidFill>
              <a:srgbClr val="E8F5EE"/>
            </a:solidFill>
            <a:prstDash val="solid"/>
          </a:ln>
        </p:spPr>
      </p:sp>
      <p:sp>
        <p:nvSpPr>
          <p:cNvPr id="38" name="Text 36"/>
          <p:cNvSpPr/>
          <p:nvPr/>
        </p:nvSpPr>
        <p:spPr>
          <a:xfrm>
            <a:off x="4114800" y="3913632"/>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Noto Sans Arabic" pitchFamily="34" charset="0"/>
                <a:ea typeface="Noto Sans Arabic" pitchFamily="34" charset="-122"/>
                <a:cs typeface="Noto Sans Arabic" pitchFamily="34" charset="-120"/>
              </a:rPr>
              <a:t>۹۰٪</a:t>
            </a:r>
            <a:endParaRPr lang="en-US" sz="1250" dirty="0"/>
          </a:p>
        </p:txBody>
      </p:sp>
      <p:sp>
        <p:nvSpPr>
          <p:cNvPr id="39" name="Text 37"/>
          <p:cNvSpPr/>
          <p:nvPr/>
        </p:nvSpPr>
        <p:spPr>
          <a:xfrm>
            <a:off x="1005840" y="3913632"/>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بیشترین تعداد مؤلفه</a:t>
            </a:r>
            <a:endParaRPr lang="en-US" sz="1140" dirty="0"/>
          </a:p>
        </p:txBody>
      </p:sp>
      <p:sp>
        <p:nvSpPr>
          <p:cNvPr id="40" name="Shape 38"/>
          <p:cNvSpPr/>
          <p:nvPr/>
        </p:nvSpPr>
        <p:spPr>
          <a:xfrm>
            <a:off x="804672" y="4453128"/>
            <a:ext cx="10588752" cy="521208"/>
          </a:xfrm>
          <a:prstGeom prst="roundRect">
            <a:avLst>
              <a:gd name="adj" fmla="val 7018"/>
            </a:avLst>
          </a:prstGeom>
          <a:solidFill>
            <a:srgbClr val="F3F7FA"/>
          </a:solidFill>
          <a:ln w="12700">
            <a:solidFill>
              <a:srgbClr val="E0E8EE"/>
            </a:solidFill>
            <a:prstDash val="solid"/>
          </a:ln>
        </p:spPr>
      </p:sp>
      <p:sp>
        <p:nvSpPr>
          <p:cNvPr id="41" name="Shape 39"/>
          <p:cNvSpPr/>
          <p:nvPr/>
        </p:nvSpPr>
        <p:spPr>
          <a:xfrm>
            <a:off x="11219688" y="4453128"/>
            <a:ext cx="173736" cy="521208"/>
          </a:xfrm>
          <a:prstGeom prst="rect">
            <a:avLst/>
          </a:prstGeom>
          <a:solidFill>
            <a:srgbClr val="2F855A"/>
          </a:solidFill>
          <a:ln w="12700">
            <a:solidFill>
              <a:srgbClr val="2F855A"/>
            </a:solidFill>
            <a:prstDash val="solid"/>
          </a:ln>
        </p:spPr>
      </p:sp>
      <p:sp>
        <p:nvSpPr>
          <p:cNvPr id="42" name="Text 40"/>
          <p:cNvSpPr/>
          <p:nvPr/>
        </p:nvSpPr>
        <p:spPr>
          <a:xfrm>
            <a:off x="8668512" y="4544568"/>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Noto Sans Arabic" pitchFamily="34" charset="0"/>
                <a:ea typeface="Noto Sans Arabic" pitchFamily="34" charset="-122"/>
                <a:cs typeface="Noto Sans Arabic" pitchFamily="34" charset="-120"/>
              </a:rPr>
              <a:t>بالا آوردن سر</a:t>
            </a:r>
            <a:endParaRPr lang="en-US" sz="1370" dirty="0"/>
          </a:p>
        </p:txBody>
      </p:sp>
      <p:sp>
        <p:nvSpPr>
          <p:cNvPr id="43" name="Shape 41"/>
          <p:cNvSpPr/>
          <p:nvPr/>
        </p:nvSpPr>
        <p:spPr>
          <a:xfrm>
            <a:off x="6053328" y="4690872"/>
            <a:ext cx="2103120" cy="0"/>
          </a:xfrm>
          <a:prstGeom prst="line">
            <a:avLst/>
          </a:prstGeom>
          <a:noFill/>
          <a:ln w="101600">
            <a:solidFill>
              <a:srgbClr val="EEF4F8"/>
            </a:solidFill>
            <a:prstDash val="solid"/>
            <a:headEnd type="none"/>
            <a:tailEnd type="none"/>
          </a:ln>
        </p:spPr>
      </p:sp>
      <p:sp>
        <p:nvSpPr>
          <p:cNvPr id="44" name="Shape 42"/>
          <p:cNvSpPr/>
          <p:nvPr/>
        </p:nvSpPr>
        <p:spPr>
          <a:xfrm>
            <a:off x="6053328" y="4599432"/>
            <a:ext cx="1962912" cy="182880"/>
          </a:xfrm>
          <a:prstGeom prst="roundRect">
            <a:avLst>
              <a:gd name="adj" fmla="val 30000"/>
            </a:avLst>
          </a:prstGeom>
          <a:solidFill>
            <a:srgbClr val="2F855A"/>
          </a:solidFill>
          <a:ln w="12700">
            <a:solidFill>
              <a:srgbClr val="2F855A"/>
            </a:solidFill>
            <a:prstDash val="solid"/>
          </a:ln>
        </p:spPr>
      </p:sp>
      <p:sp>
        <p:nvSpPr>
          <p:cNvPr id="45" name="Text 43"/>
          <p:cNvSpPr/>
          <p:nvPr/>
        </p:nvSpPr>
        <p:spPr>
          <a:xfrm>
            <a:off x="8211312" y="4517136"/>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2F855A"/>
                </a:solidFill>
                <a:latin typeface="Noto Sans Arabic" pitchFamily="34" charset="0"/>
                <a:ea typeface="Noto Sans Arabic" pitchFamily="34" charset="-122"/>
                <a:cs typeface="Noto Sans Arabic" pitchFamily="34" charset="-120"/>
              </a:rPr>
              <a:t>۱۴</a:t>
            </a:r>
            <a:endParaRPr lang="en-US" sz="1370" dirty="0"/>
          </a:p>
        </p:txBody>
      </p:sp>
      <p:sp>
        <p:nvSpPr>
          <p:cNvPr id="46" name="Shape 44"/>
          <p:cNvSpPr/>
          <p:nvPr/>
        </p:nvSpPr>
        <p:spPr>
          <a:xfrm>
            <a:off x="4005072" y="4526280"/>
            <a:ext cx="1097280" cy="356616"/>
          </a:xfrm>
          <a:prstGeom prst="roundRect">
            <a:avLst>
              <a:gd name="adj" fmla="val 46154"/>
            </a:avLst>
          </a:prstGeom>
          <a:solidFill>
            <a:srgbClr val="E8F5EE"/>
          </a:solidFill>
          <a:ln w="12700">
            <a:solidFill>
              <a:srgbClr val="E8F5EE"/>
            </a:solidFill>
            <a:prstDash val="solid"/>
          </a:ln>
        </p:spPr>
      </p:sp>
      <p:sp>
        <p:nvSpPr>
          <p:cNvPr id="47" name="Text 45"/>
          <p:cNvSpPr/>
          <p:nvPr/>
        </p:nvSpPr>
        <p:spPr>
          <a:xfrm>
            <a:off x="4114800" y="4544568"/>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Noto Sans Arabic" pitchFamily="34" charset="0"/>
                <a:ea typeface="Noto Sans Arabic" pitchFamily="34" charset="-122"/>
                <a:cs typeface="Noto Sans Arabic" pitchFamily="34" charset="-120"/>
              </a:rPr>
              <a:t>۹۰٪</a:t>
            </a:r>
            <a:endParaRPr lang="en-US" sz="1250" dirty="0"/>
          </a:p>
        </p:txBody>
      </p:sp>
      <p:sp>
        <p:nvSpPr>
          <p:cNvPr id="48" name="Text 46"/>
          <p:cNvSpPr/>
          <p:nvPr/>
        </p:nvSpPr>
        <p:spPr>
          <a:xfrm>
            <a:off x="1005840" y="4544568"/>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نقش اصلی حسگر پیشانی</a:t>
            </a:r>
            <a:endParaRPr lang="en-US" sz="1140" dirty="0"/>
          </a:p>
        </p:txBody>
      </p:sp>
      <p:sp>
        <p:nvSpPr>
          <p:cNvPr id="49" name="Shape 47"/>
          <p:cNvSpPr/>
          <p:nvPr/>
        </p:nvSpPr>
        <p:spPr>
          <a:xfrm>
            <a:off x="804672" y="5084064"/>
            <a:ext cx="10588752" cy="521208"/>
          </a:xfrm>
          <a:prstGeom prst="roundRect">
            <a:avLst>
              <a:gd name="adj" fmla="val 7018"/>
            </a:avLst>
          </a:prstGeom>
          <a:solidFill>
            <a:srgbClr val="FFFFFF"/>
          </a:solidFill>
          <a:ln w="12700">
            <a:solidFill>
              <a:srgbClr val="E0E8EE"/>
            </a:solidFill>
            <a:prstDash val="solid"/>
          </a:ln>
        </p:spPr>
      </p:sp>
      <p:sp>
        <p:nvSpPr>
          <p:cNvPr id="50" name="Shape 48"/>
          <p:cNvSpPr/>
          <p:nvPr/>
        </p:nvSpPr>
        <p:spPr>
          <a:xfrm>
            <a:off x="11219688" y="5084064"/>
            <a:ext cx="173736" cy="521208"/>
          </a:xfrm>
          <a:prstGeom prst="rect">
            <a:avLst/>
          </a:prstGeom>
          <a:solidFill>
            <a:srgbClr val="C0392B"/>
          </a:solidFill>
          <a:ln w="12700">
            <a:solidFill>
              <a:srgbClr val="C0392B"/>
            </a:solidFill>
            <a:prstDash val="solid"/>
          </a:ln>
        </p:spPr>
      </p:sp>
      <p:sp>
        <p:nvSpPr>
          <p:cNvPr id="51" name="Text 49"/>
          <p:cNvSpPr/>
          <p:nvPr/>
        </p:nvSpPr>
        <p:spPr>
          <a:xfrm>
            <a:off x="8668512" y="5175504"/>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Noto Sans Arabic" pitchFamily="34" charset="0"/>
                <a:ea typeface="Noto Sans Arabic" pitchFamily="34" charset="-122"/>
                <a:cs typeface="Noto Sans Arabic" pitchFamily="34" charset="-120"/>
              </a:rPr>
              <a:t>بالا رفتن از جعبه</a:t>
            </a:r>
            <a:endParaRPr lang="en-US" sz="1370" dirty="0"/>
          </a:p>
        </p:txBody>
      </p:sp>
      <p:sp>
        <p:nvSpPr>
          <p:cNvPr id="52" name="Shape 50"/>
          <p:cNvSpPr/>
          <p:nvPr/>
        </p:nvSpPr>
        <p:spPr>
          <a:xfrm>
            <a:off x="6053328" y="5321808"/>
            <a:ext cx="2103120" cy="0"/>
          </a:xfrm>
          <a:prstGeom prst="line">
            <a:avLst/>
          </a:prstGeom>
          <a:noFill/>
          <a:ln w="101600">
            <a:solidFill>
              <a:srgbClr val="EEF4F8"/>
            </a:solidFill>
            <a:prstDash val="solid"/>
            <a:headEnd type="none"/>
            <a:tailEnd type="none"/>
          </a:ln>
        </p:spPr>
      </p:sp>
      <p:sp>
        <p:nvSpPr>
          <p:cNvPr id="53" name="Shape 51"/>
          <p:cNvSpPr/>
          <p:nvPr/>
        </p:nvSpPr>
        <p:spPr>
          <a:xfrm>
            <a:off x="6053328" y="5230368"/>
            <a:ext cx="1402080" cy="182880"/>
          </a:xfrm>
          <a:prstGeom prst="roundRect">
            <a:avLst>
              <a:gd name="adj" fmla="val 30000"/>
            </a:avLst>
          </a:prstGeom>
          <a:solidFill>
            <a:srgbClr val="C0392B"/>
          </a:solidFill>
          <a:ln w="12700">
            <a:solidFill>
              <a:srgbClr val="C0392B"/>
            </a:solidFill>
            <a:prstDash val="solid"/>
          </a:ln>
        </p:spPr>
      </p:sp>
      <p:sp>
        <p:nvSpPr>
          <p:cNvPr id="54" name="Text 52"/>
          <p:cNvSpPr/>
          <p:nvPr/>
        </p:nvSpPr>
        <p:spPr>
          <a:xfrm>
            <a:off x="8211312" y="5148072"/>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C0392B"/>
                </a:solidFill>
                <a:latin typeface="Noto Sans Arabic" pitchFamily="34" charset="0"/>
                <a:ea typeface="Noto Sans Arabic" pitchFamily="34" charset="-122"/>
                <a:cs typeface="Noto Sans Arabic" pitchFamily="34" charset="-120"/>
              </a:rPr>
              <a:t>۱۰</a:t>
            </a:r>
            <a:endParaRPr lang="en-US" sz="1370" dirty="0"/>
          </a:p>
        </p:txBody>
      </p:sp>
      <p:sp>
        <p:nvSpPr>
          <p:cNvPr id="55" name="Shape 53"/>
          <p:cNvSpPr/>
          <p:nvPr/>
        </p:nvSpPr>
        <p:spPr>
          <a:xfrm>
            <a:off x="4005072" y="5157216"/>
            <a:ext cx="1097280" cy="356616"/>
          </a:xfrm>
          <a:prstGeom prst="roundRect">
            <a:avLst>
              <a:gd name="adj" fmla="val 46154"/>
            </a:avLst>
          </a:prstGeom>
          <a:solidFill>
            <a:srgbClr val="FFF5D8"/>
          </a:solidFill>
          <a:ln w="12700">
            <a:solidFill>
              <a:srgbClr val="FFF5D8"/>
            </a:solidFill>
            <a:prstDash val="solid"/>
          </a:ln>
        </p:spPr>
      </p:sp>
      <p:sp>
        <p:nvSpPr>
          <p:cNvPr id="56" name="Text 54"/>
          <p:cNvSpPr/>
          <p:nvPr/>
        </p:nvSpPr>
        <p:spPr>
          <a:xfrm>
            <a:off x="4114800" y="5175504"/>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Noto Sans Arabic" pitchFamily="34" charset="0"/>
                <a:ea typeface="Noto Sans Arabic" pitchFamily="34" charset="-122"/>
                <a:cs typeface="Noto Sans Arabic" pitchFamily="34" charset="-120"/>
              </a:rPr>
              <a:t>۸۰٪</a:t>
            </a:r>
            <a:endParaRPr lang="en-US" sz="1250" dirty="0"/>
          </a:p>
        </p:txBody>
      </p:sp>
      <p:sp>
        <p:nvSpPr>
          <p:cNvPr id="57" name="Text 55"/>
          <p:cNvSpPr/>
          <p:nvPr/>
        </p:nvSpPr>
        <p:spPr>
          <a:xfrm>
            <a:off x="1005840" y="5175504"/>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فشرده‌ترین فضای ویژگی</a:t>
            </a:r>
            <a:endParaRPr lang="en-US" sz="1140" dirty="0"/>
          </a:p>
        </p:txBody>
      </p:sp>
      <p:sp>
        <p:nvSpPr>
          <p:cNvPr id="58" name="Shape 56"/>
          <p:cNvSpPr/>
          <p:nvPr/>
        </p:nvSpPr>
        <p:spPr>
          <a:xfrm>
            <a:off x="1316736" y="5833872"/>
            <a:ext cx="9555480" cy="493776"/>
          </a:xfrm>
          <a:prstGeom prst="roundRect">
            <a:avLst>
              <a:gd name="adj" fmla="val 18519"/>
            </a:avLst>
          </a:prstGeom>
          <a:solidFill>
            <a:srgbClr val="FDECEA"/>
          </a:solidFill>
          <a:ln w="12700">
            <a:solidFill>
              <a:srgbClr val="F2C4BE"/>
            </a:solidFill>
            <a:prstDash val="solid"/>
          </a:ln>
        </p:spPr>
      </p:sp>
      <p:sp>
        <p:nvSpPr>
          <p:cNvPr id="59" name="Text 57"/>
          <p:cNvSpPr/>
          <p:nvPr/>
        </p:nvSpPr>
        <p:spPr>
          <a:xfrm>
            <a:off x="1572768" y="5934456"/>
            <a:ext cx="9052560" cy="256032"/>
          </a:xfrm>
          <a:prstGeom prst="rect">
            <a:avLst/>
          </a:prstGeom>
          <a:noFill/>
          <a:ln/>
        </p:spPr>
        <p:txBody>
          <a:bodyPr wrap="square" lIns="0" tIns="0" rIns="0" bIns="0" rtlCol="0" anchor="ctr">
            <a:normAutofit/>
          </a:bodyPr>
          <a:lstStyle/>
          <a:p>
            <a:pPr marL="0" indent="0" algn="ctr" rtl="1">
              <a:buNone/>
            </a:pPr>
            <a:r>
              <a:rPr lang="en-US" sz="1220" b="1" dirty="0">
                <a:solidFill>
                  <a:srgbClr val="C0392B"/>
                </a:solidFill>
                <a:latin typeface="Noto Sans Arabic" pitchFamily="34" charset="0"/>
                <a:ea typeface="Noto Sans Arabic" pitchFamily="34" charset="-122"/>
                <a:cs typeface="Noto Sans Arabic" pitchFamily="34" charset="-120"/>
              </a:rPr>
              <a:t>حد نصاب‌ها فقط معیار مهندسی انتخاب مدل در این مجموعه داده هستند و بیانگر اعتبار بالینی نیستند.</a:t>
            </a:r>
            <a:endParaRPr lang="en-US" sz="1220" dirty="0"/>
          </a:p>
        </p:txBody>
      </p:sp>
      <p:sp>
        <p:nvSpPr>
          <p:cNvPr id="60" name="Shape 58"/>
          <p:cNvSpPr/>
          <p:nvPr/>
        </p:nvSpPr>
        <p:spPr>
          <a:xfrm>
            <a:off x="658368" y="6473952"/>
            <a:ext cx="10881360" cy="0"/>
          </a:xfrm>
          <a:prstGeom prst="line">
            <a:avLst/>
          </a:prstGeom>
          <a:noFill/>
          <a:ln w="10160">
            <a:solidFill>
              <a:srgbClr val="E9EEF2"/>
            </a:solidFill>
            <a:prstDash val="solid"/>
          </a:ln>
        </p:spPr>
      </p:sp>
      <p:sp>
        <p:nvSpPr>
          <p:cNvPr id="61" name="Text 5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62" name="Text 60"/>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۴ از ۶: نتایج و بحث | ۴ اسلاید تا پایان</a:t>
            </a:r>
            <a:endParaRPr lang="en-US" sz="920" dirty="0"/>
          </a:p>
        </p:txBody>
      </p:sp>
      <p:sp>
        <p:nvSpPr>
          <p:cNvPr id="63" name="Text 6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۱۰ / ۱۴</a:t>
            </a:r>
            <a:endParaRPr lang="en-US" sz="1020" dirty="0"/>
          </a:p>
        </p:txBody>
      </p:sp>
      <p:sp>
        <p:nvSpPr>
          <p:cNvPr id="64" name="Shape 62"/>
          <p:cNvSpPr/>
          <p:nvPr/>
        </p:nvSpPr>
        <p:spPr>
          <a:xfrm>
            <a:off x="2560320" y="6766560"/>
            <a:ext cx="4702629" cy="41148"/>
          </a:xfrm>
          <a:prstGeom prst="rect">
            <a:avLst/>
          </a:prstGeom>
          <a:solidFill>
            <a:srgbClr val="0B6E99"/>
          </a:solidFill>
          <a:ln w="12700">
            <a:solidFill>
              <a:srgbClr val="0B6E99"/>
            </a:solidFill>
            <a:prstDash val="solid"/>
          </a:ln>
        </p:spPr>
      </p:sp>
      <p:sp>
        <p:nvSpPr>
          <p:cNvPr id="65" name="Shape 63"/>
          <p:cNvSpPr/>
          <p:nvPr/>
        </p:nvSpPr>
        <p:spPr>
          <a:xfrm>
            <a:off x="7262949" y="6766560"/>
            <a:ext cx="1881051"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ly">
                          <p:cBhvr>
                            <p:cTn id="4" dur="400" fill="hold"/>
                            <p:tgtEl>
                              <p:spTgt spid="13"/>
                            </p:tgtEl>
                          </p:cBhvr>
                        </p:animEffect>
                        <p:animEffect transition="in" filter="fly">
                          <p:cBhvr>
                            <p:cTn id="5" dur="400" fill="hold"/>
                            <p:tgtEl>
                              <p:spTgt spid="14"/>
                            </p:tgtEl>
                          </p:cBhvr>
                        </p:animEffect>
                        <p:animEffect transition="in" filter="fly">
                          <p:cBhvr>
                            <p:cTn id="6" dur="400" fill="hold"/>
                            <p:tgtEl>
                              <p:spTgt spid="15"/>
                            </p:tgtEl>
                          </p:cBhvr>
                        </p:animEffect>
                        <p:animEffect transition="in" filter="fly">
                          <p:cBhvr>
                            <p:cTn id="7" dur="400" fill="hold"/>
                            <p:tgtEl>
                              <p:spTgt spid="16"/>
                            </p:tgtEl>
                          </p:cBhvr>
                        </p:animEffect>
                        <p:animEffect transition="in" filter="fly">
                          <p:cBhvr>
                            <p:cTn id="8" dur="400" fill="hold"/>
                            <p:tgtEl>
                              <p:spTgt spid="17"/>
                            </p:tgtEl>
                          </p:cBhvr>
                        </p:animEffect>
                        <p:animEffect transition="in" filter="fly">
                          <p:cBhvr>
                            <p:cTn id="9" dur="400" fill="hold"/>
                            <p:tgtEl>
                              <p:spTgt spid="18"/>
                            </p:tgtEl>
                          </p:cBhvr>
                        </p:animEffect>
                        <p:animEffect transition="in" filter="fly">
                          <p:cBhvr>
                            <p:cTn id="10" dur="400" fill="hold"/>
                            <p:tgtEl>
                              <p:spTgt spid="19"/>
                            </p:tgtEl>
                          </p:cBhvr>
                        </p:animEffect>
                        <p:animEffect transition="in" filter="fly">
                          <p:cBhvr>
                            <p:cTn id="11" dur="400" fill="hold"/>
                            <p:tgtEl>
                              <p:spTgt spid="20"/>
                            </p:tgtEl>
                          </p:cBhvr>
                        </p:animEffect>
                        <p:animEffect transition="in" filter="fly">
                          <p:cBhvr>
                            <p:cTn id="12" dur="400" fill="hold"/>
                            <p:tgtEl>
                              <p:spTgt spid="21"/>
                            </p:tgtEl>
                          </p:cBhvr>
                        </p:animEffect>
                      </p:childTnLst>
                    </p:cTn>
                  </p:par>
                  <p:par>
                    <p:cTn id="13" fill="hold">
                      <p:stCondLst>
                        <p:cond delay="0"/>
                      </p:stCondLst>
                      <p:childTnLst>
                        <p:animEffect transition="in" filter="fly">
                          <p:cBhvr>
                            <p:cTn id="14" dur="400" fill="hold"/>
                            <p:tgtEl>
                              <p:spTgt spid="22"/>
                            </p:tgtEl>
                          </p:cBhvr>
                        </p:animEffect>
                        <p:animEffect transition="in" filter="fly">
                          <p:cBhvr>
                            <p:cTn id="15" dur="400" fill="hold"/>
                            <p:tgtEl>
                              <p:spTgt spid="23"/>
                            </p:tgtEl>
                          </p:cBhvr>
                        </p:animEffect>
                        <p:animEffect transition="in" filter="fly">
                          <p:cBhvr>
                            <p:cTn id="16" dur="400" fill="hold"/>
                            <p:tgtEl>
                              <p:spTgt spid="24"/>
                            </p:tgtEl>
                          </p:cBhvr>
                        </p:animEffect>
                        <p:animEffect transition="in" filter="fly">
                          <p:cBhvr>
                            <p:cTn id="17" dur="400" fill="hold"/>
                            <p:tgtEl>
                              <p:spTgt spid="25"/>
                            </p:tgtEl>
                          </p:cBhvr>
                        </p:animEffect>
                        <p:animEffect transition="in" filter="fly">
                          <p:cBhvr>
                            <p:cTn id="18" dur="400" fill="hold"/>
                            <p:tgtEl>
                              <p:spTgt spid="26"/>
                            </p:tgtEl>
                          </p:cBhvr>
                        </p:animEffect>
                        <p:animEffect transition="in" filter="fly">
                          <p:cBhvr>
                            <p:cTn id="19" dur="400" fill="hold"/>
                            <p:tgtEl>
                              <p:spTgt spid="27"/>
                            </p:tgtEl>
                          </p:cBhvr>
                        </p:animEffect>
                        <p:animEffect transition="in" filter="fly">
                          <p:cBhvr>
                            <p:cTn id="20" dur="400" fill="hold"/>
                            <p:tgtEl>
                              <p:spTgt spid="28"/>
                            </p:tgtEl>
                          </p:cBhvr>
                        </p:animEffect>
                        <p:animEffect transition="in" filter="fly">
                          <p:cBhvr>
                            <p:cTn id="21" dur="400" fill="hold"/>
                            <p:tgtEl>
                              <p:spTgt spid="29"/>
                            </p:tgtEl>
                          </p:cBhvr>
                        </p:animEffect>
                        <p:animEffect transition="in" filter="fly">
                          <p:cBhvr>
                            <p:cTn id="22" dur="400" fill="hold"/>
                            <p:tgtEl>
                              <p:spTgt spid="30"/>
                            </p:tgtEl>
                          </p:cBhvr>
                        </p:animEffect>
                      </p:childTnLst>
                    </p:cTn>
                  </p:par>
                  <p:par>
                    <p:cTn id="23" fill="hold">
                      <p:stCondLst>
                        <p:cond delay="0"/>
                      </p:stCondLst>
                      <p:childTnLst>
                        <p:animEffect transition="in" filter="fly">
                          <p:cBhvr>
                            <p:cTn id="24" dur="400" fill="hold"/>
                            <p:tgtEl>
                              <p:spTgt spid="31"/>
                            </p:tgtEl>
                          </p:cBhvr>
                        </p:animEffect>
                        <p:animEffect transition="in" filter="fly">
                          <p:cBhvr>
                            <p:cTn id="25" dur="400" fill="hold"/>
                            <p:tgtEl>
                              <p:spTgt spid="32"/>
                            </p:tgtEl>
                          </p:cBhvr>
                        </p:animEffect>
                        <p:animEffect transition="in" filter="fly">
                          <p:cBhvr>
                            <p:cTn id="26" dur="400" fill="hold"/>
                            <p:tgtEl>
                              <p:spTgt spid="33"/>
                            </p:tgtEl>
                          </p:cBhvr>
                        </p:animEffect>
                        <p:animEffect transition="in" filter="fly">
                          <p:cBhvr>
                            <p:cTn id="27" dur="400" fill="hold"/>
                            <p:tgtEl>
                              <p:spTgt spid="34"/>
                            </p:tgtEl>
                          </p:cBhvr>
                        </p:animEffect>
                        <p:animEffect transition="in" filter="fly">
                          <p:cBhvr>
                            <p:cTn id="28" dur="400" fill="hold"/>
                            <p:tgtEl>
                              <p:spTgt spid="35"/>
                            </p:tgtEl>
                          </p:cBhvr>
                        </p:animEffect>
                        <p:animEffect transition="in" filter="fly">
                          <p:cBhvr>
                            <p:cTn id="29" dur="400" fill="hold"/>
                            <p:tgtEl>
                              <p:spTgt spid="36"/>
                            </p:tgtEl>
                          </p:cBhvr>
                        </p:animEffect>
                        <p:animEffect transition="in" filter="fly">
                          <p:cBhvr>
                            <p:cTn id="30" dur="400" fill="hold"/>
                            <p:tgtEl>
                              <p:spTgt spid="37"/>
                            </p:tgtEl>
                          </p:cBhvr>
                        </p:animEffect>
                        <p:animEffect transition="in" filter="fly">
                          <p:cBhvr>
                            <p:cTn id="31" dur="400" fill="hold"/>
                            <p:tgtEl>
                              <p:spTgt spid="38"/>
                            </p:tgtEl>
                          </p:cBhvr>
                        </p:animEffect>
                        <p:animEffect transition="in" filter="fly">
                          <p:cBhvr>
                            <p:cTn id="32" dur="400" fill="hold"/>
                            <p:tgtEl>
                              <p:spTgt spid="39"/>
                            </p:tgtEl>
                          </p:cBhvr>
                        </p:animEffect>
                      </p:childTnLst>
                    </p:cTn>
                  </p:par>
                  <p:par>
                    <p:cTn id="33" fill="hold">
                      <p:stCondLst>
                        <p:cond delay="0"/>
                      </p:stCondLst>
                      <p:childTnLst>
                        <p:animEffect transition="in" filter="fly">
                          <p:cBhvr>
                            <p:cTn id="34" dur="400" fill="hold"/>
                            <p:tgtEl>
                              <p:spTgt spid="40"/>
                            </p:tgtEl>
                          </p:cBhvr>
                        </p:animEffect>
                        <p:animEffect transition="in" filter="fly">
                          <p:cBhvr>
                            <p:cTn id="35" dur="400" fill="hold"/>
                            <p:tgtEl>
                              <p:spTgt spid="41"/>
                            </p:tgtEl>
                          </p:cBhvr>
                        </p:animEffect>
                        <p:animEffect transition="in" filter="fly">
                          <p:cBhvr>
                            <p:cTn id="36" dur="400" fill="hold"/>
                            <p:tgtEl>
                              <p:spTgt spid="42"/>
                            </p:tgtEl>
                          </p:cBhvr>
                        </p:animEffect>
                        <p:animEffect transition="in" filter="fly">
                          <p:cBhvr>
                            <p:cTn id="37" dur="400" fill="hold"/>
                            <p:tgtEl>
                              <p:spTgt spid="43"/>
                            </p:tgtEl>
                          </p:cBhvr>
                        </p:animEffect>
                        <p:animEffect transition="in" filter="fly">
                          <p:cBhvr>
                            <p:cTn id="38" dur="400" fill="hold"/>
                            <p:tgtEl>
                              <p:spTgt spid="44"/>
                            </p:tgtEl>
                          </p:cBhvr>
                        </p:animEffect>
                        <p:animEffect transition="in" filter="fly">
                          <p:cBhvr>
                            <p:cTn id="39" dur="400" fill="hold"/>
                            <p:tgtEl>
                              <p:spTgt spid="45"/>
                            </p:tgtEl>
                          </p:cBhvr>
                        </p:animEffect>
                        <p:animEffect transition="in" filter="fly">
                          <p:cBhvr>
                            <p:cTn id="40" dur="400" fill="hold"/>
                            <p:tgtEl>
                              <p:spTgt spid="46"/>
                            </p:tgtEl>
                          </p:cBhvr>
                        </p:animEffect>
                        <p:animEffect transition="in" filter="fly">
                          <p:cBhvr>
                            <p:cTn id="41" dur="400" fill="hold"/>
                            <p:tgtEl>
                              <p:spTgt spid="47"/>
                            </p:tgtEl>
                          </p:cBhvr>
                        </p:animEffect>
                        <p:animEffect transition="in" filter="fly">
                          <p:cBhvr>
                            <p:cTn id="42" dur="400" fill="hold"/>
                            <p:tgtEl>
                              <p:spTgt spid="48"/>
                            </p:tgtEl>
                          </p:cBhvr>
                        </p:animEffect>
                      </p:childTnLst>
                    </p:cTn>
                  </p:par>
                  <p:par>
                    <p:cTn id="43" fill="hold">
                      <p:stCondLst>
                        <p:cond delay="0"/>
                      </p:stCondLst>
                      <p:childTnLst>
                        <p:animEffect transition="in" filter="fly">
                          <p:cBhvr>
                            <p:cTn id="44" dur="400" fill="hold"/>
                            <p:tgtEl>
                              <p:spTgt spid="49"/>
                            </p:tgtEl>
                          </p:cBhvr>
                        </p:animEffect>
                        <p:animEffect transition="in" filter="fly">
                          <p:cBhvr>
                            <p:cTn id="45" dur="400" fill="hold"/>
                            <p:tgtEl>
                              <p:spTgt spid="50"/>
                            </p:tgtEl>
                          </p:cBhvr>
                        </p:animEffect>
                        <p:animEffect transition="in" filter="fly">
                          <p:cBhvr>
                            <p:cTn id="46" dur="400" fill="hold"/>
                            <p:tgtEl>
                              <p:spTgt spid="51"/>
                            </p:tgtEl>
                          </p:cBhvr>
                        </p:animEffect>
                        <p:animEffect transition="in" filter="fly">
                          <p:cBhvr>
                            <p:cTn id="47" dur="400" fill="hold"/>
                            <p:tgtEl>
                              <p:spTgt spid="52"/>
                            </p:tgtEl>
                          </p:cBhvr>
                        </p:animEffect>
                        <p:animEffect transition="in" filter="fly">
                          <p:cBhvr>
                            <p:cTn id="48" dur="400" fill="hold"/>
                            <p:tgtEl>
                              <p:spTgt spid="53"/>
                            </p:tgtEl>
                          </p:cBhvr>
                        </p:animEffect>
                        <p:animEffect transition="in" filter="fly">
                          <p:cBhvr>
                            <p:cTn id="49" dur="400" fill="hold"/>
                            <p:tgtEl>
                              <p:spTgt spid="54"/>
                            </p:tgtEl>
                          </p:cBhvr>
                        </p:animEffect>
                        <p:animEffect transition="in" filter="fly">
                          <p:cBhvr>
                            <p:cTn id="50" dur="400" fill="hold"/>
                            <p:tgtEl>
                              <p:spTgt spid="55"/>
                            </p:tgtEl>
                          </p:cBhvr>
                        </p:animEffect>
                        <p:animEffect transition="in" filter="fly">
                          <p:cBhvr>
                            <p:cTn id="51" dur="400" fill="hold"/>
                            <p:tgtEl>
                              <p:spTgt spid="56"/>
                            </p:tgtEl>
                          </p:cBhvr>
                        </p:animEffect>
                        <p:animEffect transition="in" filter="fly">
                          <p:cBhvr>
                            <p:cTn id="52" dur="400" fill="hold"/>
                            <p:tgtEl>
                              <p:spTgt spid="57"/>
                            </p:tgtEl>
                          </p:cBhvr>
                        </p:animEffect>
                      </p:childTnLst>
                    </p:cTn>
                  </p:par>
                  <p:par>
                    <p:cTn id="53" fill="hold">
                      <p:stCondLst>
                        <p:cond delay="0"/>
                      </p:stCondLst>
                      <p:childTnLst>
                        <p:animEffect transition="in" filter="zoom">
                          <p:cBhvr>
                            <p:cTn id="54" dur="450" fill="hold"/>
                            <p:tgtEl>
                              <p:spTgt spid="58"/>
                            </p:tgtEl>
                          </p:cBhvr>
                        </p:animEffect>
                        <p:animEffect transition="in" filter="zoom">
                          <p:cBhvr>
                            <p:cTn id="55" dur="450" fill="hold"/>
                            <p:tgtEl>
                              <p:spTgt spid="59"/>
                            </p:tgtEl>
                          </p:cBhvr>
                        </p:animEffect>
                      </p:childTnLst>
                    </p:cTn>
                  </p:par>
                </p:childTnLst>
              </p:cTn>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بحث</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تفسیر فعالیت‌محور نتایج</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۱۱ / ۱۴</a:t>
            </a:r>
            <a:endParaRPr lang="en-US" sz="1080" dirty="0"/>
          </a:p>
        </p:txBody>
      </p:sp>
      <p:sp>
        <p:nvSpPr>
          <p:cNvPr id="7" name="Text 5"/>
          <p:cNvSpPr/>
          <p:nvPr/>
        </p:nvSpPr>
        <p:spPr>
          <a:xfrm>
            <a:off x="5010912" y="1444752"/>
            <a:ext cx="6108192"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Noto Sans Arabic" pitchFamily="34" charset="0"/>
                <a:ea typeface="Noto Sans Arabic" pitchFamily="34" charset="-122"/>
                <a:cs typeface="Noto Sans Arabic" pitchFamily="34" charset="-120"/>
              </a:rPr>
              <a:t>اطلاعات تفکیک‌کننده برای هر حرکت یکسان نیست</a:t>
            </a:r>
            <a:endParaRPr lang="en-US" sz="1850" dirty="0"/>
          </a:p>
        </p:txBody>
      </p:sp>
      <p:sp>
        <p:nvSpPr>
          <p:cNvPr id="8" name="Shape 6"/>
          <p:cNvSpPr/>
          <p:nvPr/>
        </p:nvSpPr>
        <p:spPr>
          <a:xfrm>
            <a:off x="768096"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5751576" y="1993392"/>
            <a:ext cx="173736" cy="1170432"/>
          </a:xfrm>
          <a:prstGeom prst="rect">
            <a:avLst/>
          </a:prstGeom>
          <a:solidFill>
            <a:srgbClr val="0B6E99"/>
          </a:solidFill>
          <a:ln w="12700">
            <a:solidFill>
              <a:srgbClr val="0B6E99"/>
            </a:solidFill>
            <a:prstDash val="solid"/>
          </a:ln>
        </p:spPr>
      </p:sp>
      <p:sp>
        <p:nvSpPr>
          <p:cNvPr id="10" name="Text 8"/>
          <p:cNvSpPr/>
          <p:nvPr/>
        </p:nvSpPr>
        <p:spPr>
          <a:xfrm>
            <a:off x="3621024"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Noto Sans Arabic" pitchFamily="34" charset="0"/>
                <a:ea typeface="Noto Sans Arabic" pitchFamily="34" charset="-122"/>
                <a:cs typeface="Noto Sans Arabic" pitchFamily="34" charset="-120"/>
              </a:rPr>
              <a:t>ایستادن</a:t>
            </a:r>
            <a:endParaRPr lang="en-US" sz="1600" dirty="0"/>
          </a:p>
        </p:txBody>
      </p:sp>
      <p:sp>
        <p:nvSpPr>
          <p:cNvPr id="11" name="Shape 9"/>
          <p:cNvSpPr/>
          <p:nvPr/>
        </p:nvSpPr>
        <p:spPr>
          <a:xfrm>
            <a:off x="1042416" y="2157984"/>
            <a:ext cx="1417320" cy="310896"/>
          </a:xfrm>
          <a:prstGeom prst="roundRect">
            <a:avLst>
              <a:gd name="adj" fmla="val 52941"/>
            </a:avLst>
          </a:prstGeom>
          <a:solidFill>
            <a:srgbClr val="EEF4F8"/>
          </a:solidFill>
          <a:ln w="12700">
            <a:solidFill>
              <a:srgbClr val="EEF4F8"/>
            </a:solidFill>
            <a:prstDash val="solid"/>
          </a:ln>
        </p:spPr>
      </p:sp>
      <p:sp>
        <p:nvSpPr>
          <p:cNvPr id="12" name="Text 10"/>
          <p:cNvSpPr/>
          <p:nvPr/>
        </p:nvSpPr>
        <p:spPr>
          <a:xfrm>
            <a:off x="1152144"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6E99"/>
                </a:solidFill>
                <a:latin typeface="Noto Sans Arabic" pitchFamily="34" charset="0"/>
                <a:ea typeface="Noto Sans Arabic" pitchFamily="34" charset="-122"/>
                <a:cs typeface="Noto Sans Arabic" pitchFamily="34" charset="-120"/>
              </a:rPr>
              <a:t>تعادل</a:t>
            </a:r>
            <a:endParaRPr lang="en-US" sz="1150" dirty="0"/>
          </a:p>
        </p:txBody>
      </p:sp>
      <p:sp>
        <p:nvSpPr>
          <p:cNvPr id="13" name="Text 11"/>
          <p:cNvSpPr/>
          <p:nvPr/>
        </p:nvSpPr>
        <p:spPr>
          <a:xfrm>
            <a:off x="1060704"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Noto Sans Arabic" pitchFamily="34" charset="0"/>
                <a:ea typeface="Noto Sans Arabic" pitchFamily="34" charset="-122"/>
                <a:cs typeface="Noto Sans Arabic" pitchFamily="34" charset="-120"/>
              </a:rPr>
              <a:t>نوسان‌های کم‌دامنه و حرکت جبرانی دست‌ها و سر اهمیت بیشتری داشت.</a:t>
            </a:r>
            <a:endParaRPr lang="en-US" sz="1210" dirty="0"/>
          </a:p>
        </p:txBody>
      </p:sp>
      <p:sp>
        <p:nvSpPr>
          <p:cNvPr id="14" name="Shape 12"/>
          <p:cNvSpPr/>
          <p:nvPr/>
        </p:nvSpPr>
        <p:spPr>
          <a:xfrm>
            <a:off x="768096"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5" name="Shape 13"/>
          <p:cNvSpPr/>
          <p:nvPr/>
        </p:nvSpPr>
        <p:spPr>
          <a:xfrm>
            <a:off x="5751576" y="3319272"/>
            <a:ext cx="173736" cy="1170432"/>
          </a:xfrm>
          <a:prstGeom prst="rect">
            <a:avLst/>
          </a:prstGeom>
          <a:solidFill>
            <a:srgbClr val="0B7A75"/>
          </a:solidFill>
          <a:ln w="12700">
            <a:solidFill>
              <a:srgbClr val="0B7A75"/>
            </a:solidFill>
            <a:prstDash val="solid"/>
          </a:ln>
        </p:spPr>
      </p:sp>
      <p:sp>
        <p:nvSpPr>
          <p:cNvPr id="16" name="Text 14"/>
          <p:cNvSpPr/>
          <p:nvPr/>
        </p:nvSpPr>
        <p:spPr>
          <a:xfrm>
            <a:off x="3621024"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Noto Sans Arabic" pitchFamily="34" charset="0"/>
                <a:ea typeface="Noto Sans Arabic" pitchFamily="34" charset="-122"/>
                <a:cs typeface="Noto Sans Arabic" pitchFamily="34" charset="-120"/>
              </a:rPr>
              <a:t>برخاستن</a:t>
            </a:r>
            <a:endParaRPr lang="en-US" sz="1600" dirty="0"/>
          </a:p>
        </p:txBody>
      </p:sp>
      <p:sp>
        <p:nvSpPr>
          <p:cNvPr id="17" name="Shape 15"/>
          <p:cNvSpPr/>
          <p:nvPr/>
        </p:nvSpPr>
        <p:spPr>
          <a:xfrm>
            <a:off x="1042416" y="3483864"/>
            <a:ext cx="1417320" cy="310896"/>
          </a:xfrm>
          <a:prstGeom prst="roundRect">
            <a:avLst>
              <a:gd name="adj" fmla="val 52941"/>
            </a:avLst>
          </a:prstGeom>
          <a:solidFill>
            <a:srgbClr val="EEF4F8"/>
          </a:solidFill>
          <a:ln w="12700">
            <a:solidFill>
              <a:srgbClr val="EEF4F8"/>
            </a:solidFill>
            <a:prstDash val="solid"/>
          </a:ln>
        </p:spPr>
      </p:sp>
      <p:sp>
        <p:nvSpPr>
          <p:cNvPr id="18" name="Text 16"/>
          <p:cNvSpPr/>
          <p:nvPr/>
        </p:nvSpPr>
        <p:spPr>
          <a:xfrm>
            <a:off x="1152144"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7A75"/>
                </a:solidFill>
                <a:latin typeface="Noto Sans Arabic" pitchFamily="34" charset="0"/>
                <a:ea typeface="Noto Sans Arabic" pitchFamily="34" charset="-122"/>
                <a:cs typeface="Noto Sans Arabic" pitchFamily="34" charset="-120"/>
              </a:rPr>
              <a:t>هماهنگی</a:t>
            </a:r>
            <a:endParaRPr lang="en-US" sz="1150" dirty="0"/>
          </a:p>
        </p:txBody>
      </p:sp>
      <p:sp>
        <p:nvSpPr>
          <p:cNvPr id="19" name="Text 17"/>
          <p:cNvSpPr/>
          <p:nvPr/>
        </p:nvSpPr>
        <p:spPr>
          <a:xfrm>
            <a:off x="1060704"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Noto Sans Arabic" pitchFamily="34" charset="0"/>
                <a:ea typeface="Noto Sans Arabic" pitchFamily="34" charset="-122"/>
                <a:cs typeface="Noto Sans Arabic" pitchFamily="34" charset="-120"/>
              </a:rPr>
              <a:t>ترتیب حرکت تنه، بازشدن مفاصل و استفاده از دست‌ها تعیین‌کننده بود.</a:t>
            </a:r>
            <a:endParaRPr lang="en-US" sz="1210" dirty="0"/>
          </a:p>
        </p:txBody>
      </p:sp>
      <p:sp>
        <p:nvSpPr>
          <p:cNvPr id="20" name="Shape 18"/>
          <p:cNvSpPr/>
          <p:nvPr/>
        </p:nvSpPr>
        <p:spPr>
          <a:xfrm>
            <a:off x="768096" y="464515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1" name="Shape 19"/>
          <p:cNvSpPr/>
          <p:nvPr/>
        </p:nvSpPr>
        <p:spPr>
          <a:xfrm>
            <a:off x="5751576" y="4645152"/>
            <a:ext cx="173736" cy="1170432"/>
          </a:xfrm>
          <a:prstGeom prst="rect">
            <a:avLst/>
          </a:prstGeom>
          <a:solidFill>
            <a:srgbClr val="E69F00"/>
          </a:solidFill>
          <a:ln w="12700">
            <a:solidFill>
              <a:srgbClr val="E69F00"/>
            </a:solidFill>
            <a:prstDash val="solid"/>
          </a:ln>
        </p:spPr>
      </p:sp>
      <p:sp>
        <p:nvSpPr>
          <p:cNvPr id="22" name="Text 20"/>
          <p:cNvSpPr/>
          <p:nvPr/>
        </p:nvSpPr>
        <p:spPr>
          <a:xfrm>
            <a:off x="3621024" y="480974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Noto Sans Arabic" pitchFamily="34" charset="0"/>
                <a:ea typeface="Noto Sans Arabic" pitchFamily="34" charset="-122"/>
                <a:cs typeface="Noto Sans Arabic" pitchFamily="34" charset="-120"/>
              </a:rPr>
              <a:t>پریدن</a:t>
            </a:r>
            <a:endParaRPr lang="en-US" sz="1600" dirty="0"/>
          </a:p>
        </p:txBody>
      </p:sp>
      <p:sp>
        <p:nvSpPr>
          <p:cNvPr id="23" name="Shape 21"/>
          <p:cNvSpPr/>
          <p:nvPr/>
        </p:nvSpPr>
        <p:spPr>
          <a:xfrm>
            <a:off x="1042416" y="4809744"/>
            <a:ext cx="1417320" cy="310896"/>
          </a:xfrm>
          <a:prstGeom prst="roundRect">
            <a:avLst>
              <a:gd name="adj" fmla="val 52941"/>
            </a:avLst>
          </a:prstGeom>
          <a:solidFill>
            <a:srgbClr val="FFF5D8"/>
          </a:solidFill>
          <a:ln w="12700">
            <a:solidFill>
              <a:srgbClr val="FFF5D8"/>
            </a:solidFill>
            <a:prstDash val="solid"/>
          </a:ln>
        </p:spPr>
      </p:sp>
      <p:sp>
        <p:nvSpPr>
          <p:cNvPr id="24" name="Text 22"/>
          <p:cNvSpPr/>
          <p:nvPr/>
        </p:nvSpPr>
        <p:spPr>
          <a:xfrm>
            <a:off x="1152144" y="482803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E69F00"/>
                </a:solidFill>
                <a:latin typeface="Noto Sans Arabic" pitchFamily="34" charset="0"/>
                <a:ea typeface="Noto Sans Arabic" pitchFamily="34" charset="-122"/>
                <a:cs typeface="Noto Sans Arabic" pitchFamily="34" charset="-120"/>
              </a:rPr>
              <a:t>انرژی و فرود</a:t>
            </a:r>
            <a:endParaRPr lang="en-US" sz="1150" dirty="0"/>
          </a:p>
        </p:txBody>
      </p:sp>
      <p:sp>
        <p:nvSpPr>
          <p:cNvPr id="25" name="Text 23"/>
          <p:cNvSpPr/>
          <p:nvPr/>
        </p:nvSpPr>
        <p:spPr>
          <a:xfrm>
            <a:off x="1060704" y="520293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Noto Sans Arabic" pitchFamily="34" charset="0"/>
                <a:ea typeface="Noto Sans Arabic" pitchFamily="34" charset="-122"/>
                <a:cs typeface="Noto Sans Arabic" pitchFamily="34" charset="-120"/>
              </a:rPr>
              <a:t>دامنه شتاب، انرژی سیگنال و پایداری پس از فرود شاخص‌تر بودند.</a:t>
            </a:r>
            <a:endParaRPr lang="en-US" sz="1210" dirty="0"/>
          </a:p>
        </p:txBody>
      </p:sp>
      <p:sp>
        <p:nvSpPr>
          <p:cNvPr id="26" name="Shape 24"/>
          <p:cNvSpPr/>
          <p:nvPr/>
        </p:nvSpPr>
        <p:spPr>
          <a:xfrm>
            <a:off x="6245352"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7" name="Shape 25"/>
          <p:cNvSpPr/>
          <p:nvPr/>
        </p:nvSpPr>
        <p:spPr>
          <a:xfrm>
            <a:off x="11228832" y="1993392"/>
            <a:ext cx="173736" cy="1170432"/>
          </a:xfrm>
          <a:prstGeom prst="rect">
            <a:avLst/>
          </a:prstGeom>
          <a:solidFill>
            <a:srgbClr val="2F855A"/>
          </a:solidFill>
          <a:ln w="12700">
            <a:solidFill>
              <a:srgbClr val="2F855A"/>
            </a:solidFill>
            <a:prstDash val="solid"/>
          </a:ln>
        </p:spPr>
      </p:sp>
      <p:sp>
        <p:nvSpPr>
          <p:cNvPr id="28" name="Text 26"/>
          <p:cNvSpPr/>
          <p:nvPr/>
        </p:nvSpPr>
        <p:spPr>
          <a:xfrm>
            <a:off x="9098280"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Noto Sans Arabic" pitchFamily="34" charset="0"/>
                <a:ea typeface="Noto Sans Arabic" pitchFamily="34" charset="-122"/>
                <a:cs typeface="Noto Sans Arabic" pitchFamily="34" charset="-120"/>
              </a:rPr>
              <a:t>بالا آوردن سر</a:t>
            </a:r>
            <a:endParaRPr lang="en-US" sz="1600" dirty="0"/>
          </a:p>
        </p:txBody>
      </p:sp>
      <p:sp>
        <p:nvSpPr>
          <p:cNvPr id="29" name="Shape 27"/>
          <p:cNvSpPr/>
          <p:nvPr/>
        </p:nvSpPr>
        <p:spPr>
          <a:xfrm>
            <a:off x="6519672" y="2157984"/>
            <a:ext cx="1417320" cy="310896"/>
          </a:xfrm>
          <a:prstGeom prst="roundRect">
            <a:avLst>
              <a:gd name="adj" fmla="val 52941"/>
            </a:avLst>
          </a:prstGeom>
          <a:solidFill>
            <a:srgbClr val="EEF4F8"/>
          </a:solidFill>
          <a:ln w="12700">
            <a:solidFill>
              <a:srgbClr val="EEF4F8"/>
            </a:solidFill>
            <a:prstDash val="solid"/>
          </a:ln>
        </p:spPr>
      </p:sp>
      <p:sp>
        <p:nvSpPr>
          <p:cNvPr id="30" name="Text 28"/>
          <p:cNvSpPr/>
          <p:nvPr/>
        </p:nvSpPr>
        <p:spPr>
          <a:xfrm>
            <a:off x="6629400"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2F855A"/>
                </a:solidFill>
                <a:latin typeface="Noto Sans Arabic" pitchFamily="34" charset="0"/>
                <a:ea typeface="Noto Sans Arabic" pitchFamily="34" charset="-122"/>
                <a:cs typeface="Noto Sans Arabic" pitchFamily="34" charset="-120"/>
              </a:rPr>
              <a:t>حسگر پیشانی</a:t>
            </a:r>
            <a:endParaRPr lang="en-US" sz="1150" dirty="0"/>
          </a:p>
        </p:txBody>
      </p:sp>
      <p:sp>
        <p:nvSpPr>
          <p:cNvPr id="31" name="Text 29"/>
          <p:cNvSpPr/>
          <p:nvPr/>
        </p:nvSpPr>
        <p:spPr>
          <a:xfrm>
            <a:off x="6537960"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Noto Sans Arabic" pitchFamily="34" charset="0"/>
                <a:ea typeface="Noto Sans Arabic" pitchFamily="34" charset="-122"/>
                <a:cs typeface="Noto Sans Arabic" pitchFamily="34" charset="-120"/>
              </a:rPr>
              <a:t>دامنه و سرعت حرکت سر، همراه با حرکات جبرانی اندام‌ها، اهمیت داشت.</a:t>
            </a:r>
            <a:endParaRPr lang="en-US" sz="1210" dirty="0"/>
          </a:p>
        </p:txBody>
      </p:sp>
      <p:sp>
        <p:nvSpPr>
          <p:cNvPr id="32" name="Shape 30"/>
          <p:cNvSpPr/>
          <p:nvPr/>
        </p:nvSpPr>
        <p:spPr>
          <a:xfrm>
            <a:off x="6245352"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33" name="Shape 31"/>
          <p:cNvSpPr/>
          <p:nvPr/>
        </p:nvSpPr>
        <p:spPr>
          <a:xfrm>
            <a:off x="11228832" y="3319272"/>
            <a:ext cx="173736" cy="1170432"/>
          </a:xfrm>
          <a:prstGeom prst="rect">
            <a:avLst/>
          </a:prstGeom>
          <a:solidFill>
            <a:srgbClr val="C0392B"/>
          </a:solidFill>
          <a:ln w="12700">
            <a:solidFill>
              <a:srgbClr val="C0392B"/>
            </a:solidFill>
            <a:prstDash val="solid"/>
          </a:ln>
        </p:spPr>
      </p:sp>
      <p:sp>
        <p:nvSpPr>
          <p:cNvPr id="34" name="Text 32"/>
          <p:cNvSpPr/>
          <p:nvPr/>
        </p:nvSpPr>
        <p:spPr>
          <a:xfrm>
            <a:off x="9098280"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Noto Sans Arabic" pitchFamily="34" charset="0"/>
                <a:ea typeface="Noto Sans Arabic" pitchFamily="34" charset="-122"/>
                <a:cs typeface="Noto Sans Arabic" pitchFamily="34" charset="-120"/>
              </a:rPr>
              <a:t>بالا رفتن از جعبه</a:t>
            </a:r>
            <a:endParaRPr lang="en-US" sz="1600" dirty="0"/>
          </a:p>
        </p:txBody>
      </p:sp>
      <p:sp>
        <p:nvSpPr>
          <p:cNvPr id="35" name="Shape 33"/>
          <p:cNvSpPr/>
          <p:nvPr/>
        </p:nvSpPr>
        <p:spPr>
          <a:xfrm>
            <a:off x="6519672" y="3483864"/>
            <a:ext cx="1417320" cy="310896"/>
          </a:xfrm>
          <a:prstGeom prst="roundRect">
            <a:avLst>
              <a:gd name="adj" fmla="val 52941"/>
            </a:avLst>
          </a:prstGeom>
          <a:solidFill>
            <a:srgbClr val="FDECEA"/>
          </a:solidFill>
          <a:ln w="12700">
            <a:solidFill>
              <a:srgbClr val="FDECEA"/>
            </a:solidFill>
            <a:prstDash val="solid"/>
          </a:ln>
        </p:spPr>
      </p:sp>
      <p:sp>
        <p:nvSpPr>
          <p:cNvPr id="36" name="Text 34"/>
          <p:cNvSpPr/>
          <p:nvPr/>
        </p:nvSpPr>
        <p:spPr>
          <a:xfrm>
            <a:off x="6629400"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C0392B"/>
                </a:solidFill>
                <a:latin typeface="Noto Sans Arabic" pitchFamily="34" charset="0"/>
                <a:ea typeface="Noto Sans Arabic" pitchFamily="34" charset="-122"/>
                <a:cs typeface="Noto Sans Arabic" pitchFamily="34" charset="-120"/>
              </a:rPr>
              <a:t>انتقال وزن</a:t>
            </a:r>
            <a:endParaRPr lang="en-US" sz="1150" dirty="0"/>
          </a:p>
        </p:txBody>
      </p:sp>
      <p:sp>
        <p:nvSpPr>
          <p:cNvPr id="37" name="Text 35"/>
          <p:cNvSpPr/>
          <p:nvPr/>
        </p:nvSpPr>
        <p:spPr>
          <a:xfrm>
            <a:off x="6537960"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Noto Sans Arabic" pitchFamily="34" charset="0"/>
                <a:ea typeface="Noto Sans Arabic" pitchFamily="34" charset="-122"/>
                <a:cs typeface="Noto Sans Arabic" pitchFamily="34" charset="-120"/>
              </a:rPr>
              <a:t>حسگرهای پا و نحوه کشیدن بدن به بالا بیشترین اطلاعات را فراهم کردند.</a:t>
            </a:r>
            <a:endParaRPr lang="en-US" sz="1210" dirty="0"/>
          </a:p>
        </p:txBody>
      </p:sp>
      <p:sp>
        <p:nvSpPr>
          <p:cNvPr id="38" name="Shape 36"/>
          <p:cNvSpPr/>
          <p:nvPr/>
        </p:nvSpPr>
        <p:spPr>
          <a:xfrm>
            <a:off x="6245352" y="4645152"/>
            <a:ext cx="5157216" cy="1316736"/>
          </a:xfrm>
          <a:prstGeom prst="roundRect">
            <a:avLst>
              <a:gd name="adj" fmla="val 5556"/>
            </a:avLst>
          </a:prstGeom>
          <a:solidFill>
            <a:srgbClr val="102A43"/>
          </a:solidFill>
          <a:ln w="12700">
            <a:solidFill>
              <a:srgbClr val="102A43"/>
            </a:solidFill>
            <a:prstDash val="solid"/>
          </a:ln>
        </p:spPr>
      </p:sp>
      <p:sp>
        <p:nvSpPr>
          <p:cNvPr id="39" name="Text 37"/>
          <p:cNvSpPr/>
          <p:nvPr/>
        </p:nvSpPr>
        <p:spPr>
          <a:xfrm>
            <a:off x="9509760" y="4846320"/>
            <a:ext cx="1508760" cy="274320"/>
          </a:xfrm>
          <a:prstGeom prst="rect">
            <a:avLst/>
          </a:prstGeom>
          <a:noFill/>
          <a:ln/>
        </p:spPr>
        <p:txBody>
          <a:bodyPr wrap="square" lIns="0" tIns="0" rIns="0" bIns="0" rtlCol="0" anchor="ctr">
            <a:normAutofit/>
          </a:bodyPr>
          <a:lstStyle/>
          <a:p>
            <a:pPr marL="0" indent="0" algn="r" rtl="1">
              <a:buNone/>
            </a:pPr>
            <a:r>
              <a:rPr lang="en-US" sz="1300" b="1" dirty="0">
                <a:solidFill>
                  <a:srgbClr val="A9D7E8"/>
                </a:solidFill>
                <a:latin typeface="Noto Sans Arabic" pitchFamily="34" charset="0"/>
                <a:ea typeface="Noto Sans Arabic" pitchFamily="34" charset="-122"/>
                <a:cs typeface="Noto Sans Arabic" pitchFamily="34" charset="-120"/>
              </a:rPr>
              <a:t>نتیجه روش‌شناختی</a:t>
            </a:r>
            <a:endParaRPr lang="en-US" sz="1300" dirty="0"/>
          </a:p>
        </p:txBody>
      </p:sp>
      <p:sp>
        <p:nvSpPr>
          <p:cNvPr id="40" name="Text 38"/>
          <p:cNvSpPr/>
          <p:nvPr/>
        </p:nvSpPr>
        <p:spPr>
          <a:xfrm>
            <a:off x="6565392" y="5239512"/>
            <a:ext cx="4434840" cy="457200"/>
          </a:xfrm>
          <a:prstGeom prst="rect">
            <a:avLst/>
          </a:prstGeom>
          <a:noFill/>
          <a:ln/>
        </p:spPr>
        <p:txBody>
          <a:bodyPr wrap="square" lIns="0" tIns="0" rIns="0" bIns="0" rtlCol="0" anchor="ctr">
            <a:normAutofit/>
          </a:bodyPr>
          <a:lstStyle/>
          <a:p>
            <a:pPr marL="0" indent="0" algn="ctr" rtl="1">
              <a:buNone/>
            </a:pPr>
            <a:r>
              <a:rPr lang="en-US" sz="1620" b="1" dirty="0">
                <a:solidFill>
                  <a:srgbClr val="FFFFFF"/>
                </a:solidFill>
                <a:latin typeface="Noto Sans Arabic" pitchFamily="34" charset="0"/>
                <a:ea typeface="Noto Sans Arabic" pitchFamily="34" charset="-122"/>
                <a:cs typeface="Noto Sans Arabic" pitchFamily="34" charset="-120"/>
              </a:rPr>
              <a:t>بهتر است هر فعالیت به‌صورت مستقل تحلیل و مدل مناسب همان حرکت انتخاب شود.</a:t>
            </a:r>
            <a:endParaRPr lang="en-US" sz="1620" dirty="0"/>
          </a:p>
        </p:txBody>
      </p:sp>
      <p:sp>
        <p:nvSpPr>
          <p:cNvPr id="41" name="Shape 39"/>
          <p:cNvSpPr/>
          <p:nvPr/>
        </p:nvSpPr>
        <p:spPr>
          <a:xfrm>
            <a:off x="658368" y="6473952"/>
            <a:ext cx="10881360" cy="0"/>
          </a:xfrm>
          <a:prstGeom prst="line">
            <a:avLst/>
          </a:prstGeom>
          <a:noFill/>
          <a:ln w="10160">
            <a:solidFill>
              <a:srgbClr val="E9EEF2"/>
            </a:solidFill>
            <a:prstDash val="solid"/>
          </a:ln>
        </p:spPr>
      </p:sp>
      <p:sp>
        <p:nvSpPr>
          <p:cNvPr id="42" name="Text 40"/>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43" name="Text 41"/>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۴ از ۶: نتایج و بحث | ۳ اسلاید تا پایان</a:t>
            </a:r>
            <a:endParaRPr lang="en-US" sz="920" dirty="0"/>
          </a:p>
        </p:txBody>
      </p:sp>
      <p:sp>
        <p:nvSpPr>
          <p:cNvPr id="44" name="Text 42"/>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۱۱ / ۱۴</a:t>
            </a:r>
            <a:endParaRPr lang="en-US" sz="1020" dirty="0"/>
          </a:p>
        </p:txBody>
      </p:sp>
      <p:sp>
        <p:nvSpPr>
          <p:cNvPr id="45" name="Shape 43"/>
          <p:cNvSpPr/>
          <p:nvPr/>
        </p:nvSpPr>
        <p:spPr>
          <a:xfrm>
            <a:off x="2560320" y="6766560"/>
            <a:ext cx="5172891" cy="41148"/>
          </a:xfrm>
          <a:prstGeom prst="rect">
            <a:avLst/>
          </a:prstGeom>
          <a:solidFill>
            <a:srgbClr val="0B6E99"/>
          </a:solidFill>
          <a:ln w="12700">
            <a:solidFill>
              <a:srgbClr val="0B6E99"/>
            </a:solidFill>
            <a:prstDash val="solid"/>
          </a:ln>
        </p:spPr>
      </p:sp>
      <p:sp>
        <p:nvSpPr>
          <p:cNvPr id="46" name="Shape 44"/>
          <p:cNvSpPr/>
          <p:nvPr/>
        </p:nvSpPr>
        <p:spPr>
          <a:xfrm>
            <a:off x="7733211" y="6766560"/>
            <a:ext cx="1410789"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zoom">
                          <p:cBhvr>
                            <p:cTn id="4" dur="450" fill="hold"/>
                            <p:tgtEl>
                              <p:spTgt spid="8"/>
                            </p:tgtEl>
                          </p:cBhvr>
                        </p:animEffect>
                        <p:animEffect transition="in" filter="zoom">
                          <p:cBhvr>
                            <p:cTn id="5" dur="450" fill="hold"/>
                            <p:tgtEl>
                              <p:spTgt spid="9"/>
                            </p:tgtEl>
                          </p:cBhvr>
                        </p:animEffect>
                        <p:animEffect transition="in" filter="zoom">
                          <p:cBhvr>
                            <p:cTn id="6" dur="450" fill="hold"/>
                            <p:tgtEl>
                              <p:spTgt spid="10"/>
                            </p:tgtEl>
                          </p:cBhvr>
                        </p:animEffect>
                        <p:animEffect transition="in" filter="zoom">
                          <p:cBhvr>
                            <p:cTn id="7" dur="450" fill="hold"/>
                            <p:tgtEl>
                              <p:spTgt spid="11"/>
                            </p:tgtEl>
                          </p:cBhvr>
                        </p:animEffect>
                        <p:animEffect transition="in" filter="zoom">
                          <p:cBhvr>
                            <p:cTn id="8" dur="450" fill="hold"/>
                            <p:tgtEl>
                              <p:spTgt spid="12"/>
                            </p:tgtEl>
                          </p:cBhvr>
                        </p:animEffect>
                        <p:animEffect transition="in" filter="zoom">
                          <p:cBhvr>
                            <p:cTn id="9" dur="450" fill="hold"/>
                            <p:tgtEl>
                              <p:spTgt spid="13"/>
                            </p:tgtEl>
                          </p:cBhvr>
                        </p:animEffect>
                      </p:childTnLst>
                    </p:cTn>
                  </p:par>
                  <p:par>
                    <p:cTn id="10" fill="hold">
                      <p:stCondLst>
                        <p:cond delay="0"/>
                      </p:stCondLst>
                      <p:childTnLst>
                        <p:animEffect transition="in" filter="zoom">
                          <p:cBhvr>
                            <p:cTn id="11" dur="450" fill="hold"/>
                            <p:tgtEl>
                              <p:spTgt spid="14"/>
                            </p:tgtEl>
                          </p:cBhvr>
                        </p:animEffect>
                        <p:animEffect transition="in" filter="zoom">
                          <p:cBhvr>
                            <p:cTn id="12" dur="450" fill="hold"/>
                            <p:tgtEl>
                              <p:spTgt spid="15"/>
                            </p:tgtEl>
                          </p:cBhvr>
                        </p:animEffect>
                        <p:animEffect transition="in" filter="zoom">
                          <p:cBhvr>
                            <p:cTn id="13" dur="450" fill="hold"/>
                            <p:tgtEl>
                              <p:spTgt spid="16"/>
                            </p:tgtEl>
                          </p:cBhvr>
                        </p:animEffect>
                        <p:animEffect transition="in" filter="zoom">
                          <p:cBhvr>
                            <p:cTn id="14" dur="450" fill="hold"/>
                            <p:tgtEl>
                              <p:spTgt spid="17"/>
                            </p:tgtEl>
                          </p:cBhvr>
                        </p:animEffect>
                        <p:animEffect transition="in" filter="zoom">
                          <p:cBhvr>
                            <p:cTn id="15" dur="450" fill="hold"/>
                            <p:tgtEl>
                              <p:spTgt spid="18"/>
                            </p:tgtEl>
                          </p:cBhvr>
                        </p:animEffect>
                        <p:animEffect transition="in" filter="zoom">
                          <p:cBhvr>
                            <p:cTn id="16" dur="450" fill="hold"/>
                            <p:tgtEl>
                              <p:spTgt spid="19"/>
                            </p:tgtEl>
                          </p:cBhvr>
                        </p:animEffect>
                      </p:childTnLst>
                    </p:cTn>
                  </p:par>
                  <p:par>
                    <p:cTn id="17" fill="hold">
                      <p:stCondLst>
                        <p:cond delay="0"/>
                      </p:stCondLst>
                      <p:childTnLst>
                        <p:animEffect transition="in" filter="zoom">
                          <p:cBhvr>
                            <p:cTn id="18" dur="450" fill="hold"/>
                            <p:tgtEl>
                              <p:spTgt spid="20"/>
                            </p:tgtEl>
                          </p:cBhvr>
                        </p:animEffect>
                        <p:animEffect transition="in" filter="zoom">
                          <p:cBhvr>
                            <p:cTn id="19" dur="450" fill="hold"/>
                            <p:tgtEl>
                              <p:spTgt spid="21"/>
                            </p:tgtEl>
                          </p:cBhvr>
                        </p:animEffect>
                        <p:animEffect transition="in" filter="zoom">
                          <p:cBhvr>
                            <p:cTn id="20" dur="450" fill="hold"/>
                            <p:tgtEl>
                              <p:spTgt spid="22"/>
                            </p:tgtEl>
                          </p:cBhvr>
                        </p:animEffect>
                        <p:animEffect transition="in" filter="zoom">
                          <p:cBhvr>
                            <p:cTn id="21" dur="450" fill="hold"/>
                            <p:tgtEl>
                              <p:spTgt spid="23"/>
                            </p:tgtEl>
                          </p:cBhvr>
                        </p:animEffect>
                        <p:animEffect transition="in" filter="zoom">
                          <p:cBhvr>
                            <p:cTn id="22" dur="450" fill="hold"/>
                            <p:tgtEl>
                              <p:spTgt spid="24"/>
                            </p:tgtEl>
                          </p:cBhvr>
                        </p:animEffect>
                        <p:animEffect transition="in" filter="zoom">
                          <p:cBhvr>
                            <p:cTn id="23" dur="450" fill="hold"/>
                            <p:tgtEl>
                              <p:spTgt spid="25"/>
                            </p:tgtEl>
                          </p:cBhvr>
                        </p:animEffect>
                      </p:childTnLst>
                    </p:cTn>
                  </p:par>
                  <p:par>
                    <p:cTn id="24" fill="hold">
                      <p:stCondLst>
                        <p:cond delay="0"/>
                      </p:stCondLst>
                      <p:childTnLst>
                        <p:animEffect transition="in" filter="zoom">
                          <p:cBhvr>
                            <p:cTn id="25" dur="450" fill="hold"/>
                            <p:tgtEl>
                              <p:spTgt spid="26"/>
                            </p:tgtEl>
                          </p:cBhvr>
                        </p:animEffect>
                        <p:animEffect transition="in" filter="zoom">
                          <p:cBhvr>
                            <p:cTn id="26" dur="450" fill="hold"/>
                            <p:tgtEl>
                              <p:spTgt spid="27"/>
                            </p:tgtEl>
                          </p:cBhvr>
                        </p:animEffect>
                        <p:animEffect transition="in" filter="zoom">
                          <p:cBhvr>
                            <p:cTn id="27" dur="450" fill="hold"/>
                            <p:tgtEl>
                              <p:spTgt spid="28"/>
                            </p:tgtEl>
                          </p:cBhvr>
                        </p:animEffect>
                        <p:animEffect transition="in" filter="zoom">
                          <p:cBhvr>
                            <p:cTn id="28" dur="450" fill="hold"/>
                            <p:tgtEl>
                              <p:spTgt spid="29"/>
                            </p:tgtEl>
                          </p:cBhvr>
                        </p:animEffect>
                        <p:animEffect transition="in" filter="zoom">
                          <p:cBhvr>
                            <p:cTn id="29" dur="450" fill="hold"/>
                            <p:tgtEl>
                              <p:spTgt spid="30"/>
                            </p:tgtEl>
                          </p:cBhvr>
                        </p:animEffect>
                        <p:animEffect transition="in" filter="zoom">
                          <p:cBhvr>
                            <p:cTn id="30" dur="450" fill="hold"/>
                            <p:tgtEl>
                              <p:spTgt spid="31"/>
                            </p:tgtEl>
                          </p:cBhvr>
                        </p:animEffect>
                      </p:childTnLst>
                    </p:cTn>
                  </p:par>
                  <p:par>
                    <p:cTn id="31" fill="hold">
                      <p:stCondLst>
                        <p:cond delay="0"/>
                      </p:stCondLst>
                      <p:childTnLst>
                        <p:animEffect transition="in" filter="zoom">
                          <p:cBhvr>
                            <p:cTn id="32" dur="450" fill="hold"/>
                            <p:tgtEl>
                              <p:spTgt spid="32"/>
                            </p:tgtEl>
                          </p:cBhvr>
                        </p:animEffect>
                        <p:animEffect transition="in" filter="zoom">
                          <p:cBhvr>
                            <p:cTn id="33" dur="450" fill="hold"/>
                            <p:tgtEl>
                              <p:spTgt spid="33"/>
                            </p:tgtEl>
                          </p:cBhvr>
                        </p:animEffect>
                        <p:animEffect transition="in" filter="zoom">
                          <p:cBhvr>
                            <p:cTn id="34" dur="450" fill="hold"/>
                            <p:tgtEl>
                              <p:spTgt spid="34"/>
                            </p:tgtEl>
                          </p:cBhvr>
                        </p:animEffect>
                        <p:animEffect transition="in" filter="zoom">
                          <p:cBhvr>
                            <p:cTn id="35" dur="450" fill="hold"/>
                            <p:tgtEl>
                              <p:spTgt spid="35"/>
                            </p:tgtEl>
                          </p:cBhvr>
                        </p:animEffect>
                        <p:animEffect transition="in" filter="zoom">
                          <p:cBhvr>
                            <p:cTn id="36" dur="450" fill="hold"/>
                            <p:tgtEl>
                              <p:spTgt spid="36"/>
                            </p:tgtEl>
                          </p:cBhvr>
                        </p:animEffect>
                        <p:animEffect transition="in" filter="zoom">
                          <p:cBhvr>
                            <p:cTn id="37" dur="450" fill="hold"/>
                            <p:tgtEl>
                              <p:spTgt spid="37"/>
                            </p:tgtEl>
                          </p:cBhvr>
                        </p:animEffect>
                      </p:childTnLst>
                    </p:cTn>
                  </p:par>
                  <p:par>
                    <p:cTn id="38" fill="hold">
                      <p:stCondLst>
                        <p:cond delay="0"/>
                      </p:stCondLst>
                      <p:childTnLst>
                        <p:animEffect transition="in" filter="fade">
                          <p:cBhvr>
                            <p:cTn id="39" dur="500" fill="hold"/>
                            <p:tgtEl>
                              <p:spTgt spid="38"/>
                            </p:tgtEl>
                          </p:cBhvr>
                        </p:animEffect>
                        <p:animEffect transition="in" filter="fade">
                          <p:cBhvr>
                            <p:cTn id="40" dur="500" fill="hold"/>
                            <p:tgtEl>
                              <p:spTgt spid="39"/>
                            </p:tgtEl>
                          </p:cBhvr>
                        </p:animEffect>
                        <p:animEffect transition="in" filter="fade">
                          <p:cBhvr>
                            <p:cTn id="41" dur="500" fill="hold"/>
                            <p:tgtEl>
                              <p:spTgt spid="40"/>
                            </p:tgtEl>
                          </p:cBhvr>
                        </p:animEffect>
                      </p:childTnLst>
                    </p:cTn>
                  </p:par>
                </p:childTnLst>
              </p:cTn>
            </p:seq>
          </p:childTnLst>
        </p:cTn>
      </p:par>
    </p:tnLst>
    <p:bldLst>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تفسیر نتایج</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محدودیت‌های پژوهش</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۱۲ / ۱۴</a:t>
            </a:r>
            <a:endParaRPr lang="en-US" sz="1080" dirty="0"/>
          </a:p>
        </p:txBody>
      </p:sp>
      <p:sp>
        <p:nvSpPr>
          <p:cNvPr id="7" name="Shape 5"/>
          <p:cNvSpPr/>
          <p:nvPr/>
        </p:nvSpPr>
        <p:spPr>
          <a:xfrm>
            <a:off x="749808" y="1755648"/>
            <a:ext cx="3456432" cy="3401568"/>
          </a:xfrm>
          <a:prstGeom prst="roundRect">
            <a:avLst>
              <a:gd name="adj" fmla="val 2151"/>
            </a:avLst>
          </a:prstGeom>
          <a:solidFill>
            <a:srgbClr val="FFFFFF"/>
          </a:solidFill>
          <a:ln w="17145">
            <a:solidFill>
              <a:srgbClr val="C0392B"/>
            </a:solidFill>
            <a:prstDash val="solid"/>
          </a:ln>
          <a:effectLst>
            <a:outerShdw blurRad="12700" dist="50800" dir="2700000" algn="bl" rotWithShape="0">
              <a:srgbClr val="B0BEC5">
                <a:alpha val="12000"/>
              </a:srgbClr>
            </a:outerShdw>
          </a:effectLst>
        </p:spPr>
      </p:sp>
      <p:sp>
        <p:nvSpPr>
          <p:cNvPr id="8" name="Shape 6"/>
          <p:cNvSpPr/>
          <p:nvPr/>
        </p:nvSpPr>
        <p:spPr>
          <a:xfrm>
            <a:off x="2057400" y="2057400"/>
            <a:ext cx="841248" cy="841248"/>
          </a:xfrm>
          <a:prstGeom prst="ellipse">
            <a:avLst/>
          </a:prstGeom>
          <a:solidFill>
            <a:srgbClr val="C0392B"/>
          </a:solidFill>
          <a:ln w="12700">
            <a:solidFill>
              <a:srgbClr val="C0392B"/>
            </a:solidFill>
            <a:prstDash val="solid"/>
          </a:ln>
        </p:spPr>
      </p:sp>
      <p:sp>
        <p:nvSpPr>
          <p:cNvPr id="9" name="Text 7"/>
          <p:cNvSpPr/>
          <p:nvPr/>
        </p:nvSpPr>
        <p:spPr>
          <a:xfrm>
            <a:off x="2057400"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Noto Sans Arabic" pitchFamily="34" charset="0"/>
                <a:ea typeface="Noto Sans Arabic" pitchFamily="34" charset="-122"/>
                <a:cs typeface="Noto Sans Arabic" pitchFamily="34" charset="-120"/>
              </a:rPr>
              <a:t>۱</a:t>
            </a:r>
            <a:endParaRPr lang="en-US" sz="2800" dirty="0"/>
          </a:p>
        </p:txBody>
      </p:sp>
      <p:sp>
        <p:nvSpPr>
          <p:cNvPr id="10" name="Text 8"/>
          <p:cNvSpPr/>
          <p:nvPr/>
        </p:nvSpPr>
        <p:spPr>
          <a:xfrm>
            <a:off x="1069848"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داده از یک فرد سالم</a:t>
            </a:r>
            <a:endParaRPr lang="en-US" sz="1700" dirty="0"/>
          </a:p>
        </p:txBody>
      </p:sp>
      <p:sp>
        <p:nvSpPr>
          <p:cNvPr id="11" name="Text 9"/>
          <p:cNvSpPr/>
          <p:nvPr/>
        </p:nvSpPr>
        <p:spPr>
          <a:xfrm>
            <a:off x="1097280"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Noto Sans Arabic" pitchFamily="34" charset="0"/>
                <a:ea typeface="Noto Sans Arabic" pitchFamily="34" charset="-122"/>
                <a:cs typeface="Noto Sans Arabic" pitchFamily="34" charset="-120"/>
              </a:rPr>
              <a:t>الگوهای واقعی بیماران تحت تأثیر شدت بیماری، خستگی، کوتاهی عضلات و راهبردهای جبرانی فردی هستند.</a:t>
            </a:r>
            <a:endParaRPr lang="en-US" sz="1270" dirty="0"/>
          </a:p>
        </p:txBody>
      </p:sp>
      <p:sp>
        <p:nvSpPr>
          <p:cNvPr id="12" name="Shape 10"/>
          <p:cNvSpPr/>
          <p:nvPr/>
        </p:nvSpPr>
        <p:spPr>
          <a:xfrm>
            <a:off x="4562856" y="1755648"/>
            <a:ext cx="3456432" cy="3401568"/>
          </a:xfrm>
          <a:prstGeom prst="roundRect">
            <a:avLst>
              <a:gd name="adj" fmla="val 2151"/>
            </a:avLst>
          </a:prstGeom>
          <a:solidFill>
            <a:srgbClr val="FFFFFF"/>
          </a:solidFill>
          <a:ln w="17145">
            <a:solidFill>
              <a:srgbClr val="E69F00"/>
            </a:solidFill>
            <a:prstDash val="solid"/>
          </a:ln>
          <a:effectLst>
            <a:outerShdw blurRad="12700" dist="50800" dir="2700000" algn="bl" rotWithShape="0">
              <a:srgbClr val="B0BEC5">
                <a:alpha val="12000"/>
              </a:srgbClr>
            </a:outerShdw>
          </a:effectLst>
        </p:spPr>
      </p:sp>
      <p:sp>
        <p:nvSpPr>
          <p:cNvPr id="13" name="Shape 11"/>
          <p:cNvSpPr/>
          <p:nvPr/>
        </p:nvSpPr>
        <p:spPr>
          <a:xfrm>
            <a:off x="5870448" y="2057400"/>
            <a:ext cx="841248" cy="841248"/>
          </a:xfrm>
          <a:prstGeom prst="ellipse">
            <a:avLst/>
          </a:prstGeom>
          <a:solidFill>
            <a:srgbClr val="E69F00"/>
          </a:solidFill>
          <a:ln w="12700">
            <a:solidFill>
              <a:srgbClr val="E69F00"/>
            </a:solidFill>
            <a:prstDash val="solid"/>
          </a:ln>
        </p:spPr>
      </p:sp>
      <p:sp>
        <p:nvSpPr>
          <p:cNvPr id="14" name="Text 12"/>
          <p:cNvSpPr/>
          <p:nvPr/>
        </p:nvSpPr>
        <p:spPr>
          <a:xfrm>
            <a:off x="5870448"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Noto Sans Arabic" pitchFamily="34" charset="0"/>
                <a:ea typeface="Noto Sans Arabic" pitchFamily="34" charset="-122"/>
                <a:cs typeface="Noto Sans Arabic" pitchFamily="34" charset="-120"/>
              </a:rPr>
              <a:t>۲</a:t>
            </a:r>
            <a:endParaRPr lang="en-US" sz="2800" dirty="0"/>
          </a:p>
        </p:txBody>
      </p:sp>
      <p:sp>
        <p:nvSpPr>
          <p:cNvPr id="15" name="Text 13"/>
          <p:cNvSpPr/>
          <p:nvPr/>
        </p:nvSpPr>
        <p:spPr>
          <a:xfrm>
            <a:off x="4882896"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تعداد نمونه محدود</a:t>
            </a:r>
            <a:endParaRPr lang="en-US" sz="1700" dirty="0"/>
          </a:p>
        </p:txBody>
      </p:sp>
      <p:sp>
        <p:nvSpPr>
          <p:cNvPr id="16" name="Text 14"/>
          <p:cNvSpPr/>
          <p:nvPr/>
        </p:nvSpPr>
        <p:spPr>
          <a:xfrm>
            <a:off x="4910328"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Noto Sans Arabic" pitchFamily="34" charset="0"/>
                <a:ea typeface="Noto Sans Arabic" pitchFamily="34" charset="-122"/>
                <a:cs typeface="Noto Sans Arabic" pitchFamily="34" charset="-120"/>
              </a:rPr>
              <a:t>اعتبارسنجی متقاطع، پایداری میان تکرارهای همان فرد را می‌سنجد؛ نه تعمیم به افراد جدید.</a:t>
            </a:r>
            <a:endParaRPr lang="en-US" sz="1270" dirty="0"/>
          </a:p>
        </p:txBody>
      </p:sp>
      <p:sp>
        <p:nvSpPr>
          <p:cNvPr id="17" name="Shape 15"/>
          <p:cNvSpPr/>
          <p:nvPr/>
        </p:nvSpPr>
        <p:spPr>
          <a:xfrm>
            <a:off x="8375904" y="1755648"/>
            <a:ext cx="3456432" cy="3401568"/>
          </a:xfrm>
          <a:prstGeom prst="roundRect">
            <a:avLst>
              <a:gd name="adj" fmla="val 2151"/>
            </a:avLst>
          </a:prstGeom>
          <a:solidFill>
            <a:srgbClr val="FFFFFF"/>
          </a:solidFill>
          <a:ln w="17145">
            <a:solidFill>
              <a:srgbClr val="0B6E99"/>
            </a:solidFill>
            <a:prstDash val="solid"/>
          </a:ln>
          <a:effectLst>
            <a:outerShdw blurRad="12700" dist="50800" dir="2700000" algn="bl" rotWithShape="0">
              <a:srgbClr val="B0BEC5">
                <a:alpha val="12000"/>
              </a:srgbClr>
            </a:outerShdw>
          </a:effectLst>
        </p:spPr>
      </p:sp>
      <p:sp>
        <p:nvSpPr>
          <p:cNvPr id="18" name="Shape 16"/>
          <p:cNvSpPr/>
          <p:nvPr/>
        </p:nvSpPr>
        <p:spPr>
          <a:xfrm>
            <a:off x="9683496" y="2057400"/>
            <a:ext cx="841248" cy="841248"/>
          </a:xfrm>
          <a:prstGeom prst="ellipse">
            <a:avLst/>
          </a:prstGeom>
          <a:solidFill>
            <a:srgbClr val="0B6E99"/>
          </a:solidFill>
          <a:ln w="12700">
            <a:solidFill>
              <a:srgbClr val="0B6E99"/>
            </a:solidFill>
            <a:prstDash val="solid"/>
          </a:ln>
        </p:spPr>
      </p:sp>
      <p:sp>
        <p:nvSpPr>
          <p:cNvPr id="19" name="Text 17"/>
          <p:cNvSpPr/>
          <p:nvPr/>
        </p:nvSpPr>
        <p:spPr>
          <a:xfrm>
            <a:off x="9683496"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Noto Sans Arabic" pitchFamily="34" charset="0"/>
                <a:ea typeface="Noto Sans Arabic" pitchFamily="34" charset="-122"/>
                <a:cs typeface="Noto Sans Arabic" pitchFamily="34" charset="-120"/>
              </a:rPr>
              <a:t>۳</a:t>
            </a:r>
            <a:endParaRPr lang="en-US" sz="2800" dirty="0"/>
          </a:p>
        </p:txBody>
      </p:sp>
      <p:sp>
        <p:nvSpPr>
          <p:cNvPr id="20" name="Text 18"/>
          <p:cNvSpPr/>
          <p:nvPr/>
        </p:nvSpPr>
        <p:spPr>
          <a:xfrm>
            <a:off x="8695944"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Noto Sans Arabic" pitchFamily="34" charset="0"/>
                <a:ea typeface="Noto Sans Arabic" pitchFamily="34" charset="-122"/>
                <a:cs typeface="Noto Sans Arabic" pitchFamily="34" charset="-120"/>
              </a:rPr>
              <a:t>وابستگی به شرایط ثبت</a:t>
            </a:r>
            <a:endParaRPr lang="en-US" sz="1700" dirty="0"/>
          </a:p>
        </p:txBody>
      </p:sp>
      <p:sp>
        <p:nvSpPr>
          <p:cNvPr id="21" name="Text 19"/>
          <p:cNvSpPr/>
          <p:nvPr/>
        </p:nvSpPr>
        <p:spPr>
          <a:xfrm>
            <a:off x="8723376"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Noto Sans Arabic" pitchFamily="34" charset="0"/>
                <a:ea typeface="Noto Sans Arabic" pitchFamily="34" charset="-122"/>
                <a:cs typeface="Noto Sans Arabic" pitchFamily="34" charset="-120"/>
              </a:rPr>
              <a:t>محل و زاویه نصب حسگر، نرخ نمونه‌برداری و پنجره زمانی می‌توانند ویژگی‌ها را تغییر دهند.</a:t>
            </a:r>
            <a:endParaRPr lang="en-US" sz="1270" dirty="0"/>
          </a:p>
        </p:txBody>
      </p:sp>
      <p:sp>
        <p:nvSpPr>
          <p:cNvPr id="22" name="Shape 20"/>
          <p:cNvSpPr/>
          <p:nvPr/>
        </p:nvSpPr>
        <p:spPr>
          <a:xfrm>
            <a:off x="1051560" y="5468112"/>
            <a:ext cx="10085832" cy="694944"/>
          </a:xfrm>
          <a:prstGeom prst="roundRect">
            <a:avLst>
              <a:gd name="adj" fmla="val 15789"/>
            </a:avLst>
          </a:prstGeom>
          <a:solidFill>
            <a:srgbClr val="FDECEA"/>
          </a:solidFill>
          <a:ln w="12700">
            <a:solidFill>
              <a:srgbClr val="F0C8C2"/>
            </a:solidFill>
            <a:prstDash val="solid"/>
          </a:ln>
        </p:spPr>
      </p:sp>
      <p:sp>
        <p:nvSpPr>
          <p:cNvPr id="23" name="Text 21"/>
          <p:cNvSpPr/>
          <p:nvPr/>
        </p:nvSpPr>
        <p:spPr>
          <a:xfrm>
            <a:off x="1353312" y="5614416"/>
            <a:ext cx="9464040" cy="384048"/>
          </a:xfrm>
          <a:prstGeom prst="rect">
            <a:avLst/>
          </a:prstGeom>
          <a:noFill/>
          <a:ln/>
        </p:spPr>
        <p:txBody>
          <a:bodyPr wrap="square" lIns="0" tIns="0" rIns="0" bIns="0" rtlCol="0" anchor="ctr">
            <a:normAutofit/>
          </a:bodyPr>
          <a:lstStyle/>
          <a:p>
            <a:pPr marL="0" indent="0" algn="ctr" rtl="1">
              <a:buNone/>
            </a:pPr>
            <a:r>
              <a:rPr lang="en-US" sz="1600" b="1" dirty="0">
                <a:solidFill>
                  <a:srgbClr val="C0392B"/>
                </a:solidFill>
                <a:latin typeface="Noto Sans Arabic" pitchFamily="34" charset="0"/>
                <a:ea typeface="Noto Sans Arabic" pitchFamily="34" charset="-122"/>
                <a:cs typeface="Noto Sans Arabic" pitchFamily="34" charset="-120"/>
              </a:rPr>
              <a:t>نتیجه‌های فعلی قابل تعمیم مستقیم به بیماران نیستند و جایگزین ارزیابی بالینی NSAA محسوب نمی‌شوند.</a:t>
            </a:r>
            <a:endParaRPr lang="en-US" sz="1600" dirty="0"/>
          </a:p>
        </p:txBody>
      </p:sp>
      <p:sp>
        <p:nvSpPr>
          <p:cNvPr id="24" name="Shape 22"/>
          <p:cNvSpPr/>
          <p:nvPr/>
        </p:nvSpPr>
        <p:spPr>
          <a:xfrm>
            <a:off x="658368" y="6473952"/>
            <a:ext cx="10881360" cy="0"/>
          </a:xfrm>
          <a:prstGeom prst="line">
            <a:avLst/>
          </a:prstGeom>
          <a:noFill/>
          <a:ln w="10160">
            <a:solidFill>
              <a:srgbClr val="E9EEF2"/>
            </a:solidFill>
            <a:prstDash val="solid"/>
          </a:ln>
        </p:spPr>
      </p:sp>
      <p:sp>
        <p:nvSpPr>
          <p:cNvPr id="25" name="Text 23"/>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26" name="Text 24"/>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۵ از ۶: محدودیت‌ها و مسیر آینده | ۲ اسلاید تا پایان</a:t>
            </a:r>
            <a:endParaRPr lang="en-US" sz="920" dirty="0"/>
          </a:p>
        </p:txBody>
      </p:sp>
      <p:sp>
        <p:nvSpPr>
          <p:cNvPr id="27" name="Text 25"/>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۱۲ / ۱۴</a:t>
            </a:r>
            <a:endParaRPr lang="en-US" sz="1020" dirty="0"/>
          </a:p>
        </p:txBody>
      </p:sp>
      <p:sp>
        <p:nvSpPr>
          <p:cNvPr id="28" name="Shape 26"/>
          <p:cNvSpPr/>
          <p:nvPr/>
        </p:nvSpPr>
        <p:spPr>
          <a:xfrm>
            <a:off x="2560320" y="6766560"/>
            <a:ext cx="5643154" cy="41148"/>
          </a:xfrm>
          <a:prstGeom prst="rect">
            <a:avLst/>
          </a:prstGeom>
          <a:solidFill>
            <a:srgbClr val="0B6E99"/>
          </a:solidFill>
          <a:ln w="12700">
            <a:solidFill>
              <a:srgbClr val="0B6E99"/>
            </a:solidFill>
            <a:prstDash val="solid"/>
          </a:ln>
        </p:spPr>
      </p:sp>
      <p:sp>
        <p:nvSpPr>
          <p:cNvPr id="29" name="Shape 27"/>
          <p:cNvSpPr/>
          <p:nvPr/>
        </p:nvSpPr>
        <p:spPr>
          <a:xfrm>
            <a:off x="8203474" y="6766560"/>
            <a:ext cx="940526" cy="41148"/>
          </a:xfrm>
          <a:prstGeom prst="rect">
            <a:avLst/>
          </a:prstGeom>
          <a:solidFill>
            <a:srgbClr val="E6EDF2"/>
          </a:solidFill>
          <a:ln w="12700">
            <a:solidFill>
              <a:srgbClr val="E6EDF2"/>
            </a:solidFill>
            <a:prstDash val="solid"/>
          </a:ln>
        </p:spPr>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0"/>
                      </p:stCondLst>
                      <p:childTnLst>
                        <p:animEffect transition="in" filter="zoom">
                          <p:cBhvr>
                            <p:cTn id="4" dur="450" fill="hold"/>
                            <p:tgtEl>
                              <p:spTgt spid="7"/>
                            </p:tgtEl>
                          </p:cBhvr>
                        </p:animEffect>
                        <p:animEffect transition="in" filter="zoom">
                          <p:cBhvr>
                            <p:cTn id="5" dur="450" fill="hold"/>
                            <p:tgtEl>
                              <p:spTgt spid="8"/>
                            </p:tgtEl>
                          </p:cBhvr>
                        </p:animEffect>
                        <p:animEffect transition="in" filter="zoom">
                          <p:cBhvr>
                            <p:cTn id="6" dur="450" fill="hold"/>
                            <p:tgtEl>
                              <p:spTgt spid="9"/>
                            </p:tgtEl>
                          </p:cBhvr>
                        </p:animEffect>
                        <p:animEffect transition="in" filter="zoom">
                          <p:cBhvr>
                            <p:cTn id="7" dur="450" fill="hold"/>
                            <p:tgtEl>
                              <p:spTgt spid="10"/>
                            </p:tgtEl>
                          </p:cBhvr>
                        </p:animEffect>
                        <p:animEffect transition="in" filter="zoom">
                          <p:cBhvr>
                            <p:cTn id="8" dur="450" fill="hold"/>
                            <p:tgtEl>
                              <p:spTgt spid="11"/>
                            </p:tgtEl>
                          </p:cBhvr>
                        </p:animEffect>
                      </p:childTnLst>
                    </p:cTn>
                  </p:par>
                  <p:par>
                    <p:cTn id="9" fill="hold">
                      <p:stCondLst>
                        <p:cond delay="0"/>
                      </p:stCondLst>
                      <p:childTnLst>
                        <p:animEffect transition="in" filter="zoom">
                          <p:cBhvr>
                            <p:cTn id="10" dur="450" fill="hold"/>
                            <p:tgtEl>
                              <p:spTgt spid="12"/>
                            </p:tgtEl>
                          </p:cBhvr>
                        </p:animEffect>
                        <p:animEffect transition="in" filter="zoom">
                          <p:cBhvr>
                            <p:cTn id="11" dur="450" fill="hold"/>
                            <p:tgtEl>
                              <p:spTgt spid="13"/>
                            </p:tgtEl>
                          </p:cBhvr>
                        </p:animEffect>
                        <p:animEffect transition="in" filter="zoom">
                          <p:cBhvr>
                            <p:cTn id="12" dur="450" fill="hold"/>
                            <p:tgtEl>
                              <p:spTgt spid="14"/>
                            </p:tgtEl>
                          </p:cBhvr>
                        </p:animEffect>
                        <p:animEffect transition="in" filter="zoom">
                          <p:cBhvr>
                            <p:cTn id="13" dur="450" fill="hold"/>
                            <p:tgtEl>
                              <p:spTgt spid="15"/>
                            </p:tgtEl>
                          </p:cBhvr>
                        </p:animEffect>
                        <p:animEffect transition="in" filter="zoom">
                          <p:cBhvr>
                            <p:cTn id="14" dur="450" fill="hold"/>
                            <p:tgtEl>
                              <p:spTgt spid="16"/>
                            </p:tgtEl>
                          </p:cBhvr>
                        </p:animEffect>
                      </p:childTnLst>
                    </p:cTn>
                  </p:par>
                  <p:par>
                    <p:cTn id="15" fill="hold">
                      <p:stCondLst>
                        <p:cond delay="0"/>
                      </p:stCondLst>
                      <p:childTnLst>
                        <p:animEffect transition="in" filter="zoom">
                          <p:cBhvr>
                            <p:cTn id="16" dur="450" fill="hold"/>
                            <p:tgtEl>
                              <p:spTgt spid="17"/>
                            </p:tgtEl>
                          </p:cBhvr>
                        </p:animEffect>
                        <p:animEffect transition="in" filter="zoom">
                          <p:cBhvr>
                            <p:cTn id="17" dur="450" fill="hold"/>
                            <p:tgtEl>
                              <p:spTgt spid="18"/>
                            </p:tgtEl>
                          </p:cBhvr>
                        </p:animEffect>
                        <p:animEffect transition="in" filter="zoom">
                          <p:cBhvr>
                            <p:cTn id="18" dur="450" fill="hold"/>
                            <p:tgtEl>
                              <p:spTgt spid="19"/>
                            </p:tgtEl>
                          </p:cBhvr>
                        </p:animEffect>
                        <p:animEffect transition="in" filter="zoom">
                          <p:cBhvr>
                            <p:cTn id="19" dur="450" fill="hold"/>
                            <p:tgtEl>
                              <p:spTgt spid="20"/>
                            </p:tgtEl>
                          </p:cBhvr>
                        </p:animEffect>
                        <p:animEffect transition="in" filter="zoom">
                          <p:cBhvr>
                            <p:cTn id="20" dur="450" fill="hold"/>
                            <p:tgtEl>
                              <p:spTgt spid="21"/>
                            </p:tgtEl>
                          </p:cBhvr>
                        </p:animEffect>
                      </p:childTnLst>
                    </p:cTn>
                  </p:par>
                  <p:par>
                    <p:cTn id="21" fill="hold">
                      <p:stCondLst>
                        <p:cond delay="0"/>
                      </p:stCondLst>
                      <p:childTnLst>
                        <p:animEffect transition="in" filter="fade">
                          <p:cBhvr>
                            <p:cTn id="22" dur="500" fill="hold"/>
                            <p:tgtEl>
                              <p:spTgt spid="22"/>
                            </p:tgtEl>
                          </p:cBhvr>
                        </p:animEffect>
                        <p:animEffect transition="in" filter="fade">
                          <p:cBhvr>
                            <p:cTn id="23" dur="500" fill="hold"/>
                            <p:tgtEl>
                              <p:spTgt spid="23"/>
                            </p:tgtEl>
                          </p:cBhvr>
                        </p:animEffect>
                      </p:childTnLst>
                    </p:cTn>
                  </p:par>
                </p:childTnLst>
              </p:cTn>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189720" y="219456"/>
            <a:ext cx="224028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Noto Sans Arabic" pitchFamily="34" charset="0"/>
                <a:ea typeface="Noto Sans Arabic" pitchFamily="34" charset="-122"/>
                <a:cs typeface="Noto Sans Arabic" pitchFamily="34" charset="-120"/>
              </a:rPr>
              <a:t>کارهای آینده</a:t>
            </a:r>
            <a:endParaRPr lang="en-US" sz="980" dirty="0"/>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Noto Sans Arabic" pitchFamily="34" charset="0"/>
                <a:ea typeface="Noto Sans Arabic" pitchFamily="34" charset="-122"/>
                <a:cs typeface="Noto Sans Arabic" pitchFamily="34" charset="-120"/>
              </a:rPr>
              <a:t>مسیر پیشنهادی تا کاربرد بالینی</a:t>
            </a:r>
            <a:endParaRPr lang="en-US" sz="2700" dirty="0"/>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658368" cy="320040"/>
          </a:xfrm>
          <a:prstGeom prst="rect">
            <a:avLst/>
          </a:prstGeom>
          <a:noFill/>
          <a:ln/>
        </p:spPr>
        <p:txBody>
          <a:bodyPr wrap="square" lIns="0" tIns="0" rIns="0" bIns="0" rtlCol="0" anchor="ctr">
            <a:normAutofit/>
          </a:bodyPr>
          <a:lstStyle/>
          <a:p>
            <a:pPr marL="0" indent="0" algn="l" rtl="1">
              <a:buNone/>
            </a:pPr>
            <a:r>
              <a:rPr lang="en-US" sz="1080" dirty="0">
                <a:solidFill>
                  <a:srgbClr val="94A3B8"/>
                </a:solidFill>
                <a:latin typeface="Noto Sans Arabic" pitchFamily="34" charset="0"/>
                <a:ea typeface="Noto Sans Arabic" pitchFamily="34" charset="-122"/>
                <a:cs typeface="Noto Sans Arabic" pitchFamily="34" charset="-120"/>
              </a:rPr>
              <a:t>۱۳ / ۱۴</a:t>
            </a:r>
            <a:endParaRPr lang="en-US" sz="1080" dirty="0"/>
          </a:p>
        </p:txBody>
      </p:sp>
      <p:sp>
        <p:nvSpPr>
          <p:cNvPr id="7" name="Text 5"/>
          <p:cNvSpPr/>
          <p:nvPr/>
        </p:nvSpPr>
        <p:spPr>
          <a:xfrm>
            <a:off x="3858768" y="1444752"/>
            <a:ext cx="72237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Noto Sans Arabic" pitchFamily="34" charset="0"/>
                <a:ea typeface="Noto Sans Arabic" pitchFamily="34" charset="-122"/>
                <a:cs typeface="Noto Sans Arabic" pitchFamily="34" charset="-120"/>
              </a:rPr>
              <a:t>گام بعدی، تبدیل امکان‌سنجی فنی به یک مطالعه بالینی معتبر است</a:t>
            </a:r>
            <a:endParaRPr lang="en-US" sz="1850" dirty="0"/>
          </a:p>
        </p:txBody>
      </p:sp>
      <p:sp>
        <p:nvSpPr>
          <p:cNvPr id="8" name="Shape 6"/>
          <p:cNvSpPr/>
          <p:nvPr/>
        </p:nvSpPr>
        <p:spPr>
          <a:xfrm>
            <a:off x="8677656" y="2889504"/>
            <a:ext cx="0" cy="0"/>
          </a:xfrm>
          <a:prstGeom prst="line">
            <a:avLst/>
          </a:prstGeom>
          <a:noFill/>
          <a:ln w="25400">
            <a:solidFill>
              <a:srgbClr val="94A3B8"/>
            </a:solidFill>
            <a:prstDash val="solid"/>
            <a:headEnd type="none"/>
            <a:tailEnd type="triangle"/>
          </a:ln>
        </p:spPr>
      </p:sp>
      <p:sp>
        <p:nvSpPr>
          <p:cNvPr id="9" name="Shape 7"/>
          <p:cNvSpPr/>
          <p:nvPr/>
        </p:nvSpPr>
        <p:spPr>
          <a:xfrm>
            <a:off x="9674352" y="2350008"/>
            <a:ext cx="786384" cy="786384"/>
          </a:xfrm>
          <a:prstGeom prst="ellipse">
            <a:avLst/>
          </a:prstGeom>
          <a:solidFill>
            <a:srgbClr val="0B6E99"/>
          </a:solidFill>
          <a:ln w="12700">
            <a:solidFill>
              <a:srgbClr val="0B6E99"/>
            </a:solidFill>
            <a:prstDash val="solid"/>
          </a:ln>
        </p:spPr>
      </p:sp>
      <p:sp>
        <p:nvSpPr>
          <p:cNvPr id="10" name="Text 8"/>
          <p:cNvSpPr/>
          <p:nvPr/>
        </p:nvSpPr>
        <p:spPr>
          <a:xfrm>
            <a:off x="9674352"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1</a:t>
            </a:r>
            <a:endParaRPr lang="en-US" sz="2200" dirty="0"/>
          </a:p>
        </p:txBody>
      </p:sp>
      <p:sp>
        <p:nvSpPr>
          <p:cNvPr id="11" name="Shape 9"/>
          <p:cNvSpPr/>
          <p:nvPr/>
        </p:nvSpPr>
        <p:spPr>
          <a:xfrm>
            <a:off x="8997696" y="3401568"/>
            <a:ext cx="2139696" cy="1627632"/>
          </a:xfrm>
          <a:prstGeom prst="roundRect">
            <a:avLst>
              <a:gd name="adj" fmla="val 4494"/>
            </a:avLst>
          </a:prstGeom>
          <a:solidFill>
            <a:srgbClr val="FFFFFF"/>
          </a:solidFill>
          <a:ln w="16510">
            <a:solidFill>
              <a:srgbClr val="0B6E99"/>
            </a:solidFill>
            <a:prstDash val="solid"/>
          </a:ln>
        </p:spPr>
      </p:sp>
      <p:sp>
        <p:nvSpPr>
          <p:cNvPr id="12" name="Text 10"/>
          <p:cNvSpPr/>
          <p:nvPr/>
        </p:nvSpPr>
        <p:spPr>
          <a:xfrm>
            <a:off x="9144000"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Noto Sans Arabic" pitchFamily="34" charset="0"/>
                <a:ea typeface="Noto Sans Arabic" pitchFamily="34" charset="-122"/>
                <a:cs typeface="Noto Sans Arabic" pitchFamily="34" charset="-120"/>
              </a:rPr>
              <a:t>داده‌برداری از بیماران</a:t>
            </a:r>
            <a:endParaRPr lang="en-US" sz="1530" dirty="0"/>
          </a:p>
        </p:txBody>
      </p:sp>
      <p:sp>
        <p:nvSpPr>
          <p:cNvPr id="13" name="Text 11"/>
          <p:cNvSpPr/>
          <p:nvPr/>
        </p:nvSpPr>
        <p:spPr>
          <a:xfrm>
            <a:off x="9171432"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اجرای رسمی NSAA با حضور متخصص</a:t>
            </a:r>
            <a:endParaRPr lang="en-US" sz="1140" dirty="0"/>
          </a:p>
        </p:txBody>
      </p:sp>
      <p:sp>
        <p:nvSpPr>
          <p:cNvPr id="14" name="Shape 12"/>
          <p:cNvSpPr/>
          <p:nvPr/>
        </p:nvSpPr>
        <p:spPr>
          <a:xfrm>
            <a:off x="6062472" y="2889504"/>
            <a:ext cx="0" cy="0"/>
          </a:xfrm>
          <a:prstGeom prst="line">
            <a:avLst/>
          </a:prstGeom>
          <a:noFill/>
          <a:ln w="25400">
            <a:solidFill>
              <a:srgbClr val="94A3B8"/>
            </a:solidFill>
            <a:prstDash val="solid"/>
            <a:headEnd type="none"/>
            <a:tailEnd type="triangle"/>
          </a:ln>
        </p:spPr>
      </p:sp>
      <p:sp>
        <p:nvSpPr>
          <p:cNvPr id="15" name="Shape 13"/>
          <p:cNvSpPr/>
          <p:nvPr/>
        </p:nvSpPr>
        <p:spPr>
          <a:xfrm>
            <a:off x="7059168" y="2350008"/>
            <a:ext cx="786384" cy="786384"/>
          </a:xfrm>
          <a:prstGeom prst="ellipse">
            <a:avLst/>
          </a:prstGeom>
          <a:solidFill>
            <a:srgbClr val="0B7A75"/>
          </a:solidFill>
          <a:ln w="12700">
            <a:solidFill>
              <a:srgbClr val="0B7A75"/>
            </a:solidFill>
            <a:prstDash val="solid"/>
          </a:ln>
        </p:spPr>
      </p:sp>
      <p:sp>
        <p:nvSpPr>
          <p:cNvPr id="16" name="Text 14"/>
          <p:cNvSpPr/>
          <p:nvPr/>
        </p:nvSpPr>
        <p:spPr>
          <a:xfrm>
            <a:off x="7059168"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2</a:t>
            </a:r>
            <a:endParaRPr lang="en-US" sz="2200" dirty="0"/>
          </a:p>
        </p:txBody>
      </p:sp>
      <p:sp>
        <p:nvSpPr>
          <p:cNvPr id="17" name="Shape 15"/>
          <p:cNvSpPr/>
          <p:nvPr/>
        </p:nvSpPr>
        <p:spPr>
          <a:xfrm>
            <a:off x="6382512" y="3401568"/>
            <a:ext cx="2139696" cy="1627632"/>
          </a:xfrm>
          <a:prstGeom prst="roundRect">
            <a:avLst>
              <a:gd name="adj" fmla="val 4494"/>
            </a:avLst>
          </a:prstGeom>
          <a:solidFill>
            <a:srgbClr val="FFFFFF"/>
          </a:solidFill>
          <a:ln w="16510">
            <a:solidFill>
              <a:srgbClr val="0B7A75"/>
            </a:solidFill>
            <a:prstDash val="solid"/>
          </a:ln>
        </p:spPr>
      </p:sp>
      <p:sp>
        <p:nvSpPr>
          <p:cNvPr id="18" name="Text 16"/>
          <p:cNvSpPr/>
          <p:nvPr/>
        </p:nvSpPr>
        <p:spPr>
          <a:xfrm>
            <a:off x="6528816"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Noto Sans Arabic" pitchFamily="34" charset="0"/>
                <a:ea typeface="Noto Sans Arabic" pitchFamily="34" charset="-122"/>
                <a:cs typeface="Noto Sans Arabic" pitchFamily="34" charset="-120"/>
              </a:rPr>
              <a:t>اعتبارسنجی مستقل از آزمودنی</a:t>
            </a:r>
            <a:endParaRPr lang="en-US" sz="1530" dirty="0"/>
          </a:p>
        </p:txBody>
      </p:sp>
      <p:sp>
        <p:nvSpPr>
          <p:cNvPr id="19" name="Text 17"/>
          <p:cNvSpPr/>
          <p:nvPr/>
        </p:nvSpPr>
        <p:spPr>
          <a:xfrm>
            <a:off x="6556248"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کنار گذاشتن کامل داده یک فرد در آزمون</a:t>
            </a:r>
            <a:endParaRPr lang="en-US" sz="1140" dirty="0"/>
          </a:p>
        </p:txBody>
      </p:sp>
      <p:sp>
        <p:nvSpPr>
          <p:cNvPr id="20" name="Shape 18"/>
          <p:cNvSpPr/>
          <p:nvPr/>
        </p:nvSpPr>
        <p:spPr>
          <a:xfrm>
            <a:off x="3447288" y="2889504"/>
            <a:ext cx="0" cy="0"/>
          </a:xfrm>
          <a:prstGeom prst="line">
            <a:avLst/>
          </a:prstGeom>
          <a:noFill/>
          <a:ln w="25400">
            <a:solidFill>
              <a:srgbClr val="94A3B8"/>
            </a:solidFill>
            <a:prstDash val="solid"/>
            <a:headEnd type="none"/>
            <a:tailEnd type="triangle"/>
          </a:ln>
        </p:spPr>
      </p:sp>
      <p:sp>
        <p:nvSpPr>
          <p:cNvPr id="21" name="Shape 19"/>
          <p:cNvSpPr/>
          <p:nvPr/>
        </p:nvSpPr>
        <p:spPr>
          <a:xfrm>
            <a:off x="4443984" y="2350008"/>
            <a:ext cx="786384" cy="786384"/>
          </a:xfrm>
          <a:prstGeom prst="ellipse">
            <a:avLst/>
          </a:prstGeom>
          <a:solidFill>
            <a:srgbClr val="6B5BA6"/>
          </a:solidFill>
          <a:ln w="12700">
            <a:solidFill>
              <a:srgbClr val="6B5BA6"/>
            </a:solidFill>
            <a:prstDash val="solid"/>
          </a:ln>
        </p:spPr>
      </p:sp>
      <p:sp>
        <p:nvSpPr>
          <p:cNvPr id="22" name="Text 20"/>
          <p:cNvSpPr/>
          <p:nvPr/>
        </p:nvSpPr>
        <p:spPr>
          <a:xfrm>
            <a:off x="4443984"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3</a:t>
            </a:r>
            <a:endParaRPr lang="en-US" sz="2200" dirty="0"/>
          </a:p>
        </p:txBody>
      </p:sp>
      <p:sp>
        <p:nvSpPr>
          <p:cNvPr id="23" name="Shape 21"/>
          <p:cNvSpPr/>
          <p:nvPr/>
        </p:nvSpPr>
        <p:spPr>
          <a:xfrm>
            <a:off x="3767328" y="3401568"/>
            <a:ext cx="2139696" cy="1627632"/>
          </a:xfrm>
          <a:prstGeom prst="roundRect">
            <a:avLst>
              <a:gd name="adj" fmla="val 4494"/>
            </a:avLst>
          </a:prstGeom>
          <a:solidFill>
            <a:srgbClr val="FFFFFF"/>
          </a:solidFill>
          <a:ln w="16510">
            <a:solidFill>
              <a:srgbClr val="6B5BA6"/>
            </a:solidFill>
            <a:prstDash val="solid"/>
          </a:ln>
        </p:spPr>
      </p:sp>
      <p:sp>
        <p:nvSpPr>
          <p:cNvPr id="24" name="Text 22"/>
          <p:cNvSpPr/>
          <p:nvPr/>
        </p:nvSpPr>
        <p:spPr>
          <a:xfrm>
            <a:off x="3913632"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Noto Sans Arabic" pitchFamily="34" charset="0"/>
                <a:ea typeface="Noto Sans Arabic" pitchFamily="34" charset="-122"/>
                <a:cs typeface="Noto Sans Arabic" pitchFamily="34" charset="-120"/>
              </a:rPr>
              <a:t>بهینه‌سازی مدل و ویژگی</a:t>
            </a:r>
            <a:endParaRPr lang="en-US" sz="1530" dirty="0"/>
          </a:p>
        </p:txBody>
      </p:sp>
      <p:sp>
        <p:nvSpPr>
          <p:cNvPr id="25" name="Text 23"/>
          <p:cNvSpPr/>
          <p:nvPr/>
        </p:nvSpPr>
        <p:spPr>
          <a:xfrm>
            <a:off x="3941064"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Nested CV، ویژگی‌های فرکانسی و مدل‌های زمانی</a:t>
            </a:r>
            <a:endParaRPr lang="en-US" sz="1140" dirty="0"/>
          </a:p>
        </p:txBody>
      </p:sp>
      <p:sp>
        <p:nvSpPr>
          <p:cNvPr id="26" name="Shape 24"/>
          <p:cNvSpPr/>
          <p:nvPr/>
        </p:nvSpPr>
        <p:spPr>
          <a:xfrm>
            <a:off x="1828800" y="2350008"/>
            <a:ext cx="786384" cy="786384"/>
          </a:xfrm>
          <a:prstGeom prst="ellipse">
            <a:avLst/>
          </a:prstGeom>
          <a:solidFill>
            <a:srgbClr val="2F855A"/>
          </a:solidFill>
          <a:ln w="12700">
            <a:solidFill>
              <a:srgbClr val="2F855A"/>
            </a:solidFill>
            <a:prstDash val="solid"/>
          </a:ln>
        </p:spPr>
      </p:sp>
      <p:sp>
        <p:nvSpPr>
          <p:cNvPr id="27" name="Text 25"/>
          <p:cNvSpPr/>
          <p:nvPr/>
        </p:nvSpPr>
        <p:spPr>
          <a:xfrm>
            <a:off x="1828800"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4</a:t>
            </a:r>
            <a:endParaRPr lang="en-US" sz="2200" dirty="0"/>
          </a:p>
        </p:txBody>
      </p:sp>
      <p:sp>
        <p:nvSpPr>
          <p:cNvPr id="28" name="Shape 26"/>
          <p:cNvSpPr/>
          <p:nvPr/>
        </p:nvSpPr>
        <p:spPr>
          <a:xfrm>
            <a:off x="1152144" y="3401568"/>
            <a:ext cx="2139696" cy="1627632"/>
          </a:xfrm>
          <a:prstGeom prst="roundRect">
            <a:avLst>
              <a:gd name="adj" fmla="val 4494"/>
            </a:avLst>
          </a:prstGeom>
          <a:solidFill>
            <a:srgbClr val="FFFFFF"/>
          </a:solidFill>
          <a:ln w="16510">
            <a:solidFill>
              <a:srgbClr val="2F855A"/>
            </a:solidFill>
            <a:prstDash val="solid"/>
          </a:ln>
        </p:spPr>
      </p:sp>
      <p:sp>
        <p:nvSpPr>
          <p:cNvPr id="29" name="Text 27"/>
          <p:cNvSpPr/>
          <p:nvPr/>
        </p:nvSpPr>
        <p:spPr>
          <a:xfrm>
            <a:off x="1298448"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Noto Sans Arabic" pitchFamily="34" charset="0"/>
                <a:ea typeface="Noto Sans Arabic" pitchFamily="34" charset="-122"/>
                <a:cs typeface="Noto Sans Arabic" pitchFamily="34" charset="-120"/>
              </a:rPr>
              <a:t>ساده‌سازی و توسعه سامانه</a:t>
            </a:r>
            <a:endParaRPr lang="en-US" sz="1530" dirty="0"/>
          </a:p>
        </p:txBody>
      </p:sp>
      <p:sp>
        <p:nvSpPr>
          <p:cNvPr id="30" name="Text 28"/>
          <p:cNvSpPr/>
          <p:nvPr/>
        </p:nvSpPr>
        <p:spPr>
          <a:xfrm>
            <a:off x="1325880"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Noto Sans Arabic" pitchFamily="34" charset="0"/>
                <a:ea typeface="Noto Sans Arabic" pitchFamily="34" charset="-122"/>
                <a:cs typeface="Noto Sans Arabic" pitchFamily="34" charset="-120"/>
              </a:rPr>
              <a:t>حذف مرحله‌ای حسگرها و رابط یکپارچه بالینی</a:t>
            </a:r>
            <a:endParaRPr lang="en-US" sz="1140" dirty="0"/>
          </a:p>
        </p:txBody>
      </p:sp>
      <p:sp>
        <p:nvSpPr>
          <p:cNvPr id="31" name="Shape 29"/>
          <p:cNvSpPr/>
          <p:nvPr/>
        </p:nvSpPr>
        <p:spPr>
          <a:xfrm>
            <a:off x="1234440" y="5422392"/>
            <a:ext cx="9784080" cy="667512"/>
          </a:xfrm>
          <a:prstGeom prst="roundRect">
            <a:avLst>
              <a:gd name="adj" fmla="val 10959"/>
            </a:avLst>
          </a:prstGeom>
          <a:solidFill>
            <a:srgbClr val="102A43"/>
          </a:solidFill>
          <a:ln w="12700">
            <a:solidFill>
              <a:srgbClr val="102A43"/>
            </a:solidFill>
            <a:prstDash val="solid"/>
          </a:ln>
        </p:spPr>
      </p:sp>
      <p:sp>
        <p:nvSpPr>
          <p:cNvPr id="32" name="Text 30"/>
          <p:cNvSpPr/>
          <p:nvPr/>
        </p:nvSpPr>
        <p:spPr>
          <a:xfrm>
            <a:off x="1536192" y="5559552"/>
            <a:ext cx="9171432" cy="365760"/>
          </a:xfrm>
          <a:prstGeom prst="rect">
            <a:avLst/>
          </a:prstGeom>
          <a:noFill/>
          <a:ln/>
        </p:spPr>
        <p:txBody>
          <a:bodyPr wrap="square" lIns="0" tIns="0" rIns="0" bIns="0" rtlCol="0" anchor="ctr">
            <a:normAutofit/>
          </a:bodyPr>
          <a:lstStyle/>
          <a:p>
            <a:pPr marL="0" indent="0" algn="ctr" rtl="1">
              <a:buNone/>
            </a:pPr>
            <a:r>
              <a:rPr lang="en-US" sz="1600" b="1" dirty="0">
                <a:solidFill>
                  <a:srgbClr val="FFFFFF"/>
                </a:solidFill>
                <a:latin typeface="Noto Sans Arabic" pitchFamily="34" charset="0"/>
                <a:ea typeface="Noto Sans Arabic" pitchFamily="34" charset="-122"/>
                <a:cs typeface="Noto Sans Arabic" pitchFamily="34" charset="-120"/>
              </a:rPr>
              <a:t>خروجی نهایی مورد انتظار: ابزار مکمل برای ارزیابی عینی‌تر، تکرارپذیرتر و پایش طولی عملکرد حرکتی</a:t>
            </a:r>
            <a:endParaRPr lang="en-US" sz="1600" dirty="0"/>
          </a:p>
        </p:txBody>
      </p:sp>
      <p:sp>
        <p:nvSpPr>
          <p:cNvPr id="33" name="Shape 31"/>
          <p:cNvSpPr/>
          <p:nvPr/>
        </p:nvSpPr>
        <p:spPr>
          <a:xfrm>
            <a:off x="658368" y="6473952"/>
            <a:ext cx="10881360" cy="0"/>
          </a:xfrm>
          <a:prstGeom prst="line">
            <a:avLst/>
          </a:prstGeom>
          <a:noFill/>
          <a:ln w="10160">
            <a:solidFill>
              <a:srgbClr val="E9EEF2"/>
            </a:solidFill>
            <a:prstDash val="solid"/>
          </a:ln>
        </p:spPr>
      </p:sp>
      <p:sp>
        <p:nvSpPr>
          <p:cNvPr id="34" name="Text 3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94A3B8"/>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35" name="Text 33"/>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94A3B8"/>
                </a:solidFill>
                <a:latin typeface="Noto Sans Arabic" pitchFamily="34" charset="0"/>
                <a:ea typeface="Noto Sans Arabic" pitchFamily="34" charset="-122"/>
                <a:cs typeface="Noto Sans Arabic" pitchFamily="34" charset="-120"/>
              </a:rPr>
              <a:t>فصل ارائه ۵ از ۶: محدودیت‌ها و مسیر آینده | ۱ اسلاید تا پایان</a:t>
            </a:r>
            <a:endParaRPr lang="en-US" sz="920" dirty="0"/>
          </a:p>
        </p:txBody>
      </p:sp>
      <p:sp>
        <p:nvSpPr>
          <p:cNvPr id="36" name="Text 3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0B6E99"/>
                </a:solidFill>
                <a:latin typeface="Noto Sans Arabic" pitchFamily="34" charset="0"/>
                <a:ea typeface="Noto Sans Arabic" pitchFamily="34" charset="-122"/>
                <a:cs typeface="Noto Sans Arabic" pitchFamily="34" charset="-120"/>
              </a:rPr>
              <a:t>۱۳ / ۱۴</a:t>
            </a:r>
            <a:endParaRPr lang="en-US" sz="1020" dirty="0"/>
          </a:p>
        </p:txBody>
      </p:sp>
      <p:sp>
        <p:nvSpPr>
          <p:cNvPr id="37" name="Shape 35"/>
          <p:cNvSpPr/>
          <p:nvPr/>
        </p:nvSpPr>
        <p:spPr>
          <a:xfrm>
            <a:off x="2560320" y="6766560"/>
            <a:ext cx="6113417" cy="41148"/>
          </a:xfrm>
          <a:prstGeom prst="rect">
            <a:avLst/>
          </a:prstGeom>
          <a:solidFill>
            <a:srgbClr val="0B6E99"/>
          </a:solidFill>
          <a:ln w="12700">
            <a:solidFill>
              <a:srgbClr val="0B6E99"/>
            </a:solidFill>
            <a:prstDash val="solid"/>
          </a:ln>
        </p:spPr>
      </p:sp>
      <p:sp>
        <p:nvSpPr>
          <p:cNvPr id="38" name="Shape 36"/>
          <p:cNvSpPr/>
          <p:nvPr/>
        </p:nvSpPr>
        <p:spPr>
          <a:xfrm>
            <a:off x="8673737" y="6766560"/>
            <a:ext cx="470263"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zoom">
                          <p:cBhvr>
                            <p:cTn id="4" dur="450" fill="hold"/>
                            <p:tgtEl>
                              <p:spTgt spid="9"/>
                            </p:tgtEl>
                          </p:cBhvr>
                        </p:animEffect>
                        <p:animEffect transition="in" filter="zoom">
                          <p:cBhvr>
                            <p:cTn id="5" dur="450" fill="hold"/>
                            <p:tgtEl>
                              <p:spTgt spid="10"/>
                            </p:tgtEl>
                          </p:cBhvr>
                        </p:animEffect>
                        <p:animEffect transition="in" filter="zoom">
                          <p:cBhvr>
                            <p:cTn id="6" dur="450" fill="hold"/>
                            <p:tgtEl>
                              <p:spTgt spid="11"/>
                            </p:tgtEl>
                          </p:cBhvr>
                        </p:animEffect>
                        <p:animEffect transition="in" filter="zoom">
                          <p:cBhvr>
                            <p:cTn id="7" dur="450" fill="hold"/>
                            <p:tgtEl>
                              <p:spTgt spid="12"/>
                            </p:tgtEl>
                          </p:cBhvr>
                        </p:animEffect>
                        <p:animEffect transition="in" filter="zoom">
                          <p:cBhvr>
                            <p:cTn id="8" dur="450" fill="hold"/>
                            <p:tgtEl>
                              <p:spTgt spid="13"/>
                            </p:tgtEl>
                          </p:cBhvr>
                        </p:animEffect>
                      </p:childTnLst>
                    </p:cTn>
                  </p:par>
                  <p:par>
                    <p:cTn id="9" fill="hold">
                      <p:stCondLst>
                        <p:cond delay="0"/>
                      </p:stCondLst>
                      <p:childTnLst>
                        <p:animEffect transition="in" filter="zoom">
                          <p:cBhvr>
                            <p:cTn id="10" dur="450" fill="hold"/>
                            <p:tgtEl>
                              <p:spTgt spid="15"/>
                            </p:tgtEl>
                          </p:cBhvr>
                        </p:animEffect>
                        <p:animEffect transition="in" filter="zoom">
                          <p:cBhvr>
                            <p:cTn id="11" dur="450" fill="hold"/>
                            <p:tgtEl>
                              <p:spTgt spid="16"/>
                            </p:tgtEl>
                          </p:cBhvr>
                        </p:animEffect>
                        <p:animEffect transition="in" filter="zoom">
                          <p:cBhvr>
                            <p:cTn id="12" dur="450" fill="hold"/>
                            <p:tgtEl>
                              <p:spTgt spid="17"/>
                            </p:tgtEl>
                          </p:cBhvr>
                        </p:animEffect>
                        <p:animEffect transition="in" filter="zoom">
                          <p:cBhvr>
                            <p:cTn id="13" dur="450" fill="hold"/>
                            <p:tgtEl>
                              <p:spTgt spid="18"/>
                            </p:tgtEl>
                          </p:cBhvr>
                        </p:animEffect>
                        <p:animEffect transition="in" filter="zoom">
                          <p:cBhvr>
                            <p:cTn id="14" dur="450" fill="hold"/>
                            <p:tgtEl>
                              <p:spTgt spid="19"/>
                            </p:tgtEl>
                          </p:cBhvr>
                        </p:animEffect>
                      </p:childTnLst>
                    </p:cTn>
                  </p:par>
                  <p:par>
                    <p:cTn id="15" fill="hold">
                      <p:stCondLst>
                        <p:cond delay="0"/>
                      </p:stCondLst>
                      <p:childTnLst>
                        <p:animEffect transition="in" filter="zoom">
                          <p:cBhvr>
                            <p:cTn id="16" dur="450" fill="hold"/>
                            <p:tgtEl>
                              <p:spTgt spid="21"/>
                            </p:tgtEl>
                          </p:cBhvr>
                        </p:animEffect>
                        <p:animEffect transition="in" filter="zoom">
                          <p:cBhvr>
                            <p:cTn id="17" dur="450" fill="hold"/>
                            <p:tgtEl>
                              <p:spTgt spid="22"/>
                            </p:tgtEl>
                          </p:cBhvr>
                        </p:animEffect>
                        <p:animEffect transition="in" filter="zoom">
                          <p:cBhvr>
                            <p:cTn id="18" dur="450" fill="hold"/>
                            <p:tgtEl>
                              <p:spTgt spid="23"/>
                            </p:tgtEl>
                          </p:cBhvr>
                        </p:animEffect>
                        <p:animEffect transition="in" filter="zoom">
                          <p:cBhvr>
                            <p:cTn id="19" dur="450" fill="hold"/>
                            <p:tgtEl>
                              <p:spTgt spid="24"/>
                            </p:tgtEl>
                          </p:cBhvr>
                        </p:animEffect>
                        <p:animEffect transition="in" filter="zoom">
                          <p:cBhvr>
                            <p:cTn id="20" dur="450" fill="hold"/>
                            <p:tgtEl>
                              <p:spTgt spid="25"/>
                            </p:tgtEl>
                          </p:cBhvr>
                        </p:animEffect>
                      </p:childTnLst>
                    </p:cTn>
                  </p:par>
                  <p:par>
                    <p:cTn id="21" fill="hold">
                      <p:stCondLst>
                        <p:cond delay="0"/>
                      </p:stCondLst>
                      <p:childTnLst>
                        <p:animEffect transition="in" filter="zoom">
                          <p:cBhvr>
                            <p:cTn id="22" dur="450" fill="hold"/>
                            <p:tgtEl>
                              <p:spTgt spid="26"/>
                            </p:tgtEl>
                          </p:cBhvr>
                        </p:animEffect>
                        <p:animEffect transition="in" filter="zoom">
                          <p:cBhvr>
                            <p:cTn id="23" dur="450" fill="hold"/>
                            <p:tgtEl>
                              <p:spTgt spid="27"/>
                            </p:tgtEl>
                          </p:cBhvr>
                        </p:animEffect>
                        <p:animEffect transition="in" filter="zoom">
                          <p:cBhvr>
                            <p:cTn id="24" dur="450" fill="hold"/>
                            <p:tgtEl>
                              <p:spTgt spid="28"/>
                            </p:tgtEl>
                          </p:cBhvr>
                        </p:animEffect>
                        <p:animEffect transition="in" filter="zoom">
                          <p:cBhvr>
                            <p:cTn id="25" dur="450" fill="hold"/>
                            <p:tgtEl>
                              <p:spTgt spid="29"/>
                            </p:tgtEl>
                          </p:cBhvr>
                        </p:animEffect>
                        <p:animEffect transition="in" filter="zoom">
                          <p:cBhvr>
                            <p:cTn id="26" dur="450" fill="hold"/>
                            <p:tgtEl>
                              <p:spTgt spid="30"/>
                            </p:tgtEl>
                          </p:cBhvr>
                        </p:animEffect>
                      </p:childTnLst>
                    </p:cTn>
                  </p:par>
                  <p:par>
                    <p:cTn id="27" fill="hold">
                      <p:stCondLst>
                        <p:cond delay="0"/>
                      </p:stCondLst>
                      <p:childTnLst>
                        <p:animEffect transition="in" filter="fade">
                          <p:cBhvr>
                            <p:cTn id="28" dur="500" fill="hold"/>
                            <p:tgtEl>
                              <p:spTgt spid="31"/>
                            </p:tgtEl>
                          </p:cBhvr>
                        </p:animEffect>
                        <p:animEffect transition="in" filter="fade">
                          <p:cBhvr>
                            <p:cTn id="29" dur="500" fill="hold"/>
                            <p:tgtEl>
                              <p:spTgt spid="32"/>
                            </p:tgtEl>
                          </p:cBhvr>
                        </p:animEffect>
                      </p:childTnLst>
                    </p:cTn>
                  </p:par>
                </p:childTnLst>
              </p:cTn>
            </p:seq>
          </p:childTnLst>
        </p:cTn>
      </p:par>
    </p:tnLst>
    <p:bldLst>
      <p:bldP spid="9" grpId="0"/>
      <p:bldP spid="10" grpId="0"/>
      <p:bldP spid="11" grpId="0"/>
      <p:bldP spid="12" grpId="0"/>
      <p:bldP spid="13" grpId="0"/>
      <p:bldP spid="15" grpId="0"/>
      <p:bldP spid="16" grpId="0"/>
      <p:bldP spid="17" grpId="0"/>
      <p:bldP spid="18" grpId="0"/>
      <p:bldP spid="19"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8AB5"/>
          </a:solidFill>
          <a:ln w="12700">
            <a:solidFill>
              <a:srgbClr val="1D8AB5"/>
            </a:solidFill>
            <a:prstDash val="solid"/>
          </a:ln>
        </p:spPr>
      </p:sp>
      <p:pic>
        <p:nvPicPr>
          <p:cNvPr id="3" name="Image 0" descr="/mnt/data/dmd_assets/crops/sharif_logo.png"/>
          <p:cNvPicPr>
            <a:picLocks noChangeAspect="1"/>
          </p:cNvPicPr>
          <p:nvPr/>
        </p:nvPicPr>
        <p:blipFill>
          <a:blip r:embed="rId3"/>
          <a:stretch>
            <a:fillRect/>
          </a:stretch>
        </p:blipFill>
        <p:spPr>
          <a:xfrm>
            <a:off x="10631456" y="256032"/>
            <a:ext cx="728407" cy="658368"/>
          </a:xfrm>
          <a:prstGeom prst="rect">
            <a:avLst/>
          </a:prstGeom>
        </p:spPr>
      </p:pic>
      <p:sp>
        <p:nvSpPr>
          <p:cNvPr id="4" name="Text 1"/>
          <p:cNvSpPr/>
          <p:nvPr/>
        </p:nvSpPr>
        <p:spPr>
          <a:xfrm>
            <a:off x="7772400" y="932688"/>
            <a:ext cx="2834640" cy="502920"/>
          </a:xfrm>
          <a:prstGeom prst="rect">
            <a:avLst/>
          </a:prstGeom>
          <a:noFill/>
          <a:ln/>
        </p:spPr>
        <p:txBody>
          <a:bodyPr wrap="square" lIns="0" tIns="0" rIns="0" bIns="0" rtlCol="0" anchor="ctr">
            <a:normAutofit/>
          </a:bodyPr>
          <a:lstStyle/>
          <a:p>
            <a:pPr marL="0" indent="0" algn="r" rtl="1">
              <a:buNone/>
            </a:pPr>
            <a:r>
              <a:rPr lang="en-US" sz="3100" b="1" dirty="0">
                <a:solidFill>
                  <a:srgbClr val="FFFFFF"/>
                </a:solidFill>
                <a:latin typeface="Noto Sans Arabic" pitchFamily="34" charset="0"/>
                <a:ea typeface="Noto Sans Arabic" pitchFamily="34" charset="-122"/>
                <a:cs typeface="Noto Sans Arabic" pitchFamily="34" charset="-120"/>
              </a:rPr>
              <a:t>جمع‌بندی</a:t>
            </a:r>
            <a:endParaRPr lang="en-US" sz="3100" dirty="0"/>
          </a:p>
        </p:txBody>
      </p:sp>
      <p:sp>
        <p:nvSpPr>
          <p:cNvPr id="5" name="Shape 2"/>
          <p:cNvSpPr/>
          <p:nvPr/>
        </p:nvSpPr>
        <p:spPr>
          <a:xfrm>
            <a:off x="10378440" y="1828800"/>
            <a:ext cx="512064" cy="512064"/>
          </a:xfrm>
          <a:prstGeom prst="ellipse">
            <a:avLst/>
          </a:prstGeom>
          <a:solidFill>
            <a:srgbClr val="1D8AB5"/>
          </a:solidFill>
          <a:ln w="12700">
            <a:solidFill>
              <a:srgbClr val="1D8AB5"/>
            </a:solidFill>
            <a:prstDash val="solid"/>
          </a:ln>
        </p:spPr>
      </p:sp>
      <p:sp>
        <p:nvSpPr>
          <p:cNvPr id="6" name="Text 3"/>
          <p:cNvSpPr/>
          <p:nvPr/>
        </p:nvSpPr>
        <p:spPr>
          <a:xfrm>
            <a:off x="10378440" y="1856232"/>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Noto Sans Arabic" pitchFamily="34" charset="0"/>
                <a:ea typeface="Noto Sans Arabic" pitchFamily="34" charset="-122"/>
                <a:cs typeface="Noto Sans Arabic" pitchFamily="34" charset="-120"/>
              </a:rPr>
              <a:t>۱</a:t>
            </a:r>
            <a:endParaRPr lang="en-US" sz="1800" dirty="0"/>
          </a:p>
        </p:txBody>
      </p:sp>
      <p:sp>
        <p:nvSpPr>
          <p:cNvPr id="7" name="Text 4"/>
          <p:cNvSpPr/>
          <p:nvPr/>
        </p:nvSpPr>
        <p:spPr>
          <a:xfrm>
            <a:off x="2788920" y="1801368"/>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Noto Sans Arabic" pitchFamily="34" charset="0"/>
                <a:ea typeface="Noto Sans Arabic" pitchFamily="34" charset="-122"/>
                <a:cs typeface="Noto Sans Arabic" pitchFamily="34" charset="-120"/>
              </a:rPr>
              <a:t>سامانه کامل ثبت، پردازش و طبقه‌بندی طراحی و پیاده‌سازی شد.</a:t>
            </a:r>
            <a:endParaRPr lang="en-US" sz="1820" dirty="0"/>
          </a:p>
        </p:txBody>
      </p:sp>
      <p:sp>
        <p:nvSpPr>
          <p:cNvPr id="8" name="Shape 5"/>
          <p:cNvSpPr/>
          <p:nvPr/>
        </p:nvSpPr>
        <p:spPr>
          <a:xfrm>
            <a:off x="10378440" y="2761488"/>
            <a:ext cx="512064" cy="512064"/>
          </a:xfrm>
          <a:prstGeom prst="ellipse">
            <a:avLst/>
          </a:prstGeom>
          <a:solidFill>
            <a:srgbClr val="1D8AB5"/>
          </a:solidFill>
          <a:ln w="12700">
            <a:solidFill>
              <a:srgbClr val="1D8AB5"/>
            </a:solidFill>
            <a:prstDash val="solid"/>
          </a:ln>
        </p:spPr>
      </p:sp>
      <p:sp>
        <p:nvSpPr>
          <p:cNvPr id="9" name="Text 6"/>
          <p:cNvSpPr/>
          <p:nvPr/>
        </p:nvSpPr>
        <p:spPr>
          <a:xfrm>
            <a:off x="10378440" y="2788920"/>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Noto Sans Arabic" pitchFamily="34" charset="0"/>
                <a:ea typeface="Noto Sans Arabic" pitchFamily="34" charset="-122"/>
                <a:cs typeface="Noto Sans Arabic" pitchFamily="34" charset="-120"/>
              </a:rPr>
              <a:t>۲</a:t>
            </a:r>
            <a:endParaRPr lang="en-US" sz="1800" dirty="0"/>
          </a:p>
        </p:txBody>
      </p:sp>
      <p:sp>
        <p:nvSpPr>
          <p:cNvPr id="10" name="Text 7"/>
          <p:cNvSpPr/>
          <p:nvPr/>
        </p:nvSpPr>
        <p:spPr>
          <a:xfrm>
            <a:off x="2788920" y="2734056"/>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Noto Sans Arabic" pitchFamily="34" charset="0"/>
                <a:ea typeface="Noto Sans Arabic" pitchFamily="34" charset="-122"/>
                <a:cs typeface="Noto Sans Arabic" pitchFamily="34" charset="-120"/>
              </a:rPr>
              <a:t>بردار ۶۹۰ ویژگی با PCA به فضایی شامل ۱۰ تا ۱۵ مؤلفه کاهش یافت.</a:t>
            </a:r>
            <a:endParaRPr lang="en-US" sz="1820" dirty="0"/>
          </a:p>
        </p:txBody>
      </p:sp>
      <p:sp>
        <p:nvSpPr>
          <p:cNvPr id="11" name="Shape 8"/>
          <p:cNvSpPr/>
          <p:nvPr/>
        </p:nvSpPr>
        <p:spPr>
          <a:xfrm>
            <a:off x="10378440" y="3694176"/>
            <a:ext cx="512064" cy="512064"/>
          </a:xfrm>
          <a:prstGeom prst="ellipse">
            <a:avLst/>
          </a:prstGeom>
          <a:solidFill>
            <a:srgbClr val="1D8AB5"/>
          </a:solidFill>
          <a:ln w="12700">
            <a:solidFill>
              <a:srgbClr val="1D8AB5"/>
            </a:solidFill>
            <a:prstDash val="solid"/>
          </a:ln>
        </p:spPr>
      </p:sp>
      <p:sp>
        <p:nvSpPr>
          <p:cNvPr id="12" name="Text 9"/>
          <p:cNvSpPr/>
          <p:nvPr/>
        </p:nvSpPr>
        <p:spPr>
          <a:xfrm>
            <a:off x="10378440" y="3721608"/>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Noto Sans Arabic" pitchFamily="34" charset="0"/>
                <a:ea typeface="Noto Sans Arabic" pitchFamily="34" charset="-122"/>
                <a:cs typeface="Noto Sans Arabic" pitchFamily="34" charset="-120"/>
              </a:rPr>
              <a:t>۳</a:t>
            </a:r>
            <a:endParaRPr lang="en-US" sz="1800" dirty="0"/>
          </a:p>
        </p:txBody>
      </p:sp>
      <p:sp>
        <p:nvSpPr>
          <p:cNvPr id="13" name="Text 10"/>
          <p:cNvSpPr/>
          <p:nvPr/>
        </p:nvSpPr>
        <p:spPr>
          <a:xfrm>
            <a:off x="2788920" y="3666744"/>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Noto Sans Arabic" pitchFamily="34" charset="0"/>
                <a:ea typeface="Noto Sans Arabic" pitchFamily="34" charset="-122"/>
                <a:cs typeface="Noto Sans Arabic" pitchFamily="34" charset="-120"/>
              </a:rPr>
              <a:t>سطوح عملکردی شبیه‌سازی‌شده در پنج فعالیت قابل تفکیک بودند.</a:t>
            </a:r>
            <a:endParaRPr lang="en-US" sz="1820" dirty="0"/>
          </a:p>
        </p:txBody>
      </p:sp>
      <p:sp>
        <p:nvSpPr>
          <p:cNvPr id="14" name="Shape 11"/>
          <p:cNvSpPr/>
          <p:nvPr/>
        </p:nvSpPr>
        <p:spPr>
          <a:xfrm>
            <a:off x="1874520" y="4736592"/>
            <a:ext cx="8549640" cy="841248"/>
          </a:xfrm>
          <a:prstGeom prst="roundRect">
            <a:avLst>
              <a:gd name="adj" fmla="val 15217"/>
            </a:avLst>
          </a:prstGeom>
          <a:solidFill>
            <a:srgbClr val="183B56"/>
          </a:solidFill>
          <a:ln w="15240">
            <a:solidFill>
              <a:srgbClr val="335A75"/>
            </a:solidFill>
            <a:prstDash val="solid"/>
          </a:ln>
        </p:spPr>
      </p:sp>
      <p:sp>
        <p:nvSpPr>
          <p:cNvPr id="15" name="Text 12"/>
          <p:cNvSpPr/>
          <p:nvPr/>
        </p:nvSpPr>
        <p:spPr>
          <a:xfrm>
            <a:off x="2176272" y="4919472"/>
            <a:ext cx="7955280" cy="420624"/>
          </a:xfrm>
          <a:prstGeom prst="rect">
            <a:avLst/>
          </a:prstGeom>
          <a:noFill/>
          <a:ln/>
        </p:spPr>
        <p:txBody>
          <a:bodyPr wrap="square" lIns="0" tIns="0" rIns="0" bIns="0" rtlCol="0" anchor="ctr">
            <a:normAutofit/>
          </a:bodyPr>
          <a:lstStyle/>
          <a:p>
            <a:pPr marL="0" indent="0" algn="ctr" rtl="1">
              <a:buNone/>
            </a:pPr>
            <a:r>
              <a:rPr lang="en-US" sz="1800" b="1" dirty="0">
                <a:solidFill>
                  <a:srgbClr val="66E0D0"/>
                </a:solidFill>
                <a:latin typeface="Noto Sans Arabic" pitchFamily="34" charset="0"/>
                <a:ea typeface="Noto Sans Arabic" pitchFamily="34" charset="-122"/>
                <a:cs typeface="Noto Sans Arabic" pitchFamily="34" charset="-120"/>
              </a:rPr>
              <a:t>دستاورد اصلی: اثبات امکان‌پذیری فنی چارچوب — نه اثبات کاربرد بالینی</a:t>
            </a:r>
            <a:endParaRPr lang="en-US" sz="1800" dirty="0"/>
          </a:p>
        </p:txBody>
      </p:sp>
      <p:sp>
        <p:nvSpPr>
          <p:cNvPr id="16" name="Text 13"/>
          <p:cNvSpPr/>
          <p:nvPr/>
        </p:nvSpPr>
        <p:spPr>
          <a:xfrm>
            <a:off x="4626864" y="5596128"/>
            <a:ext cx="2926080" cy="384048"/>
          </a:xfrm>
          <a:prstGeom prst="rect">
            <a:avLst/>
          </a:prstGeom>
          <a:noFill/>
          <a:ln/>
        </p:spPr>
        <p:txBody>
          <a:bodyPr wrap="square" lIns="0" tIns="0" rIns="0" bIns="0" rtlCol="0" anchor="ctr">
            <a:normAutofit/>
          </a:bodyPr>
          <a:lstStyle/>
          <a:p>
            <a:pPr marL="0" indent="0" algn="ctr" rtl="1">
              <a:buNone/>
            </a:pPr>
            <a:r>
              <a:rPr lang="en-US" sz="2400" b="1" dirty="0">
                <a:solidFill>
                  <a:srgbClr val="FFFFFF"/>
                </a:solidFill>
                <a:latin typeface="Noto Sans Arabic" pitchFamily="34" charset="0"/>
                <a:ea typeface="Noto Sans Arabic" pitchFamily="34" charset="-122"/>
                <a:cs typeface="Noto Sans Arabic" pitchFamily="34" charset="-120"/>
              </a:rPr>
              <a:t>سپاسگزارم</a:t>
            </a:r>
            <a:endParaRPr lang="en-US" sz="2400" dirty="0"/>
          </a:p>
        </p:txBody>
      </p:sp>
      <p:sp>
        <p:nvSpPr>
          <p:cNvPr id="17" name="Text 14"/>
          <p:cNvSpPr/>
          <p:nvPr/>
        </p:nvSpPr>
        <p:spPr>
          <a:xfrm>
            <a:off x="4901184" y="6144768"/>
            <a:ext cx="2377440" cy="256032"/>
          </a:xfrm>
          <a:prstGeom prst="rect">
            <a:avLst/>
          </a:prstGeom>
          <a:noFill/>
          <a:ln/>
        </p:spPr>
        <p:txBody>
          <a:bodyPr wrap="square" lIns="0" tIns="0" rIns="0" bIns="0" rtlCol="0" anchor="ctr">
            <a:normAutofit/>
          </a:bodyPr>
          <a:lstStyle/>
          <a:p>
            <a:pPr marL="0" indent="0" algn="ctr" rtl="1">
              <a:buNone/>
            </a:pPr>
            <a:r>
              <a:rPr lang="en-US" sz="1700" dirty="0">
                <a:solidFill>
                  <a:srgbClr val="B7D5E4"/>
                </a:solidFill>
                <a:latin typeface="Noto Sans Arabic" pitchFamily="34" charset="0"/>
                <a:ea typeface="Noto Sans Arabic" pitchFamily="34" charset="-122"/>
                <a:cs typeface="Noto Sans Arabic" pitchFamily="34" charset="-120"/>
              </a:rPr>
              <a:t>پرسش‌ها؟</a:t>
            </a:r>
            <a:endParaRPr lang="en-US" sz="1700" dirty="0"/>
          </a:p>
        </p:txBody>
      </p:sp>
      <p:sp>
        <p:nvSpPr>
          <p:cNvPr id="18" name="Shape 15"/>
          <p:cNvSpPr/>
          <p:nvPr/>
        </p:nvSpPr>
        <p:spPr>
          <a:xfrm>
            <a:off x="658368" y="6473952"/>
            <a:ext cx="10881360" cy="0"/>
          </a:xfrm>
          <a:prstGeom prst="line">
            <a:avLst/>
          </a:prstGeom>
          <a:noFill/>
          <a:ln w="10160">
            <a:solidFill>
              <a:srgbClr val="335A75"/>
            </a:solidFill>
            <a:prstDash val="solid"/>
          </a:ln>
        </p:spPr>
      </p:sp>
      <p:sp>
        <p:nvSpPr>
          <p:cNvPr id="19" name="Text 16"/>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920" dirty="0">
                <a:solidFill>
                  <a:srgbClr val="B7D5E4"/>
                </a:solidFill>
                <a:latin typeface="Noto Sans Arabic" pitchFamily="34" charset="0"/>
                <a:ea typeface="Noto Sans Arabic" pitchFamily="34" charset="-122"/>
                <a:cs typeface="Noto Sans Arabic" pitchFamily="34" charset="-120"/>
              </a:rPr>
              <a:t>پایان‌نامه کارشناسی مهندسی مکانیک</a:t>
            </a:r>
            <a:endParaRPr lang="en-US" sz="920" dirty="0"/>
          </a:p>
        </p:txBody>
      </p:sp>
      <p:sp>
        <p:nvSpPr>
          <p:cNvPr id="20" name="Text 17"/>
          <p:cNvSpPr/>
          <p:nvPr/>
        </p:nvSpPr>
        <p:spPr>
          <a:xfrm>
            <a:off x="2267712" y="6528816"/>
            <a:ext cx="5303520" cy="219456"/>
          </a:xfrm>
          <a:prstGeom prst="rect">
            <a:avLst/>
          </a:prstGeom>
          <a:noFill/>
          <a:ln/>
        </p:spPr>
        <p:txBody>
          <a:bodyPr wrap="square" lIns="0" tIns="0" rIns="0" bIns="0" rtlCol="0" anchor="ctr">
            <a:normAutofit/>
          </a:bodyPr>
          <a:lstStyle/>
          <a:p>
            <a:pPr marL="0" indent="0" algn="ctr" rtl="1">
              <a:buNone/>
            </a:pPr>
            <a:r>
              <a:rPr lang="en-US" sz="920" dirty="0">
                <a:solidFill>
                  <a:srgbClr val="B7D5E4"/>
                </a:solidFill>
                <a:latin typeface="Noto Sans Arabic" pitchFamily="34" charset="0"/>
                <a:ea typeface="Noto Sans Arabic" pitchFamily="34" charset="-122"/>
                <a:cs typeface="Noto Sans Arabic" pitchFamily="34" charset="-120"/>
              </a:rPr>
              <a:t>فصل ارائه ۶ از ۶: جمع‌بندی | ۰ اسلاید تا پایان</a:t>
            </a:r>
            <a:endParaRPr lang="en-US" sz="920" dirty="0"/>
          </a:p>
        </p:txBody>
      </p:sp>
      <p:sp>
        <p:nvSpPr>
          <p:cNvPr id="21" name="Text 18"/>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020" b="1" dirty="0">
                <a:solidFill>
                  <a:srgbClr val="66E0D0"/>
                </a:solidFill>
                <a:latin typeface="Noto Sans Arabic" pitchFamily="34" charset="0"/>
                <a:ea typeface="Noto Sans Arabic" pitchFamily="34" charset="-122"/>
                <a:cs typeface="Noto Sans Arabic" pitchFamily="34" charset="-120"/>
              </a:rPr>
              <a:t>۱۴ / ۱۴</a:t>
            </a:r>
            <a:endParaRPr lang="en-US" sz="1020" dirty="0"/>
          </a:p>
        </p:txBody>
      </p:sp>
      <p:sp>
        <p:nvSpPr>
          <p:cNvPr id="22" name="Shape 19"/>
          <p:cNvSpPr/>
          <p:nvPr/>
        </p:nvSpPr>
        <p:spPr>
          <a:xfrm>
            <a:off x="2560320" y="6766560"/>
            <a:ext cx="6583680" cy="41148"/>
          </a:xfrm>
          <a:prstGeom prst="rect">
            <a:avLst/>
          </a:prstGeom>
          <a:solidFill>
            <a:srgbClr val="66E0D0"/>
          </a:solidFill>
          <a:ln w="12700">
            <a:solidFill>
              <a:srgbClr val="66E0D0"/>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0"/>
                      </p:stCondLst>
                      <p:childTnLst>
                        <p:animEffect transition="in" filter="fade">
                          <p:cBhvr>
                            <p:cTn id="4" dur="400" fill="hold"/>
                            <p:tgtEl>
                              <p:spTgt spid="5"/>
                            </p:tgtEl>
                          </p:cBhvr>
                        </p:animEffect>
                        <p:animEffect transition="in" filter="fade">
                          <p:cBhvr>
                            <p:cTn id="5" dur="400" fill="hold"/>
                            <p:tgtEl>
                              <p:spTgt spid="6"/>
                            </p:tgtEl>
                          </p:cBhvr>
                        </p:animEffect>
                        <p:animEffect transition="in" filter="fade">
                          <p:cBhvr>
                            <p:cTn id="6" dur="400" fill="hold"/>
                            <p:tgtEl>
                              <p:spTgt spid="7"/>
                            </p:tgtEl>
                          </p:cBhvr>
                        </p:animEffect>
                      </p:childTnLst>
                    </p:cTn>
                  </p:par>
                  <p:par>
                    <p:cTn id="7" fill="hold">
                      <p:stCondLst>
                        <p:cond delay="0"/>
                      </p:stCondLst>
                      <p:childTnLst>
                        <p:animEffect transition="in" filter="fade">
                          <p:cBhvr>
                            <p:cTn id="8" dur="400" fill="hold"/>
                            <p:tgtEl>
                              <p:spTgt spid="8"/>
                            </p:tgtEl>
                          </p:cBhvr>
                        </p:animEffect>
                        <p:animEffect transition="in" filter="fade">
                          <p:cBhvr>
                            <p:cTn id="9" dur="400" fill="hold"/>
                            <p:tgtEl>
                              <p:spTgt spid="9"/>
                            </p:tgtEl>
                          </p:cBhvr>
                        </p:animEffect>
                        <p:animEffect transition="in" filter="fade">
                          <p:cBhvr>
                            <p:cTn id="10" dur="400" fill="hold"/>
                            <p:tgtEl>
                              <p:spTgt spid="10"/>
                            </p:tgtEl>
                          </p:cBhvr>
                        </p:animEffect>
                      </p:childTnLst>
                    </p:cTn>
                  </p:par>
                  <p:par>
                    <p:cTn id="11" fill="hold">
                      <p:stCondLst>
                        <p:cond delay="0"/>
                      </p:stCondLst>
                      <p:childTnLst>
                        <p:animEffect transition="in" filter="fade">
                          <p:cBhvr>
                            <p:cTn id="12" dur="400" fill="hold"/>
                            <p:tgtEl>
                              <p:spTgt spid="11"/>
                            </p:tgtEl>
                          </p:cBhvr>
                        </p:animEffect>
                        <p:animEffect transition="in" filter="fade">
                          <p:cBhvr>
                            <p:cTn id="13" dur="400" fill="hold"/>
                            <p:tgtEl>
                              <p:spTgt spid="12"/>
                            </p:tgtEl>
                          </p:cBhvr>
                        </p:animEffect>
                        <p:animEffect transition="in" filter="fade">
                          <p:cBhvr>
                            <p:cTn id="14" dur="400" fill="hold"/>
                            <p:tgtEl>
                              <p:spTgt spid="13"/>
                            </p:tgtEl>
                          </p:cBhvr>
                        </p:animEffect>
                      </p:childTnLst>
                    </p:cTn>
                  </p:par>
                  <p:par>
                    <p:cTn id="15" fill="hold">
                      <p:stCondLst>
                        <p:cond delay="0"/>
                      </p:stCondLst>
                      <p:childTnLst>
                        <p:animEffect transition="in" filter="zoom">
                          <p:cBhvr>
                            <p:cTn id="16" dur="500" fill="hold"/>
                            <p:tgtEl>
                              <p:spTgt spid="14"/>
                            </p:tgtEl>
                          </p:cBhvr>
                        </p:animEffect>
                        <p:animEffect transition="in" filter="zoom">
                          <p:cBhvr>
                            <p:cTn id="17" dur="500" fill="hold"/>
                            <p:tgtEl>
                              <p:spTgt spid="15"/>
                            </p:tgtEl>
                          </p:cBhvr>
                        </p:animEffect>
                      </p:childTnLst>
                    </p:cTn>
                  </p:par>
                  <p:par>
                    <p:cTn id="18" fill="hold">
                      <p:stCondLst>
                        <p:cond delay="0"/>
                      </p:stCondLst>
                      <p:childTnLst>
                        <p:animEffect transition="in" filter="fade">
                          <p:cBhvr>
                            <p:cTn id="19" dur="500" fill="hold"/>
                            <p:tgtEl>
                              <p:spTgt spid="16"/>
                            </p:tgtEl>
                          </p:cBhvr>
                        </p:animEffect>
                        <p:animEffect transition="in" filter="fade">
                          <p:cBhvr>
                            <p:cTn id="20" dur="500" fill="hold"/>
                            <p:tgtEl>
                              <p:spTgt spid="17"/>
                            </p:tgtEl>
                          </p:cBhvr>
                        </p:animEffect>
                      </p:childTnLst>
                    </p:cTn>
                  </p:par>
                </p:childTnLst>
              </p:cTn>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2380</Words>
  <Application>Microsoft Macintosh PowerPoint</Application>
  <PresentationFormat>Widescreen</PresentationFormat>
  <Paragraphs>362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Noto Sans 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Sharif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ارزیابی شاخص‌های عملکرد موتوری در بیماران دوشن به کمک حسگرهای اینرسیایی</dc:title>
  <dc:subject>Bachelor Thesis Defense - DMD motor performance assessment using inertial sensors</dc:subject>
  <dc:creator>Mohammad Rahmanitalab</dc:creator>
  <cp:lastModifiedBy>mohammad rahmanitalab</cp:lastModifiedBy>
  <cp:revision>2</cp:revision>
  <dcterms:created xsi:type="dcterms:W3CDTF">2026-07-19T14:42:07Z</dcterms:created>
  <dcterms:modified xsi:type="dcterms:W3CDTF">2026-07-19T17:01:39Z</dcterms:modified>
</cp:coreProperties>
</file>